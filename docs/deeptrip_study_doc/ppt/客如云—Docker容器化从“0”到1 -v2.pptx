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1"/>
  </p:sldMasterIdLst>
  <p:notesMasterIdLst>
    <p:notesMasterId r:id="rId32"/>
  </p:notesMasterIdLst>
  <p:handoutMasterIdLst>
    <p:handoutMasterId r:id="rId33"/>
  </p:handoutMasterIdLst>
  <p:sldIdLst>
    <p:sldId id="688" r:id="rId2"/>
    <p:sldId id="690" r:id="rId3"/>
    <p:sldId id="691" r:id="rId4"/>
    <p:sldId id="683" r:id="rId5"/>
    <p:sldId id="693" r:id="rId6"/>
    <p:sldId id="717" r:id="rId7"/>
    <p:sldId id="687" r:id="rId8"/>
    <p:sldId id="715" r:id="rId9"/>
    <p:sldId id="698" r:id="rId10"/>
    <p:sldId id="686" r:id="rId11"/>
    <p:sldId id="699" r:id="rId12"/>
    <p:sldId id="700" r:id="rId13"/>
    <p:sldId id="701" r:id="rId14"/>
    <p:sldId id="702" r:id="rId15"/>
    <p:sldId id="703" r:id="rId16"/>
    <p:sldId id="718" r:id="rId17"/>
    <p:sldId id="704" r:id="rId18"/>
    <p:sldId id="705" r:id="rId19"/>
    <p:sldId id="706" r:id="rId20"/>
    <p:sldId id="707" r:id="rId21"/>
    <p:sldId id="714" r:id="rId22"/>
    <p:sldId id="692" r:id="rId23"/>
    <p:sldId id="708" r:id="rId24"/>
    <p:sldId id="709" r:id="rId25"/>
    <p:sldId id="713" r:id="rId26"/>
    <p:sldId id="711" r:id="rId27"/>
    <p:sldId id="685" r:id="rId28"/>
    <p:sldId id="694" r:id="rId29"/>
    <p:sldId id="716" r:id="rId30"/>
    <p:sldId id="689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9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194"/>
    <a:srgbClr val="D6CD1A"/>
    <a:srgbClr val="FDFCF1"/>
    <a:srgbClr val="0090FF"/>
    <a:srgbClr val="0083FF"/>
    <a:srgbClr val="00D8A4"/>
    <a:srgbClr val="B9B9B9"/>
    <a:srgbClr val="C0FAC1"/>
    <a:srgbClr val="68E5C5"/>
    <a:srgbClr val="25D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86" autoAdjust="0"/>
    <p:restoredTop sz="91499"/>
  </p:normalViewPr>
  <p:slideViewPr>
    <p:cSldViewPr snapToGrid="0" snapToObjects="1">
      <p:cViewPr varScale="1">
        <p:scale>
          <a:sx n="102" d="100"/>
          <a:sy n="102" d="100"/>
        </p:scale>
        <p:origin x="1296" y="176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5" d="100"/>
          <a:sy n="85" d="100"/>
        </p:scale>
        <p:origin x="394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FF7765A-AB56-4A84-B550-6CFD24860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2F0996-352B-43EF-85B7-1D6D61813E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84E98-B206-47F2-A669-429A1AA6B544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B9D799-645E-4D5B-86D3-5A64D28506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5B90D3-D2EA-4103-BB92-FF57A2977D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B6C53-92DA-4402-9D54-A026DB1E1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035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otham Regular" panose="02000604040000020004" pitchFamily="2" charset="0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otham Regular" panose="02000604040000020004" pitchFamily="2" charset="0"/>
              </a:defRPr>
            </a:lvl1pPr>
          </a:lstStyle>
          <a:p>
            <a:fld id="{788E6EDF-B6A1-2D42-BA65-C2DB831FFE11}" type="datetimeFigureOut">
              <a:rPr kumimoji="1" lang="zh-CN" altLang="en-US" smtClean="0"/>
              <a:pPr/>
              <a:t>2019/11/28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编辑母版文本样式</a:t>
            </a:r>
          </a:p>
          <a:p>
            <a:pPr lvl="1"/>
            <a:r>
              <a:rPr kumimoji="1" lang="zh-CN" altLang="en-US" dirty="0"/>
              <a:t>第二级</a:t>
            </a:r>
          </a:p>
          <a:p>
            <a:pPr lvl="2"/>
            <a:r>
              <a:rPr kumimoji="1" lang="zh-CN" altLang="en-US" dirty="0"/>
              <a:t>第三级</a:t>
            </a:r>
          </a:p>
          <a:p>
            <a:pPr lvl="3"/>
            <a:r>
              <a:rPr kumimoji="1" lang="zh-CN" altLang="en-US" dirty="0"/>
              <a:t>第四级</a:t>
            </a:r>
          </a:p>
          <a:p>
            <a:pPr lvl="4"/>
            <a:r>
              <a:rPr kumimoji="1"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otham Regular" panose="02000604040000020004" pitchFamily="2" charset="0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otham Regular" panose="02000604040000020004" pitchFamily="2" charset="0"/>
              </a:defRPr>
            </a:lvl1pPr>
          </a:lstStyle>
          <a:p>
            <a:fld id="{733B0160-DDCB-1B45-ABF9-35A57D999B4E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64558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7899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6320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532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pPr/>
              <a:t>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3078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3521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8662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pPr/>
              <a:t>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36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3837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6948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DE131-863B-4AAA-9B81-5CEEC0BE445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765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671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3933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7312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1642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759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6021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4760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0097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982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50078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78801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pPr/>
              <a:t>22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30955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5146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6391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7184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77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pPr/>
              <a:t>27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5536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54604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03500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9785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9CF86981-2A11-7444-83D3-88C300857D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" r="422"/>
          <a:stretch/>
        </p:blipFill>
        <p:spPr>
          <a:xfrm>
            <a:off x="1" y="-140949"/>
            <a:ext cx="12192000" cy="69005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F69936-2745-CD42-B79B-78BE237C0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28789" y="347171"/>
            <a:ext cx="1308597" cy="36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3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0DC621-0A8C-EB4C-A7A2-C7AFF86080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225961" cy="6858000"/>
          </a:xfrm>
          <a:prstGeom prst="rect">
            <a:avLst/>
          </a:prstGeom>
        </p:spPr>
      </p:pic>
      <p:sp>
        <p:nvSpPr>
          <p:cNvPr id="3" name="矩形 33">
            <a:extLst>
              <a:ext uri="{FF2B5EF4-FFF2-40B4-BE49-F238E27FC236}">
                <a16:creationId xmlns:a16="http://schemas.microsoft.com/office/drawing/2014/main" id="{AB5271E6-ECC7-7B46-9B5C-2EB11D11C5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" y="412955"/>
            <a:ext cx="4736974" cy="6154993"/>
          </a:xfrm>
          <a:prstGeom prst="rect">
            <a:avLst/>
          </a:prstGeom>
          <a:solidFill>
            <a:srgbClr val="0C0C0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E530B7-A882-ED40-B6E3-698E35E494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70669" y="116822"/>
            <a:ext cx="1264814" cy="35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2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8987741-AAEC-4F49-9F78-40764692D7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300" y="-23151"/>
            <a:ext cx="12292314" cy="68952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E262DC4-D8E4-D848-B4D8-5F1DBF363C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17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CFA75A9-0AAB-8049-8169-473DBB25B8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299" y="-23151"/>
            <a:ext cx="12292312" cy="68952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B5B4D97-E673-884F-8201-FB155392BD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2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E05A439-0EEF-3F41-A5DD-44FD082FA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299" y="-23151"/>
            <a:ext cx="12292312" cy="68952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2234C8-8E13-2245-8CDD-DA61455268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5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次标题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4793A5-621D-9E4F-A486-EAA421E7E9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24"/>
            <a:ext cx="12221818" cy="68556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F69936-2745-CD42-B79B-78BE237C0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8871" y="443423"/>
            <a:ext cx="1693762" cy="4725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A72815-5AF3-6749-9E6A-520719356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2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次标题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4793A5-621D-9E4F-A486-EAA421E7E9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24"/>
            <a:ext cx="12221817" cy="68556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F69936-2745-CD42-B79B-78BE237C0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8871" y="443423"/>
            <a:ext cx="1693762" cy="4725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A72815-5AF3-6749-9E6A-520719356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0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次标题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4793A5-621D-9E4F-A486-EAA421E7E9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24"/>
            <a:ext cx="12221817" cy="68556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F69936-2745-CD42-B79B-78BE237C0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8871" y="443423"/>
            <a:ext cx="1693762" cy="4725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A72815-5AF3-6749-9E6A-520719356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7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6BD9F86-D4B8-5745-AD5D-90350B846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301" y="-36776"/>
            <a:ext cx="12280739" cy="68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9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/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12D4F86-7134-7640-B066-CAD74C1436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0916" y="149577"/>
            <a:ext cx="1646086" cy="44854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E05A439-0EEF-3F41-A5DD-44FD082FA5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6299" y="-23151"/>
            <a:ext cx="12292312" cy="689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/内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6BD9F86-D4B8-5745-AD5D-90350B846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301" y="-36776"/>
            <a:ext cx="12280739" cy="68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5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F3447B-34C5-4CB4-BBEB-4D2278F0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CB8974-7B02-471E-8662-E8E32853A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AF834D-9C35-436B-8B56-7A6506475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7ADCE-3D28-4597-B278-E5DE50344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05C4FB-4880-4F32-AF84-B354D3A2B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1D420-BC84-304C-86CB-3D8BCC6234FF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144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717" r:id="rId3"/>
    <p:sldLayoutId id="2147483721" r:id="rId4"/>
    <p:sldLayoutId id="2147483723" r:id="rId5"/>
    <p:sldLayoutId id="2147483724" r:id="rId6"/>
    <p:sldLayoutId id="2147483725" r:id="rId7"/>
    <p:sldLayoutId id="2147483726" r:id="rId8"/>
    <p:sldLayoutId id="2147483722" r:id="rId9"/>
    <p:sldLayoutId id="2147483727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4FEAECAD-BA44-40CB-ADCC-CD8EC3D7A8E0}"/>
              </a:ext>
            </a:extLst>
          </p:cNvPr>
          <p:cNvSpPr txBox="1"/>
          <p:nvPr/>
        </p:nvSpPr>
        <p:spPr>
          <a:xfrm>
            <a:off x="313149" y="1883158"/>
            <a:ext cx="113611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800" dirty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客如云容器化从“</a:t>
            </a:r>
            <a:r>
              <a:rPr lang="en-US" altLang="zh-CN" sz="6600" b="1" spc="800" dirty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6600" b="1" spc="800" dirty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6600" b="1" spc="800" dirty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6600" b="1" spc="800" dirty="0">
              <a:solidFill>
                <a:srgbClr val="FDFCF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546CF0-15F2-6A4E-A45C-93A07646C990}"/>
              </a:ext>
            </a:extLst>
          </p:cNvPr>
          <p:cNvSpPr txBox="1"/>
          <p:nvPr/>
        </p:nvSpPr>
        <p:spPr>
          <a:xfrm>
            <a:off x="2346904" y="4478172"/>
            <a:ext cx="72935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800" dirty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Nat</a:t>
            </a:r>
          </a:p>
        </p:txBody>
      </p:sp>
    </p:spTree>
    <p:extLst>
      <p:ext uri="{BB962C8B-B14F-4D97-AF65-F5344CB8AC3E}">
        <p14:creationId xmlns:p14="http://schemas.microsoft.com/office/powerpoint/2010/main" val="188658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47711" y="287351"/>
            <a:ext cx="39712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Han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About</a:t>
            </a:r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</a:t>
            </a:r>
            <a:endParaRPr lang="zh-CN" altLang="en-US" sz="5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6A3B57-39AA-A443-83F5-1665B0EB4D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40" y="1237896"/>
            <a:ext cx="4535309" cy="4424692"/>
          </a:xfrm>
          <a:prstGeom prst="rect">
            <a:avLst/>
          </a:prstGeom>
          <a:noFill/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5A0BBAC-D61E-FC4A-82DA-B1EB4DFB0147}"/>
              </a:ext>
            </a:extLst>
          </p:cNvPr>
          <p:cNvSpPr/>
          <p:nvPr/>
        </p:nvSpPr>
        <p:spPr>
          <a:xfrm>
            <a:off x="424069" y="1508589"/>
            <a:ext cx="5923722" cy="3883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刘凯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客如云 </a:t>
            </a:r>
            <a:r>
              <a:rPr lang="en" altLang="zh-CN" sz="32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</a:t>
            </a:r>
            <a:r>
              <a:rPr lang="zh-CN" altLang="en" sz="32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32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容器平台架构师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客如云 </a:t>
            </a:r>
            <a:r>
              <a:rPr lang="en" altLang="zh-CN" sz="32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 </a:t>
            </a:r>
            <a:r>
              <a:rPr lang="zh-CN" altLang="en-US" sz="32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平台的架构、设计、落地工作</a:t>
            </a:r>
          </a:p>
        </p:txBody>
      </p:sp>
    </p:spTree>
    <p:extLst>
      <p:ext uri="{BB962C8B-B14F-4D97-AF65-F5344CB8AC3E}">
        <p14:creationId xmlns:p14="http://schemas.microsoft.com/office/powerpoint/2010/main" val="321811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088B67B-167A-434E-969B-A7104E738AD5}"/>
              </a:ext>
            </a:extLst>
          </p:cNvPr>
          <p:cNvSpPr/>
          <p:nvPr/>
        </p:nvSpPr>
        <p:spPr>
          <a:xfrm>
            <a:off x="371723" y="3317777"/>
            <a:ext cx="19506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348930" y="2394447"/>
            <a:ext cx="19962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Hans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Han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Hans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5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3293182" y="992333"/>
            <a:ext cx="7853530" cy="5050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容器化背景</a:t>
            </a:r>
            <a:endParaRPr lang="en-US" altLang="zh-CN" sz="4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容器化落地挑战</a:t>
            </a:r>
            <a:endParaRPr lang="en-US" altLang="zh-CN" sz="4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前期</a:t>
            </a:r>
            <a:r>
              <a:rPr lang="en-US" altLang="zh-CN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POC</a:t>
            </a: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</a:t>
            </a:r>
            <a:endParaRPr lang="en-US" altLang="zh-CN" sz="4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落地过程中的问题</a:t>
            </a:r>
            <a:endParaRPr lang="en-US" altLang="zh-CN" sz="4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未来规划</a:t>
            </a:r>
          </a:p>
        </p:txBody>
      </p:sp>
    </p:spTree>
    <p:extLst>
      <p:ext uri="{BB962C8B-B14F-4D97-AF65-F5344CB8AC3E}">
        <p14:creationId xmlns:p14="http://schemas.microsoft.com/office/powerpoint/2010/main" val="110429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5E131C8-DA2B-A34B-A26D-DFB087B9B053}"/>
              </a:ext>
            </a:extLst>
          </p:cNvPr>
          <p:cNvSpPr/>
          <p:nvPr/>
        </p:nvSpPr>
        <p:spPr>
          <a:xfrm>
            <a:off x="5216056" y="2661650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容器化背景</a:t>
            </a:r>
            <a:endParaRPr lang="en-US" altLang="zh-Hans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216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39712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容器化目的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980661" y="1537251"/>
            <a:ext cx="10177669" cy="3698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支撑业务高速增长</a:t>
            </a:r>
            <a:endParaRPr lang="en-US" altLang="zh-CN" sz="32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 </a:t>
            </a:r>
            <a:r>
              <a:rPr lang="en-US" altLang="zh-CN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</a:t>
            </a:r>
            <a:r>
              <a:rPr lang="en-US" altLang="zh-CN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lang="zh-CN" altLang="en-US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平台化</a:t>
            </a:r>
            <a:endParaRPr lang="en-US" altLang="zh-CN" sz="32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Kubernetes</a:t>
            </a:r>
            <a:r>
              <a:rPr lang="zh-CN" altLang="en-US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技术红利</a:t>
            </a:r>
            <a:endParaRPr lang="en-US" altLang="zh-CN" sz="32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弹性伸缩、自愈、资源利用率、服务编排 </a:t>
            </a:r>
            <a:r>
              <a:rPr lang="en-US" altLang="zh-CN" sz="32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</a:p>
          <a:p>
            <a:pPr lvl="1">
              <a:lnSpc>
                <a:spcPct val="150000"/>
              </a:lnSpc>
            </a:pPr>
            <a:endParaRPr lang="en-US" altLang="zh-CN" sz="32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8327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85035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Kubernetes</a:t>
            </a:r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调查报告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886216" y="1365532"/>
            <a:ext cx="9965635" cy="463287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 </a:t>
            </a:r>
            <a:r>
              <a:rPr lang="zh-CN" altLang="en-US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毫无疑问，</a:t>
            </a:r>
            <a:r>
              <a:rPr lang="en" altLang="zh-CN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 </a:t>
            </a:r>
            <a:r>
              <a:rPr lang="zh-CN" altLang="en-US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仍然是管理云容器的首选平台。</a:t>
            </a:r>
            <a:r>
              <a:rPr lang="en-US" altLang="zh-CN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35</a:t>
            </a:r>
            <a:r>
              <a:rPr lang="zh-CN" altLang="en-US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％的亚洲受访者表示正在使用 </a:t>
            </a:r>
            <a:r>
              <a:rPr lang="en" altLang="zh-CN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 </a:t>
            </a:r>
            <a:r>
              <a:rPr lang="zh-CN" altLang="en-US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管理容器。</a:t>
            </a:r>
            <a:endParaRPr lang="en-US" altLang="zh-CN" sz="3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——	</a:t>
            </a:r>
            <a:r>
              <a:rPr lang="en" altLang="zh-CN" sz="24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CNCF Survey: China is Going Native with Cloud</a:t>
            </a:r>
          </a:p>
          <a:p>
            <a:pPr>
              <a:lnSpc>
                <a:spcPct val="150000"/>
              </a:lnSpc>
            </a:pPr>
            <a:endParaRPr lang="zh-CN" altLang="en-US" sz="28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850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4CB9AED-08B3-AA46-B8B8-7158BB5AF1F0}"/>
              </a:ext>
            </a:extLst>
          </p:cNvPr>
          <p:cNvSpPr/>
          <p:nvPr/>
        </p:nvSpPr>
        <p:spPr>
          <a:xfrm>
            <a:off x="5216056" y="2661650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容器化落地挑战</a:t>
            </a:r>
            <a:endParaRPr lang="en-US" altLang="zh-Hans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100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 </a:t>
            </a:r>
            <a:r>
              <a:rPr lang="en-US" altLang="zh-CN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保证业务稳定运行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8E1F21-D697-1F4E-8C4B-26CF97C04EE5}"/>
              </a:ext>
            </a:extLst>
          </p:cNvPr>
          <p:cNvSpPr/>
          <p:nvPr/>
        </p:nvSpPr>
        <p:spPr>
          <a:xfrm>
            <a:off x="7531223" y="3314690"/>
            <a:ext cx="1240077" cy="6638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Nginx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E06471-8FCE-4E40-9F5A-C8D997E4F858}"/>
              </a:ext>
            </a:extLst>
          </p:cNvPr>
          <p:cNvSpPr/>
          <p:nvPr/>
        </p:nvSpPr>
        <p:spPr>
          <a:xfrm>
            <a:off x="7531223" y="2359770"/>
            <a:ext cx="1240077" cy="6638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ZBRD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2D7CE7-5356-3E4A-9A73-235C18E3C7CA}"/>
              </a:ext>
            </a:extLst>
          </p:cNvPr>
          <p:cNvSpPr/>
          <p:nvPr/>
        </p:nvSpPr>
        <p:spPr>
          <a:xfrm>
            <a:off x="7518696" y="1404850"/>
            <a:ext cx="1240077" cy="6638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公网</a:t>
            </a:r>
            <a:r>
              <a:rPr kumimoji="1" lang="en-US" altLang="zh-CN" dirty="0"/>
              <a:t>SLB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2B817C-49A7-5341-B629-F6D11C592888}"/>
              </a:ext>
            </a:extLst>
          </p:cNvPr>
          <p:cNvSpPr/>
          <p:nvPr/>
        </p:nvSpPr>
        <p:spPr>
          <a:xfrm>
            <a:off x="7351340" y="4601550"/>
            <a:ext cx="762687" cy="6638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ECS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CF677E-FA83-8645-83E5-4B11B3536350}"/>
              </a:ext>
            </a:extLst>
          </p:cNvPr>
          <p:cNvSpPr/>
          <p:nvPr/>
        </p:nvSpPr>
        <p:spPr>
          <a:xfrm>
            <a:off x="8315488" y="4601550"/>
            <a:ext cx="762687" cy="6638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SLB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C80936-3759-BB4D-8FDB-E923DE6E8B3E}"/>
              </a:ext>
            </a:extLst>
          </p:cNvPr>
          <p:cNvSpPr/>
          <p:nvPr/>
        </p:nvSpPr>
        <p:spPr>
          <a:xfrm>
            <a:off x="8315488" y="5653167"/>
            <a:ext cx="762687" cy="6638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Pod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31892D2F-6B04-5B44-A580-6529C41EA76C}"/>
              </a:ext>
            </a:extLst>
          </p:cNvPr>
          <p:cNvCxnSpPr>
            <a:stCxn id="8" idx="2"/>
            <a:endCxn id="5" idx="0"/>
          </p:cNvCxnSpPr>
          <p:nvPr/>
        </p:nvCxnSpPr>
        <p:spPr>
          <a:xfrm>
            <a:off x="8138735" y="2068730"/>
            <a:ext cx="12527" cy="2910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316B3A6-33CC-1646-AB77-9E0DF101CEC4}"/>
              </a:ext>
            </a:extLst>
          </p:cNvPr>
          <p:cNvCxnSpPr>
            <a:stCxn id="5" idx="2"/>
            <a:endCxn id="2" idx="0"/>
          </p:cNvCxnSpPr>
          <p:nvPr/>
        </p:nvCxnSpPr>
        <p:spPr>
          <a:xfrm>
            <a:off x="8151262" y="3023650"/>
            <a:ext cx="0" cy="2910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7167FDF-9BC9-5441-9D18-1EA2BD9819AA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7732684" y="3978570"/>
            <a:ext cx="418578" cy="6229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72EB4402-DA78-E645-86C5-CC6502E5343C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>
            <a:off x="8151262" y="3978570"/>
            <a:ext cx="545570" cy="6229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C0E1A858-7100-4C40-A36D-C2A1564AB97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8696832" y="5265430"/>
            <a:ext cx="0" cy="38773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18498813-5E7D-EC44-89C9-91ABCC5D8456}"/>
              </a:ext>
            </a:extLst>
          </p:cNvPr>
          <p:cNvSpPr/>
          <p:nvPr/>
        </p:nvSpPr>
        <p:spPr>
          <a:xfrm>
            <a:off x="516598" y="1404850"/>
            <a:ext cx="3793213" cy="233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过渡期</a:t>
            </a:r>
            <a:endParaRPr lang="en-US" altLang="zh-CN" sz="28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ECS</a:t>
            </a: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Pod</a:t>
            </a: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混合部署</a:t>
            </a:r>
            <a:endParaRPr lang="en-US" altLang="zh-CN" sz="2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SVC</a:t>
            </a: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" altLang="zh-CN" sz="2400" spc="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LoadBalancer</a:t>
            </a:r>
            <a:endParaRPr lang="en-US" altLang="zh-CN" sz="2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基于权重调整流量</a:t>
            </a:r>
            <a:endParaRPr lang="en-US" altLang="zh-CN" sz="2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784B5E1-632F-FE44-9544-9338B8BF107A}"/>
              </a:ext>
            </a:extLst>
          </p:cNvPr>
          <p:cNvSpPr/>
          <p:nvPr/>
        </p:nvSpPr>
        <p:spPr>
          <a:xfrm>
            <a:off x="4703681" y="3314690"/>
            <a:ext cx="1240077" cy="6638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Nginx</a:t>
            </a:r>
            <a:endParaRPr kumimoji="1"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1D7EBA6-D450-8840-8A59-14A02764CF9A}"/>
              </a:ext>
            </a:extLst>
          </p:cNvPr>
          <p:cNvSpPr/>
          <p:nvPr/>
        </p:nvSpPr>
        <p:spPr>
          <a:xfrm>
            <a:off x="4703681" y="2359770"/>
            <a:ext cx="1240077" cy="6638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ZBRD</a:t>
            </a:r>
            <a:endParaRPr kumimoji="1"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ACB3E72-6CE3-984D-BFCD-A8F93DA8972A}"/>
              </a:ext>
            </a:extLst>
          </p:cNvPr>
          <p:cNvSpPr/>
          <p:nvPr/>
        </p:nvSpPr>
        <p:spPr>
          <a:xfrm>
            <a:off x="4691154" y="1404850"/>
            <a:ext cx="1240077" cy="6638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公网</a:t>
            </a:r>
            <a:r>
              <a:rPr kumimoji="1" lang="en-US" altLang="zh-CN" dirty="0"/>
              <a:t>SLB</a:t>
            </a:r>
            <a:endParaRPr kumimoji="1"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DCD6D2A-4D59-E043-A728-9A1174414E51}"/>
              </a:ext>
            </a:extLst>
          </p:cNvPr>
          <p:cNvSpPr/>
          <p:nvPr/>
        </p:nvSpPr>
        <p:spPr>
          <a:xfrm>
            <a:off x="4447545" y="4601550"/>
            <a:ext cx="762687" cy="6638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ECS</a:t>
            </a:r>
            <a:endParaRPr kumimoji="1"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2068A8D-C757-7A47-9FD2-30AA0B7441BA}"/>
              </a:ext>
            </a:extLst>
          </p:cNvPr>
          <p:cNvSpPr/>
          <p:nvPr/>
        </p:nvSpPr>
        <p:spPr>
          <a:xfrm>
            <a:off x="5398753" y="4601550"/>
            <a:ext cx="762687" cy="6638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ECS</a:t>
            </a:r>
            <a:endParaRPr kumimoji="1" lang="zh-CN" altLang="en-US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D55DCC2F-DFF6-8A45-A37B-0B5D58895D97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>
            <a:off x="5311193" y="2068730"/>
            <a:ext cx="12527" cy="2910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02ED2652-054E-B944-A8E3-7F7974B39601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5323720" y="3023650"/>
            <a:ext cx="0" cy="2910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FCBDF7EB-5BF3-E548-87B7-91F97D8BC930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 flipH="1">
            <a:off x="4828889" y="3978570"/>
            <a:ext cx="494831" cy="6229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8A6404C1-0DA7-C94D-A612-53C2811F63DB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>
            <a:off x="5323720" y="3978570"/>
            <a:ext cx="456377" cy="6229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38EC8B82-69C3-F647-A22E-A2B862C36718}"/>
              </a:ext>
            </a:extLst>
          </p:cNvPr>
          <p:cNvSpPr/>
          <p:nvPr/>
        </p:nvSpPr>
        <p:spPr>
          <a:xfrm>
            <a:off x="10317380" y="3314690"/>
            <a:ext cx="1240077" cy="6638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Ingress</a:t>
            </a:r>
            <a:endParaRPr kumimoji="1" lang="zh-CN" altLang="en-US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A49C577-6A66-F847-AF81-FF2D6D1C03A6}"/>
              </a:ext>
            </a:extLst>
          </p:cNvPr>
          <p:cNvSpPr/>
          <p:nvPr/>
        </p:nvSpPr>
        <p:spPr>
          <a:xfrm>
            <a:off x="10317380" y="2359770"/>
            <a:ext cx="1240077" cy="6638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ZBRD</a:t>
            </a:r>
            <a:endParaRPr kumimoji="1" lang="zh-CN" altLang="en-US" dirty="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DAF5A931-3BE2-B947-B2C1-2F9E25BE4A01}"/>
              </a:ext>
            </a:extLst>
          </p:cNvPr>
          <p:cNvSpPr/>
          <p:nvPr/>
        </p:nvSpPr>
        <p:spPr>
          <a:xfrm>
            <a:off x="10304853" y="1404850"/>
            <a:ext cx="1240077" cy="6638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公网</a:t>
            </a:r>
            <a:r>
              <a:rPr kumimoji="1" lang="en-US" altLang="zh-CN" dirty="0"/>
              <a:t>SLB</a:t>
            </a:r>
            <a:endParaRPr kumimoji="1" lang="zh-CN" altLang="en-US" dirty="0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1BBA5C82-98BE-C741-9A20-AABE89F0E784}"/>
              </a:ext>
            </a:extLst>
          </p:cNvPr>
          <p:cNvSpPr/>
          <p:nvPr/>
        </p:nvSpPr>
        <p:spPr>
          <a:xfrm>
            <a:off x="10137497" y="4601550"/>
            <a:ext cx="762687" cy="6638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Pod</a:t>
            </a:r>
            <a:endParaRPr kumimoji="1" lang="zh-CN" altLang="en-US" dirty="0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283966D7-620F-6A43-AC64-BBB576B81820}"/>
              </a:ext>
            </a:extLst>
          </p:cNvPr>
          <p:cNvSpPr/>
          <p:nvPr/>
        </p:nvSpPr>
        <p:spPr>
          <a:xfrm>
            <a:off x="11101645" y="4601550"/>
            <a:ext cx="762687" cy="6638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Pod</a:t>
            </a:r>
            <a:endParaRPr kumimoji="1"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51D2E1D0-F399-734C-81B3-5395A0BCA0E9}"/>
              </a:ext>
            </a:extLst>
          </p:cNvPr>
          <p:cNvCxnSpPr>
            <a:stCxn id="127" idx="2"/>
            <a:endCxn id="126" idx="0"/>
          </p:cNvCxnSpPr>
          <p:nvPr/>
        </p:nvCxnSpPr>
        <p:spPr>
          <a:xfrm>
            <a:off x="10924892" y="2068730"/>
            <a:ext cx="12527" cy="2910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线箭头连接符 131">
            <a:extLst>
              <a:ext uri="{FF2B5EF4-FFF2-40B4-BE49-F238E27FC236}">
                <a16:creationId xmlns:a16="http://schemas.microsoft.com/office/drawing/2014/main" id="{F48253E8-11C7-1047-B95B-5A73365AF6AB}"/>
              </a:ext>
            </a:extLst>
          </p:cNvPr>
          <p:cNvCxnSpPr>
            <a:stCxn id="126" idx="2"/>
            <a:endCxn id="125" idx="0"/>
          </p:cNvCxnSpPr>
          <p:nvPr/>
        </p:nvCxnSpPr>
        <p:spPr>
          <a:xfrm>
            <a:off x="10937419" y="3023650"/>
            <a:ext cx="0" cy="2910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线箭头连接符 132">
            <a:extLst>
              <a:ext uri="{FF2B5EF4-FFF2-40B4-BE49-F238E27FC236}">
                <a16:creationId xmlns:a16="http://schemas.microsoft.com/office/drawing/2014/main" id="{53863CA9-36E3-564B-8D4F-4AC8509D8FE9}"/>
              </a:ext>
            </a:extLst>
          </p:cNvPr>
          <p:cNvCxnSpPr>
            <a:cxnSpLocks/>
            <a:stCxn id="125" idx="2"/>
            <a:endCxn id="128" idx="0"/>
          </p:cNvCxnSpPr>
          <p:nvPr/>
        </p:nvCxnSpPr>
        <p:spPr>
          <a:xfrm flipH="1">
            <a:off x="10518841" y="3978570"/>
            <a:ext cx="418578" cy="6229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75258557-D5C5-A842-A28B-2C4D92C88131}"/>
              </a:ext>
            </a:extLst>
          </p:cNvPr>
          <p:cNvCxnSpPr>
            <a:cxnSpLocks/>
            <a:stCxn id="125" idx="2"/>
            <a:endCxn id="129" idx="0"/>
          </p:cNvCxnSpPr>
          <p:nvPr/>
        </p:nvCxnSpPr>
        <p:spPr>
          <a:xfrm>
            <a:off x="10937419" y="3978570"/>
            <a:ext cx="545570" cy="6229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右箭头 135">
            <a:extLst>
              <a:ext uri="{FF2B5EF4-FFF2-40B4-BE49-F238E27FC236}">
                <a16:creationId xmlns:a16="http://schemas.microsoft.com/office/drawing/2014/main" id="{02F5B469-C153-5B48-9C7A-08F8BAE46C64}"/>
              </a:ext>
            </a:extLst>
          </p:cNvPr>
          <p:cNvSpPr/>
          <p:nvPr/>
        </p:nvSpPr>
        <p:spPr>
          <a:xfrm>
            <a:off x="6268979" y="2926854"/>
            <a:ext cx="978408" cy="484632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8" name="右箭头 147">
            <a:extLst>
              <a:ext uri="{FF2B5EF4-FFF2-40B4-BE49-F238E27FC236}">
                <a16:creationId xmlns:a16="http://schemas.microsoft.com/office/drawing/2014/main" id="{5ED85175-6F9D-6F41-94FA-05A9F2362D61}"/>
              </a:ext>
            </a:extLst>
          </p:cNvPr>
          <p:cNvSpPr/>
          <p:nvPr/>
        </p:nvSpPr>
        <p:spPr>
          <a:xfrm>
            <a:off x="9159089" y="292685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0979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 </a:t>
            </a:r>
            <a:r>
              <a:rPr lang="en-US" altLang="zh-CN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保证业务迭代速度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344557" y="1353671"/>
            <a:ext cx="4897208" cy="4089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容器化无感改造，标准化是前提：</a:t>
            </a:r>
            <a:endParaRPr lang="en-US" altLang="zh-CN" sz="28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通用的 </a:t>
            </a:r>
            <a:r>
              <a:rPr lang="en-US" altLang="zh-CN" sz="2400" spc="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Dockerfile</a:t>
            </a: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模板</a:t>
            </a:r>
            <a:endParaRPr lang="en-US" altLang="zh-CN" sz="2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Jenkins</a:t>
            </a: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Pipelines</a:t>
            </a: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改造</a:t>
            </a:r>
            <a:endParaRPr lang="en-US" altLang="zh-CN" sz="2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部署平台支持 </a:t>
            </a:r>
            <a:r>
              <a:rPr lang="en-US" altLang="zh-CN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ECS</a:t>
            </a: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和 </a:t>
            </a:r>
            <a:r>
              <a:rPr lang="en-US" altLang="zh-CN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Kubernetes</a:t>
            </a:r>
            <a:r>
              <a:rPr lang="zh-CN" altLang="en-US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部署</a:t>
            </a:r>
            <a:endParaRPr lang="en-US" altLang="zh-CN" sz="2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4A10F9-89D4-0D42-8014-CB532765E075}"/>
              </a:ext>
            </a:extLst>
          </p:cNvPr>
          <p:cNvSpPr/>
          <p:nvPr/>
        </p:nvSpPr>
        <p:spPr>
          <a:xfrm>
            <a:off x="5241765" y="1531471"/>
            <a:ext cx="6391435" cy="4278094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softEdge rad="0"/>
          </a:effectLst>
        </p:spPr>
        <p:txBody>
          <a:bodyPr wrap="square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 openjdk:8u181</a:t>
            </a:r>
          </a:p>
          <a:p>
            <a:endParaRPr lang="zh-CN" altLang="en-US" sz="16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ARG DUMBFILE</a:t>
            </a: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COPY ${DUMBFILE} /usr/local/bin/dumb-init</a:t>
            </a: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 chmod +x /usr/local/bin/dumb-init</a:t>
            </a:r>
          </a:p>
          <a:p>
            <a:endParaRPr lang="zh-CN" altLang="en-US" sz="16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ARG JAR_NAME</a:t>
            </a:r>
          </a:p>
          <a:p>
            <a:endParaRPr lang="zh-CN" altLang="en-US" sz="16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ENV JAVA_OPTS=""</a:t>
            </a:r>
          </a:p>
          <a:p>
            <a:endParaRPr lang="zh-CN" altLang="en-US" sz="16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ENV ENV_OPTS=""</a:t>
            </a:r>
          </a:p>
          <a:p>
            <a:endParaRPr lang="zh-CN" altLang="en-US" sz="16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ENV ENV_JAR_NAME=${JAR_NAME}</a:t>
            </a:r>
          </a:p>
          <a:p>
            <a:endParaRPr lang="zh-CN" altLang="en-US" sz="16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ENTRYPOINT ["/usr/local/bin/dumb-init", "--"]</a:t>
            </a:r>
          </a:p>
          <a:p>
            <a:endParaRPr lang="zh-CN" altLang="en-US" sz="1600" i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600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CMD java ${JAVA_OPTS} -jar ${ENV_JAR_NAME}.jar ${ENV_OPTS}</a:t>
            </a:r>
          </a:p>
        </p:txBody>
      </p:sp>
    </p:spTree>
    <p:extLst>
      <p:ext uri="{BB962C8B-B14F-4D97-AF65-F5344CB8AC3E}">
        <p14:creationId xmlns:p14="http://schemas.microsoft.com/office/powerpoint/2010/main" val="3286976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1A356C2-2C80-7E48-84F4-5ABEDC633A90}"/>
              </a:ext>
            </a:extLst>
          </p:cNvPr>
          <p:cNvSpPr/>
          <p:nvPr/>
        </p:nvSpPr>
        <p:spPr>
          <a:xfrm>
            <a:off x="5216056" y="2661650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前期</a:t>
            </a:r>
            <a:r>
              <a:rPr lang="en-US" altLang="zh-CN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POC</a:t>
            </a:r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重点方向</a:t>
            </a:r>
            <a:endParaRPr lang="en-US" altLang="zh-Hans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4709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应用容器内存分配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0" y="1550503"/>
            <a:ext cx="12192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内存实际大小</a:t>
            </a:r>
            <a:r>
              <a:rPr lang="en-US" altLang="zh-CN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堆内存</a:t>
            </a:r>
            <a:r>
              <a:rPr lang="en-US" altLang="zh-CN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线程数*线程栈大小</a:t>
            </a:r>
            <a:r>
              <a:rPr lang="en-US" altLang="zh-CN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元空间</a:t>
            </a:r>
            <a:r>
              <a:rPr lang="en-US" altLang="zh-CN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000" spc="2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堆外内存</a:t>
            </a:r>
            <a:endParaRPr lang="en-US" altLang="zh-CN" sz="3000" spc="2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2GB</a:t>
            </a:r>
            <a:r>
              <a:rPr lang="zh-CN" altLang="en-US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的 </a:t>
            </a:r>
            <a:r>
              <a:rPr lang="en-US" altLang="zh-CN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Heap</a:t>
            </a:r>
            <a:r>
              <a:rPr lang="zh-CN" altLang="en-US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为例</a:t>
            </a:r>
            <a:r>
              <a:rPr lang="zh-CN" altLang="en-US" sz="28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-Xmx2048M, -</a:t>
            </a:r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XX:MaxMetaspaceSize</a:t>
            </a:r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=256M, -Xss256k</a:t>
            </a:r>
          </a:p>
          <a:p>
            <a:pPr>
              <a:lnSpc>
                <a:spcPct val="150000"/>
              </a:lnSpc>
            </a:pPr>
            <a:r>
              <a:rPr lang="en-US" altLang="zh-CN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容器内存大小</a:t>
            </a:r>
            <a:r>
              <a:rPr lang="en-US" altLang="zh-CN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2048+256+256</a:t>
            </a:r>
            <a:r>
              <a:rPr lang="zh-CN" altLang="en-US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）*</a:t>
            </a:r>
            <a:r>
              <a:rPr lang="en-US" altLang="zh-CN" sz="28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1.2=3072Mib=3Gib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  <a:r>
              <a:rPr lang="zh-CN" altLang="en-US" sz="3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对容器的支持</a:t>
            </a:r>
            <a:endParaRPr lang="en-US" altLang="zh-CN" sz="3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jdk8 u131/jdk9</a:t>
            </a:r>
          </a:p>
          <a:p>
            <a:pPr lvl="1"/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     -XX:+</a:t>
            </a:r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UnlockExperimentalVMOptions</a:t>
            </a:r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-XX:+</a:t>
            </a:r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UseCGroupMemoryLimitForHeap</a:t>
            </a:r>
            <a:endParaRPr lang="en" altLang="zh-CN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jdk11</a:t>
            </a:r>
          </a:p>
          <a:p>
            <a:pPr lvl="1"/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    -XX:+</a:t>
            </a:r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UseContainerSupport</a:t>
            </a:r>
            <a:endParaRPr lang="en-US" altLang="zh-CN" sz="32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5756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应用容器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507956" y="1550503"/>
            <a:ext cx="11379244" cy="2959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JVM </a:t>
            </a: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启动期间至少需要 </a:t>
            </a: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Requests=1</a:t>
            </a: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Cores</a:t>
            </a: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Limits=2</a:t>
            </a: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Cores</a:t>
            </a: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，超卖 </a:t>
            </a: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200%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根据业务模式、成本、性能，权衡好 </a:t>
            </a:r>
            <a:r>
              <a:rPr lang="en-US" altLang="zh-CN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sz="32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超卖比列</a:t>
            </a:r>
            <a:endParaRPr lang="en-US" altLang="zh-CN" sz="32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1969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Node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节点选型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1A32BF-AA85-9B44-8D2E-BE1C7EB6E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846392"/>
              </p:ext>
            </p:extLst>
          </p:nvPr>
        </p:nvGraphicFramePr>
        <p:xfrm>
          <a:off x="415191" y="1295331"/>
          <a:ext cx="11232000" cy="4480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1094781024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375219447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6927609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173277489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347042019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549975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规格</a:t>
                      </a: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Requests</a:t>
                      </a:r>
                      <a:endParaRPr lang="zh-CN" altLang="en-US" sz="2400" b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Limits</a:t>
                      </a:r>
                      <a:endParaRPr lang="zh-CN" altLang="en-US" sz="2400" b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CPU</a:t>
                      </a:r>
                      <a:r>
                        <a:rPr lang="zh-CN" altLang="en-US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超卖</a:t>
                      </a: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Pod</a:t>
                      </a:r>
                      <a:r>
                        <a:rPr lang="zh-CN" altLang="en-US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数量</a:t>
                      </a: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00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" altLang="zh-CN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96C384G</a:t>
                      </a:r>
                      <a:r>
                        <a:rPr lang="zh-CN" altLang="en-US" sz="20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神龙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200%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96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最高性价比</a:t>
                      </a:r>
                    </a:p>
                  </a:txBody>
                  <a:tcPr marL="45720" marR="4572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682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96C384G</a:t>
                      </a:r>
                      <a:r>
                        <a:rPr lang="zh-CN" altLang="en-US" sz="20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神龙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CN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250%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Pod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数量过高</a:t>
                      </a: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4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bg1"/>
                          </a:solidFill>
                        </a:rPr>
                        <a:t>32C128G</a:t>
                      </a:r>
                      <a:endParaRPr lang="zh-CN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200%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过渡期最佳</a:t>
                      </a:r>
                    </a:p>
                  </a:txBody>
                  <a:tcPr marL="45720" marR="457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825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bg1"/>
                          </a:solidFill>
                        </a:rPr>
                        <a:t>32C128G</a:t>
                      </a:r>
                      <a:endParaRPr lang="zh-CN" altLang="en-US" sz="20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zh-CN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250%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资源利用率低</a:t>
                      </a: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29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bg1"/>
                          </a:solidFill>
                        </a:rPr>
                        <a:t>32C256G</a:t>
                      </a:r>
                      <a:endParaRPr lang="zh-CN" altLang="en-US" sz="20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zh-CN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250%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成本低</a:t>
                      </a:r>
                    </a:p>
                  </a:txBody>
                  <a:tcPr marL="45720" marR="45720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68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bg1"/>
                          </a:solidFill>
                        </a:rPr>
                        <a:t>32C256G</a:t>
                      </a:r>
                      <a:endParaRPr lang="zh-CN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2C4G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400%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超卖，最低成本</a:t>
                      </a: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049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338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507956" y="1885206"/>
            <a:ext cx="5218316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集群就绪后第一个应用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Prometheus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Prometheus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Operator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Thanos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多维度监控，拒绝盲点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512205-EB62-9A40-8246-E4D8C5E5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115" y="1895060"/>
            <a:ext cx="6333206" cy="446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09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Node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的监控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4050792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容器实现机制决定了容器和宿主机共享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中需要对宿主机的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参数进行监控。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C92252-CA4C-5047-AFCF-B28F09D86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448" y="1544731"/>
            <a:ext cx="7608763" cy="43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27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 </a:t>
            </a:r>
            <a:r>
              <a:rPr lang="en-US" altLang="zh-CN" sz="40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40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" altLang="zh-CN" sz="40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Kubernetes  Event </a:t>
            </a:r>
            <a:r>
              <a:rPr lang="zh-CN" altLang="en-US" sz="40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关键信息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416098" y="1364658"/>
            <a:ext cx="52456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400" spc="2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</a:t>
            </a:r>
            <a:r>
              <a:rPr lang="en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/client-go 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抓取所有 </a:t>
            </a:r>
            <a:r>
              <a:rPr lang="en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Events</a:t>
            </a:r>
            <a:r>
              <a:rPr lang="zh-CN" altLang="e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按需显示</a:t>
            </a:r>
            <a:r>
              <a:rPr lang="en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专注于关键 </a:t>
            </a:r>
            <a:r>
              <a:rPr lang="en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Events</a:t>
            </a:r>
            <a:r>
              <a:rPr lang="zh-CN" altLang="e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提高决策效率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9D9A86-2BC4-5E41-A016-2E300F76A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78" y="1388223"/>
            <a:ext cx="5562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25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Container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多维度的监控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4050792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容器的资源隔离性，提供了更精确的监控数据，可观察性也随之变得标准化。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22C7ECC-D666-3F42-B6A7-7BD1019E7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48" y="1544731"/>
            <a:ext cx="7814251" cy="357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5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APM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应用指标监控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4050792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通过应用在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和容器中各项指标对比结果，针对性的调整容器资源分配。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58676B-66B8-C34E-8CAB-D596100EE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00" y="1544731"/>
            <a:ext cx="7442200" cy="371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40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告警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通知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4050792" cy="390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Prometheus Operator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自带众多实用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可自定义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丰富的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Exporter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告警按严重程度分级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钉钉、邮箱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5EC79D2-338B-B24F-A54D-484895E0D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84431"/>
            <a:ext cx="7331103" cy="352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49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403572" y="990532"/>
            <a:ext cx="5358400" cy="4192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统一日志采集入口</a:t>
            </a:r>
            <a:endParaRPr lang="en-US" altLang="zh-CN" sz="20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代码保证日志通过 </a:t>
            </a:r>
            <a:r>
              <a:rPr lang="en-US" altLang="zh-CN" sz="2000" spc="2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stdout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stderr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输出</a:t>
            </a:r>
            <a:endParaRPr lang="en-US" altLang="zh-CN" sz="20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取消日志文件的生成，避免磁盘和 </a:t>
            </a:r>
            <a:r>
              <a:rPr lang="en" altLang="zh-CN" sz="2000" spc="2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FileDescriptor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的无效占用</a:t>
            </a:r>
            <a:endParaRPr lang="en-US" altLang="zh-CN" sz="20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阿里云 </a:t>
            </a:r>
            <a:r>
              <a:rPr lang="en-US" altLang="zh-CN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STS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通过 </a:t>
            </a:r>
            <a:r>
              <a:rPr lang="en-US" altLang="zh-CN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CRD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EFK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lang="en-US" altLang="zh-CN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Container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Namespace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自动创建 </a:t>
            </a:r>
            <a:r>
              <a:rPr lang="en-US" altLang="zh-CN" sz="2000" spc="2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LogStore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或 </a:t>
            </a:r>
            <a:r>
              <a:rPr lang="en-US" altLang="zh-CN" sz="2000" spc="2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ElasticSearch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Index</a:t>
            </a:r>
            <a:r>
              <a:rPr lang="zh-CN" altLang="en-US" sz="20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，避免手动创建日志配置</a:t>
            </a:r>
            <a:endParaRPr lang="en-US" altLang="zh-CN" sz="20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86DB19-51C1-9D46-9EE4-28D07AE89F53}"/>
              </a:ext>
            </a:extLst>
          </p:cNvPr>
          <p:cNvSpPr/>
          <p:nvPr/>
        </p:nvSpPr>
        <p:spPr>
          <a:xfrm>
            <a:off x="6663847" y="695536"/>
            <a:ext cx="4622104" cy="550920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apiVersion: log.alibabacloud.com/v1alpha1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kind: AliyunLogConfig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name: portal-cms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lifeCycle: 1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logstore: portal-cms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logtailConfig: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configName: portal-cms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inputDetail: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plugin: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inputs: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- detail: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IncludeEnv: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CONTAINER_NAME: portal-cms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IncludeLabel: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io.kubernetes.pod.namespace: dev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Stderr: true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Stdout: true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type: service_docker_stdout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inputType: plugin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shardCount: 2</a:t>
            </a:r>
          </a:p>
        </p:txBody>
      </p:sp>
    </p:spTree>
    <p:extLst>
      <p:ext uri="{BB962C8B-B14F-4D97-AF65-F5344CB8AC3E}">
        <p14:creationId xmlns:p14="http://schemas.microsoft.com/office/powerpoint/2010/main" val="3193865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POC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11252244" cy="1955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</a:t>
            </a:r>
            <a:r>
              <a:rPr lang="zh-CN" altLang="en-US" sz="28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重要特性要掌握</a:t>
            </a:r>
            <a:endParaRPr lang="en-US" altLang="zh-CN" sz="28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监控是重中之重</a:t>
            </a:r>
            <a:endParaRPr lang="en-US" altLang="zh-CN" sz="28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决策要有数据和规范支撑</a:t>
            </a:r>
            <a:endParaRPr lang="en-US" altLang="zh-CN" sz="28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5745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5E131C8-DA2B-A34B-A26D-DFB087B9B053}"/>
              </a:ext>
            </a:extLst>
          </p:cNvPr>
          <p:cNvSpPr/>
          <p:nvPr/>
        </p:nvSpPr>
        <p:spPr>
          <a:xfrm>
            <a:off x="5216056" y="2661650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落地过程中的问题</a:t>
            </a:r>
            <a:endParaRPr lang="en-US" altLang="zh-Hans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7627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Readiness 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Liveness</a:t>
            </a:r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适用场景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11252244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Readiness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检查不过，切断流量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Liveness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检查不过，容器重启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Readiness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和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Liveness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是两个独立的逻辑，切忌两套逻辑合并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参数要结合业务场景独立设计，多做沙盘推演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7551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健康检查依赖关系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11252244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boot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/health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返回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仔细评估健康检查依赖，是否影响容器预期运行状态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独立于 </a:t>
            </a:r>
            <a:r>
              <a:rPr lang="en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外的服务链健康检查机制</a:t>
            </a:r>
            <a:endParaRPr lang="en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206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服务生命周期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5473744" cy="4643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" sz="28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优雅</a:t>
            </a:r>
            <a:r>
              <a:rPr lang="zh-CN" altLang="en-US" sz="28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退出</a:t>
            </a:r>
            <a:endParaRPr lang="en" altLang="zh-CN" sz="28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400" spc="2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</a:t>
            </a:r>
            <a:r>
              <a:rPr lang="en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-c 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启动无法实现信号量转发</a:t>
            </a:r>
            <a:endParaRPr lang="en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exec 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启动可以接收 </a:t>
            </a:r>
            <a:r>
              <a:rPr lang="en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SIGTERM 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优雅退出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平滑滚动</a:t>
            </a:r>
            <a:endParaRPr lang="en-US" altLang="zh-CN" sz="28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避免服务负载能力波动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核心服务 </a:t>
            </a:r>
            <a:r>
              <a:rPr lang="en-US" altLang="zh-CN" sz="2400" spc="2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maxUnavailable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BAEFF3-D1AD-D546-8541-630724974D25}"/>
              </a:ext>
            </a:extLst>
          </p:cNvPr>
          <p:cNvSpPr/>
          <p:nvPr/>
        </p:nvSpPr>
        <p:spPr>
          <a:xfrm>
            <a:off x="6197600" y="1189131"/>
            <a:ext cx="5092700" cy="53245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apiVersion</a:t>
            </a:r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extensions/v1beta1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kind: Deployment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metadata: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labels: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k8s-app: cloud-data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name: cloud-data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spec: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replicas: 100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selector: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matchLabels</a:t>
            </a:r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k8s-app: cloud-data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strategy: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rollingUpdate</a:t>
            </a:r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r>
              <a:rPr lang="en" altLang="zh-CN" sz="20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en" altLang="zh-CN" sz="2000" dirty="0" err="1"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maxSurge</a:t>
            </a:r>
            <a:r>
              <a:rPr lang="en" altLang="zh-CN" sz="2000" dirty="0"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25%</a:t>
            </a:r>
          </a:p>
          <a:p>
            <a:r>
              <a:rPr lang="en" altLang="zh-CN" sz="2000" dirty="0"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en" altLang="zh-CN" sz="2000" dirty="0" err="1"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maxUnavailable</a:t>
            </a:r>
            <a:r>
              <a:rPr lang="en" altLang="zh-CN" sz="2000" dirty="0"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0%</a:t>
            </a: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type: </a:t>
            </a:r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RollingUpdate</a:t>
            </a:r>
            <a:endParaRPr lang="en" altLang="zh-CN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  <a:endParaRPr lang="zh-CN" altLang="en-US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E6053E-A6BB-AB4C-AD18-208335969E65}"/>
              </a:ext>
            </a:extLst>
          </p:cNvPr>
          <p:cNvSpPr txBox="1"/>
          <p:nvPr/>
        </p:nvSpPr>
        <p:spPr>
          <a:xfrm>
            <a:off x="3940935" y="19447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7375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容器化落地总结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203156" y="1544731"/>
            <a:ext cx="11252244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标准化的思维迭代容器化方案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自动化的手段加速容器化落地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线上任何步骤都有风险应对、回滚方案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9624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5568D8B-DB17-0648-BA53-A00DB1030D07}"/>
              </a:ext>
            </a:extLst>
          </p:cNvPr>
          <p:cNvSpPr/>
          <p:nvPr/>
        </p:nvSpPr>
        <p:spPr>
          <a:xfrm>
            <a:off x="1319917" y="2820676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未来的规划</a:t>
            </a:r>
            <a:endParaRPr lang="en-US" altLang="zh-Hans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9548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85035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客如云容器化成果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1285461" y="1842050"/>
            <a:ext cx="9965635" cy="3894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 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98%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无状态服务容器化改造</a:t>
            </a:r>
            <a:endParaRPr lang="en-US" altLang="zh-CN" sz="2800" dirty="0">
              <a:solidFill>
                <a:srgbClr val="FDFCF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 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CI/CD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、部署平台的 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适配</a:t>
            </a:r>
            <a:endParaRPr lang="en-US" altLang="zh-CN" sz="2800" dirty="0">
              <a:solidFill>
                <a:srgbClr val="FDFCF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Service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 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600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2800" dirty="0">
              <a:solidFill>
                <a:srgbClr val="FDFCF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Pod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3000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节省 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ECS</a:t>
            </a:r>
            <a:r>
              <a:rPr lang="zh-CN" altLang="en-US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成本： </a:t>
            </a:r>
            <a:r>
              <a:rPr lang="en-US" altLang="zh-CN" sz="2800" dirty="0">
                <a:solidFill>
                  <a:srgbClr val="FDFC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35%+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rgbClr val="FDFCF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486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927279" y="1291917"/>
            <a:ext cx="953036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Ingress</a:t>
            </a: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、有状态服务</a:t>
            </a: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重构 </a:t>
            </a:r>
            <a:r>
              <a:rPr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CI/CD</a:t>
            </a: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流程</a:t>
            </a: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服务网格</a:t>
            </a: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 </a:t>
            </a:r>
            <a:r>
              <a:rPr lang="en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</a:t>
            </a: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的服务创新</a:t>
            </a: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</a:p>
          <a:p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围绕 </a:t>
            </a:r>
            <a:r>
              <a:rPr lang="en" altLang="zh-CN" sz="2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Kubernetes </a:t>
            </a:r>
            <a:r>
              <a:rPr lang="zh-CN" altLang="en-US" sz="2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沿袭“标准化、自动化、平台化”思路重构现有 </a:t>
            </a:r>
            <a:r>
              <a:rPr lang="en" altLang="zh-CN" sz="28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Devops</a:t>
            </a:r>
            <a:r>
              <a:rPr lang="en" altLang="zh-CN" sz="2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平台，基于新的平台改变研发侧的一些习惯，并把这个价值真正贯穿到整个研发流程中。</a:t>
            </a:r>
          </a:p>
        </p:txBody>
      </p:sp>
    </p:spTree>
    <p:extLst>
      <p:ext uri="{BB962C8B-B14F-4D97-AF65-F5344CB8AC3E}">
        <p14:creationId xmlns:p14="http://schemas.microsoft.com/office/powerpoint/2010/main" val="3510660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EDA9274-C58D-754A-A77D-7A9319D7CD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0681" y="2976029"/>
            <a:ext cx="2488843" cy="140370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C2AC36F-CBBD-2B45-808B-633E719460EF}"/>
              </a:ext>
            </a:extLst>
          </p:cNvPr>
          <p:cNvSpPr/>
          <p:nvPr/>
        </p:nvSpPr>
        <p:spPr>
          <a:xfrm>
            <a:off x="2300141" y="3431597"/>
            <a:ext cx="6096000" cy="6924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300" spc="5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客服电话：400-8866-815</a:t>
            </a:r>
          </a:p>
          <a:p>
            <a:r>
              <a:rPr lang="zh-CN" altLang="en-US" sz="1300" spc="5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官方网址：www.keruyun.com</a:t>
            </a:r>
          </a:p>
          <a:p>
            <a:r>
              <a:rPr lang="zh-CN" altLang="en-US" sz="1300" spc="5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总部地址：北京市东城区新中大厦8层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7F45AA7-06CF-9F48-B78D-CDE82F094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333" y="3947261"/>
            <a:ext cx="5264425" cy="35366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905C6CB-AE39-9A49-A3C4-46E58B8B5AF0}"/>
              </a:ext>
            </a:extLst>
          </p:cNvPr>
          <p:cNvSpPr/>
          <p:nvPr/>
        </p:nvSpPr>
        <p:spPr>
          <a:xfrm>
            <a:off x="2300141" y="4413894"/>
            <a:ext cx="79666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FZLanTingHeiS-B-GB" panose="02000000000000000000" pitchFamily="2" charset="-122"/>
                <a:ea typeface="FZLanTingHeiS-B-GB" panose="02000000000000000000" pitchFamily="2" charset="-122"/>
              </a:rPr>
              <a:t>北京           成都           深圳         武汉         上海         广州       杭州         新加坡         吉隆坡        澳门   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91341AC-8A93-4423-9E7E-E733672CD59B}"/>
              </a:ext>
            </a:extLst>
          </p:cNvPr>
          <p:cNvSpPr txBox="1"/>
          <p:nvPr/>
        </p:nvSpPr>
        <p:spPr>
          <a:xfrm>
            <a:off x="2300142" y="4766321"/>
            <a:ext cx="804762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广州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重庆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天津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杭州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长沙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苏州 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郑州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沈阳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哈尔滨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厦门 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石家庄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福州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青岛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泉州  长春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大连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太原 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西安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济南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佛山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南京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合 肥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无锡 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宁波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张家口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常州 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东莞 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南昌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昆明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三亚 兰州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济宁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徐州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唐山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南宁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桂林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洛阳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贵阳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海口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南通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金华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承德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扬州 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乌鲁木齐等百余城  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EAECAD-BA44-40CB-ADCC-CD8EC3D7A8E0}"/>
              </a:ext>
            </a:extLst>
          </p:cNvPr>
          <p:cNvSpPr txBox="1"/>
          <p:nvPr/>
        </p:nvSpPr>
        <p:spPr>
          <a:xfrm>
            <a:off x="2072947" y="1494695"/>
            <a:ext cx="104275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lang="zh-CN" altLang="en-US" sz="10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0516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7141</TotalTime>
  <Words>1238</Words>
  <Application>Microsoft Macintosh PowerPoint</Application>
  <PresentationFormat>宽屏</PresentationFormat>
  <Paragraphs>268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等线</vt:lpstr>
      <vt:lpstr>等线 Light</vt:lpstr>
      <vt:lpstr>宋体</vt:lpstr>
      <vt:lpstr>微软雅黑</vt:lpstr>
      <vt:lpstr>微软雅黑</vt:lpstr>
      <vt:lpstr>FZLanTingHei-R-GBK</vt:lpstr>
      <vt:lpstr>FZLanTingHeiS-B-GB</vt:lpstr>
      <vt:lpstr>Gotham Regular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User</cp:lastModifiedBy>
  <cp:revision>416</cp:revision>
  <cp:lastPrinted>2019-09-09T07:08:52Z</cp:lastPrinted>
  <dcterms:created xsi:type="dcterms:W3CDTF">2018-05-29T05:57:48Z</dcterms:created>
  <dcterms:modified xsi:type="dcterms:W3CDTF">2019-11-28T05:29:15Z</dcterms:modified>
</cp:coreProperties>
</file>