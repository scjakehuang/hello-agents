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345" r:id="rId2"/>
    <p:sldId id="407" r:id="rId3"/>
    <p:sldId id="406" r:id="rId4"/>
    <p:sldId id="408" r:id="rId5"/>
    <p:sldId id="409" r:id="rId6"/>
    <p:sldId id="430" r:id="rId7"/>
    <p:sldId id="431" r:id="rId8"/>
    <p:sldId id="424" r:id="rId9"/>
    <p:sldId id="423" r:id="rId10"/>
    <p:sldId id="412" r:id="rId11"/>
    <p:sldId id="410" r:id="rId12"/>
    <p:sldId id="414" r:id="rId13"/>
    <p:sldId id="415" r:id="rId14"/>
    <p:sldId id="428" r:id="rId15"/>
    <p:sldId id="425" r:id="rId16"/>
    <p:sldId id="429" r:id="rId17"/>
    <p:sldId id="417" r:id="rId18"/>
    <p:sldId id="420" r:id="rId19"/>
    <p:sldId id="421" r:id="rId20"/>
    <p:sldId id="422" r:id="rId21"/>
    <p:sldId id="338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6D4C"/>
    <a:srgbClr val="2AADFF"/>
    <a:srgbClr val="A5A5A5"/>
    <a:srgbClr val="ED7D31"/>
    <a:srgbClr val="7C7FC0"/>
    <a:srgbClr val="F6C412"/>
    <a:srgbClr val="4472C4"/>
    <a:srgbClr val="589DD9"/>
    <a:srgbClr val="E4E6EA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59" autoAdjust="0"/>
    <p:restoredTop sz="88965" autoAdjust="0"/>
  </p:normalViewPr>
  <p:slideViewPr>
    <p:cSldViewPr snapToObjects="1">
      <p:cViewPr varScale="1">
        <p:scale>
          <a:sx n="100" d="100"/>
          <a:sy n="100" d="100"/>
        </p:scale>
        <p:origin x="1112" y="176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Objects="1">
      <p:cViewPr varScale="1">
        <p:scale>
          <a:sx n="90" d="100"/>
          <a:sy n="90" d="100"/>
        </p:scale>
        <p:origin x="-378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60DF4-05DB-A44D-9492-46D446118C52}" type="datetimeFigureOut">
              <a:rPr kumimoji="1" lang="zh-CN" altLang="en-US" smtClean="0"/>
              <a:t>2022/8/7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596F9B-3F3A-754E-B54D-BFDCBFFB48C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9463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42233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0683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1041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8887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424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6882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5735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62656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62557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103258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56980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07084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25911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41980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71882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7657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51613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96F9B-3F3A-754E-B54D-BFDCBFFB48C4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9867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卡通人物&#10;&#10;描述已自动生成">
            <a:extLst>
              <a:ext uri="{FF2B5EF4-FFF2-40B4-BE49-F238E27FC236}">
                <a16:creationId xmlns:a16="http://schemas.microsoft.com/office/drawing/2014/main" id="{4C3D7B5F-B196-0541-A199-FCCDC2FA40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5400" y="5157192"/>
            <a:ext cx="1248139" cy="36004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C77B756-4023-D842-B469-D077FAABB428}"/>
              </a:ext>
            </a:extLst>
          </p:cNvPr>
          <p:cNvSpPr/>
          <p:nvPr userDrawn="1"/>
        </p:nvSpPr>
        <p:spPr>
          <a:xfrm>
            <a:off x="0" y="0"/>
            <a:ext cx="12192000" cy="4797152"/>
          </a:xfrm>
          <a:prstGeom prst="rect">
            <a:avLst/>
          </a:prstGeom>
          <a:solidFill>
            <a:srgbClr val="65BA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14549"/>
          </a:xfrm>
        </p:spPr>
        <p:txBody>
          <a:bodyPr anchor="b">
            <a:normAutofit/>
          </a:bodyPr>
          <a:lstStyle>
            <a:lvl1pPr algn="ctr">
              <a:defRPr sz="5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2897867"/>
            <a:ext cx="9144000" cy="67514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5323592"/>
            <a:ext cx="1726367" cy="94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519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6666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384" y="1273938"/>
            <a:ext cx="11089232" cy="517939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77B756-4023-D842-B469-D077FAABB428}"/>
              </a:ext>
            </a:extLst>
          </p:cNvPr>
          <p:cNvSpPr/>
          <p:nvPr userDrawn="1"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65BA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10515600" cy="792088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7821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411ADAA-9C9B-C14A-9430-A87DED73A044}" type="datetimeFigureOut">
              <a:rPr kumimoji="1" lang="zh-CN" altLang="en-US" smtClean="0"/>
              <a:t>2022/8/7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0388B4F-6341-4E4F-9A04-23E5374916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9367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9721080" cy="792088"/>
          </a:xfr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411ADAA-9C9B-C14A-9430-A87DED73A044}" type="datetimeFigureOut">
              <a:rPr kumimoji="1" lang="zh-CN" altLang="en-US" smtClean="0"/>
              <a:t>2022/8/7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0388B4F-6341-4E4F-9A04-23E5374916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1522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3745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10515600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5400" y="1314068"/>
            <a:ext cx="10801200" cy="4851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C77B756-4023-D842-B469-D077FAABB428}"/>
              </a:ext>
            </a:extLst>
          </p:cNvPr>
          <p:cNvSpPr/>
          <p:nvPr userDrawn="1"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65BA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 userDrawn="1"/>
        </p:nvSpPr>
        <p:spPr>
          <a:xfrm>
            <a:off x="10386463" y="719964"/>
            <a:ext cx="925777" cy="179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6800" y="292222"/>
            <a:ext cx="894000" cy="47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981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0" r:id="rId3"/>
    <p:sldLayoutId id="2147483652" r:id="rId4"/>
    <p:sldLayoutId id="2147483654" r:id="rId5"/>
    <p:sldLayoutId id="2147483657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rgbClr val="65BA67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CN" altLang="en-US" sz="3600" dirty="0"/>
              <a:t>晋升评审报告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8231560" y="3883514"/>
            <a:ext cx="3960440" cy="675149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zh-CN" altLang="en-US" dirty="0"/>
              <a:t>汇报人：黄家楷</a:t>
            </a:r>
            <a:r>
              <a:rPr lang="en-US" altLang="zh-CN" dirty="0"/>
              <a:t> </a:t>
            </a:r>
          </a:p>
          <a:p>
            <a:pPr algn="l"/>
            <a:r>
              <a:rPr lang="en-US" altLang="zh-CN" dirty="0"/>
              <a:t>2022</a:t>
            </a:r>
            <a:r>
              <a:rPr lang="zh-CN" altLang="en-US" dirty="0"/>
              <a:t>年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1156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04A2DC-945D-AEB9-1806-A34AC53D5249}"/>
              </a:ext>
            </a:extLst>
          </p:cNvPr>
          <p:cNvSpPr/>
          <p:nvPr/>
        </p:nvSpPr>
        <p:spPr>
          <a:xfrm>
            <a:off x="2525436" y="1664312"/>
            <a:ext cx="2236510" cy="778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  <a:sym typeface="微软雅黑" pitchFamily="34" charset="-122"/>
              </a:rPr>
              <a:t>个人简介</a:t>
            </a:r>
            <a:endParaRPr lang="en-US" altLang="zh-CN" sz="4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  <a:sym typeface="微软雅黑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425CEA-FE3D-56DA-0649-A1D8618776B9}"/>
              </a:ext>
            </a:extLst>
          </p:cNvPr>
          <p:cNvSpPr/>
          <p:nvPr/>
        </p:nvSpPr>
        <p:spPr>
          <a:xfrm>
            <a:off x="2525436" y="2935512"/>
            <a:ext cx="2236510" cy="778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  <a:sym typeface="微软雅黑" pitchFamily="34" charset="-122"/>
              </a:rPr>
              <a:t>能力举证</a:t>
            </a:r>
            <a:endParaRPr lang="en-US" altLang="zh-CN" sz="4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  <a:sym typeface="微软雅黑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C85489-750E-BAB9-A174-89491D8E7CD1}"/>
              </a:ext>
            </a:extLst>
          </p:cNvPr>
          <p:cNvSpPr/>
          <p:nvPr/>
        </p:nvSpPr>
        <p:spPr>
          <a:xfrm>
            <a:off x="2516090" y="4206712"/>
            <a:ext cx="3262432" cy="778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  <a:sym typeface="微软雅黑" pitchFamily="34" charset="-122"/>
              </a:rPr>
              <a:t>个人提升计划</a:t>
            </a:r>
            <a:endParaRPr lang="en-US" altLang="zh-CN" sz="4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  <a:sym typeface="微软雅黑" pitchFamily="34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037680B-C576-F944-7802-7C9B5587EACC}"/>
              </a:ext>
            </a:extLst>
          </p:cNvPr>
          <p:cNvSpPr/>
          <p:nvPr/>
        </p:nvSpPr>
        <p:spPr>
          <a:xfrm>
            <a:off x="1598029" y="3034108"/>
            <a:ext cx="680400" cy="680400"/>
          </a:xfrm>
          <a:prstGeom prst="ellipse">
            <a:avLst/>
          </a:prstGeom>
          <a:solidFill>
            <a:srgbClr val="FF68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13" tIns="72007" rIns="144013" bIns="72007" rtlCol="0" anchor="ctr"/>
          <a:lstStyle/>
          <a:p>
            <a:pPr algn="ctr" defTabSz="1440133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2800" dirty="0">
                <a:solidFill>
                  <a:prstClr val="white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endParaRPr kumimoji="0" lang="zh-CN" altLang="en-US" sz="2800" dirty="0">
              <a:solidFill>
                <a:prstClr val="white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AACB5D0-B520-E30F-8563-2C9C0B86B928}"/>
              </a:ext>
            </a:extLst>
          </p:cNvPr>
          <p:cNvSpPr/>
          <p:nvPr/>
        </p:nvSpPr>
        <p:spPr>
          <a:xfrm>
            <a:off x="1598029" y="4358229"/>
            <a:ext cx="680400" cy="680400"/>
          </a:xfrm>
          <a:prstGeom prst="ellipse">
            <a:avLst/>
          </a:prstGeom>
          <a:solidFill>
            <a:srgbClr val="FF68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13" tIns="72007" rIns="144013" bIns="72007" rtlCol="0" anchor="ctr"/>
          <a:lstStyle/>
          <a:p>
            <a:pPr algn="ctr" defTabSz="1440133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solidFill>
                  <a:prstClr val="white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3</a:t>
            </a:r>
            <a:endParaRPr kumimoji="0" lang="zh-CN" altLang="en-US" sz="2800" dirty="0">
              <a:solidFill>
                <a:prstClr val="white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D2FE5A9-D3BB-61A8-3AB8-8E5A1B0D8055}"/>
              </a:ext>
            </a:extLst>
          </p:cNvPr>
          <p:cNvSpPr/>
          <p:nvPr/>
        </p:nvSpPr>
        <p:spPr>
          <a:xfrm>
            <a:off x="1588266" y="1741733"/>
            <a:ext cx="680400" cy="680400"/>
          </a:xfrm>
          <a:prstGeom prst="ellipse">
            <a:avLst/>
          </a:prstGeom>
          <a:solidFill>
            <a:srgbClr val="FF68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13" tIns="72007" rIns="144013" bIns="72007" rtlCol="0" anchor="ctr"/>
          <a:lstStyle/>
          <a:p>
            <a:pPr algn="ctr" defTabSz="1440133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solidFill>
                  <a:prstClr val="white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</a:t>
            </a:r>
            <a:endParaRPr kumimoji="0" lang="zh-CN" altLang="en-US" sz="2800" dirty="0">
              <a:solidFill>
                <a:prstClr val="white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244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自我介绍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ADC24B-36C8-459C-FC8E-89E1D567C445}"/>
              </a:ext>
            </a:extLst>
          </p:cNvPr>
          <p:cNvSpPr txBox="1"/>
          <p:nvPr/>
        </p:nvSpPr>
        <p:spPr>
          <a:xfrm>
            <a:off x="911424" y="1484784"/>
            <a:ext cx="11161240" cy="4536504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rtlCol="0" anchor="ctr" anchorCtr="0">
            <a:noAutofit/>
          </a:bodyPr>
          <a:lstStyle/>
          <a:p>
            <a:pPr marL="342900" indent="-342900">
              <a:lnSpc>
                <a:spcPct val="200000"/>
              </a:lnSpc>
              <a:spcBef>
                <a:spcPts val="30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 黄家楷  ： 研发中心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中台产品研发部，当前职级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T6;</a:t>
            </a:r>
            <a:endParaRPr lang="en-US" altLang="zh-CN" sz="24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lnSpc>
                <a:spcPct val="200000"/>
              </a:lnSpc>
              <a:spcBef>
                <a:spcPts val="300"/>
              </a:spcBef>
              <a:buFont typeface="Wingdings" panose="05000000000000000000" pitchFamily="2" charset="2"/>
              <a:buChar char="u"/>
            </a:pP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2020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年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11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入职，先后负责电商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SAAS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系统里面的营销中心，账户中心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;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以及赏金小助手抽奖系统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lnSpc>
                <a:spcPct val="200000"/>
              </a:lnSpc>
              <a:spcBef>
                <a:spcPts val="30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目前负责赏金小助手抽奖系统，重点是负责抽奖系统的系统搭建、架构设计、推进项目需求进度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5361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能力举证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168A6B-AD0F-5411-2805-7F574945759D}"/>
              </a:ext>
            </a:extLst>
          </p:cNvPr>
          <p:cNvSpPr txBox="1"/>
          <p:nvPr/>
        </p:nvSpPr>
        <p:spPr>
          <a:xfrm>
            <a:off x="1127448" y="1417820"/>
            <a:ext cx="10920436" cy="5107524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（</a:t>
            </a: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1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）</a:t>
            </a:r>
            <a:r>
              <a:rPr lang="zh-CN" altLang="en-US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案例完成时间：</a:t>
            </a: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2021.7-2022.2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（</a:t>
            </a: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2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）</a:t>
            </a:r>
            <a:r>
              <a:rPr lang="zh-CN" altLang="en-US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参与工作内容：</a:t>
            </a:r>
            <a:endParaRPr lang="en-US" altLang="zh-CN" sz="2000" dirty="0">
              <a:solidFill>
                <a:srgbClr val="0000FF"/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          </a:t>
            </a:r>
            <a:r>
              <a:rPr lang="zh-CN" altLang="en-US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    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整体把控分销需求；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（</a:t>
            </a: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3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）</a:t>
            </a:r>
            <a:r>
              <a:rPr lang="zh-CN" altLang="en-US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个人承担角色：</a:t>
            </a:r>
            <a:endParaRPr lang="en-US" altLang="zh-CN" sz="2000" dirty="0">
              <a:solidFill>
                <a:srgbClr val="0000FF"/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	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主导分销核心业务的架构设计以及落地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（</a:t>
            </a: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4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）</a:t>
            </a:r>
            <a:r>
              <a:rPr lang="zh-CN" altLang="en-US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个人关键贡献：</a:t>
            </a:r>
            <a:endParaRPr lang="en-US" altLang="zh-CN" sz="2000" dirty="0">
              <a:solidFill>
                <a:srgbClr val="0000FF"/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	1.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主导分销核心功能架构设计和技术方案，整理归档输出架构文档</a:t>
            </a: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;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	2.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通过系统间对账以及监控告警实现对资金的全方位监控，保证系统资金的安全；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88B92B-2F6C-8E74-DB80-F360801E24FA}"/>
              </a:ext>
            </a:extLst>
          </p:cNvPr>
          <p:cNvSpPr/>
          <p:nvPr/>
        </p:nvSpPr>
        <p:spPr>
          <a:xfrm>
            <a:off x="551384" y="954136"/>
            <a:ext cx="5660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en-US" altLang="zh-CN" sz="2400" b="1" dirty="0">
                <a:latin typeface="+mj-lt"/>
                <a:ea typeface="等线" panose="02010600030101010101" pitchFamily="2" charset="-122"/>
              </a:rPr>
              <a:t>2.1 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案例名称：电商</a:t>
            </a:r>
            <a:r>
              <a:rPr lang="en-US" altLang="zh-CN" sz="2400" b="1" dirty="0">
                <a:latin typeface="+mj-lt"/>
                <a:ea typeface="等线" panose="02010600030101010101" pitchFamily="2" charset="-122"/>
              </a:rPr>
              <a:t>SAAS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分销与支付业务</a:t>
            </a:r>
          </a:p>
        </p:txBody>
      </p:sp>
    </p:spTree>
    <p:extLst>
      <p:ext uri="{BB962C8B-B14F-4D97-AF65-F5344CB8AC3E}">
        <p14:creationId xmlns:p14="http://schemas.microsoft.com/office/powerpoint/2010/main" val="1729309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能力举证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168A6B-AD0F-5411-2805-7F574945759D}"/>
              </a:ext>
            </a:extLst>
          </p:cNvPr>
          <p:cNvSpPr txBox="1"/>
          <p:nvPr/>
        </p:nvSpPr>
        <p:spPr>
          <a:xfrm>
            <a:off x="1127448" y="1417820"/>
            <a:ext cx="10920436" cy="5107524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项目背景：</a:t>
            </a:r>
            <a:endParaRPr lang="en-US" altLang="zh-CN" sz="2000" dirty="0">
              <a:solidFill>
                <a:srgbClr val="0000FF"/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          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小店卖家自有品类单一，且存在低频、季节性等特点。为更好赋能商家，希望建设供应链平台（分销市场），帮助店主丰富店铺商品品类，通过高频商品带动低频商品销量；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88B92B-2F6C-8E74-DB80-F360801E24FA}"/>
              </a:ext>
            </a:extLst>
          </p:cNvPr>
          <p:cNvSpPr/>
          <p:nvPr/>
        </p:nvSpPr>
        <p:spPr>
          <a:xfrm>
            <a:off x="551384" y="954136"/>
            <a:ext cx="5660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en-US" altLang="zh-CN" sz="2400" b="1" dirty="0">
                <a:latin typeface="+mj-lt"/>
                <a:ea typeface="等线" panose="02010600030101010101" pitchFamily="2" charset="-122"/>
              </a:rPr>
              <a:t>2.1 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案例名称：电商</a:t>
            </a:r>
            <a:r>
              <a:rPr lang="en-US" altLang="zh-CN" sz="2400" b="1" dirty="0">
                <a:latin typeface="+mj-lt"/>
                <a:ea typeface="等线" panose="02010600030101010101" pitchFamily="2" charset="-122"/>
              </a:rPr>
              <a:t>SAAS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分销</a:t>
            </a:r>
            <a:r>
              <a:rPr lang="zh-CN" altLang="en-US" sz="2400" b="1" dirty="0">
                <a:ea typeface="等线" panose="02010600030101010101" pitchFamily="2" charset="-122"/>
              </a:rPr>
              <a:t>与支付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业务</a:t>
            </a:r>
          </a:p>
        </p:txBody>
      </p:sp>
    </p:spTree>
    <p:extLst>
      <p:ext uri="{BB962C8B-B14F-4D97-AF65-F5344CB8AC3E}">
        <p14:creationId xmlns:p14="http://schemas.microsoft.com/office/powerpoint/2010/main" val="1104451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能力举证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88B92B-2F6C-8E74-DB80-F360801E24FA}"/>
              </a:ext>
            </a:extLst>
          </p:cNvPr>
          <p:cNvSpPr/>
          <p:nvPr/>
        </p:nvSpPr>
        <p:spPr>
          <a:xfrm>
            <a:off x="551384" y="954136"/>
            <a:ext cx="5660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en-US" altLang="zh-CN" sz="2400" b="1" dirty="0">
                <a:latin typeface="+mj-lt"/>
                <a:ea typeface="等线" panose="02010600030101010101" pitchFamily="2" charset="-122"/>
              </a:rPr>
              <a:t>2.1 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案例名称：电商</a:t>
            </a:r>
            <a:r>
              <a:rPr lang="en-US" altLang="zh-CN" sz="2400" b="1" dirty="0">
                <a:latin typeface="+mj-lt"/>
                <a:ea typeface="等线" panose="02010600030101010101" pitchFamily="2" charset="-122"/>
              </a:rPr>
              <a:t>SAAS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分销</a:t>
            </a:r>
            <a:r>
              <a:rPr lang="zh-CN" altLang="en-US" sz="2400" b="1" dirty="0">
                <a:ea typeface="等线" panose="02010600030101010101" pitchFamily="2" charset="-122"/>
              </a:rPr>
              <a:t>与支付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业务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E5AA706-7AAD-D52A-F824-4CFFFE99C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92" y="3580343"/>
            <a:ext cx="1066800" cy="9525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550A8C6-BD6C-973D-F5E0-1E96E5C6FA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896" y="1642483"/>
            <a:ext cx="1244600" cy="1270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ADE5CE1-7FF8-ED2F-2D94-C6ABB64D3F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2446" y="3530012"/>
            <a:ext cx="1079500" cy="11684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DE8DB96-D874-8F82-C192-8BA1B711F7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8400" y="3490323"/>
            <a:ext cx="1079500" cy="11684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10E9562-D9DE-EAE9-6BB4-C3461D1519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195" y="3448983"/>
            <a:ext cx="1079500" cy="11684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529E9DE-4C5E-99EC-40C2-328837F57D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2392" y="1828231"/>
            <a:ext cx="1152128" cy="94810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97262B0-F90F-B8C2-286F-E9497BE391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3281" y="3324810"/>
            <a:ext cx="1257300" cy="965200"/>
          </a:xfrm>
          <a:prstGeom prst="rect">
            <a:avLst/>
          </a:prstGeom>
        </p:spPr>
      </p:pic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6C50A50F-C7F3-4742-F2DB-DBFAFB27F7AC}"/>
              </a:ext>
            </a:extLst>
          </p:cNvPr>
          <p:cNvCxnSpPr>
            <a:cxnSpLocks/>
          </p:cNvCxnSpPr>
          <p:nvPr/>
        </p:nvCxnSpPr>
        <p:spPr>
          <a:xfrm>
            <a:off x="1847528" y="4056593"/>
            <a:ext cx="1534118" cy="1793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肘形连接符 21">
            <a:extLst>
              <a:ext uri="{FF2B5EF4-FFF2-40B4-BE49-F238E27FC236}">
                <a16:creationId xmlns:a16="http://schemas.microsoft.com/office/drawing/2014/main" id="{AAA0AB2F-5386-3513-54BA-E2A25539492E}"/>
              </a:ext>
            </a:extLst>
          </p:cNvPr>
          <p:cNvCxnSpPr>
            <a:cxnSpLocks/>
          </p:cNvCxnSpPr>
          <p:nvPr/>
        </p:nvCxnSpPr>
        <p:spPr>
          <a:xfrm>
            <a:off x="8129785" y="3933058"/>
            <a:ext cx="2214687" cy="1440158"/>
          </a:xfrm>
          <a:prstGeom prst="bentConnector3">
            <a:avLst>
              <a:gd name="adj1" fmla="val 63443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图片 23">
            <a:extLst>
              <a:ext uri="{FF2B5EF4-FFF2-40B4-BE49-F238E27FC236}">
                <a16:creationId xmlns:a16="http://schemas.microsoft.com/office/drawing/2014/main" id="{A330B7A1-45CD-EC68-705A-20E0B30A0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8531" y="4896966"/>
            <a:ext cx="1066800" cy="952500"/>
          </a:xfrm>
          <a:prstGeom prst="rect">
            <a:avLst/>
          </a:prstGeom>
        </p:spPr>
      </p:pic>
      <p:cxnSp>
        <p:nvCxnSpPr>
          <p:cNvPr id="31" name="肘形连接符 30">
            <a:extLst>
              <a:ext uri="{FF2B5EF4-FFF2-40B4-BE49-F238E27FC236}">
                <a16:creationId xmlns:a16="http://schemas.microsoft.com/office/drawing/2014/main" id="{85ED916F-BA91-76C7-C75D-4C22C8E07BAC}"/>
              </a:ext>
            </a:extLst>
          </p:cNvPr>
          <p:cNvCxnSpPr>
            <a:cxnSpLocks/>
          </p:cNvCxnSpPr>
          <p:nvPr/>
        </p:nvCxnSpPr>
        <p:spPr>
          <a:xfrm flipV="1">
            <a:off x="8714525" y="2492896"/>
            <a:ext cx="1629947" cy="1440162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E532106B-506C-3562-DD0F-28C22CAD2BD5}"/>
              </a:ext>
            </a:extLst>
          </p:cNvPr>
          <p:cNvCxnSpPr>
            <a:cxnSpLocks/>
          </p:cNvCxnSpPr>
          <p:nvPr/>
        </p:nvCxnSpPr>
        <p:spPr>
          <a:xfrm>
            <a:off x="9517843" y="3933058"/>
            <a:ext cx="82662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54542B79-8817-465D-38EE-F0CDA2F9D839}"/>
              </a:ext>
            </a:extLst>
          </p:cNvPr>
          <p:cNvSpPr txBox="1"/>
          <p:nvPr/>
        </p:nvSpPr>
        <p:spPr>
          <a:xfrm>
            <a:off x="8245146" y="3652693"/>
            <a:ext cx="9387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用户收货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2EB57DC-FDBB-774C-2DD6-D666519A0A60}"/>
              </a:ext>
            </a:extLst>
          </p:cNvPr>
          <p:cNvSpPr txBox="1"/>
          <p:nvPr/>
        </p:nvSpPr>
        <p:spPr>
          <a:xfrm>
            <a:off x="9691729" y="2163785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分成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62CB10B-D403-4C6B-F259-F47C03C49424}"/>
              </a:ext>
            </a:extLst>
          </p:cNvPr>
          <p:cNvSpPr txBox="1"/>
          <p:nvPr/>
        </p:nvSpPr>
        <p:spPr>
          <a:xfrm>
            <a:off x="9628681" y="3634020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分成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FD0B0CD-3ED3-6FE0-A7E0-29D090832F00}"/>
              </a:ext>
            </a:extLst>
          </p:cNvPr>
          <p:cNvSpPr txBox="1"/>
          <p:nvPr/>
        </p:nvSpPr>
        <p:spPr>
          <a:xfrm>
            <a:off x="9627610" y="507418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分成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BFE1A60-9D30-83D1-B77E-3ADE919BB53D}"/>
              </a:ext>
            </a:extLst>
          </p:cNvPr>
          <p:cNvSpPr txBox="1"/>
          <p:nvPr/>
        </p:nvSpPr>
        <p:spPr>
          <a:xfrm>
            <a:off x="2255482" y="377251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用户支付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A1980C1-AAEF-D442-2B82-497BB513B9DF}"/>
              </a:ext>
            </a:extLst>
          </p:cNvPr>
          <p:cNvSpPr txBox="1"/>
          <p:nvPr/>
        </p:nvSpPr>
        <p:spPr>
          <a:xfrm>
            <a:off x="10852234" y="274433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店主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364D29F-36E4-5E16-58E6-A84A0D88586E}"/>
              </a:ext>
            </a:extLst>
          </p:cNvPr>
          <p:cNvSpPr txBox="1"/>
          <p:nvPr/>
        </p:nvSpPr>
        <p:spPr>
          <a:xfrm>
            <a:off x="10852371" y="4290010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店员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FEB818D-683A-8904-305E-648DD0E52C38}"/>
              </a:ext>
            </a:extLst>
          </p:cNvPr>
          <p:cNvSpPr txBox="1"/>
          <p:nvPr/>
        </p:nvSpPr>
        <p:spPr>
          <a:xfrm>
            <a:off x="10852234" y="5849466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手续费</a:t>
            </a:r>
          </a:p>
        </p:txBody>
      </p: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54E7F482-EE78-7F10-1475-33897567E911}"/>
              </a:ext>
            </a:extLst>
          </p:cNvPr>
          <p:cNvCxnSpPr>
            <a:cxnSpLocks/>
            <a:stCxn id="9" idx="0"/>
            <a:endCxn id="7" idx="2"/>
          </p:cNvCxnSpPr>
          <p:nvPr/>
        </p:nvCxnSpPr>
        <p:spPr>
          <a:xfrm flipV="1">
            <a:off x="4248150" y="2912483"/>
            <a:ext cx="1534046" cy="57784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103667F7-54E9-E1C6-DCDA-6FE58C26BE9D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5799443" y="2952172"/>
            <a:ext cx="1451502" cy="49681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0D4AD383-A053-D371-1CC2-FB0B06EB92ED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V="1">
            <a:off x="5782196" y="2912483"/>
            <a:ext cx="0" cy="61752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BF2D40A2-EAA3-EAB7-6EC1-117C8E52C50A}"/>
              </a:ext>
            </a:extLst>
          </p:cNvPr>
          <p:cNvSpPr txBox="1"/>
          <p:nvPr/>
        </p:nvSpPr>
        <p:spPr>
          <a:xfrm>
            <a:off x="6525194" y="299638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进件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AC06176-E035-39BD-03D6-5460EEF3A89F}"/>
              </a:ext>
            </a:extLst>
          </p:cNvPr>
          <p:cNvSpPr txBox="1"/>
          <p:nvPr/>
        </p:nvSpPr>
        <p:spPr>
          <a:xfrm>
            <a:off x="847186" y="453284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用户</a:t>
            </a:r>
          </a:p>
        </p:txBody>
      </p:sp>
    </p:spTree>
    <p:extLst>
      <p:ext uri="{BB962C8B-B14F-4D97-AF65-F5344CB8AC3E}">
        <p14:creationId xmlns:p14="http://schemas.microsoft.com/office/powerpoint/2010/main" val="2966056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能力举证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168A6B-AD0F-5411-2805-7F574945759D}"/>
              </a:ext>
            </a:extLst>
          </p:cNvPr>
          <p:cNvSpPr txBox="1"/>
          <p:nvPr/>
        </p:nvSpPr>
        <p:spPr>
          <a:xfrm>
            <a:off x="1127448" y="1417820"/>
            <a:ext cx="10920436" cy="5107524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项目困难点：</a:t>
            </a:r>
            <a:endParaRPr lang="en-US" altLang="zh-CN" sz="2000" dirty="0">
              <a:solidFill>
                <a:srgbClr val="0000FF"/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	</a:t>
            </a: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1.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解决资金二清问题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	2.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如何保证不发生资损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	3.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保证系统高可用、高性能、扩展性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88B92B-2F6C-8E74-DB80-F360801E24FA}"/>
              </a:ext>
            </a:extLst>
          </p:cNvPr>
          <p:cNvSpPr/>
          <p:nvPr/>
        </p:nvSpPr>
        <p:spPr>
          <a:xfrm>
            <a:off x="551384" y="954136"/>
            <a:ext cx="5660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en-US" altLang="zh-CN" sz="2400" b="1" dirty="0">
                <a:latin typeface="+mj-lt"/>
                <a:ea typeface="等线" panose="02010600030101010101" pitchFamily="2" charset="-122"/>
              </a:rPr>
              <a:t>2.1 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案例名称：电商</a:t>
            </a:r>
            <a:r>
              <a:rPr lang="en-US" altLang="zh-CN" sz="2400" b="1" dirty="0">
                <a:latin typeface="+mj-lt"/>
                <a:ea typeface="等线" panose="02010600030101010101" pitchFamily="2" charset="-122"/>
              </a:rPr>
              <a:t>SAAS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分销</a:t>
            </a:r>
            <a:r>
              <a:rPr lang="zh-CN" altLang="en-US" sz="2400" b="1" dirty="0">
                <a:ea typeface="等线" panose="02010600030101010101" pitchFamily="2" charset="-122"/>
              </a:rPr>
              <a:t>与支付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业务</a:t>
            </a:r>
          </a:p>
        </p:txBody>
      </p:sp>
    </p:spTree>
    <p:extLst>
      <p:ext uri="{BB962C8B-B14F-4D97-AF65-F5344CB8AC3E}">
        <p14:creationId xmlns:p14="http://schemas.microsoft.com/office/powerpoint/2010/main" val="139428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能力举证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88B92B-2F6C-8E74-DB80-F360801E24FA}"/>
              </a:ext>
            </a:extLst>
          </p:cNvPr>
          <p:cNvSpPr/>
          <p:nvPr/>
        </p:nvSpPr>
        <p:spPr>
          <a:xfrm>
            <a:off x="551384" y="954136"/>
            <a:ext cx="5660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en-US" altLang="zh-CN" sz="2400" b="1" dirty="0">
                <a:latin typeface="+mj-lt"/>
                <a:ea typeface="等线" panose="02010600030101010101" pitchFamily="2" charset="-122"/>
              </a:rPr>
              <a:t>2.1 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案例名称：电商</a:t>
            </a:r>
            <a:r>
              <a:rPr lang="en-US" altLang="zh-CN" sz="2400" b="1" dirty="0">
                <a:latin typeface="+mj-lt"/>
                <a:ea typeface="等线" panose="02010600030101010101" pitchFamily="2" charset="-122"/>
              </a:rPr>
              <a:t>SAAS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分销</a:t>
            </a:r>
            <a:r>
              <a:rPr lang="zh-CN" altLang="en-US" sz="2400" b="1" dirty="0">
                <a:ea typeface="等线" panose="02010600030101010101" pitchFamily="2" charset="-122"/>
              </a:rPr>
              <a:t>与支付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业务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385F09-33F0-32D7-ADD3-35CAA77A15FD}"/>
              </a:ext>
            </a:extLst>
          </p:cNvPr>
          <p:cNvSpPr/>
          <p:nvPr/>
        </p:nvSpPr>
        <p:spPr>
          <a:xfrm>
            <a:off x="861787" y="1700808"/>
            <a:ext cx="10202765" cy="36004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网关（用户获取、鉴权、限流）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DFF1982-39EF-2A8C-DB14-439D58DCE200}"/>
              </a:ext>
            </a:extLst>
          </p:cNvPr>
          <p:cNvSpPr/>
          <p:nvPr/>
        </p:nvSpPr>
        <p:spPr>
          <a:xfrm>
            <a:off x="96671" y="2366146"/>
            <a:ext cx="720080" cy="42257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配置中心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EC98AC-F755-4368-C801-9C175F2BEFE7}"/>
              </a:ext>
            </a:extLst>
          </p:cNvPr>
          <p:cNvSpPr/>
          <p:nvPr/>
        </p:nvSpPr>
        <p:spPr>
          <a:xfrm>
            <a:off x="11208568" y="2366146"/>
            <a:ext cx="864096" cy="42257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A592C52-6B36-B164-FF3F-8F6455D683F8}"/>
              </a:ext>
            </a:extLst>
          </p:cNvPr>
          <p:cNvSpPr/>
          <p:nvPr/>
        </p:nvSpPr>
        <p:spPr>
          <a:xfrm>
            <a:off x="1199456" y="2366146"/>
            <a:ext cx="9865096" cy="257502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DD9EBB-E449-FE94-0393-B7221645C49C}"/>
              </a:ext>
            </a:extLst>
          </p:cNvPr>
          <p:cNvSpPr/>
          <p:nvPr/>
        </p:nvSpPr>
        <p:spPr>
          <a:xfrm>
            <a:off x="1487488" y="2780928"/>
            <a:ext cx="1584176" cy="1440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1D9FE6E-55AA-212B-498C-51956F22569F}"/>
              </a:ext>
            </a:extLst>
          </p:cNvPr>
          <p:cNvSpPr/>
          <p:nvPr/>
        </p:nvSpPr>
        <p:spPr>
          <a:xfrm>
            <a:off x="1400630" y="3392300"/>
            <a:ext cx="1512168" cy="1440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6D8744-64DA-9974-DCA9-5A98FFB39A1D}"/>
              </a:ext>
            </a:extLst>
          </p:cNvPr>
          <p:cNvSpPr/>
          <p:nvPr/>
        </p:nvSpPr>
        <p:spPr>
          <a:xfrm>
            <a:off x="3526745" y="3387498"/>
            <a:ext cx="1504766" cy="1440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13CC5FF-385E-A742-7A2A-45D7C9C4096E}"/>
              </a:ext>
            </a:extLst>
          </p:cNvPr>
          <p:cNvSpPr/>
          <p:nvPr/>
        </p:nvSpPr>
        <p:spPr>
          <a:xfrm>
            <a:off x="5493994" y="3425351"/>
            <a:ext cx="1512168" cy="1440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8D95FAC-BD5A-3812-D83E-6FA375D3B319}"/>
              </a:ext>
            </a:extLst>
          </p:cNvPr>
          <p:cNvSpPr/>
          <p:nvPr/>
        </p:nvSpPr>
        <p:spPr>
          <a:xfrm>
            <a:off x="7276643" y="3444277"/>
            <a:ext cx="1843693" cy="140230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F21962-21C5-3078-1230-15C2CC08F18A}"/>
              </a:ext>
            </a:extLst>
          </p:cNvPr>
          <p:cNvSpPr/>
          <p:nvPr/>
        </p:nvSpPr>
        <p:spPr>
          <a:xfrm>
            <a:off x="1400630" y="2470679"/>
            <a:ext cx="9569528" cy="504056"/>
          </a:xfrm>
          <a:prstGeom prst="rect">
            <a:avLst/>
          </a:prstGeom>
          <a:solidFill>
            <a:srgbClr val="F6C4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应用层（小店服务）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FC72FA1-8B61-31C8-D872-F378FB4B78D8}"/>
              </a:ext>
            </a:extLst>
          </p:cNvPr>
          <p:cNvSpPr/>
          <p:nvPr/>
        </p:nvSpPr>
        <p:spPr>
          <a:xfrm>
            <a:off x="1199456" y="5137758"/>
            <a:ext cx="9865096" cy="62875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9FD3A16-8122-E666-55A5-054124A46D7D}"/>
              </a:ext>
            </a:extLst>
          </p:cNvPr>
          <p:cNvSpPr/>
          <p:nvPr/>
        </p:nvSpPr>
        <p:spPr>
          <a:xfrm>
            <a:off x="1202486" y="5963099"/>
            <a:ext cx="9865096" cy="62875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193F3F2-460E-A36E-2F8F-93156D07976D}"/>
              </a:ext>
            </a:extLst>
          </p:cNvPr>
          <p:cNvSpPr/>
          <p:nvPr/>
        </p:nvSpPr>
        <p:spPr>
          <a:xfrm>
            <a:off x="1400630" y="3079268"/>
            <a:ext cx="1512168" cy="313032"/>
          </a:xfrm>
          <a:prstGeom prst="rect">
            <a:avLst/>
          </a:prstGeom>
          <a:solidFill>
            <a:srgbClr val="F6C4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商品中心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428B138-0563-709E-A9B7-90F373764CC3}"/>
              </a:ext>
            </a:extLst>
          </p:cNvPr>
          <p:cNvSpPr/>
          <p:nvPr/>
        </p:nvSpPr>
        <p:spPr>
          <a:xfrm>
            <a:off x="3519343" y="3074466"/>
            <a:ext cx="1512168" cy="313032"/>
          </a:xfrm>
          <a:prstGeom prst="rect">
            <a:avLst/>
          </a:prstGeom>
          <a:solidFill>
            <a:srgbClr val="F6C4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用户中心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B4625C6-1E7A-50FE-837C-768E066308D9}"/>
              </a:ext>
            </a:extLst>
          </p:cNvPr>
          <p:cNvSpPr/>
          <p:nvPr/>
        </p:nvSpPr>
        <p:spPr>
          <a:xfrm>
            <a:off x="5493994" y="3104437"/>
            <a:ext cx="1512168" cy="313032"/>
          </a:xfrm>
          <a:prstGeom prst="rect">
            <a:avLst/>
          </a:prstGeom>
          <a:solidFill>
            <a:srgbClr val="F6C4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订单中心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843B5AB-38A8-704D-63F0-1A098D0B836E}"/>
              </a:ext>
            </a:extLst>
          </p:cNvPr>
          <p:cNvSpPr/>
          <p:nvPr/>
        </p:nvSpPr>
        <p:spPr>
          <a:xfrm>
            <a:off x="7276643" y="3123517"/>
            <a:ext cx="1843693" cy="31303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营销中心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F3D5455-2A30-C11C-E178-30C160577695}"/>
              </a:ext>
            </a:extLst>
          </p:cNvPr>
          <p:cNvSpPr/>
          <p:nvPr/>
        </p:nvSpPr>
        <p:spPr>
          <a:xfrm>
            <a:off x="9457991" y="3425351"/>
            <a:ext cx="1512168" cy="140230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E693457-01A6-5AC4-6DB7-459D9E0EFF15}"/>
              </a:ext>
            </a:extLst>
          </p:cNvPr>
          <p:cNvSpPr/>
          <p:nvPr/>
        </p:nvSpPr>
        <p:spPr>
          <a:xfrm>
            <a:off x="9457991" y="3106892"/>
            <a:ext cx="1512168" cy="31303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账户中心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F2F923-B2E9-4DC1-E6A6-4CA728D4A2A2}"/>
              </a:ext>
            </a:extLst>
          </p:cNvPr>
          <p:cNvSpPr txBox="1"/>
          <p:nvPr/>
        </p:nvSpPr>
        <p:spPr>
          <a:xfrm>
            <a:off x="861787" y="3023954"/>
            <a:ext cx="3642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核</a:t>
            </a:r>
            <a:endParaRPr kumimoji="1" lang="en-US" altLang="zh-CN" sz="1400" dirty="0"/>
          </a:p>
          <a:p>
            <a:r>
              <a:rPr kumimoji="1" lang="zh-CN" altLang="en-US" sz="1400" dirty="0"/>
              <a:t>心</a:t>
            </a:r>
            <a:endParaRPr kumimoji="1" lang="en-US" altLang="zh-CN" sz="1400" dirty="0"/>
          </a:p>
          <a:p>
            <a:r>
              <a:rPr kumimoji="1" lang="zh-CN" altLang="en-US" sz="1400" dirty="0"/>
              <a:t>服</a:t>
            </a:r>
            <a:endParaRPr kumimoji="1" lang="en-US" altLang="zh-CN" sz="1400" dirty="0"/>
          </a:p>
          <a:p>
            <a:r>
              <a:rPr kumimoji="1" lang="zh-CN" altLang="en-US" sz="1400" dirty="0"/>
              <a:t>务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B5FE92A-14BE-968D-AFD4-8F059E763E64}"/>
              </a:ext>
            </a:extLst>
          </p:cNvPr>
          <p:cNvSpPr txBox="1"/>
          <p:nvPr/>
        </p:nvSpPr>
        <p:spPr>
          <a:xfrm>
            <a:off x="835979" y="4955548"/>
            <a:ext cx="3642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基</a:t>
            </a:r>
            <a:endParaRPr kumimoji="1" lang="en-US" altLang="zh-CN" sz="1400" dirty="0"/>
          </a:p>
          <a:p>
            <a:r>
              <a:rPr kumimoji="1" lang="zh-CN" altLang="en-US" sz="1400" dirty="0"/>
              <a:t>础</a:t>
            </a:r>
            <a:endParaRPr kumimoji="1" lang="en-US" altLang="zh-CN" sz="1400" dirty="0"/>
          </a:p>
          <a:p>
            <a:r>
              <a:rPr kumimoji="1" lang="zh-CN" altLang="en-US" sz="1400" dirty="0"/>
              <a:t>组</a:t>
            </a:r>
            <a:endParaRPr kumimoji="1" lang="en-US" altLang="zh-CN" sz="1400" dirty="0"/>
          </a:p>
          <a:p>
            <a:r>
              <a:rPr kumimoji="1" lang="zh-CN" altLang="en-US" sz="1400" dirty="0"/>
              <a:t>件</a:t>
            </a:r>
            <a:endParaRPr kumimoji="1" lang="en-US" altLang="zh-CN" sz="1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B4D2B4E-2C24-DBD6-C70D-3A021826E21F}"/>
              </a:ext>
            </a:extLst>
          </p:cNvPr>
          <p:cNvSpPr txBox="1"/>
          <p:nvPr/>
        </p:nvSpPr>
        <p:spPr>
          <a:xfrm>
            <a:off x="802981" y="5924035"/>
            <a:ext cx="3642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存</a:t>
            </a:r>
            <a:endParaRPr kumimoji="1" lang="en-US" altLang="zh-CN" sz="1400" dirty="0"/>
          </a:p>
          <a:p>
            <a:r>
              <a:rPr kumimoji="1" lang="zh-CN" altLang="en-US" sz="1400" dirty="0"/>
              <a:t>储</a:t>
            </a:r>
            <a:endParaRPr kumimoji="1" lang="en-US" altLang="zh-CN" sz="1400" dirty="0"/>
          </a:p>
          <a:p>
            <a:r>
              <a:rPr kumimoji="1" lang="zh-CN" altLang="en-US" sz="1400" dirty="0"/>
              <a:t>层</a:t>
            </a:r>
            <a:endParaRPr kumimoji="1" lang="en-US" altLang="zh-CN" sz="1400" dirty="0"/>
          </a:p>
        </p:txBody>
      </p:sp>
      <p:sp>
        <p:nvSpPr>
          <p:cNvPr id="28" name="圆柱体 27">
            <a:extLst>
              <a:ext uri="{FF2B5EF4-FFF2-40B4-BE49-F238E27FC236}">
                <a16:creationId xmlns:a16="http://schemas.microsoft.com/office/drawing/2014/main" id="{9C05E0F2-444A-9A7C-6AC0-9A88FEB7E397}"/>
              </a:ext>
            </a:extLst>
          </p:cNvPr>
          <p:cNvSpPr/>
          <p:nvPr/>
        </p:nvSpPr>
        <p:spPr>
          <a:xfrm>
            <a:off x="1559496" y="6165304"/>
            <a:ext cx="864096" cy="360040"/>
          </a:xfrm>
          <a:prstGeom prst="can">
            <a:avLst/>
          </a:prstGeom>
          <a:solidFill>
            <a:srgbClr val="7C7F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mysql</a:t>
            </a:r>
            <a:endParaRPr kumimoji="1" lang="zh-CN" altLang="en-US" dirty="0"/>
          </a:p>
        </p:txBody>
      </p:sp>
      <p:sp>
        <p:nvSpPr>
          <p:cNvPr id="30" name="圆柱体 29">
            <a:extLst>
              <a:ext uri="{FF2B5EF4-FFF2-40B4-BE49-F238E27FC236}">
                <a16:creationId xmlns:a16="http://schemas.microsoft.com/office/drawing/2014/main" id="{08D54471-7E45-C513-0C32-BA439DEABFB3}"/>
              </a:ext>
            </a:extLst>
          </p:cNvPr>
          <p:cNvSpPr/>
          <p:nvPr/>
        </p:nvSpPr>
        <p:spPr>
          <a:xfrm>
            <a:off x="3215680" y="6165304"/>
            <a:ext cx="864096" cy="360040"/>
          </a:xfrm>
          <a:prstGeom prst="can">
            <a:avLst/>
          </a:prstGeom>
          <a:solidFill>
            <a:srgbClr val="7C7F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dcdb</a:t>
            </a:r>
            <a:endParaRPr kumimoji="1" lang="zh-CN" altLang="en-US" dirty="0"/>
          </a:p>
        </p:txBody>
      </p:sp>
      <p:sp>
        <p:nvSpPr>
          <p:cNvPr id="31" name="圆柱体 30">
            <a:extLst>
              <a:ext uri="{FF2B5EF4-FFF2-40B4-BE49-F238E27FC236}">
                <a16:creationId xmlns:a16="http://schemas.microsoft.com/office/drawing/2014/main" id="{D0839465-5E2B-186F-F95E-7784CDA6C8DB}"/>
              </a:ext>
            </a:extLst>
          </p:cNvPr>
          <p:cNvSpPr/>
          <p:nvPr/>
        </p:nvSpPr>
        <p:spPr>
          <a:xfrm>
            <a:off x="4871864" y="6162991"/>
            <a:ext cx="864096" cy="360040"/>
          </a:xfrm>
          <a:prstGeom prst="can">
            <a:avLst/>
          </a:prstGeom>
          <a:solidFill>
            <a:srgbClr val="7C7F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redis</a:t>
            </a:r>
            <a:endParaRPr kumimoji="1" lang="zh-CN" altLang="en-US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89FCD18-46AB-FA2F-217A-1600E1B79ED8}"/>
              </a:ext>
            </a:extLst>
          </p:cNvPr>
          <p:cNvSpPr/>
          <p:nvPr/>
        </p:nvSpPr>
        <p:spPr>
          <a:xfrm>
            <a:off x="2912798" y="5298022"/>
            <a:ext cx="1008112" cy="3600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</a:rPr>
              <a:t>消息组件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EA15FE7-3D92-30D1-4808-22DA5013620A}"/>
              </a:ext>
            </a:extLst>
          </p:cNvPr>
          <p:cNvSpPr/>
          <p:nvPr/>
        </p:nvSpPr>
        <p:spPr>
          <a:xfrm>
            <a:off x="4367808" y="5300297"/>
            <a:ext cx="1008112" cy="3600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</a:rPr>
              <a:t>Cache</a:t>
            </a:r>
            <a:r>
              <a:rPr kumimoji="1" lang="zh-CN" altLang="en-US" sz="1200" dirty="0">
                <a:solidFill>
                  <a:schemeClr val="tx1"/>
                </a:solidFill>
              </a:rPr>
              <a:t>组件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E296B3D-A8AE-0DE5-3350-B9709A49A3C9}"/>
              </a:ext>
            </a:extLst>
          </p:cNvPr>
          <p:cNvSpPr/>
          <p:nvPr/>
        </p:nvSpPr>
        <p:spPr>
          <a:xfrm>
            <a:off x="5822818" y="5298022"/>
            <a:ext cx="1008112" cy="3600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</a:rPr>
              <a:t>job</a:t>
            </a:r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9F4D242-A9D8-312E-A707-2955474906F1}"/>
              </a:ext>
            </a:extLst>
          </p:cNvPr>
          <p:cNvSpPr/>
          <p:nvPr/>
        </p:nvSpPr>
        <p:spPr>
          <a:xfrm>
            <a:off x="1542034" y="3499108"/>
            <a:ext cx="1008112" cy="360040"/>
          </a:xfrm>
          <a:prstGeom prst="rect">
            <a:avLst/>
          </a:prstGeom>
          <a:solidFill>
            <a:srgbClr val="2AAD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商品上下架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6A836C9-74C3-737E-2E66-78F788C7CE24}"/>
              </a:ext>
            </a:extLst>
          </p:cNvPr>
          <p:cNvSpPr/>
          <p:nvPr/>
        </p:nvSpPr>
        <p:spPr>
          <a:xfrm>
            <a:off x="1538609" y="3932360"/>
            <a:ext cx="1008112" cy="360040"/>
          </a:xfrm>
          <a:prstGeom prst="rect">
            <a:avLst/>
          </a:prstGeom>
          <a:solidFill>
            <a:srgbClr val="2AAD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商品详情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5AB30CC-933C-8BCC-1971-62D66AC9BA6B}"/>
              </a:ext>
            </a:extLst>
          </p:cNvPr>
          <p:cNvSpPr/>
          <p:nvPr/>
        </p:nvSpPr>
        <p:spPr>
          <a:xfrm>
            <a:off x="7276643" y="5298022"/>
            <a:ext cx="1008112" cy="36004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</a:rPr>
              <a:t>扩展点组件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F43E676-0335-0CC2-1762-CBF78BADEA72}"/>
              </a:ext>
            </a:extLst>
          </p:cNvPr>
          <p:cNvSpPr/>
          <p:nvPr/>
        </p:nvSpPr>
        <p:spPr>
          <a:xfrm>
            <a:off x="8682913" y="5306930"/>
            <a:ext cx="1008112" cy="36004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</a:rPr>
              <a:t>流程编排组件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31AE673-0217-34DD-05DD-BF08DADA82D6}"/>
              </a:ext>
            </a:extLst>
          </p:cNvPr>
          <p:cNvSpPr/>
          <p:nvPr/>
        </p:nvSpPr>
        <p:spPr>
          <a:xfrm>
            <a:off x="9993040" y="5298022"/>
            <a:ext cx="1008112" cy="3600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</a:rPr>
              <a:t>异步组件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3FB2A40-65CC-D476-E85C-D01660C2C0F5}"/>
              </a:ext>
            </a:extLst>
          </p:cNvPr>
          <p:cNvSpPr/>
          <p:nvPr/>
        </p:nvSpPr>
        <p:spPr>
          <a:xfrm>
            <a:off x="3747278" y="3501383"/>
            <a:ext cx="1008112" cy="360040"/>
          </a:xfrm>
          <a:prstGeom prst="rect">
            <a:avLst/>
          </a:prstGeom>
          <a:solidFill>
            <a:srgbClr val="2AAD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用户注册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4B4662B-B91A-4E53-49C7-724836865EC5}"/>
              </a:ext>
            </a:extLst>
          </p:cNvPr>
          <p:cNvSpPr/>
          <p:nvPr/>
        </p:nvSpPr>
        <p:spPr>
          <a:xfrm>
            <a:off x="3747278" y="3965410"/>
            <a:ext cx="1008112" cy="360040"/>
          </a:xfrm>
          <a:prstGeom prst="rect">
            <a:avLst/>
          </a:prstGeom>
          <a:solidFill>
            <a:srgbClr val="2AAD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用户查询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1CE18A8-C654-A50A-9A80-FE6709633148}"/>
              </a:ext>
            </a:extLst>
          </p:cNvPr>
          <p:cNvSpPr/>
          <p:nvPr/>
        </p:nvSpPr>
        <p:spPr>
          <a:xfrm>
            <a:off x="5700319" y="3498097"/>
            <a:ext cx="1008112" cy="224670"/>
          </a:xfrm>
          <a:prstGeom prst="rect">
            <a:avLst/>
          </a:prstGeom>
          <a:solidFill>
            <a:srgbClr val="2AAD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下单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A69CC5A-4313-F687-0A03-D63EB782987A}"/>
              </a:ext>
            </a:extLst>
          </p:cNvPr>
          <p:cNvSpPr/>
          <p:nvPr/>
        </p:nvSpPr>
        <p:spPr>
          <a:xfrm>
            <a:off x="5700319" y="3853075"/>
            <a:ext cx="1008112" cy="224670"/>
          </a:xfrm>
          <a:prstGeom prst="rect">
            <a:avLst/>
          </a:prstGeom>
          <a:solidFill>
            <a:srgbClr val="2AAD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支付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E2AF38C-8CF0-21A3-E0BF-271F849664CC}"/>
              </a:ext>
            </a:extLst>
          </p:cNvPr>
          <p:cNvSpPr/>
          <p:nvPr/>
        </p:nvSpPr>
        <p:spPr>
          <a:xfrm>
            <a:off x="5707255" y="4226563"/>
            <a:ext cx="1008112" cy="224670"/>
          </a:xfrm>
          <a:prstGeom prst="rect">
            <a:avLst/>
          </a:prstGeom>
          <a:solidFill>
            <a:srgbClr val="2AAD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退款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44D81D4-4769-3341-298C-E7153886FFA4}"/>
              </a:ext>
            </a:extLst>
          </p:cNvPr>
          <p:cNvSpPr/>
          <p:nvPr/>
        </p:nvSpPr>
        <p:spPr>
          <a:xfrm>
            <a:off x="5707255" y="4571508"/>
            <a:ext cx="1008112" cy="224670"/>
          </a:xfrm>
          <a:prstGeom prst="rect">
            <a:avLst/>
          </a:prstGeom>
          <a:solidFill>
            <a:srgbClr val="2AAD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确认收货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FFEF3BA-E550-5386-B85B-63E32A48E3A5}"/>
              </a:ext>
            </a:extLst>
          </p:cNvPr>
          <p:cNvSpPr/>
          <p:nvPr/>
        </p:nvSpPr>
        <p:spPr>
          <a:xfrm>
            <a:off x="7362227" y="3554112"/>
            <a:ext cx="804170" cy="21188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优惠劵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4775C2D-889D-DDB3-905C-C7771D9E0BAB}"/>
              </a:ext>
            </a:extLst>
          </p:cNvPr>
          <p:cNvSpPr/>
          <p:nvPr/>
        </p:nvSpPr>
        <p:spPr>
          <a:xfrm>
            <a:off x="9491323" y="3532061"/>
            <a:ext cx="691749" cy="2339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进件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DB69508-A6B2-516F-ADDA-DB2E0D129460}"/>
              </a:ext>
            </a:extLst>
          </p:cNvPr>
          <p:cNvSpPr/>
          <p:nvPr/>
        </p:nvSpPr>
        <p:spPr>
          <a:xfrm>
            <a:off x="10247284" y="3541321"/>
            <a:ext cx="691749" cy="21540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分账人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451DCAB-96B4-6312-FB75-EF50BB5F077F}"/>
              </a:ext>
            </a:extLst>
          </p:cNvPr>
          <p:cNvSpPr/>
          <p:nvPr/>
        </p:nvSpPr>
        <p:spPr>
          <a:xfrm>
            <a:off x="11254729" y="2780928"/>
            <a:ext cx="757316" cy="36004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监控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88E0806-5A38-7BAA-D66E-947D6C3590BF}"/>
              </a:ext>
            </a:extLst>
          </p:cNvPr>
          <p:cNvSpPr/>
          <p:nvPr/>
        </p:nvSpPr>
        <p:spPr>
          <a:xfrm>
            <a:off x="1538609" y="4399208"/>
            <a:ext cx="1008112" cy="360040"/>
          </a:xfrm>
          <a:prstGeom prst="rect">
            <a:avLst/>
          </a:prstGeom>
          <a:solidFill>
            <a:srgbClr val="2AAD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佣金设置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081284B-3D75-039C-F50A-07984F383D5F}"/>
              </a:ext>
            </a:extLst>
          </p:cNvPr>
          <p:cNvSpPr/>
          <p:nvPr/>
        </p:nvSpPr>
        <p:spPr>
          <a:xfrm>
            <a:off x="11265726" y="3375730"/>
            <a:ext cx="757316" cy="36004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告警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D6F69A6-EC8F-AE3E-D19F-88646C4BEC7C}"/>
              </a:ext>
            </a:extLst>
          </p:cNvPr>
          <p:cNvSpPr/>
          <p:nvPr/>
        </p:nvSpPr>
        <p:spPr>
          <a:xfrm>
            <a:off x="11256945" y="4028948"/>
            <a:ext cx="757316" cy="36004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对账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80ACC84-5768-33FA-6AA5-2E4BD88A2AB7}"/>
              </a:ext>
            </a:extLst>
          </p:cNvPr>
          <p:cNvSpPr/>
          <p:nvPr/>
        </p:nvSpPr>
        <p:spPr>
          <a:xfrm>
            <a:off x="3739536" y="4427017"/>
            <a:ext cx="1008112" cy="360040"/>
          </a:xfrm>
          <a:prstGeom prst="rect">
            <a:avLst/>
          </a:prstGeom>
          <a:solidFill>
            <a:srgbClr val="2AAD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用户登录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E0B97AA-1A38-6E90-D6F5-68C2C37A02AC}"/>
              </a:ext>
            </a:extLst>
          </p:cNvPr>
          <p:cNvSpPr/>
          <p:nvPr/>
        </p:nvSpPr>
        <p:spPr>
          <a:xfrm>
            <a:off x="9495204" y="3877420"/>
            <a:ext cx="691749" cy="2339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支付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8ADE50D-EA10-4C5C-875C-240F774138CB}"/>
              </a:ext>
            </a:extLst>
          </p:cNvPr>
          <p:cNvSpPr/>
          <p:nvPr/>
        </p:nvSpPr>
        <p:spPr>
          <a:xfrm>
            <a:off x="10243949" y="3860631"/>
            <a:ext cx="691749" cy="2339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退款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BADC31B-1127-16F1-E9EE-EF491118F1CD}"/>
              </a:ext>
            </a:extLst>
          </p:cNvPr>
          <p:cNvSpPr/>
          <p:nvPr/>
        </p:nvSpPr>
        <p:spPr>
          <a:xfrm>
            <a:off x="9508069" y="4208968"/>
            <a:ext cx="691749" cy="2339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冻结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CEAF1C1-EEC2-8944-1C4E-A198ED6C0C76}"/>
              </a:ext>
            </a:extLst>
          </p:cNvPr>
          <p:cNvSpPr/>
          <p:nvPr/>
        </p:nvSpPr>
        <p:spPr>
          <a:xfrm>
            <a:off x="10234745" y="4198463"/>
            <a:ext cx="691749" cy="2339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解冻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2A2BB28-82C3-4290-65C7-409F2E987580}"/>
              </a:ext>
            </a:extLst>
          </p:cNvPr>
          <p:cNvSpPr/>
          <p:nvPr/>
        </p:nvSpPr>
        <p:spPr>
          <a:xfrm>
            <a:off x="9499329" y="4542617"/>
            <a:ext cx="691749" cy="2339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分账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A673A13-05DB-D9B4-6DF5-E6C0B42FAD0C}"/>
              </a:ext>
            </a:extLst>
          </p:cNvPr>
          <p:cNvSpPr/>
          <p:nvPr/>
        </p:nvSpPr>
        <p:spPr>
          <a:xfrm>
            <a:off x="10234744" y="4536295"/>
            <a:ext cx="691749" cy="2339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提现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F276ECB-713E-4C28-C074-93F789F312F1}"/>
              </a:ext>
            </a:extLst>
          </p:cNvPr>
          <p:cNvSpPr/>
          <p:nvPr/>
        </p:nvSpPr>
        <p:spPr>
          <a:xfrm>
            <a:off x="8260790" y="3554112"/>
            <a:ext cx="792840" cy="2026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电子卡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E4C1F60-6CC7-1873-7C10-F732642BA4AB}"/>
              </a:ext>
            </a:extLst>
          </p:cNvPr>
          <p:cNvSpPr/>
          <p:nvPr/>
        </p:nvSpPr>
        <p:spPr>
          <a:xfrm>
            <a:off x="7366202" y="3919837"/>
            <a:ext cx="792840" cy="2026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佣金冻结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D8017ED-286E-E4DB-B263-1BD0DE3A6FB9}"/>
              </a:ext>
            </a:extLst>
          </p:cNvPr>
          <p:cNvSpPr/>
          <p:nvPr/>
        </p:nvSpPr>
        <p:spPr>
          <a:xfrm>
            <a:off x="8263574" y="3909547"/>
            <a:ext cx="792840" cy="2026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佣金取消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F19CAF6-6B1D-188A-A6E2-1ACF5BE06227}"/>
              </a:ext>
            </a:extLst>
          </p:cNvPr>
          <p:cNvSpPr/>
          <p:nvPr/>
        </p:nvSpPr>
        <p:spPr>
          <a:xfrm>
            <a:off x="7369841" y="4262401"/>
            <a:ext cx="792840" cy="2026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佣金解冻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8A87B32D-2E70-2136-22CF-FC28D5FA5D05}"/>
              </a:ext>
            </a:extLst>
          </p:cNvPr>
          <p:cNvSpPr/>
          <p:nvPr/>
        </p:nvSpPr>
        <p:spPr>
          <a:xfrm>
            <a:off x="8255879" y="4262401"/>
            <a:ext cx="792840" cy="2026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佣金计算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6B69F6E-6EE4-9E84-34F6-968EE151B0BF}"/>
              </a:ext>
            </a:extLst>
          </p:cNvPr>
          <p:cNvSpPr/>
          <p:nvPr/>
        </p:nvSpPr>
        <p:spPr>
          <a:xfrm>
            <a:off x="7373557" y="4571628"/>
            <a:ext cx="792840" cy="2026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发起分账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DEC866CE-76DE-EA4D-DFA3-DCE0D48EC1D8}"/>
              </a:ext>
            </a:extLst>
          </p:cNvPr>
          <p:cNvSpPr/>
          <p:nvPr/>
        </p:nvSpPr>
        <p:spPr>
          <a:xfrm>
            <a:off x="8259581" y="4576043"/>
            <a:ext cx="792840" cy="20261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手续费</a:t>
            </a:r>
          </a:p>
        </p:txBody>
      </p:sp>
      <p:sp>
        <p:nvSpPr>
          <p:cNvPr id="72" name="右箭头 71">
            <a:extLst>
              <a:ext uri="{FF2B5EF4-FFF2-40B4-BE49-F238E27FC236}">
                <a16:creationId xmlns:a16="http://schemas.microsoft.com/office/drawing/2014/main" id="{C0EF1C64-B6CA-5AEF-CABC-E3503CD9CFB1}"/>
              </a:ext>
            </a:extLst>
          </p:cNvPr>
          <p:cNvSpPr/>
          <p:nvPr/>
        </p:nvSpPr>
        <p:spPr>
          <a:xfrm>
            <a:off x="6763744" y="4292399"/>
            <a:ext cx="598483" cy="466849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MQ</a:t>
            </a:r>
            <a:endParaRPr kumimoji="1" lang="zh-CN" altLang="en-US" sz="1000" dirty="0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81B89ADD-C60B-FE2A-AFBB-DE856466C525}"/>
              </a:ext>
            </a:extLst>
          </p:cNvPr>
          <p:cNvSpPr/>
          <p:nvPr/>
        </p:nvSpPr>
        <p:spPr>
          <a:xfrm>
            <a:off x="1521961" y="5285021"/>
            <a:ext cx="1008112" cy="36004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</a:rPr>
              <a:t>消息环境隔离组件</a:t>
            </a:r>
          </a:p>
        </p:txBody>
      </p:sp>
    </p:spTree>
    <p:extLst>
      <p:ext uri="{BB962C8B-B14F-4D97-AF65-F5344CB8AC3E}">
        <p14:creationId xmlns:p14="http://schemas.microsoft.com/office/powerpoint/2010/main" val="150982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能力举证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88B92B-2F6C-8E74-DB80-F360801E24FA}"/>
              </a:ext>
            </a:extLst>
          </p:cNvPr>
          <p:cNvSpPr/>
          <p:nvPr/>
        </p:nvSpPr>
        <p:spPr>
          <a:xfrm>
            <a:off x="551384" y="954136"/>
            <a:ext cx="5660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en-US" altLang="zh-CN" sz="2400" b="1" dirty="0">
                <a:latin typeface="+mj-lt"/>
                <a:ea typeface="等线" panose="02010600030101010101" pitchFamily="2" charset="-122"/>
              </a:rPr>
              <a:t>2.1 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案例名称：电商</a:t>
            </a:r>
            <a:r>
              <a:rPr lang="en-US" altLang="zh-CN" sz="2400" b="1" dirty="0">
                <a:latin typeface="+mj-lt"/>
                <a:ea typeface="等线" panose="02010600030101010101" pitchFamily="2" charset="-122"/>
              </a:rPr>
              <a:t>SAAS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分销</a:t>
            </a:r>
            <a:r>
              <a:rPr lang="zh-CN" altLang="en-US" sz="2400" b="1" dirty="0">
                <a:ea typeface="等线" panose="02010600030101010101" pitchFamily="2" charset="-122"/>
              </a:rPr>
              <a:t>与支付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业务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AA910B1-AD40-DDFE-0A1E-D3DE2D1C5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" y="1415801"/>
            <a:ext cx="11233249" cy="525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70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能力举证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88B92B-2F6C-8E74-DB80-F360801E24FA}"/>
              </a:ext>
            </a:extLst>
          </p:cNvPr>
          <p:cNvSpPr/>
          <p:nvPr/>
        </p:nvSpPr>
        <p:spPr>
          <a:xfrm>
            <a:off x="551384" y="954136"/>
            <a:ext cx="5660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en-US" altLang="zh-CN" sz="2400" b="1" dirty="0">
                <a:latin typeface="+mj-lt"/>
                <a:ea typeface="等线" panose="02010600030101010101" pitchFamily="2" charset="-122"/>
              </a:rPr>
              <a:t>2.1 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案例名称：电商</a:t>
            </a:r>
            <a:r>
              <a:rPr lang="en-US" altLang="zh-CN" sz="2400" b="1" dirty="0">
                <a:latin typeface="+mj-lt"/>
                <a:ea typeface="等线" panose="02010600030101010101" pitchFamily="2" charset="-122"/>
              </a:rPr>
              <a:t>SAAS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分销</a:t>
            </a:r>
            <a:r>
              <a:rPr lang="zh-CN" altLang="en-US" sz="2400" b="1" dirty="0">
                <a:ea typeface="等线" panose="02010600030101010101" pitchFamily="2" charset="-122"/>
              </a:rPr>
              <a:t>与支付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业务</a:t>
            </a:r>
          </a:p>
        </p:txBody>
      </p:sp>
      <p:graphicFrame>
        <p:nvGraphicFramePr>
          <p:cNvPr id="4" name="表格 6">
            <a:extLst>
              <a:ext uri="{FF2B5EF4-FFF2-40B4-BE49-F238E27FC236}">
                <a16:creationId xmlns:a16="http://schemas.microsoft.com/office/drawing/2014/main" id="{613753F7-B4D7-08A7-5618-CBA86B358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299870"/>
              </p:ext>
            </p:extLst>
          </p:nvPr>
        </p:nvGraphicFramePr>
        <p:xfrm>
          <a:off x="551384" y="1479685"/>
          <a:ext cx="11233248" cy="5052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2931642373"/>
                    </a:ext>
                  </a:extLst>
                </a:gridCol>
                <a:gridCol w="8640960">
                  <a:extLst>
                    <a:ext uri="{9D8B030D-6E8A-4147-A177-3AD203B41FA5}">
                      <a16:colId xmlns:a16="http://schemas.microsoft.com/office/drawing/2014/main" val="3260008401"/>
                    </a:ext>
                  </a:extLst>
                </a:gridCol>
              </a:tblGrid>
              <a:tr h="797627">
                <a:tc>
                  <a:txBody>
                    <a:bodyPr/>
                    <a:lstStyle/>
                    <a:p>
                      <a:r>
                        <a:rPr lang="zh-CN" altLang="en-US" dirty="0"/>
                        <a:t>困难点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解决方案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978207"/>
                  </a:ext>
                </a:extLst>
              </a:tr>
              <a:tr h="808706">
                <a:tc>
                  <a:txBody>
                    <a:bodyPr/>
                    <a:lstStyle/>
                    <a:p>
                      <a:r>
                        <a:rPr lang="zh-CN" altLang="en-US" dirty="0"/>
                        <a:t>解决平台资金二清问题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采用微信电商收付通方案来解决二清问题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118619"/>
                  </a:ext>
                </a:extLst>
              </a:tr>
              <a:tr h="808706">
                <a:tc>
                  <a:txBody>
                    <a:bodyPr/>
                    <a:lstStyle/>
                    <a:p>
                      <a:r>
                        <a:rPr lang="zh-CN" altLang="en-US" dirty="0"/>
                        <a:t>扩展性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通过开发扩展点组件，只需要新增扩展点而不需要修改主流程代码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设计合理的资产、佣金模型能够快速支持新业务扩展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237925"/>
                  </a:ext>
                </a:extLst>
              </a:tr>
              <a:tr h="808706">
                <a:tc>
                  <a:txBody>
                    <a:bodyPr/>
                    <a:lstStyle/>
                    <a:p>
                      <a:r>
                        <a:rPr lang="zh-CN" altLang="en-US" dirty="0"/>
                        <a:t>如何防止资损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通过接口重试、接口幂等、接口回调、</a:t>
                      </a:r>
                      <a:r>
                        <a:rPr lang="en-US" altLang="zh-CN" dirty="0"/>
                        <a:t>job</a:t>
                      </a:r>
                      <a:r>
                        <a:rPr lang="zh-CN" altLang="en-US" dirty="0"/>
                        <a:t>重试保证等方式最大努力保证数据一致性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通过添加特定监控告警及时发现问题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通过系统之间对账校验数据是否存在异常并告警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823860"/>
                  </a:ext>
                </a:extLst>
              </a:tr>
              <a:tr h="808706">
                <a:tc>
                  <a:txBody>
                    <a:bodyPr/>
                    <a:lstStyle/>
                    <a:p>
                      <a:r>
                        <a:rPr lang="zh-CN" altLang="en-US" dirty="0"/>
                        <a:t>高性能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通过</a:t>
                      </a:r>
                      <a:r>
                        <a:rPr lang="en-US" altLang="zh-CN" dirty="0" err="1"/>
                        <a:t>mq</a:t>
                      </a:r>
                      <a:r>
                        <a:rPr lang="zh-CN" altLang="en-US" dirty="0"/>
                        <a:t>来传递订单消息，起到削峰、解耦的作用；</a:t>
                      </a:r>
                      <a:endParaRPr lang="en-US" altLang="zh-CN" dirty="0"/>
                    </a:p>
                    <a:p>
                      <a:endParaRPr lang="en-US" altLang="zh-CN" dirty="0"/>
                    </a:p>
                    <a:p>
                      <a:r>
                        <a:rPr lang="zh-CN" altLang="en-US" dirty="0"/>
                        <a:t>异步发送收益消息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4487517"/>
                  </a:ext>
                </a:extLst>
              </a:tr>
              <a:tr h="808706">
                <a:tc>
                  <a:txBody>
                    <a:bodyPr/>
                    <a:lstStyle/>
                    <a:p>
                      <a:r>
                        <a:rPr lang="zh-CN" altLang="en-US" dirty="0"/>
                        <a:t>高可用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订单消息由于</a:t>
                      </a:r>
                      <a:r>
                        <a:rPr lang="en-US" altLang="zh-CN" dirty="0"/>
                        <a:t>MQ</a:t>
                      </a:r>
                      <a:r>
                        <a:rPr lang="zh-CN" altLang="en-US" dirty="0"/>
                        <a:t>消息丢失，通过</a:t>
                      </a:r>
                      <a:r>
                        <a:rPr lang="en-US" altLang="zh-CN" dirty="0"/>
                        <a:t>job</a:t>
                      </a:r>
                      <a:r>
                        <a:rPr lang="zh-CN" altLang="en-US" dirty="0"/>
                        <a:t>扫描丢失数据重发消息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393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0785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能力举证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168A6B-AD0F-5411-2805-7F574945759D}"/>
              </a:ext>
            </a:extLst>
          </p:cNvPr>
          <p:cNvSpPr txBox="1"/>
          <p:nvPr/>
        </p:nvSpPr>
        <p:spPr>
          <a:xfrm>
            <a:off x="1127448" y="1417820"/>
            <a:ext cx="10920436" cy="5107524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结果：</a:t>
            </a:r>
            <a:endParaRPr lang="en-US" altLang="zh-CN" sz="2000" dirty="0">
              <a:solidFill>
                <a:srgbClr val="0000FF"/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rgbClr val="0000FF"/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rgbClr val="0000FF"/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rgbClr val="0000FF"/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rgbClr val="0000FF"/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rgbClr val="0000FF"/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个人能力：</a:t>
            </a:r>
            <a:endParaRPr lang="en-US" altLang="zh-CN" sz="2000" dirty="0">
              <a:solidFill>
                <a:srgbClr val="0000FF"/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	</a:t>
            </a: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1.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通过沉淀基础组件，提升团队的开发效率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	2.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通过搭建可扩展的架构，为后续新的分销玩法实现奠定了基础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rgbClr val="0000FF"/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rgbClr val="0000FF"/>
              </a:solidFill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88B92B-2F6C-8E74-DB80-F360801E24FA}"/>
              </a:ext>
            </a:extLst>
          </p:cNvPr>
          <p:cNvSpPr/>
          <p:nvPr/>
        </p:nvSpPr>
        <p:spPr>
          <a:xfrm>
            <a:off x="551384" y="954136"/>
            <a:ext cx="5660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en-US" altLang="zh-CN" sz="2400" b="1" dirty="0">
                <a:latin typeface="+mj-lt"/>
                <a:ea typeface="等线" panose="02010600030101010101" pitchFamily="2" charset="-122"/>
              </a:rPr>
              <a:t>2.1 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案例名称：电商</a:t>
            </a:r>
            <a:r>
              <a:rPr lang="en-US" altLang="zh-CN" sz="2400" b="1" dirty="0">
                <a:latin typeface="+mj-lt"/>
                <a:ea typeface="等线" panose="02010600030101010101" pitchFamily="2" charset="-122"/>
              </a:rPr>
              <a:t>SAAS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分销</a:t>
            </a:r>
            <a:r>
              <a:rPr lang="zh-CN" altLang="en-US" sz="2400" b="1" dirty="0">
                <a:ea typeface="等线" panose="02010600030101010101" pitchFamily="2" charset="-122"/>
              </a:rPr>
              <a:t>与支付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业务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BF86272-0E71-5086-02CC-7EBA94F7A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2060848"/>
            <a:ext cx="7402150" cy="189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741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能力举证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168A6B-AD0F-5411-2805-7F574945759D}"/>
              </a:ext>
            </a:extLst>
          </p:cNvPr>
          <p:cNvSpPr txBox="1"/>
          <p:nvPr/>
        </p:nvSpPr>
        <p:spPr>
          <a:xfrm>
            <a:off x="1127448" y="1417820"/>
            <a:ext cx="10920436" cy="5107524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（</a:t>
            </a: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1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）</a:t>
            </a:r>
            <a:r>
              <a:rPr lang="zh-CN" altLang="en-US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案例完成时间：</a:t>
            </a: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2022.2-2022.7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（</a:t>
            </a: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2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）</a:t>
            </a:r>
            <a:r>
              <a:rPr lang="zh-CN" altLang="en-US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参与工作内容：</a:t>
            </a:r>
            <a:endParaRPr lang="en-US" altLang="zh-CN" sz="2000" dirty="0">
              <a:solidFill>
                <a:srgbClr val="0000FF"/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          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从零到一快速搭建完成赏金小助手后端服务，</a:t>
            </a:r>
            <a:r>
              <a:rPr lang="zh-CN" altLang="en-US" sz="2000">
                <a:latin typeface="DengXian" charset="-122"/>
                <a:ea typeface="DengXian" charset="-122"/>
                <a:cs typeface="DengXian" charset="-122"/>
              </a:rPr>
              <a:t>支持多中抽奖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玩法，比如定时抽奖、实时抽奖、九宫格抽奖、盲盒抽奖、红包抽奖、微信群抽奖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（</a:t>
            </a: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3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）</a:t>
            </a:r>
            <a:r>
              <a:rPr lang="zh-CN" altLang="en-US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个人承担角色：</a:t>
            </a:r>
            <a:endParaRPr lang="en-US" altLang="zh-CN" sz="2000" dirty="0">
              <a:solidFill>
                <a:srgbClr val="0000FF"/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	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主导项目核心业务的架构设计以及落地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（</a:t>
            </a: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4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）</a:t>
            </a:r>
            <a:r>
              <a:rPr lang="zh-CN" altLang="en-US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个人关键贡献：</a:t>
            </a:r>
            <a:endParaRPr lang="en-US" altLang="zh-CN" sz="2000" dirty="0">
              <a:solidFill>
                <a:srgbClr val="0000FF"/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	1.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保证服务的可扩展性，快速高效支撑业务快速迭代上线</a:t>
            </a: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;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	2.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攻坚项目难点，通过整体优化让性能提升三倍，保证业务目标高标达成；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88B92B-2F6C-8E74-DB80-F360801E24FA}"/>
              </a:ext>
            </a:extLst>
          </p:cNvPr>
          <p:cNvSpPr/>
          <p:nvPr/>
        </p:nvSpPr>
        <p:spPr>
          <a:xfrm>
            <a:off x="551384" y="954136"/>
            <a:ext cx="37337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en-US" altLang="zh-CN" sz="2400" b="1" dirty="0">
                <a:latin typeface="+mj-lt"/>
                <a:ea typeface="等线" panose="02010600030101010101" pitchFamily="2" charset="-122"/>
              </a:rPr>
              <a:t>2.2 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案例名称：赏金小助手</a:t>
            </a:r>
          </a:p>
        </p:txBody>
      </p:sp>
    </p:spTree>
    <p:extLst>
      <p:ext uri="{BB962C8B-B14F-4D97-AF65-F5344CB8AC3E}">
        <p14:creationId xmlns:p14="http://schemas.microsoft.com/office/powerpoint/2010/main" val="3676695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能力举证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168A6B-AD0F-5411-2805-7F574945759D}"/>
              </a:ext>
            </a:extLst>
          </p:cNvPr>
          <p:cNvSpPr txBox="1"/>
          <p:nvPr/>
        </p:nvSpPr>
        <p:spPr>
          <a:xfrm>
            <a:off x="1127448" y="1417820"/>
            <a:ext cx="10920436" cy="5107524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项目背景：</a:t>
            </a:r>
            <a:endParaRPr lang="en-US" altLang="zh-CN" sz="2000" dirty="0">
              <a:solidFill>
                <a:srgbClr val="0000FF"/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	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解决商家引流、推广、传播问题，独立于电商</a:t>
            </a:r>
            <a:r>
              <a:rPr lang="en" altLang="zh-CN" sz="2000" dirty="0">
                <a:latin typeface="DengXian" charset="-122"/>
                <a:ea typeface="DengXian" charset="-122"/>
                <a:cs typeface="DengXian" charset="-122"/>
              </a:rPr>
              <a:t>SaaS(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金鲤小店</a:t>
            </a: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)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，以抽奖为切入增加点，提供更丰富的工具类玩法小程序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项目难点：</a:t>
            </a:r>
            <a:endParaRPr lang="en-US" altLang="zh-CN" sz="2000" dirty="0">
              <a:solidFill>
                <a:srgbClr val="0000FF"/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	1.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时间紧、任务重，需要从零到一快速搭建抽奖系统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	2.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需要保证性能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	3.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扩展性要好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88B92B-2F6C-8E74-DB80-F360801E24FA}"/>
              </a:ext>
            </a:extLst>
          </p:cNvPr>
          <p:cNvSpPr/>
          <p:nvPr/>
        </p:nvSpPr>
        <p:spPr>
          <a:xfrm>
            <a:off x="551384" y="954136"/>
            <a:ext cx="37337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en-US" altLang="zh-CN" sz="2400" b="1" dirty="0">
                <a:latin typeface="+mj-lt"/>
                <a:ea typeface="等线" panose="02010600030101010101" pitchFamily="2" charset="-122"/>
              </a:rPr>
              <a:t>2.2 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案例名称：赏金小助手</a:t>
            </a:r>
          </a:p>
        </p:txBody>
      </p:sp>
    </p:spTree>
    <p:extLst>
      <p:ext uri="{BB962C8B-B14F-4D97-AF65-F5344CB8AC3E}">
        <p14:creationId xmlns:p14="http://schemas.microsoft.com/office/powerpoint/2010/main" val="2097361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DF501F5C-21AB-A07F-B868-55B873471AE5}"/>
              </a:ext>
            </a:extLst>
          </p:cNvPr>
          <p:cNvSpPr/>
          <p:nvPr/>
        </p:nvSpPr>
        <p:spPr>
          <a:xfrm>
            <a:off x="692282" y="3056840"/>
            <a:ext cx="2595406" cy="1174384"/>
          </a:xfrm>
          <a:prstGeom prst="rect">
            <a:avLst/>
          </a:prstGeom>
          <a:solidFill>
            <a:schemeClr val="accent4"/>
          </a:solidFill>
          <a:ln w="28575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能力举证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88B92B-2F6C-8E74-DB80-F360801E24FA}"/>
              </a:ext>
            </a:extLst>
          </p:cNvPr>
          <p:cNvSpPr/>
          <p:nvPr/>
        </p:nvSpPr>
        <p:spPr>
          <a:xfrm>
            <a:off x="551384" y="954136"/>
            <a:ext cx="37337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en-US" altLang="zh-CN" sz="2400" b="1" dirty="0">
                <a:latin typeface="+mj-lt"/>
                <a:ea typeface="等线" panose="02010600030101010101" pitchFamily="2" charset="-122"/>
              </a:rPr>
              <a:t>2.2 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案例名称：赏金小助手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5CE9116-0992-F4E9-FC0B-B1599A0C5A25}"/>
              </a:ext>
            </a:extLst>
          </p:cNvPr>
          <p:cNvSpPr/>
          <p:nvPr/>
        </p:nvSpPr>
        <p:spPr>
          <a:xfrm>
            <a:off x="551384" y="2001277"/>
            <a:ext cx="7128792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业务网关（用户信息、鉴权、限流）</a:t>
            </a:r>
          </a:p>
        </p:txBody>
      </p:sp>
      <p:sp>
        <p:nvSpPr>
          <p:cNvPr id="4" name="下箭头 3">
            <a:extLst>
              <a:ext uri="{FF2B5EF4-FFF2-40B4-BE49-F238E27FC236}">
                <a16:creationId xmlns:a16="http://schemas.microsoft.com/office/drawing/2014/main" id="{ED8258B8-E95C-7F33-98D0-21F0695973B1}"/>
              </a:ext>
            </a:extLst>
          </p:cNvPr>
          <p:cNvSpPr/>
          <p:nvPr/>
        </p:nvSpPr>
        <p:spPr>
          <a:xfrm>
            <a:off x="1631504" y="1396554"/>
            <a:ext cx="720080" cy="585476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创建</a:t>
            </a:r>
          </a:p>
        </p:txBody>
      </p:sp>
      <p:sp>
        <p:nvSpPr>
          <p:cNvPr id="7" name="下箭头 6">
            <a:extLst>
              <a:ext uri="{FF2B5EF4-FFF2-40B4-BE49-F238E27FC236}">
                <a16:creationId xmlns:a16="http://schemas.microsoft.com/office/drawing/2014/main" id="{6E518605-017D-E409-B908-BEAE86CBFBC0}"/>
              </a:ext>
            </a:extLst>
          </p:cNvPr>
          <p:cNvSpPr/>
          <p:nvPr/>
        </p:nvSpPr>
        <p:spPr>
          <a:xfrm>
            <a:off x="4628884" y="1396554"/>
            <a:ext cx="720080" cy="585476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抽奖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3D68FF-68AC-E72B-CAF8-19BB150A00C0}"/>
              </a:ext>
            </a:extLst>
          </p:cNvPr>
          <p:cNvSpPr/>
          <p:nvPr/>
        </p:nvSpPr>
        <p:spPr>
          <a:xfrm>
            <a:off x="551383" y="2714464"/>
            <a:ext cx="11098279" cy="39548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下箭头 7">
            <a:extLst>
              <a:ext uri="{FF2B5EF4-FFF2-40B4-BE49-F238E27FC236}">
                <a16:creationId xmlns:a16="http://schemas.microsoft.com/office/drawing/2014/main" id="{01C47B3D-4C49-C6C9-C18D-A6079F8193F5}"/>
              </a:ext>
            </a:extLst>
          </p:cNvPr>
          <p:cNvSpPr/>
          <p:nvPr/>
        </p:nvSpPr>
        <p:spPr>
          <a:xfrm>
            <a:off x="9455005" y="1410411"/>
            <a:ext cx="720080" cy="585476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开奖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DEA9BCB-E5FD-0828-4C4F-6AF9090AD1A0}"/>
              </a:ext>
            </a:extLst>
          </p:cNvPr>
          <p:cNvSpPr txBox="1"/>
          <p:nvPr/>
        </p:nvSpPr>
        <p:spPr>
          <a:xfrm>
            <a:off x="481292" y="242364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营销服务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A59CDFC-1443-CED7-E692-D0A8023E2D0B}"/>
              </a:ext>
            </a:extLst>
          </p:cNvPr>
          <p:cNvSpPr/>
          <p:nvPr/>
        </p:nvSpPr>
        <p:spPr>
          <a:xfrm>
            <a:off x="1390211" y="3653425"/>
            <a:ext cx="1114216" cy="3586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活动大盘</a:t>
            </a: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3209DE0C-499C-E4DF-B366-4A42B99FF4B2}"/>
              </a:ext>
            </a:extLst>
          </p:cNvPr>
          <p:cNvCxnSpPr>
            <a:cxnSpLocks/>
          </p:cNvCxnSpPr>
          <p:nvPr/>
        </p:nvCxnSpPr>
        <p:spPr>
          <a:xfrm>
            <a:off x="1970563" y="2354424"/>
            <a:ext cx="0" cy="6223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6D9F7B1B-BDFE-1C17-E09A-4957822DD607}"/>
              </a:ext>
            </a:extLst>
          </p:cNvPr>
          <p:cNvSpPr/>
          <p:nvPr/>
        </p:nvSpPr>
        <p:spPr>
          <a:xfrm>
            <a:off x="4285098" y="2898928"/>
            <a:ext cx="1418094" cy="4165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参与规则校验</a:t>
            </a:r>
          </a:p>
        </p:txBody>
      </p:sp>
      <p:sp>
        <p:nvSpPr>
          <p:cNvPr id="38" name="下箭头 37">
            <a:extLst>
              <a:ext uri="{FF2B5EF4-FFF2-40B4-BE49-F238E27FC236}">
                <a16:creationId xmlns:a16="http://schemas.microsoft.com/office/drawing/2014/main" id="{59AA2721-0CBE-1D61-B73B-A6E8F6FB3437}"/>
              </a:ext>
            </a:extLst>
          </p:cNvPr>
          <p:cNvSpPr/>
          <p:nvPr/>
        </p:nvSpPr>
        <p:spPr>
          <a:xfrm>
            <a:off x="6979776" y="1415342"/>
            <a:ext cx="720080" cy="585476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查询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1D691B1-E746-3C93-323C-B3D4CC7392C9}"/>
              </a:ext>
            </a:extLst>
          </p:cNvPr>
          <p:cNvSpPr/>
          <p:nvPr/>
        </p:nvSpPr>
        <p:spPr>
          <a:xfrm>
            <a:off x="4278271" y="3447671"/>
            <a:ext cx="1418094" cy="4165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参与记录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A33F074-1AC5-8440-4D82-F4BAF06E3524}"/>
              </a:ext>
            </a:extLst>
          </p:cNvPr>
          <p:cNvSpPr/>
          <p:nvPr/>
        </p:nvSpPr>
        <p:spPr>
          <a:xfrm>
            <a:off x="6602803" y="2911303"/>
            <a:ext cx="1418094" cy="4165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活动详情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AFA0A09-FA02-7D56-6CB4-57F51868F50A}"/>
              </a:ext>
            </a:extLst>
          </p:cNvPr>
          <p:cNvSpPr/>
          <p:nvPr/>
        </p:nvSpPr>
        <p:spPr>
          <a:xfrm>
            <a:off x="6602803" y="3523533"/>
            <a:ext cx="1418094" cy="4165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中奖记录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58965BC-542A-0902-E29C-7FE817827F98}"/>
              </a:ext>
            </a:extLst>
          </p:cNvPr>
          <p:cNvSpPr/>
          <p:nvPr/>
        </p:nvSpPr>
        <p:spPr>
          <a:xfrm>
            <a:off x="9105998" y="2911303"/>
            <a:ext cx="1418094" cy="4165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中奖算法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0A4BD28-D15C-56F5-D958-1D0B0AA67342}"/>
              </a:ext>
            </a:extLst>
          </p:cNvPr>
          <p:cNvSpPr/>
          <p:nvPr/>
        </p:nvSpPr>
        <p:spPr>
          <a:xfrm>
            <a:off x="9105998" y="4650140"/>
            <a:ext cx="1418094" cy="4165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奖品发放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6536DFE-4F87-C0F5-330A-E1883D61FDC3}"/>
              </a:ext>
            </a:extLst>
          </p:cNvPr>
          <p:cNvSpPr/>
          <p:nvPr/>
        </p:nvSpPr>
        <p:spPr>
          <a:xfrm>
            <a:off x="9105998" y="3519367"/>
            <a:ext cx="1418094" cy="4165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中奖记录</a:t>
            </a:r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A0865B6E-86EF-7C8A-B080-E90B2D769F1E}"/>
              </a:ext>
            </a:extLst>
          </p:cNvPr>
          <p:cNvCxnSpPr>
            <a:cxnSpLocks/>
          </p:cNvCxnSpPr>
          <p:nvPr/>
        </p:nvCxnSpPr>
        <p:spPr>
          <a:xfrm>
            <a:off x="4965274" y="2354424"/>
            <a:ext cx="0" cy="5241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B5F0B7CA-07E9-0B25-2AB0-7C2C8AF42B4E}"/>
              </a:ext>
            </a:extLst>
          </p:cNvPr>
          <p:cNvCxnSpPr>
            <a:cxnSpLocks/>
          </p:cNvCxnSpPr>
          <p:nvPr/>
        </p:nvCxnSpPr>
        <p:spPr>
          <a:xfrm>
            <a:off x="7339816" y="2365554"/>
            <a:ext cx="0" cy="5333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070C3EC8-5563-611C-2FAD-A8C7628AE201}"/>
              </a:ext>
            </a:extLst>
          </p:cNvPr>
          <p:cNvCxnSpPr>
            <a:cxnSpLocks/>
            <a:stCxn id="8" idx="2"/>
            <a:endCxn id="42" idx="0"/>
          </p:cNvCxnSpPr>
          <p:nvPr/>
        </p:nvCxnSpPr>
        <p:spPr>
          <a:xfrm>
            <a:off x="9815045" y="1995887"/>
            <a:ext cx="0" cy="9154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41E8C944-0210-95C6-CD1E-814433AA1CFB}"/>
              </a:ext>
            </a:extLst>
          </p:cNvPr>
          <p:cNvSpPr/>
          <p:nvPr/>
        </p:nvSpPr>
        <p:spPr>
          <a:xfrm>
            <a:off x="1413454" y="3094417"/>
            <a:ext cx="1114217" cy="3586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活动管理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DF78D9B-BA3E-183A-4DEC-53549D3E98FA}"/>
              </a:ext>
            </a:extLst>
          </p:cNvPr>
          <p:cNvSpPr/>
          <p:nvPr/>
        </p:nvSpPr>
        <p:spPr>
          <a:xfrm>
            <a:off x="886155" y="6013943"/>
            <a:ext cx="1008112" cy="36004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</a:rPr>
              <a:t>持久化事件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F6BB4EA-46EB-45B4-DC50-CE44782D48E1}"/>
              </a:ext>
            </a:extLst>
          </p:cNvPr>
          <p:cNvSpPr/>
          <p:nvPr/>
        </p:nvSpPr>
        <p:spPr>
          <a:xfrm>
            <a:off x="738125" y="5880057"/>
            <a:ext cx="9865096" cy="62875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78661E6-9BAB-4819-EC64-DE4E2D107C51}"/>
              </a:ext>
            </a:extLst>
          </p:cNvPr>
          <p:cNvSpPr/>
          <p:nvPr/>
        </p:nvSpPr>
        <p:spPr>
          <a:xfrm>
            <a:off x="1392000" y="4202126"/>
            <a:ext cx="1114216" cy="3586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消息管理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310C6D0-771B-F0A6-74A9-5FF13446B305}"/>
              </a:ext>
            </a:extLst>
          </p:cNvPr>
          <p:cNvSpPr/>
          <p:nvPr/>
        </p:nvSpPr>
        <p:spPr>
          <a:xfrm>
            <a:off x="886155" y="2946793"/>
            <a:ext cx="2113501" cy="2282407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80A79ED-8F1B-57D7-D731-6D09C58C518C}"/>
              </a:ext>
            </a:extLst>
          </p:cNvPr>
          <p:cNvSpPr/>
          <p:nvPr/>
        </p:nvSpPr>
        <p:spPr>
          <a:xfrm>
            <a:off x="4278271" y="3993865"/>
            <a:ext cx="1418094" cy="4165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中奖规则计算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1E51A2B-4CA0-3C69-7DD3-BC04E7086344}"/>
              </a:ext>
            </a:extLst>
          </p:cNvPr>
          <p:cNvSpPr/>
          <p:nvPr/>
        </p:nvSpPr>
        <p:spPr>
          <a:xfrm>
            <a:off x="4278271" y="4529958"/>
            <a:ext cx="1418094" cy="4165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扣减库存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3FC4E33-F52B-739D-213F-C0127286D915}"/>
              </a:ext>
            </a:extLst>
          </p:cNvPr>
          <p:cNvSpPr/>
          <p:nvPr/>
        </p:nvSpPr>
        <p:spPr>
          <a:xfrm>
            <a:off x="3406733" y="5165996"/>
            <a:ext cx="1418094" cy="4165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奖品发放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C61236A-A1E1-EB22-172F-2F24EE2E249B}"/>
              </a:ext>
            </a:extLst>
          </p:cNvPr>
          <p:cNvSpPr/>
          <p:nvPr/>
        </p:nvSpPr>
        <p:spPr>
          <a:xfrm>
            <a:off x="4951625" y="5165996"/>
            <a:ext cx="1418094" cy="4165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助力计算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E87DCAD-CF0B-2516-43B8-9C2EC72CB20E}"/>
              </a:ext>
            </a:extLst>
          </p:cNvPr>
          <p:cNvSpPr/>
          <p:nvPr/>
        </p:nvSpPr>
        <p:spPr>
          <a:xfrm>
            <a:off x="6615612" y="4113436"/>
            <a:ext cx="1418094" cy="4165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参与记录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FA5A170-8C11-C92B-C02A-EB9DCF9EC3F2}"/>
              </a:ext>
            </a:extLst>
          </p:cNvPr>
          <p:cNvSpPr/>
          <p:nvPr/>
        </p:nvSpPr>
        <p:spPr>
          <a:xfrm>
            <a:off x="6615612" y="4729710"/>
            <a:ext cx="1418094" cy="4165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助力记录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8FA1A522-F434-F7B5-9E6B-FB888968D9CA}"/>
              </a:ext>
            </a:extLst>
          </p:cNvPr>
          <p:cNvSpPr/>
          <p:nvPr/>
        </p:nvSpPr>
        <p:spPr>
          <a:xfrm>
            <a:off x="9133377" y="4064601"/>
            <a:ext cx="1418094" cy="4165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库存扣减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137A9F1-9D7D-2D27-4C9E-6E96EF7187B0}"/>
              </a:ext>
            </a:extLst>
          </p:cNvPr>
          <p:cNvSpPr/>
          <p:nvPr/>
        </p:nvSpPr>
        <p:spPr>
          <a:xfrm>
            <a:off x="9133377" y="5245322"/>
            <a:ext cx="1418094" cy="4165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消息推送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1689F87-D230-2B55-E5CC-5DF58D62E0B5}"/>
              </a:ext>
            </a:extLst>
          </p:cNvPr>
          <p:cNvSpPr/>
          <p:nvPr/>
        </p:nvSpPr>
        <p:spPr>
          <a:xfrm>
            <a:off x="2280337" y="6013943"/>
            <a:ext cx="1008112" cy="3600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</a:rPr>
              <a:t>消息组件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351A32E2-F0DD-2236-4200-4D1701A0DE21}"/>
              </a:ext>
            </a:extLst>
          </p:cNvPr>
          <p:cNvSpPr/>
          <p:nvPr/>
        </p:nvSpPr>
        <p:spPr>
          <a:xfrm>
            <a:off x="3674519" y="6013943"/>
            <a:ext cx="1008112" cy="36004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</a:rPr>
              <a:t>延迟组件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FF49825-C729-5B81-6877-4D9315BDB3AE}"/>
              </a:ext>
            </a:extLst>
          </p:cNvPr>
          <p:cNvSpPr/>
          <p:nvPr/>
        </p:nvSpPr>
        <p:spPr>
          <a:xfrm>
            <a:off x="5087888" y="6013943"/>
            <a:ext cx="1008112" cy="3600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</a:rPr>
              <a:t>job</a:t>
            </a:r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923A766B-A9E2-4F23-2CBA-50F9A01BF697}"/>
              </a:ext>
            </a:extLst>
          </p:cNvPr>
          <p:cNvSpPr/>
          <p:nvPr/>
        </p:nvSpPr>
        <p:spPr>
          <a:xfrm>
            <a:off x="6454219" y="6014829"/>
            <a:ext cx="1008112" cy="3600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</a:rPr>
              <a:t>扩展点组件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907EC90B-DA5E-6850-B112-1F97D725C00E}"/>
              </a:ext>
            </a:extLst>
          </p:cNvPr>
          <p:cNvSpPr/>
          <p:nvPr/>
        </p:nvSpPr>
        <p:spPr>
          <a:xfrm>
            <a:off x="7895441" y="6023740"/>
            <a:ext cx="1008112" cy="3600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</a:rPr>
              <a:t>流程编排组件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5BDA146B-68E9-DB91-CDCA-040C48CFAAAD}"/>
              </a:ext>
            </a:extLst>
          </p:cNvPr>
          <p:cNvSpPr/>
          <p:nvPr/>
        </p:nvSpPr>
        <p:spPr>
          <a:xfrm>
            <a:off x="9310989" y="6020381"/>
            <a:ext cx="1008112" cy="3600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</a:rPr>
              <a:t>异步组件</a:t>
            </a:r>
          </a:p>
        </p:txBody>
      </p:sp>
    </p:spTree>
    <p:extLst>
      <p:ext uri="{BB962C8B-B14F-4D97-AF65-F5344CB8AC3E}">
        <p14:creationId xmlns:p14="http://schemas.microsoft.com/office/powerpoint/2010/main" val="2465258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能力举证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168A6B-AD0F-5411-2805-7F574945759D}"/>
              </a:ext>
            </a:extLst>
          </p:cNvPr>
          <p:cNvSpPr txBox="1"/>
          <p:nvPr/>
        </p:nvSpPr>
        <p:spPr>
          <a:xfrm>
            <a:off x="0" y="1417820"/>
            <a:ext cx="12047884" cy="5440180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        抽奖领域模型：</a:t>
            </a:r>
            <a:endParaRPr lang="en-US" altLang="zh-CN" sz="2000" dirty="0">
              <a:solidFill>
                <a:srgbClr val="0000FF"/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pPr lvl="1">
              <a:lnSpc>
                <a:spcPct val="150000"/>
              </a:lnSpc>
            </a:pP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88B92B-2F6C-8E74-DB80-F360801E24FA}"/>
              </a:ext>
            </a:extLst>
          </p:cNvPr>
          <p:cNvSpPr/>
          <p:nvPr/>
        </p:nvSpPr>
        <p:spPr>
          <a:xfrm>
            <a:off x="551384" y="954136"/>
            <a:ext cx="37337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en-US" altLang="zh-CN" sz="2400" b="1" dirty="0">
                <a:latin typeface="+mj-lt"/>
                <a:ea typeface="等线" panose="02010600030101010101" pitchFamily="2" charset="-122"/>
              </a:rPr>
              <a:t>2.2 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案例名称：赏金小助手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9861C38-10B4-56C5-6D31-D3309BE98936}"/>
              </a:ext>
            </a:extLst>
          </p:cNvPr>
          <p:cNvSpPr/>
          <p:nvPr/>
        </p:nvSpPr>
        <p:spPr>
          <a:xfrm>
            <a:off x="3363318" y="1928676"/>
            <a:ext cx="1306410" cy="1179920"/>
          </a:xfrm>
          <a:prstGeom prst="ellipse">
            <a:avLst/>
          </a:prstGeom>
          <a:solidFill>
            <a:srgbClr val="2AAD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活动管理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56CBD44-7478-4C0C-4802-E75E6D673875}"/>
              </a:ext>
            </a:extLst>
          </p:cNvPr>
          <p:cNvSpPr/>
          <p:nvPr/>
        </p:nvSpPr>
        <p:spPr>
          <a:xfrm>
            <a:off x="5160966" y="1456222"/>
            <a:ext cx="1257597" cy="111753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抽奖域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8169314-06DB-1886-40A2-93F703534DCD}"/>
              </a:ext>
            </a:extLst>
          </p:cNvPr>
          <p:cNvSpPr/>
          <p:nvPr/>
        </p:nvSpPr>
        <p:spPr>
          <a:xfrm>
            <a:off x="6661167" y="2069774"/>
            <a:ext cx="1306410" cy="130118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参与规则域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EABB3C1-0394-8377-5D9A-4FC3825A4BA0}"/>
              </a:ext>
            </a:extLst>
          </p:cNvPr>
          <p:cNvSpPr/>
          <p:nvPr/>
        </p:nvSpPr>
        <p:spPr>
          <a:xfrm>
            <a:off x="7397060" y="3424846"/>
            <a:ext cx="1409852" cy="1316535"/>
          </a:xfrm>
          <a:prstGeom prst="ellipse">
            <a:avLst/>
          </a:prstGeom>
          <a:solidFill>
            <a:srgbClr val="ED7D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中奖规则域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1574C14-0A56-BB3C-6AEF-E212661392A1}"/>
              </a:ext>
            </a:extLst>
          </p:cNvPr>
          <p:cNvSpPr/>
          <p:nvPr/>
        </p:nvSpPr>
        <p:spPr>
          <a:xfrm>
            <a:off x="6438771" y="5468843"/>
            <a:ext cx="1190890" cy="1000131"/>
          </a:xfrm>
          <a:prstGeom prst="ellipse">
            <a:avLst/>
          </a:prstGeom>
          <a:solidFill>
            <a:srgbClr val="A5A5A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奖品发放域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57DCF26-191F-EEDC-CE59-60BF71008338}"/>
              </a:ext>
            </a:extLst>
          </p:cNvPr>
          <p:cNvSpPr/>
          <p:nvPr/>
        </p:nvSpPr>
        <p:spPr>
          <a:xfrm>
            <a:off x="3632292" y="5429141"/>
            <a:ext cx="1257597" cy="111753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预算域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4E0143F-53DF-4A35-13F6-A308F7A786E1}"/>
              </a:ext>
            </a:extLst>
          </p:cNvPr>
          <p:cNvSpPr/>
          <p:nvPr/>
        </p:nvSpPr>
        <p:spPr>
          <a:xfrm>
            <a:off x="7397060" y="4795265"/>
            <a:ext cx="900100" cy="798004"/>
          </a:xfrm>
          <a:prstGeom prst="ellipse">
            <a:avLst/>
          </a:prstGeom>
          <a:solidFill>
            <a:srgbClr val="A5A5A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库存域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111CF91C-F5D1-0F6B-FBC3-4691CD02C6E1}"/>
              </a:ext>
            </a:extLst>
          </p:cNvPr>
          <p:cNvSpPr/>
          <p:nvPr/>
        </p:nvSpPr>
        <p:spPr>
          <a:xfrm>
            <a:off x="2590626" y="3226064"/>
            <a:ext cx="936666" cy="82621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消息管理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ED90CB1-1038-4743-DA52-44063D6FB44C}"/>
              </a:ext>
            </a:extLst>
          </p:cNvPr>
          <p:cNvSpPr/>
          <p:nvPr/>
        </p:nvSpPr>
        <p:spPr>
          <a:xfrm>
            <a:off x="2682515" y="4370897"/>
            <a:ext cx="1302402" cy="1179919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数据大盘</a:t>
            </a:r>
          </a:p>
        </p:txBody>
      </p:sp>
      <p:sp>
        <p:nvSpPr>
          <p:cNvPr id="18" name="左右箭头 17">
            <a:extLst>
              <a:ext uri="{FF2B5EF4-FFF2-40B4-BE49-F238E27FC236}">
                <a16:creationId xmlns:a16="http://schemas.microsoft.com/office/drawing/2014/main" id="{58B4269A-3519-9919-107A-99D60168A3B8}"/>
              </a:ext>
            </a:extLst>
          </p:cNvPr>
          <p:cNvSpPr/>
          <p:nvPr/>
        </p:nvSpPr>
        <p:spPr>
          <a:xfrm>
            <a:off x="8307202" y="2492896"/>
            <a:ext cx="669118" cy="360040"/>
          </a:xfrm>
          <a:prstGeom prst="left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D38B6C-6B10-C1CD-A42D-7FF3142E2639}"/>
              </a:ext>
            </a:extLst>
          </p:cNvPr>
          <p:cNvSpPr/>
          <p:nvPr/>
        </p:nvSpPr>
        <p:spPr>
          <a:xfrm>
            <a:off x="9264352" y="1928676"/>
            <a:ext cx="1800200" cy="12843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黑白名单</a:t>
            </a:r>
            <a:endParaRPr kumimoji="1" lang="en-US" altLang="zh-CN" sz="1200" dirty="0"/>
          </a:p>
          <a:p>
            <a:pPr algn="ctr"/>
            <a:r>
              <a:rPr kumimoji="1" lang="zh-CN" altLang="en-US" sz="1200" dirty="0"/>
              <a:t>区域</a:t>
            </a:r>
            <a:r>
              <a:rPr kumimoji="1" lang="en-US" altLang="zh-CN" sz="1200" dirty="0"/>
              <a:t>/IP</a:t>
            </a:r>
            <a:r>
              <a:rPr kumimoji="1" lang="zh-CN" altLang="en-US" sz="1200" dirty="0"/>
              <a:t>限制</a:t>
            </a:r>
            <a:endParaRPr kumimoji="1" lang="en-US" altLang="zh-CN" sz="1200" dirty="0"/>
          </a:p>
          <a:p>
            <a:pPr algn="ctr"/>
            <a:r>
              <a:rPr kumimoji="1" lang="zh-CN" altLang="en-US" sz="1200" dirty="0"/>
              <a:t>每天、每月、全部现在</a:t>
            </a:r>
            <a:endParaRPr kumimoji="1" lang="en-US" altLang="zh-CN" sz="1200" dirty="0"/>
          </a:p>
          <a:p>
            <a:pPr algn="ctr"/>
            <a:r>
              <a:rPr kumimoji="1" lang="zh-CN" altLang="en-US" sz="1200" dirty="0"/>
              <a:t>口令玩法</a:t>
            </a:r>
            <a:endParaRPr kumimoji="1" lang="en-US" altLang="zh-CN" sz="1200" dirty="0"/>
          </a:p>
          <a:p>
            <a:pPr algn="ctr"/>
            <a:r>
              <a:rPr kumimoji="1" lang="zh-CN" altLang="en-US" sz="1200" dirty="0"/>
              <a:t>语音玩法</a:t>
            </a:r>
            <a:endParaRPr kumimoji="1" lang="en-US" altLang="zh-CN" sz="1200" dirty="0"/>
          </a:p>
          <a:p>
            <a:pPr algn="ctr"/>
            <a:r>
              <a:rPr kumimoji="1" lang="en-US" altLang="zh-CN" sz="1200" dirty="0"/>
              <a:t>…</a:t>
            </a:r>
            <a:endParaRPr kumimoji="1" lang="zh-CN" altLang="en-US" sz="12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F4BAB12-F587-C781-7E69-2A3911392301}"/>
              </a:ext>
            </a:extLst>
          </p:cNvPr>
          <p:cNvSpPr/>
          <p:nvPr/>
        </p:nvSpPr>
        <p:spPr>
          <a:xfrm>
            <a:off x="9739634" y="3440963"/>
            <a:ext cx="1800200" cy="128430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/>
              <a:t>GPS</a:t>
            </a:r>
            <a:r>
              <a:rPr kumimoji="1" lang="zh-CN" altLang="en-US" sz="1200" dirty="0"/>
              <a:t>归属地</a:t>
            </a:r>
            <a:endParaRPr kumimoji="1" lang="en-US" altLang="zh-CN" sz="1200" dirty="0"/>
          </a:p>
          <a:p>
            <a:pPr algn="ctr"/>
            <a:r>
              <a:rPr kumimoji="1" lang="zh-CN" altLang="en-US" sz="1200" dirty="0"/>
              <a:t>参与次数、中奖次数</a:t>
            </a:r>
            <a:endParaRPr kumimoji="1" lang="en-US" altLang="zh-CN" sz="1200" dirty="0"/>
          </a:p>
          <a:p>
            <a:pPr algn="ctr"/>
            <a:r>
              <a:rPr kumimoji="1" lang="zh-CN" altLang="en-US" sz="1200" dirty="0"/>
              <a:t>限定人群</a:t>
            </a:r>
            <a:endParaRPr kumimoji="1" lang="en-US" altLang="zh-CN" sz="1200" dirty="0"/>
          </a:p>
          <a:p>
            <a:pPr algn="ctr"/>
            <a:r>
              <a:rPr kumimoji="1" lang="zh-CN" altLang="en-US" sz="1200" dirty="0"/>
              <a:t>观看广告次数</a:t>
            </a:r>
            <a:endParaRPr kumimoji="1" lang="en-US" altLang="zh-CN" sz="1200" dirty="0"/>
          </a:p>
          <a:p>
            <a:pPr algn="ctr"/>
            <a:r>
              <a:rPr kumimoji="1" lang="zh-CN" altLang="en-US" sz="1200" dirty="0"/>
              <a:t>运营计划</a:t>
            </a:r>
            <a:endParaRPr kumimoji="1" lang="en-US" altLang="zh-CN" sz="1200" dirty="0"/>
          </a:p>
          <a:p>
            <a:pPr algn="ctr"/>
            <a:r>
              <a:rPr kumimoji="1" lang="en-US" altLang="zh-CN" sz="1200" dirty="0"/>
              <a:t>…</a:t>
            </a:r>
            <a:endParaRPr kumimoji="1" lang="zh-CN" altLang="en-US" sz="1200" dirty="0"/>
          </a:p>
        </p:txBody>
      </p:sp>
      <p:sp>
        <p:nvSpPr>
          <p:cNvPr id="21" name="左右箭头 20">
            <a:extLst>
              <a:ext uri="{FF2B5EF4-FFF2-40B4-BE49-F238E27FC236}">
                <a16:creationId xmlns:a16="http://schemas.microsoft.com/office/drawing/2014/main" id="{05B7B895-1AB7-C274-435D-C0C7E00A9124}"/>
              </a:ext>
            </a:extLst>
          </p:cNvPr>
          <p:cNvSpPr/>
          <p:nvPr/>
        </p:nvSpPr>
        <p:spPr>
          <a:xfrm>
            <a:off x="8897025" y="3903093"/>
            <a:ext cx="669118" cy="360040"/>
          </a:xfrm>
          <a:prstGeom prst="leftRightArrow">
            <a:avLst/>
          </a:prstGeom>
          <a:solidFill>
            <a:srgbClr val="ED7D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3CAC5FD-CE90-570B-7DFB-46DC9E6AAC51}"/>
              </a:ext>
            </a:extLst>
          </p:cNvPr>
          <p:cNvSpPr/>
          <p:nvPr/>
        </p:nvSpPr>
        <p:spPr>
          <a:xfrm>
            <a:off x="751406" y="1994414"/>
            <a:ext cx="1800200" cy="1284300"/>
          </a:xfrm>
          <a:prstGeom prst="rect">
            <a:avLst/>
          </a:prstGeom>
          <a:solidFill>
            <a:srgbClr val="2AAD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创建活动</a:t>
            </a:r>
            <a:endParaRPr kumimoji="1" lang="en-US" altLang="zh-CN" sz="1200" dirty="0"/>
          </a:p>
          <a:p>
            <a:pPr algn="ctr"/>
            <a:r>
              <a:rPr kumimoji="1" lang="zh-CN" altLang="en-US" sz="1200" dirty="0"/>
              <a:t>活动配置</a:t>
            </a:r>
            <a:endParaRPr kumimoji="1" lang="en-US" altLang="zh-CN" sz="1200" dirty="0"/>
          </a:p>
          <a:p>
            <a:pPr algn="ctr"/>
            <a:r>
              <a:rPr kumimoji="1" lang="zh-CN" altLang="en-US" sz="1200" dirty="0"/>
              <a:t>活动发布</a:t>
            </a:r>
            <a:endParaRPr kumimoji="1" lang="en-US" altLang="zh-CN" sz="1200" dirty="0"/>
          </a:p>
          <a:p>
            <a:pPr algn="ctr"/>
            <a:r>
              <a:rPr kumimoji="1" lang="en-US" altLang="zh-CN" sz="1200" dirty="0"/>
              <a:t>…</a:t>
            </a:r>
            <a:endParaRPr kumimoji="1" lang="zh-CN" altLang="en-US" sz="12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24F2F14-D900-9E4B-0695-9D08D6D03059}"/>
              </a:ext>
            </a:extLst>
          </p:cNvPr>
          <p:cNvSpPr/>
          <p:nvPr/>
        </p:nvSpPr>
        <p:spPr>
          <a:xfrm>
            <a:off x="181551" y="4358760"/>
            <a:ext cx="1800200" cy="12843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活动参与数据</a:t>
            </a:r>
            <a:endParaRPr kumimoji="1" lang="en-US" altLang="zh-CN" sz="1200" dirty="0"/>
          </a:p>
          <a:p>
            <a:pPr algn="ctr"/>
            <a:r>
              <a:rPr kumimoji="1" lang="zh-CN" altLang="en-US" sz="1200" dirty="0"/>
              <a:t>抽奖码互动数据</a:t>
            </a:r>
            <a:endParaRPr kumimoji="1" lang="en-US" altLang="zh-CN" sz="1200" dirty="0"/>
          </a:p>
          <a:p>
            <a:pPr algn="ctr"/>
            <a:r>
              <a:rPr kumimoji="1" lang="zh-CN" altLang="en-US" sz="1200" dirty="0"/>
              <a:t>活动成本数据</a:t>
            </a:r>
            <a:endParaRPr kumimoji="1" lang="en-US" altLang="zh-CN" sz="1200" dirty="0"/>
          </a:p>
          <a:p>
            <a:pPr algn="ctr"/>
            <a:r>
              <a:rPr kumimoji="1" lang="zh-CN" altLang="en-US" sz="1200" dirty="0"/>
              <a:t>活动访问数据</a:t>
            </a:r>
            <a:endParaRPr kumimoji="1" lang="en-US" altLang="zh-CN" sz="1200" dirty="0"/>
          </a:p>
          <a:p>
            <a:pPr algn="ctr"/>
            <a:r>
              <a:rPr kumimoji="1" lang="en-US" altLang="zh-CN" sz="1200" dirty="0"/>
              <a:t>…</a:t>
            </a:r>
            <a:endParaRPr kumimoji="1" lang="zh-CN" altLang="en-US" sz="1200" dirty="0"/>
          </a:p>
        </p:txBody>
      </p:sp>
      <p:sp>
        <p:nvSpPr>
          <p:cNvPr id="24" name="左右箭头 23">
            <a:extLst>
              <a:ext uri="{FF2B5EF4-FFF2-40B4-BE49-F238E27FC236}">
                <a16:creationId xmlns:a16="http://schemas.microsoft.com/office/drawing/2014/main" id="{065AC10E-C475-063B-7A90-C6DDA0A4F9FF}"/>
              </a:ext>
            </a:extLst>
          </p:cNvPr>
          <p:cNvSpPr/>
          <p:nvPr/>
        </p:nvSpPr>
        <p:spPr>
          <a:xfrm>
            <a:off x="2001639" y="4832004"/>
            <a:ext cx="669118" cy="360040"/>
          </a:xfrm>
          <a:prstGeom prst="left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左右箭头 24">
            <a:extLst>
              <a:ext uri="{FF2B5EF4-FFF2-40B4-BE49-F238E27FC236}">
                <a16:creationId xmlns:a16="http://schemas.microsoft.com/office/drawing/2014/main" id="{44D810E9-310F-1355-4255-A62EC4652B32}"/>
              </a:ext>
            </a:extLst>
          </p:cNvPr>
          <p:cNvSpPr/>
          <p:nvPr/>
        </p:nvSpPr>
        <p:spPr>
          <a:xfrm>
            <a:off x="2625456" y="2390806"/>
            <a:ext cx="669118" cy="360040"/>
          </a:xfrm>
          <a:prstGeom prst="leftRightArrow">
            <a:avLst/>
          </a:prstGeom>
          <a:solidFill>
            <a:srgbClr val="2AAD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1A9790A4-EEAE-EC22-5CB1-1BF9177D7D2B}"/>
              </a:ext>
            </a:extLst>
          </p:cNvPr>
          <p:cNvSpPr/>
          <p:nvPr/>
        </p:nvSpPr>
        <p:spPr>
          <a:xfrm>
            <a:off x="5097513" y="5721058"/>
            <a:ext cx="1190890" cy="100013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助力域</a:t>
            </a:r>
          </a:p>
        </p:txBody>
      </p:sp>
    </p:spTree>
    <p:extLst>
      <p:ext uri="{BB962C8B-B14F-4D97-AF65-F5344CB8AC3E}">
        <p14:creationId xmlns:p14="http://schemas.microsoft.com/office/powerpoint/2010/main" val="2304686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能力举证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168A6B-AD0F-5411-2805-7F574945759D}"/>
              </a:ext>
            </a:extLst>
          </p:cNvPr>
          <p:cNvSpPr txBox="1"/>
          <p:nvPr/>
        </p:nvSpPr>
        <p:spPr>
          <a:xfrm>
            <a:off x="1047817" y="1415801"/>
            <a:ext cx="11160780" cy="4821511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项目亮点：</a:t>
            </a:r>
            <a:endParaRPr lang="en-US" altLang="zh-CN" sz="2000" dirty="0">
              <a:solidFill>
                <a:srgbClr val="0000FF"/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设计合理的抽奖模型和可扩展的架构，保证了业务新场景的快速落地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如九宫格抽奖、盲盒抽奖、大转盘抽奖、口令抽奖、语音抽奖等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高性能，保证业务高标完成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数据缓存化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异步化，扣库存（</a:t>
            </a:r>
            <a:r>
              <a:rPr lang="en-US" altLang="zh-CN" sz="2000" dirty="0" err="1">
                <a:latin typeface="DengXian" charset="-122"/>
                <a:ea typeface="DengXian" charset="-122"/>
                <a:cs typeface="DengXian" charset="-122"/>
              </a:rPr>
              <a:t>redis</a:t>
            </a: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-&gt;</a:t>
            </a:r>
            <a:r>
              <a:rPr lang="en-US" altLang="zh-CN" sz="2000" dirty="0" err="1">
                <a:latin typeface="DengXian" charset="-122"/>
                <a:ea typeface="DengXian" charset="-122"/>
                <a:cs typeface="DengXian" charset="-122"/>
              </a:rPr>
              <a:t>mq</a:t>
            </a: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-&gt;</a:t>
            </a:r>
            <a:r>
              <a:rPr lang="en-US" altLang="zh-CN" sz="2000" dirty="0" err="1">
                <a:latin typeface="DengXian" charset="-122"/>
                <a:ea typeface="DengXian" charset="-122"/>
                <a:cs typeface="DengXian" charset="-122"/>
              </a:rPr>
              <a:t>db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）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>
                <a:latin typeface="DengXian" charset="-122"/>
                <a:ea typeface="DengXian" charset="-122"/>
                <a:cs typeface="DengXian" charset="-122"/>
              </a:rPr>
              <a:t>mq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削峰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资产沉底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及时技术总结、沉淀和输出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 lvl="1">
              <a:lnSpc>
                <a:spcPct val="150000"/>
              </a:lnSpc>
            </a:pP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88B92B-2F6C-8E74-DB80-F360801E24FA}"/>
              </a:ext>
            </a:extLst>
          </p:cNvPr>
          <p:cNvSpPr/>
          <p:nvPr/>
        </p:nvSpPr>
        <p:spPr>
          <a:xfrm>
            <a:off x="551384" y="954136"/>
            <a:ext cx="37337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en-US" altLang="zh-CN" sz="2400" b="1" dirty="0">
                <a:latin typeface="+mj-lt"/>
                <a:ea typeface="等线" panose="02010600030101010101" pitchFamily="2" charset="-122"/>
              </a:rPr>
              <a:t>2.2 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案例名称：赏金小助手</a:t>
            </a:r>
          </a:p>
        </p:txBody>
      </p:sp>
    </p:spTree>
    <p:extLst>
      <p:ext uri="{BB962C8B-B14F-4D97-AF65-F5344CB8AC3E}">
        <p14:creationId xmlns:p14="http://schemas.microsoft.com/office/powerpoint/2010/main" val="2559814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能力举证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168A6B-AD0F-5411-2805-7F574945759D}"/>
              </a:ext>
            </a:extLst>
          </p:cNvPr>
          <p:cNvSpPr txBox="1"/>
          <p:nvPr/>
        </p:nvSpPr>
        <p:spPr>
          <a:xfrm>
            <a:off x="1127448" y="1417820"/>
            <a:ext cx="10920436" cy="5107524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项目结果：</a:t>
            </a:r>
            <a:endParaRPr lang="en-US" altLang="zh-CN" sz="2000" dirty="0">
              <a:solidFill>
                <a:srgbClr val="0000FF"/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	1.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保证业务</a:t>
            </a: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Q1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和</a:t>
            </a: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Q2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目标高标完成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	2.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项目质量高，性能很好的支撑业务运营且无线上</a:t>
            </a: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BUG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	</a:t>
            </a: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3.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沉淀基础组件，如延时组件、持久化事件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rgbClr val="0000FF"/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FF"/>
                </a:solidFill>
                <a:latin typeface="DengXian" charset="-122"/>
                <a:ea typeface="DengXian" charset="-122"/>
                <a:cs typeface="DengXian" charset="-122"/>
              </a:rPr>
              <a:t>个人能力：</a:t>
            </a:r>
            <a:endParaRPr lang="en-US" altLang="zh-CN" sz="2000" dirty="0">
              <a:solidFill>
                <a:srgbClr val="0000FF"/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	1.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架构能力和抽象能力强，保证了系统的可扩展性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	2.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组织协调能力、攻坚能力强，保证质量的前提下正常上线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 lvl="1">
              <a:lnSpc>
                <a:spcPct val="150000"/>
              </a:lnSpc>
            </a:pP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88B92B-2F6C-8E74-DB80-F360801E24FA}"/>
              </a:ext>
            </a:extLst>
          </p:cNvPr>
          <p:cNvSpPr/>
          <p:nvPr/>
        </p:nvSpPr>
        <p:spPr>
          <a:xfrm>
            <a:off x="551384" y="954136"/>
            <a:ext cx="37337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  <a:defRPr/>
            </a:pPr>
            <a:r>
              <a:rPr lang="en-US" altLang="zh-CN" sz="2400" b="1" dirty="0">
                <a:latin typeface="+mj-lt"/>
                <a:ea typeface="等线" panose="02010600030101010101" pitchFamily="2" charset="-122"/>
              </a:rPr>
              <a:t>2.2 </a:t>
            </a:r>
            <a:r>
              <a:rPr lang="zh-CN" altLang="en-US" sz="2400" b="1" dirty="0">
                <a:latin typeface="+mj-lt"/>
                <a:ea typeface="等线" panose="02010600030101010101" pitchFamily="2" charset="-122"/>
              </a:rPr>
              <a:t>案例名称：赏金小助手</a:t>
            </a:r>
          </a:p>
        </p:txBody>
      </p:sp>
    </p:spTree>
    <p:extLst>
      <p:ext uri="{BB962C8B-B14F-4D97-AF65-F5344CB8AC3E}">
        <p14:creationId xmlns:p14="http://schemas.microsoft.com/office/powerpoint/2010/main" val="811584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组织贡献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168A6B-AD0F-5411-2805-7F574945759D}"/>
              </a:ext>
            </a:extLst>
          </p:cNvPr>
          <p:cNvSpPr txBox="1"/>
          <p:nvPr/>
        </p:nvSpPr>
        <p:spPr>
          <a:xfrm>
            <a:off x="1127448" y="1417820"/>
            <a:ext cx="10920436" cy="5107524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rtlCol="0" anchor="t" anchorCtr="0">
            <a:noAutofit/>
          </a:bodyPr>
          <a:lstStyle/>
          <a:p>
            <a:pPr marL="457200"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进行一次</a:t>
            </a: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BG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内技术分享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对分销业务和抽奖业务整理技术文档并分享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沉淀基础组件（扩展点组件、持久化事件、流程编排组件、</a:t>
            </a:r>
            <a:r>
              <a:rPr lang="en-US" altLang="zh-CN" sz="2000" dirty="0" err="1">
                <a:latin typeface="DengXian" charset="-122"/>
                <a:ea typeface="DengXian" charset="-122"/>
                <a:cs typeface="DengXian" charset="-122"/>
              </a:rPr>
              <a:t>mq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环境隔离组件）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季度优秀个人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培养一名</a:t>
            </a: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T4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顺利晋级</a:t>
            </a:r>
            <a:r>
              <a:rPr lang="en-US" altLang="zh-CN" sz="2000" dirty="0">
                <a:latin typeface="DengXian" charset="-122"/>
                <a:ea typeface="DengXian" charset="-122"/>
                <a:cs typeface="DengXian" charset="-122"/>
              </a:rPr>
              <a:t>T5</a:t>
            </a:r>
          </a:p>
        </p:txBody>
      </p:sp>
    </p:spTree>
    <p:extLst>
      <p:ext uri="{BB962C8B-B14F-4D97-AF65-F5344CB8AC3E}">
        <p14:creationId xmlns:p14="http://schemas.microsoft.com/office/powerpoint/2010/main" val="2693059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亮点与不足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168A6B-AD0F-5411-2805-7F574945759D}"/>
              </a:ext>
            </a:extLst>
          </p:cNvPr>
          <p:cNvSpPr txBox="1"/>
          <p:nvPr/>
        </p:nvSpPr>
        <p:spPr>
          <a:xfrm>
            <a:off x="1199456" y="1412776"/>
            <a:ext cx="10920436" cy="5107524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latin typeface="DengXian" charset="-122"/>
                <a:ea typeface="DengXian" charset="-122"/>
                <a:cs typeface="DengXian" charset="-122"/>
              </a:rPr>
              <a:t>亮点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：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       能够在业务开发的过程沉淀出一些基础组件，提升团队开发效率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       解决疑难问题能力强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latin typeface="DengXian" charset="-122"/>
                <a:ea typeface="DengXian" charset="-122"/>
                <a:cs typeface="DengXian" charset="-122"/>
              </a:rPr>
              <a:t>不足</a:t>
            </a: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：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      持续性的学习、不断的自我更新迭代，提升自己的技术影响力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87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未来规划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168A6B-AD0F-5411-2805-7F574945759D}"/>
              </a:ext>
            </a:extLst>
          </p:cNvPr>
          <p:cNvSpPr txBox="1"/>
          <p:nvPr/>
        </p:nvSpPr>
        <p:spPr>
          <a:xfrm>
            <a:off x="1127448" y="1417820"/>
            <a:ext cx="10920436" cy="5107524"/>
          </a:xfrm>
          <a:prstGeom prst="rect">
            <a:avLst/>
          </a:prstGeom>
          <a:noFill/>
          <a:ln w="28575">
            <a:noFill/>
          </a:ln>
        </p:spPr>
        <p:txBody>
          <a:bodyPr vert="horz" wrap="square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DengXian" charset="-122"/>
                <a:ea typeface="DengXian" charset="-122"/>
                <a:cs typeface="DengXian" charset="-122"/>
              </a:rPr>
              <a:t>工作规划：</a:t>
            </a:r>
            <a:endParaRPr lang="en-US" altLang="zh-CN" sz="24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     一物一码项目架构设计，保证高可用、高性能、高扩展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DengXian" charset="-122"/>
                <a:ea typeface="DengXian" charset="-122"/>
                <a:cs typeface="DengXian" charset="-122"/>
              </a:rPr>
              <a:t>个人成长：</a:t>
            </a:r>
            <a:endParaRPr lang="en-US" altLang="zh-CN" sz="24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       提升个人专业技能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DengXian" charset="-122"/>
                <a:ea typeface="DengXian" charset="-122"/>
                <a:cs typeface="DengXian" charset="-122"/>
              </a:rPr>
              <a:t>       阅读一些管理方面的书籍，补足短板</a:t>
            </a: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latin typeface="DengXian" charset="-122"/>
              <a:ea typeface="DengXian" charset="-122"/>
              <a:cs typeface="DengXia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6825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包含 游戏机&#10;&#10;描述已自动生成">
            <a:extLst>
              <a:ext uri="{FF2B5EF4-FFF2-40B4-BE49-F238E27FC236}">
                <a16:creationId xmlns:a16="http://schemas.microsoft.com/office/drawing/2014/main" id="{D112E8D1-BCC2-A34D-A9A4-F6B88318F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7"/>
            <a:ext cx="12192000" cy="6879744"/>
          </a:xfrm>
          <a:prstGeom prst="rect">
            <a:avLst/>
          </a:prstGeom>
        </p:spPr>
      </p:pic>
      <p:pic>
        <p:nvPicPr>
          <p:cNvPr id="11" name="图片 10" descr="图片包含 游戏机, 画&#10;&#10;描述已自动生成">
            <a:extLst>
              <a:ext uri="{FF2B5EF4-FFF2-40B4-BE49-F238E27FC236}">
                <a16:creationId xmlns:a16="http://schemas.microsoft.com/office/drawing/2014/main" id="{7D6D8502-53CB-5D43-8CC9-417E74B7B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816" y="1988840"/>
            <a:ext cx="3293921" cy="1812528"/>
          </a:xfrm>
          <a:prstGeom prst="rect">
            <a:avLst/>
          </a:prstGeom>
        </p:spPr>
      </p:pic>
      <p:pic>
        <p:nvPicPr>
          <p:cNvPr id="13" name="图片 12" descr="图片包含 游戏机&#10;&#10;描述已自动生成">
            <a:extLst>
              <a:ext uri="{FF2B5EF4-FFF2-40B4-BE49-F238E27FC236}">
                <a16:creationId xmlns:a16="http://schemas.microsoft.com/office/drawing/2014/main" id="{016FC672-05C5-9F4F-969A-D4F13000D0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944" y="6160161"/>
            <a:ext cx="1173844" cy="33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539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71311</TotalTime>
  <Words>1368</Words>
  <Application>Microsoft Macintosh PowerPoint</Application>
  <PresentationFormat>宽屏</PresentationFormat>
  <Paragraphs>289</Paragraphs>
  <Slides>21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等线</vt:lpstr>
      <vt:lpstr>等线</vt:lpstr>
      <vt:lpstr>DengXian Light</vt:lpstr>
      <vt:lpstr>微软雅黑</vt:lpstr>
      <vt:lpstr>Arial</vt:lpstr>
      <vt:lpstr>Wingdings</vt:lpstr>
      <vt:lpstr>Office 主题</vt:lpstr>
      <vt:lpstr>晋升评审报告</vt:lpstr>
      <vt:lpstr>目录</vt:lpstr>
      <vt:lpstr>自我介绍</vt:lpstr>
      <vt:lpstr>能力举证</vt:lpstr>
      <vt:lpstr>能力举证</vt:lpstr>
      <vt:lpstr>能力举证</vt:lpstr>
      <vt:lpstr>能力举证</vt:lpstr>
      <vt:lpstr>能力举证</vt:lpstr>
      <vt:lpstr>能力举证</vt:lpstr>
      <vt:lpstr>能力举证</vt:lpstr>
      <vt:lpstr>能力举证</vt:lpstr>
      <vt:lpstr>能力举证</vt:lpstr>
      <vt:lpstr>能力举证</vt:lpstr>
      <vt:lpstr>能力举证</vt:lpstr>
      <vt:lpstr>能力举证</vt:lpstr>
      <vt:lpstr>能力举证</vt:lpstr>
      <vt:lpstr>能力举证</vt:lpstr>
      <vt:lpstr>组织贡献</vt:lpstr>
      <vt:lpstr>亮点与不足</vt:lpstr>
      <vt:lpstr>未来规划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Microsoft Office User</cp:lastModifiedBy>
  <cp:revision>1131</cp:revision>
  <cp:lastPrinted>2020-03-17T07:20:27Z</cp:lastPrinted>
  <dcterms:created xsi:type="dcterms:W3CDTF">2019-11-27T03:37:06Z</dcterms:created>
  <dcterms:modified xsi:type="dcterms:W3CDTF">2022-08-07T03:17:07Z</dcterms:modified>
</cp:coreProperties>
</file>