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45" r:id="rId2"/>
    <p:sldId id="401" r:id="rId3"/>
    <p:sldId id="458" r:id="rId4"/>
    <p:sldId id="493" r:id="rId5"/>
    <p:sldId id="459" r:id="rId6"/>
    <p:sldId id="502" r:id="rId7"/>
    <p:sldId id="460" r:id="rId8"/>
    <p:sldId id="494" r:id="rId9"/>
    <p:sldId id="461" r:id="rId10"/>
    <p:sldId id="501" r:id="rId11"/>
    <p:sldId id="462" r:id="rId12"/>
    <p:sldId id="463" r:id="rId13"/>
    <p:sldId id="467" r:id="rId14"/>
    <p:sldId id="464" r:id="rId15"/>
    <p:sldId id="465" r:id="rId16"/>
    <p:sldId id="495" r:id="rId17"/>
    <p:sldId id="500" r:id="rId18"/>
    <p:sldId id="496" r:id="rId19"/>
    <p:sldId id="497" r:id="rId20"/>
    <p:sldId id="498" r:id="rId21"/>
    <p:sldId id="466" r:id="rId22"/>
    <p:sldId id="468" r:id="rId23"/>
    <p:sldId id="503" r:id="rId24"/>
    <p:sldId id="469" r:id="rId25"/>
    <p:sldId id="478" r:id="rId26"/>
    <p:sldId id="479" r:id="rId27"/>
    <p:sldId id="480" r:id="rId28"/>
    <p:sldId id="491" r:id="rId29"/>
    <p:sldId id="481" r:id="rId30"/>
    <p:sldId id="482" r:id="rId31"/>
    <p:sldId id="483" r:id="rId32"/>
    <p:sldId id="484" r:id="rId33"/>
    <p:sldId id="485" r:id="rId34"/>
    <p:sldId id="338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6C412"/>
    <a:srgbClr val="F46D4C"/>
    <a:srgbClr val="7C7FC0"/>
    <a:srgbClr val="589DD9"/>
    <a:srgbClr val="E4E6EA"/>
    <a:srgbClr val="2AADFF"/>
    <a:srgbClr val="FFC000"/>
    <a:srgbClr val="A5A5A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59" autoAdjust="0"/>
    <p:restoredTop sz="89009" autoAdjust="0"/>
  </p:normalViewPr>
  <p:slideViewPr>
    <p:cSldViewPr snapToObjects="1">
      <p:cViewPr varScale="1">
        <p:scale>
          <a:sx n="99" d="100"/>
          <a:sy n="99" d="100"/>
        </p:scale>
        <p:origin x="592" y="16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Objects="1">
      <p:cViewPr varScale="1">
        <p:scale>
          <a:sx n="90" d="100"/>
          <a:sy n="90" d="100"/>
        </p:scale>
        <p:origin x="-378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60DF4-05DB-A44D-9492-46D446118C52}" type="datetimeFigureOut">
              <a:rPr kumimoji="1" lang="zh-CN" altLang="en-US" smtClean="0"/>
              <a:t>2024/8/13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96F9B-3F3A-754E-B54D-BFDCBFFB48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946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9321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24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9494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94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933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839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1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0821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2855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9147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7345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4370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3771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1647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224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587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0391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71135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3253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8463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80525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60645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63383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87125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70801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70594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7289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81466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24970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0368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3751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71699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986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卡通人物&#10;&#10;描述已自动生成">
            <a:extLst>
              <a:ext uri="{FF2B5EF4-FFF2-40B4-BE49-F238E27FC236}">
                <a16:creationId xmlns:a16="http://schemas.microsoft.com/office/drawing/2014/main" id="{4C3D7B5F-B196-0541-A199-FCCDC2FA40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400" y="5157192"/>
            <a:ext cx="1248139" cy="3600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77B756-4023-D842-B469-D077FAABB428}"/>
              </a:ext>
            </a:extLst>
          </p:cNvPr>
          <p:cNvSpPr/>
          <p:nvPr userDrawn="1"/>
        </p:nvSpPr>
        <p:spPr>
          <a:xfrm>
            <a:off x="0" y="0"/>
            <a:ext cx="12192000" cy="4797152"/>
          </a:xfrm>
          <a:prstGeom prst="rect">
            <a:avLst/>
          </a:prstGeom>
          <a:solidFill>
            <a:srgbClr val="65B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14549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897867"/>
            <a:ext cx="9144000" cy="67514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323592"/>
            <a:ext cx="1726367" cy="94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1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6666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273938"/>
            <a:ext cx="11089232" cy="517939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77B756-4023-D842-B469-D077FAABB428}"/>
              </a:ext>
            </a:extLst>
          </p:cNvPr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65B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10515600" cy="79208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782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11ADAA-9C9B-C14A-9430-A87DED73A044}" type="datetimeFigureOut">
              <a:rPr kumimoji="1" lang="zh-CN" altLang="en-US" smtClean="0"/>
              <a:t>2024/8/13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388B4F-6341-4E4F-9A04-23E5374916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9367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21080" cy="792088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11ADAA-9C9B-C14A-9430-A87DED73A044}" type="datetimeFigureOut">
              <a:rPr kumimoji="1" lang="zh-CN" altLang="en-US" smtClean="0"/>
              <a:t>2024/8/13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388B4F-6341-4E4F-9A04-23E5374916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52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74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10515600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5400" y="1314068"/>
            <a:ext cx="10801200" cy="4851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77B756-4023-D842-B469-D077FAABB428}"/>
              </a:ext>
            </a:extLst>
          </p:cNvPr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65B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10386463" y="719964"/>
            <a:ext cx="925777" cy="179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800" y="292222"/>
            <a:ext cx="894000" cy="47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8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4" r:id="rId5"/>
    <p:sldLayoutId id="214748365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rgbClr val="65BA67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docs.arextest.com/zh-Hans/docs/intro#%E8%89%AF%E5%A5%BD%E7%9A%84%E5%8A%9F%E8%83%BD%E6%B5%8B%E8%AF%95%E6%94%AF%E6%8C%81" TargetMode="External"/><Relationship Id="rId3" Type="http://schemas.openxmlformats.org/officeDocument/2006/relationships/hyperlink" Target="http://docs.arextest.com/zh-Hans/docs/intro#%E4%BD%8E%E6%88%90%E6%9C%AC" TargetMode="External"/><Relationship Id="rId7" Type="http://schemas.openxmlformats.org/officeDocument/2006/relationships/hyperlink" Target="http://docs.arextest.com/zh-Hans/docs/intro#%E5%AE%89%E5%85%A8%E7%A8%B3%E5%AE%9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ocs.arextest.com/zh-Hans/docs/intro#%E5%BF%AB%E9%80%9F%E7%BA%BF%E4%B8%8A%E9%97%AE%E9%A2%98%E5%A4%8D%E7%8E%B0" TargetMode="External"/><Relationship Id="rId5" Type="http://schemas.openxmlformats.org/officeDocument/2006/relationships/hyperlink" Target="http://docs.arextest.com/zh-Hans/docs/intro#%E6%B5%8B%E8%AF%95%E7%94%A8%E4%BE%8B%E8%BF%90%E8%A1%8C%E7%A8%B3%E5%AE%9A" TargetMode="External"/><Relationship Id="rId4" Type="http://schemas.openxmlformats.org/officeDocument/2006/relationships/hyperlink" Target="http://docs.arextest.com/zh-Hans/docs/intro#%E5%A4%9A%E6%A0%B7%E6%80%A7%E6%94%AF%E6%8C%8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notesSlide" Target="../notesSlides/notesSlide31.xml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流量回放</a:t>
            </a:r>
            <a:r>
              <a:rPr lang="en-US" altLang="zh-CN" sz="3600" dirty="0"/>
              <a:t>&amp;</a:t>
            </a:r>
            <a:r>
              <a:rPr lang="zh-CN" altLang="en-US" sz="3600" dirty="0"/>
              <a:t>智慧景区解决方案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115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AB5239-BC3D-B84B-A0D3-6EF73FC01E68}"/>
              </a:ext>
            </a:extLst>
          </p:cNvPr>
          <p:cNvSpPr txBox="1"/>
          <p:nvPr/>
        </p:nvSpPr>
        <p:spPr>
          <a:xfrm>
            <a:off x="1271464" y="1179360"/>
            <a:ext cx="99371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zh-CN" altLang="en-US" sz="3600" dirty="0"/>
              <a:t>流量回放</a:t>
            </a:r>
            <a:endParaRPr kumimoji="1" lang="en-US" altLang="zh-CN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1" lang="zh-CN" altLang="en-US" sz="3600" dirty="0"/>
              <a:t>是什么</a:t>
            </a:r>
            <a:endParaRPr kumimoji="1" lang="en-US" altLang="zh-CN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1" lang="zh-CN" altLang="en-US" sz="3600" dirty="0"/>
              <a:t>技术选型</a:t>
            </a:r>
            <a:endParaRPr kumimoji="1" lang="en-US" altLang="zh-CN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1" lang="en-US" altLang="zh-CN" sz="3600" dirty="0" err="1"/>
              <a:t>Arex</a:t>
            </a:r>
            <a:r>
              <a:rPr kumimoji="1" lang="zh-CN" altLang="en-US" sz="3600" dirty="0"/>
              <a:t>原理</a:t>
            </a:r>
            <a:endParaRPr kumimoji="1" lang="en-US" altLang="zh-CN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1" lang="en-US" altLang="zh-CN" sz="3600" dirty="0" err="1"/>
              <a:t>Arex</a:t>
            </a:r>
            <a:r>
              <a:rPr kumimoji="1" lang="zh-CN" altLang="en-US" sz="3600" dirty="0"/>
              <a:t>实践</a:t>
            </a:r>
            <a:endParaRPr kumimoji="1" lang="en-US" altLang="zh-CN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kumimoji="1" lang="en-US" altLang="zh-C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zh-CN" altLang="en-US" sz="3600" dirty="0"/>
              <a:t>智慧景区解决方案调研</a:t>
            </a:r>
            <a:endParaRPr kumimoji="1" lang="en-US" altLang="zh-CN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1" lang="zh-CN" altLang="en-US" sz="3600" dirty="0"/>
              <a:t>各服务商的解决方案</a:t>
            </a:r>
            <a:endParaRPr kumimoji="1" lang="en-US" altLang="zh-CN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1" lang="zh-CN" altLang="en-US" sz="3600" dirty="0"/>
              <a:t>我们景区系统的业务全景图</a:t>
            </a:r>
            <a:endParaRPr kumimoji="1"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2693650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流量回放解决的痛点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AB5239-BC3D-B84B-A0D3-6EF73FC01E68}"/>
              </a:ext>
            </a:extLst>
          </p:cNvPr>
          <p:cNvSpPr txBox="1"/>
          <p:nvPr/>
        </p:nvSpPr>
        <p:spPr>
          <a:xfrm>
            <a:off x="840632" y="1298274"/>
            <a:ext cx="99371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rPr>
              <a:t>脚本维护成本高：无完整接口契约文档来辅助接口自动化实施，迭代变更，测试用例编写和维护成本高。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rPr>
              <a:t>项目时间紧：测试回归不充分。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rPr>
              <a:t>人员经验不足 </a:t>
            </a:r>
            <a:r>
              <a:rPr lang="en-US" altLang="zh-CN" sz="28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rPr>
              <a:t>&amp; </a:t>
            </a:r>
            <a:r>
              <a:rPr lang="zh-CN" altLang="en-US" sz="28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rPr>
              <a:t>测试造数难：脚本参数无法模拟真实环境场景，较难复现 </a:t>
            </a:r>
            <a:r>
              <a:rPr lang="en" altLang="zh-CN" sz="28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rPr>
              <a:t>bug</a:t>
            </a:r>
            <a:r>
              <a:rPr lang="zh-CN" altLang="en" sz="28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rPr>
              <a:t>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rPr>
              <a:t>流量复杂：请求构造成本比较高，测试场景覆盖不全。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rPr>
              <a:t>业务复杂：业务场景梳理困难，流量配比不真实。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1C1E21"/>
                </a:solidFill>
                <a:effectLst/>
                <a:latin typeface="system-ui"/>
              </a:rPr>
              <a:t>写服务难于验证，而且测试会产生脏数据</a:t>
            </a:r>
            <a:endParaRPr lang="en-US" altLang="zh-CN" sz="28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1C1E21"/>
                </a:solidFill>
                <a:effectLst/>
                <a:latin typeface="system-ui"/>
              </a:rPr>
              <a:t>线上问题难以本地复现，排查困难</a:t>
            </a:r>
          </a:p>
        </p:txBody>
      </p:sp>
    </p:spTree>
    <p:extLst>
      <p:ext uri="{BB962C8B-B14F-4D97-AF65-F5344CB8AC3E}">
        <p14:creationId xmlns:p14="http://schemas.microsoft.com/office/powerpoint/2010/main" val="232030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流量回放解决的痛点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28E4B9-58D9-5E02-C781-0FC5014F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576" y="1161431"/>
            <a:ext cx="9797660" cy="429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4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技术选型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18E0CF7-E62E-6BA8-803A-77C3A8B4E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197243"/>
              </p:ext>
            </p:extLst>
          </p:nvPr>
        </p:nvGraphicFramePr>
        <p:xfrm>
          <a:off x="348670" y="1199991"/>
          <a:ext cx="11494659" cy="452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99">
                  <a:extLst>
                    <a:ext uri="{9D8B030D-6E8A-4147-A177-3AD203B41FA5}">
                      <a16:colId xmlns:a16="http://schemas.microsoft.com/office/drawing/2014/main" val="4120122500"/>
                    </a:ext>
                  </a:extLst>
                </a:gridCol>
                <a:gridCol w="1718566">
                  <a:extLst>
                    <a:ext uri="{9D8B030D-6E8A-4147-A177-3AD203B41FA5}">
                      <a16:colId xmlns:a16="http://schemas.microsoft.com/office/drawing/2014/main" val="2188129212"/>
                    </a:ext>
                  </a:extLst>
                </a:gridCol>
                <a:gridCol w="1648544">
                  <a:extLst>
                    <a:ext uri="{9D8B030D-6E8A-4147-A177-3AD203B41FA5}">
                      <a16:colId xmlns:a16="http://schemas.microsoft.com/office/drawing/2014/main" val="18947601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366033584"/>
                    </a:ext>
                  </a:extLst>
                </a:gridCol>
                <a:gridCol w="1863187">
                  <a:extLst>
                    <a:ext uri="{9D8B030D-6E8A-4147-A177-3AD203B41FA5}">
                      <a16:colId xmlns:a16="http://schemas.microsoft.com/office/drawing/2014/main" val="995597493"/>
                    </a:ext>
                  </a:extLst>
                </a:gridCol>
                <a:gridCol w="2187263">
                  <a:extLst>
                    <a:ext uri="{9D8B030D-6E8A-4147-A177-3AD203B41FA5}">
                      <a16:colId xmlns:a16="http://schemas.microsoft.com/office/drawing/2014/main" val="343389614"/>
                    </a:ext>
                  </a:extLst>
                </a:gridCol>
              </a:tblGrid>
              <a:tr h="1103015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字节码增强技术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插件丰富度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社区活跃度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完善的后台系统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接入成本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91184"/>
                  </a:ext>
                </a:extLst>
              </a:tr>
              <a:tr h="11183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jvm</a:t>
                      </a:r>
                      <a:r>
                        <a:rPr lang="en" altLang="zh-C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-sandbox-repeater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ASM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基本不维护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缺少报告生成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723501"/>
                  </a:ext>
                </a:extLst>
              </a:tr>
              <a:tr h="1118334">
                <a:tc>
                  <a:txBody>
                    <a:bodyPr/>
                    <a:lstStyle/>
                    <a:p>
                      <a:r>
                        <a:rPr lang="en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Moonbox</a:t>
                      </a:r>
                      <a:r>
                        <a:rPr lang="zh-CN" alt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月光宝盒）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ASM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活跃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支持报告生成，报告可观测性稍差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必须需要二次开发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202752"/>
                  </a:ext>
                </a:extLst>
              </a:tr>
              <a:tr h="1118334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arex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BYTEBUDDY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非常活跃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完善的后台配置</a:t>
                      </a:r>
                      <a:br>
                        <a:rPr lang="en-US" altLang="zh-CN" dirty="0"/>
                      </a:br>
                      <a:r>
                        <a:rPr lang="zh-CN" altLang="en-US" dirty="0"/>
                        <a:t>，测试报告生成</a:t>
                      </a:r>
                      <a:br>
                        <a:rPr lang="en-US" altLang="zh-CN" dirty="0"/>
                      </a:br>
                      <a:r>
                        <a:rPr lang="zh-CN" altLang="en-US" dirty="0"/>
                        <a:t>，报告可读性更强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一键部署、二开比较容易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08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47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en" altLang="zh-CN" dirty="0"/>
              <a:t>AREX </a:t>
            </a:r>
            <a:r>
              <a:rPr lang="zh-CN" altLang="en-US" dirty="0"/>
              <a:t>核心优势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EE3011-7F3A-0357-10B3-E3298BCF1769}"/>
              </a:ext>
            </a:extLst>
          </p:cNvPr>
          <p:cNvSpPr txBox="1"/>
          <p:nvPr/>
        </p:nvSpPr>
        <p:spPr>
          <a:xfrm>
            <a:off x="1199456" y="1161431"/>
            <a:ext cx="917003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100"/>
                </a:solidFill>
                <a:effectLst/>
              </a:rPr>
              <a:t>低成本</a:t>
            </a:r>
            <a:r>
              <a:rPr lang="zh-CN" altLang="en-US" dirty="0">
                <a:hlinkClick r:id="rId3"/>
              </a:rPr>
              <a:t>​</a:t>
            </a:r>
            <a:endParaRPr lang="zh-CN" altLang="en-US" dirty="0"/>
          </a:p>
          <a:p>
            <a:r>
              <a:rPr lang="zh-CN" altLang="en-US" dirty="0"/>
              <a:t>无代码侵入，基本无接入成本</a:t>
            </a:r>
            <a:br>
              <a:rPr lang="zh-CN" altLang="en-US" dirty="0"/>
            </a:br>
            <a:r>
              <a:rPr lang="zh-CN" altLang="en-US" dirty="0"/>
              <a:t>无需编写测试用例，海量的线上请求也能保证高覆盖率</a:t>
            </a:r>
            <a:br>
              <a:rPr lang="zh-CN" altLang="en-US" dirty="0"/>
            </a:br>
            <a:r>
              <a:rPr lang="zh-CN" altLang="en-US" dirty="0"/>
              <a:t>插桩代码足够简单，性能损耗低</a:t>
            </a:r>
          </a:p>
          <a:p>
            <a:r>
              <a:rPr lang="zh-CN" altLang="en-US" dirty="0">
                <a:solidFill>
                  <a:srgbClr val="FF0100"/>
                </a:solidFill>
                <a:effectLst/>
              </a:rPr>
              <a:t>多样性支持</a:t>
            </a:r>
            <a:r>
              <a:rPr lang="zh-CN" altLang="en-US" dirty="0">
                <a:hlinkClick r:id="rId4"/>
              </a:rPr>
              <a:t>​</a:t>
            </a:r>
            <a:endParaRPr lang="zh-CN" altLang="en-US" dirty="0"/>
          </a:p>
          <a:p>
            <a:r>
              <a:rPr lang="zh-CN" altLang="en-US" dirty="0"/>
              <a:t>支持写验证，支持数据库、消息队列、</a:t>
            </a:r>
            <a:r>
              <a:rPr lang="en" altLang="zh-CN" dirty="0"/>
              <a:t>Redis </a:t>
            </a:r>
            <a:r>
              <a:rPr lang="zh-CN" altLang="en-US" dirty="0"/>
              <a:t>数据的验证，甚至支持验证运行时的内存数据，并且测试时不会产生脏数据。</a:t>
            </a:r>
          </a:p>
          <a:p>
            <a:r>
              <a:rPr lang="zh-CN" altLang="en-US" dirty="0">
                <a:solidFill>
                  <a:srgbClr val="FF0100"/>
                </a:solidFill>
                <a:effectLst/>
              </a:rPr>
              <a:t>测试用例运行稳定</a:t>
            </a:r>
            <a:r>
              <a:rPr lang="zh-CN" altLang="en-US" dirty="0">
                <a:hlinkClick r:id="rId5"/>
              </a:rPr>
              <a:t>​</a:t>
            </a:r>
            <a:endParaRPr lang="zh-CN" altLang="en-US" dirty="0"/>
          </a:p>
          <a:p>
            <a:r>
              <a:rPr lang="zh-CN" altLang="en-US" dirty="0"/>
              <a:t>支持各种主流技术框架的自动数据采集和 </a:t>
            </a:r>
            <a:r>
              <a:rPr lang="en" altLang="zh-CN" dirty="0"/>
              <a:t>Mock ,</a:t>
            </a:r>
            <a:r>
              <a:rPr lang="zh-CN" altLang="en-US" dirty="0"/>
              <a:t>并且支持了本地时间、缓存，在回放时精准还原生产执行时的数据环境。</a:t>
            </a:r>
          </a:p>
          <a:p>
            <a:r>
              <a:rPr lang="zh-CN" altLang="en-US" dirty="0">
                <a:solidFill>
                  <a:srgbClr val="FF0100"/>
                </a:solidFill>
                <a:effectLst/>
              </a:rPr>
              <a:t>快速线上问题复现</a:t>
            </a:r>
            <a:r>
              <a:rPr lang="zh-CN" altLang="en-US" dirty="0">
                <a:hlinkClick r:id="rId6"/>
              </a:rPr>
              <a:t>​</a:t>
            </a:r>
            <a:endParaRPr lang="zh-CN" altLang="en-US" dirty="0"/>
          </a:p>
          <a:p>
            <a:r>
              <a:rPr lang="zh-CN" altLang="en-US" dirty="0"/>
              <a:t>支持一键本地调试，可以快速本地调试线上问题</a:t>
            </a:r>
          </a:p>
          <a:p>
            <a:r>
              <a:rPr lang="zh-CN" altLang="en-US" dirty="0">
                <a:solidFill>
                  <a:srgbClr val="FF0100"/>
                </a:solidFill>
                <a:effectLst/>
              </a:rPr>
              <a:t>安全稳定</a:t>
            </a:r>
            <a:r>
              <a:rPr lang="zh-CN" altLang="en-US" dirty="0">
                <a:hlinkClick r:id="rId7"/>
              </a:rPr>
              <a:t>​</a:t>
            </a:r>
            <a:endParaRPr lang="zh-CN" altLang="en-US" dirty="0"/>
          </a:p>
          <a:p>
            <a:r>
              <a:rPr lang="zh-CN" altLang="en-US" dirty="0"/>
              <a:t>提供流量脱敏机制，保护线上敏感数据。代码隔离，也实现了健康管理，在系统繁忙时会智能降低或关闭数据采集频率</a:t>
            </a:r>
          </a:p>
          <a:p>
            <a:r>
              <a:rPr lang="zh-CN" altLang="en-US" dirty="0">
                <a:solidFill>
                  <a:srgbClr val="FF0100"/>
                </a:solidFill>
                <a:effectLst/>
              </a:rPr>
              <a:t>良好的功能测试支持</a:t>
            </a:r>
            <a:r>
              <a:rPr lang="zh-CN" altLang="en-US" dirty="0">
                <a:hlinkClick r:id="rId8"/>
              </a:rPr>
              <a:t>​</a:t>
            </a:r>
            <a:endParaRPr lang="zh-CN" altLang="en-US" dirty="0"/>
          </a:p>
          <a:p>
            <a:r>
              <a:rPr lang="zh-CN" altLang="en-US" dirty="0"/>
              <a:t>支持测试脚本，也可对采集的数据进行简单的编辑实现固定测试观点的测试，避免大量的测试数据准备</a:t>
            </a:r>
          </a:p>
        </p:txBody>
      </p:sp>
    </p:spTree>
    <p:extLst>
      <p:ext uri="{BB962C8B-B14F-4D97-AF65-F5344CB8AC3E}">
        <p14:creationId xmlns:p14="http://schemas.microsoft.com/office/powerpoint/2010/main" val="3334717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E8099B5-2C1F-84E8-453C-BF7AED1BC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" y="1200115"/>
            <a:ext cx="10018613" cy="520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7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A0653E-D44B-E9DE-B8C2-9B74B27A0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71" y="1412776"/>
            <a:ext cx="10803867" cy="47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5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59EE8B-A160-7BBA-998D-F318AD2B2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" y="1772816"/>
            <a:ext cx="11647059" cy="413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31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4CC474-B65E-7E2F-A7EC-8C0554858909}"/>
              </a:ext>
            </a:extLst>
          </p:cNvPr>
          <p:cNvSpPr txBox="1"/>
          <p:nvPr/>
        </p:nvSpPr>
        <p:spPr>
          <a:xfrm>
            <a:off x="1019436" y="1484784"/>
            <a:ext cx="101531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流量录制：</a:t>
            </a:r>
            <a:endParaRPr lang="zh-CN" altLang="en-US" dirty="0"/>
          </a:p>
          <a:p>
            <a:r>
              <a:rPr lang="en" altLang="zh-CN" dirty="0"/>
              <a:t>AREX Java Agent </a:t>
            </a:r>
            <a:r>
              <a:rPr lang="zh-CN" altLang="en-US" dirty="0"/>
              <a:t>在生产环境中搭载在 </a:t>
            </a:r>
            <a:r>
              <a:rPr lang="en" altLang="zh-CN" dirty="0"/>
              <a:t>Java </a:t>
            </a:r>
            <a:r>
              <a:rPr lang="zh-CN" altLang="en-US" dirty="0"/>
              <a:t>应用上，录制数据流量和请求信息。</a:t>
            </a:r>
          </a:p>
          <a:p>
            <a:r>
              <a:rPr lang="zh-CN" altLang="en-US" dirty="0"/>
              <a:t>将录制到的信息发送到 </a:t>
            </a:r>
            <a:r>
              <a:rPr lang="en" altLang="zh-CN" dirty="0"/>
              <a:t>AREX </a:t>
            </a:r>
            <a:r>
              <a:rPr lang="zh-CN" altLang="en-US" dirty="0"/>
              <a:t>数据存取服务（</a:t>
            </a:r>
            <a:r>
              <a:rPr lang="en" altLang="zh-CN" dirty="0"/>
              <a:t>Storage Service</a:t>
            </a:r>
            <a:r>
              <a:rPr lang="zh-CN" altLang="en" dirty="0"/>
              <a:t>）。</a:t>
            </a:r>
          </a:p>
          <a:p>
            <a:r>
              <a:rPr lang="zh-CN" altLang="en-US" dirty="0"/>
              <a:t>数据存取服务将信息导入 </a:t>
            </a:r>
            <a:r>
              <a:rPr lang="en" altLang="zh-CN" dirty="0"/>
              <a:t>MongoDB </a:t>
            </a:r>
            <a:r>
              <a:rPr lang="zh-CN" altLang="en-US" dirty="0"/>
              <a:t>数据库中进行存储。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流量回放：</a:t>
            </a:r>
            <a:endParaRPr lang="zh-CN" altLang="en-US" dirty="0"/>
          </a:p>
          <a:p>
            <a:r>
              <a:rPr lang="zh-CN" altLang="en-US" dirty="0"/>
              <a:t>调度服务向目标验证服务发送接口请求，模拟生产环境中的行为。</a:t>
            </a:r>
          </a:p>
          <a:p>
            <a:r>
              <a:rPr lang="zh-CN" altLang="en-US" dirty="0"/>
              <a:t>测试环境中的被测应用同样搭载 </a:t>
            </a:r>
            <a:r>
              <a:rPr lang="en" altLang="zh-CN" dirty="0"/>
              <a:t>AREX Java Agent</a:t>
            </a:r>
            <a:r>
              <a:rPr lang="zh-CN" altLang="en" dirty="0"/>
              <a:t>，</a:t>
            </a:r>
            <a:r>
              <a:rPr lang="zh-CN" altLang="en-US" dirty="0"/>
              <a:t>当被测应用需要对外部依赖进行调用时，</a:t>
            </a:r>
            <a:r>
              <a:rPr lang="en" altLang="zh-CN" dirty="0"/>
              <a:t>Agent </a:t>
            </a:r>
            <a:r>
              <a:rPr lang="zh-CN" altLang="en-US" dirty="0"/>
              <a:t>会将录制的外部依赖（外部请求</a:t>
            </a:r>
            <a:r>
              <a:rPr lang="en-US" altLang="zh-CN" dirty="0"/>
              <a:t>/</a:t>
            </a:r>
            <a:r>
              <a:rPr lang="en" altLang="zh-CN" dirty="0"/>
              <a:t>DB</a:t>
            </a:r>
            <a:r>
              <a:rPr lang="zh-CN" altLang="en" dirty="0"/>
              <a:t>）</a:t>
            </a:r>
            <a:r>
              <a:rPr lang="zh-CN" altLang="en-US" dirty="0"/>
              <a:t>的响应返回给被测应用，避免了对实际数据库或其他依赖的交互，减少对特定环境数据的依赖，专注于验证程序本身的逻辑和功能。</a:t>
            </a:r>
          </a:p>
          <a:p>
            <a:r>
              <a:rPr lang="zh-CN" altLang="en-US" dirty="0"/>
              <a:t>目标服务处理请求逻辑，并返回响应报文。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结果验证与报告：</a:t>
            </a:r>
            <a:endParaRPr lang="zh-CN" altLang="en-US" dirty="0"/>
          </a:p>
          <a:p>
            <a:r>
              <a:rPr lang="zh-CN" altLang="en-US" dirty="0"/>
              <a:t>调度服务分别对录制和回放的主接口响应报文进行对比，验证系统逻辑的正确性。</a:t>
            </a:r>
          </a:p>
          <a:p>
            <a:r>
              <a:rPr lang="zh-CN" altLang="en-US" dirty="0"/>
              <a:t>比对结果分析后生成回放报告。</a:t>
            </a:r>
          </a:p>
          <a:p>
            <a:r>
              <a:rPr lang="zh-CN" altLang="en-US" dirty="0"/>
              <a:t>测试人员检查回放报告，评估应用的功能和性能。</a:t>
            </a:r>
          </a:p>
        </p:txBody>
      </p:sp>
    </p:spTree>
    <p:extLst>
      <p:ext uri="{BB962C8B-B14F-4D97-AF65-F5344CB8AC3E}">
        <p14:creationId xmlns:p14="http://schemas.microsoft.com/office/powerpoint/2010/main" val="128756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E04B6F-C2AD-E506-AF2F-68242BE60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980728"/>
            <a:ext cx="6408712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34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DDD3E4-6D88-266D-7A52-933367B9E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3" y="2348881"/>
            <a:ext cx="5652393" cy="30234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CCC685-3F4D-5EAD-C53E-B6A97F2A8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08" y="980730"/>
            <a:ext cx="5796644" cy="273630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00EBBA-6F0E-2E45-FA35-8053300C5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253" y="3717033"/>
            <a:ext cx="6062020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97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0E2AC4-D7A3-E934-7988-9EC14D89A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72" y="1051821"/>
            <a:ext cx="6607770" cy="561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33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98D9CF-A237-F5B8-41D0-B0B79590C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850" y="1670050"/>
            <a:ext cx="7226300" cy="3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7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类加载器隔离、互通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51CA44-03AA-2487-88B1-C3DF96126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23680"/>
            <a:ext cx="8350696" cy="571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28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调用链路 </a:t>
            </a:r>
            <a:r>
              <a:rPr lang="en" altLang="zh-CN" dirty="0"/>
              <a:t>Trace </a:t>
            </a:r>
            <a:r>
              <a:rPr lang="zh-CN" altLang="en-US" dirty="0"/>
              <a:t>传递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4C8DA9-969A-96D9-E031-97B6AA5F9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984" y="1412776"/>
            <a:ext cx="7772400" cy="482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160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调用链路 </a:t>
            </a:r>
            <a:r>
              <a:rPr lang="en" altLang="zh-CN" dirty="0"/>
              <a:t>Trace </a:t>
            </a:r>
            <a:r>
              <a:rPr lang="zh-CN" altLang="en-US" dirty="0"/>
              <a:t>传递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41CD8D-5330-B6F2-0A46-42BAFD7CF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83489"/>
            <a:ext cx="7772400" cy="558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13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组件版本兼容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E80B05-EF63-9363-51DC-D68AD39DF48B}"/>
              </a:ext>
            </a:extLst>
          </p:cNvPr>
          <p:cNvSpPr txBox="1"/>
          <p:nvPr/>
        </p:nvSpPr>
        <p:spPr>
          <a:xfrm>
            <a:off x="911424" y="1916832"/>
            <a:ext cx="102971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应用引入的组件可能存在多个版本，同一组件不同版本之间也有可能会出现不兼容的情况，</a:t>
            </a:r>
            <a:endParaRPr lang="en-US" altLang="zh-CN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比如</a:t>
            </a:r>
            <a:r>
              <a:rPr lang="en-US" altLang="zh-CN" b="0" i="0" dirty="0">
                <a:solidFill>
                  <a:srgbClr val="1C1E21"/>
                </a:solidFill>
                <a:effectLst/>
                <a:latin typeface="system-ui"/>
              </a:rPr>
              <a:t>: 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package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变更、方法新增或移除等。为了兼容支持组件多个版本，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AREX Agent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需要识别</a:t>
            </a:r>
            <a:endParaRPr lang="en-US" altLang="zh-CN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正确的组件版本进行字节码增强，避免重复增强或者增强了错误的版本。</a:t>
            </a:r>
            <a:endParaRPr lang="en-US" altLang="zh-CN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endParaRPr lang="zh-CN" altLang="en-US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AREX Agent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通过识别组件 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Jar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包里面 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META-INF/MANIFEST.MF 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的 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Name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和 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Version</a:t>
            </a:r>
            <a:r>
              <a:rPr lang="zh-CN" altLang="en" b="0" i="0" dirty="0">
                <a:solidFill>
                  <a:srgbClr val="1C1E21"/>
                </a:solidFill>
                <a:effectLst/>
                <a:latin typeface="system-ui"/>
              </a:rPr>
              <a:t>，</a:t>
            </a:r>
            <a:endParaRPr lang="en-US" altLang="zh-CN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在类加载时进行版本匹配，确保对正确的版本进行代码增强。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5521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本地缓存 </a:t>
            </a:r>
            <a:r>
              <a:rPr lang="en" altLang="zh-CN" dirty="0"/>
              <a:t>MOCK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FAF85A-4247-D675-E6D9-B729C8535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71696"/>
            <a:ext cx="7772400" cy="513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57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时间回放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985215-787C-1CB2-D6C4-34CBDED45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26172"/>
            <a:ext cx="7772400" cy="380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95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6" name="Picture 2" descr="Agent技术栈">
            <a:extLst>
              <a:ext uri="{FF2B5EF4-FFF2-40B4-BE49-F238E27FC236}">
                <a16:creationId xmlns:a16="http://schemas.microsoft.com/office/drawing/2014/main" id="{0C479151-337A-0D7B-7E88-6B98D2987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009" y="997943"/>
            <a:ext cx="6210300" cy="569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337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插件开发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77FE30-5C5D-3E74-355E-1C6CA94A7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996" y="1016110"/>
            <a:ext cx="7990656" cy="24128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9E0D43-A3C7-05D1-8C5B-B86B6C6F0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379" y="3494344"/>
            <a:ext cx="7990656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30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插件开发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21847DA-698D-4522-C30C-5879D4B249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92237A-D4D5-8EA1-97FF-7F841F8A5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17" y="980728"/>
            <a:ext cx="11495365" cy="550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55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加载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B2CAA5-4A4C-4D11-E3D7-C66787F3A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161431"/>
            <a:ext cx="11180241" cy="528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68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测试报告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283129-8A4D-27EE-7B98-DADB9FF0A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96" y="1161431"/>
            <a:ext cx="10183208" cy="535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33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智慧景区解决方案</a:t>
            </a:r>
            <a:r>
              <a:rPr lang="en-US" altLang="zh-CN" dirty="0"/>
              <a:t>-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0F11690-0976-2B64-D9D4-147034C7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80728"/>
            <a:ext cx="7772400" cy="572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17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景区</a:t>
            </a:r>
            <a:r>
              <a:rPr lang="en-US" altLang="zh-CN" dirty="0"/>
              <a:t>-</a:t>
            </a:r>
            <a:r>
              <a:rPr lang="zh-CN" altLang="en-US" dirty="0"/>
              <a:t>票付通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835E53-83DB-2EEB-A5F8-3E3E355A0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33600"/>
            <a:ext cx="7772400" cy="4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99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景区</a:t>
            </a:r>
            <a:r>
              <a:rPr lang="en-US" altLang="zh-CN" dirty="0"/>
              <a:t>-</a:t>
            </a:r>
            <a:r>
              <a:rPr lang="zh-CN" altLang="en-US" dirty="0"/>
              <a:t>票付通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33D9A2-8C99-5251-D1D8-1277E913E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91385"/>
            <a:ext cx="7772400" cy="447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09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CC3242-8CA4-E295-75C5-244C787ED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82236"/>
            <a:ext cx="7772400" cy="449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97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F29CB7-4AE9-AA64-54E8-7AC785C2C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98356"/>
            <a:ext cx="7772400" cy="446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28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景区</a:t>
            </a:r>
            <a:r>
              <a:rPr lang="en-US" altLang="zh-CN" dirty="0"/>
              <a:t>-</a:t>
            </a:r>
            <a:r>
              <a:rPr lang="zh-CN" altLang="en-US" dirty="0"/>
              <a:t>川大智胜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1E55A5-6828-80C6-EC43-1362F0755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350982"/>
            <a:ext cx="7772400" cy="415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02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6" name="直接连接符 254">
            <a:extLst>
              <a:ext uri="{FF2B5EF4-FFF2-40B4-BE49-F238E27FC236}">
                <a16:creationId xmlns:a16="http://schemas.microsoft.com/office/drawing/2014/main" id="{1D8F7B58-B148-998F-426B-FAC7D97C3F83}"/>
              </a:ext>
            </a:extLst>
          </p:cNvPr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BF28B54A-46BA-7EAA-5D7A-20AFA7307D5E}"/>
              </a:ext>
            </a:extLst>
          </p:cNvPr>
          <p:cNvSpPr/>
          <p:nvPr/>
        </p:nvSpPr>
        <p:spPr>
          <a:xfrm>
            <a:off x="11607800" y="1151890"/>
            <a:ext cx="330835" cy="5245735"/>
          </a:xfrm>
          <a:prstGeom prst="roundRect">
            <a:avLst>
              <a:gd name="adj" fmla="val 6735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eaVert" lIns="0" tIns="0" rIns="0" bIns="0" rtlCol="0" anchor="ctr">
            <a:norm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安全保障体系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061A546-ACEF-DF9B-51A5-5E5CA9F166A7}"/>
              </a:ext>
            </a:extLst>
          </p:cNvPr>
          <p:cNvSpPr/>
          <p:nvPr/>
        </p:nvSpPr>
        <p:spPr>
          <a:xfrm>
            <a:off x="714375" y="6039485"/>
            <a:ext cx="10808335" cy="35814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71755" tIns="0" rIns="0" bIns="0" rtlCol="0" anchor="ctr" anchorCtr="0">
            <a:normAutofit/>
          </a:bodyPr>
          <a:lstStyle/>
          <a:p>
            <a:pPr algn="l"/>
            <a: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基础设施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1859F90-88C0-92D9-1A18-8E1D0ADD20BD}"/>
              </a:ext>
            </a:extLst>
          </p:cNvPr>
          <p:cNvSpPr/>
          <p:nvPr/>
        </p:nvSpPr>
        <p:spPr>
          <a:xfrm>
            <a:off x="733425" y="3550285"/>
            <a:ext cx="3781425" cy="127254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36195" rtlCol="0" anchor="b" anchorCtr="0">
            <a:normAutofit/>
          </a:bodyPr>
          <a:lstStyle/>
          <a:p>
            <a:pPr algn="ctr"/>
            <a:r>
              <a:rPr 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数据中台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BF4E6B9-ED9E-985E-B811-58F3C451685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67250" y="3569970"/>
            <a:ext cx="6861810" cy="127381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36195" rtlCol="0" anchor="b" anchorCtr="0">
            <a:normAutofit/>
          </a:bodyPr>
          <a:lstStyle/>
          <a:p>
            <a:pPr algn="ctr"/>
            <a:r>
              <a:rPr 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业务中台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3B426FC-CFBD-BB00-70F5-6999B156A72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838700" y="4112895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图形分析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4E972D6-4143-661A-8683-F642602C3A0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214110" y="4112895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图像解析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F34E65B-A9A6-CB2B-4441-06F32F0013B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838700" y="3874770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人脸识别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A205ED99-5398-BEF0-48AE-1D8EE5F2A294}"/>
              </a:ext>
            </a:extLst>
          </p:cNvPr>
          <p:cNvSpPr/>
          <p:nvPr/>
        </p:nvSpPr>
        <p:spPr>
          <a:xfrm>
            <a:off x="6214110" y="3874770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流量检测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F57A40C-5E2F-4665-01EC-17A0AC4913B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517765" y="3896360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726CC43-8AE4-9A2A-1907-59B91799E6D0}"/>
              </a:ext>
            </a:extLst>
          </p:cNvPr>
          <p:cNvSpPr/>
          <p:nvPr/>
        </p:nvSpPr>
        <p:spPr>
          <a:xfrm>
            <a:off x="7517765" y="4112895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文件生成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88A5914-D84A-38EB-21DC-5D75D9A5A73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517765" y="3644900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GIS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3389A4C-BFA2-0D23-0ED3-00DBD6F8B1E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517765" y="4354195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GL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84F7007C-22C3-DD7D-EA3F-BDC75497B43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214110" y="4354195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域名映射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E9AA89D-FCCA-9412-213C-9C00C8B57149}"/>
              </a:ext>
            </a:extLst>
          </p:cNvPr>
          <p:cNvSpPr/>
          <p:nvPr/>
        </p:nvSpPr>
        <p:spPr>
          <a:xfrm>
            <a:off x="6214110" y="3644900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Charts引擎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1DDAFFB-B0F8-392D-49D5-D04F78B2BEF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838700" y="4354195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AR 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引擎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8C9FA8E-016D-60B0-B7D3-234E40AC16DE}"/>
              </a:ext>
            </a:extLst>
          </p:cNvPr>
          <p:cNvSpPr/>
          <p:nvPr/>
        </p:nvSpPr>
        <p:spPr>
          <a:xfrm>
            <a:off x="3441700" y="3623945"/>
            <a:ext cx="981710" cy="904875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vert" lIns="36195" tIns="0" rIns="0" bIns="0" rtlCol="0" anchor="b" anchorCtr="0">
            <a:normAutofit/>
          </a:bodyPr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lot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协议库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34424368-9306-B48B-4ACA-0980D8FA501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913495" y="4354195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DA448E2-9432-21AF-A5A1-2B077884EF5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59155" y="3854450"/>
            <a:ext cx="1219835" cy="19558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爬虫采集器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D18736EC-58B5-EB46-D681-4CE5F2E8E5F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59155" y="4091940"/>
            <a:ext cx="1219835" cy="19558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自定义表单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80224ACC-7D7D-E966-8441-C2DE9B9FA817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152015" y="3623945"/>
            <a:ext cx="1219835" cy="19558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数据市场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012F482-9307-9700-6919-B0EAC8279B0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152015" y="3854450"/>
            <a:ext cx="1219835" cy="19558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接口管理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8C00637E-32B4-68E0-9737-207582E04D1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152015" y="4091940"/>
            <a:ext cx="1219835" cy="19558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GIS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137B0105-0BA0-F479-5E1D-63F65EA2528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913495" y="3644900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聚合支付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BA247199-9CD2-208E-3366-24E1326B3257}"/>
              </a:ext>
            </a:extLst>
          </p:cNvPr>
          <p:cNvSpPr/>
          <p:nvPr/>
        </p:nvSpPr>
        <p:spPr>
          <a:xfrm>
            <a:off x="8913495" y="3874770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会员中心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D90BED40-9605-D54C-738C-B617BC622827}"/>
              </a:ext>
            </a:extLst>
          </p:cNvPr>
          <p:cNvSpPr/>
          <p:nvPr/>
        </p:nvSpPr>
        <p:spPr>
          <a:xfrm>
            <a:off x="8913495" y="4112895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消息服务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15CB1CF-FCBF-0A01-80D6-94922D9CD09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0226040" y="3644900"/>
            <a:ext cx="1219835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融合事件预警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FDDEEEA9-6DF3-8EAA-66FB-2CA9F07A1E5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859155" y="4333240"/>
            <a:ext cx="1219200" cy="19558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舆情数据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58739A9F-588B-EF89-C7A6-583C732BDE4C}"/>
              </a:ext>
            </a:extLst>
          </p:cNvPr>
          <p:cNvSpPr/>
          <p:nvPr/>
        </p:nvSpPr>
        <p:spPr>
          <a:xfrm>
            <a:off x="4838065" y="3644900"/>
            <a:ext cx="1220470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语义分析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B4DE4E7A-AA2A-B6AC-51E4-657B59E044EE}"/>
              </a:ext>
            </a:extLst>
          </p:cNvPr>
          <p:cNvSpPr/>
          <p:nvPr/>
        </p:nvSpPr>
        <p:spPr>
          <a:xfrm>
            <a:off x="10226040" y="3874770"/>
            <a:ext cx="1220470" cy="195580"/>
          </a:xfrm>
          <a:prstGeom prst="roundRect">
            <a:avLst>
              <a:gd name="adj" fmla="val 673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直播服务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FC3D7D65-37D8-79AF-19A8-7DF7E439B8D2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152015" y="4333240"/>
            <a:ext cx="1219835" cy="19558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大屏数据可视化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3BB02A43-E981-673A-727C-801EFDCAB854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58520" y="3623945"/>
            <a:ext cx="1219835" cy="19558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数据分发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D614B1D0-4282-78E5-ADAE-676022AF6CE1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20465" y="3698240"/>
            <a:ext cx="622935" cy="15621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厂商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AD0E6FD9-DC0A-9FD7-4677-A43D87200366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3720465" y="3893820"/>
            <a:ext cx="622935" cy="15621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设备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070D61B9-745B-65AF-8D5C-1A9E8687660D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720465" y="4091940"/>
            <a:ext cx="622935" cy="15621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标准协议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31672B98-31A8-4607-61C9-B7342A283576}"/>
              </a:ext>
            </a:extLst>
          </p:cNvPr>
          <p:cNvSpPr/>
          <p:nvPr/>
        </p:nvSpPr>
        <p:spPr>
          <a:xfrm>
            <a:off x="3720465" y="4283075"/>
            <a:ext cx="622935" cy="156210"/>
          </a:xfrm>
          <a:prstGeom prst="roundRect">
            <a:avLst>
              <a:gd name="adj" fmla="val 673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非标协议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B54A5F5-483B-0E22-D9DC-5D6018DB6FF7}"/>
              </a:ext>
            </a:extLst>
          </p:cNvPr>
          <p:cNvGrpSpPr/>
          <p:nvPr/>
        </p:nvGrpSpPr>
        <p:grpSpPr>
          <a:xfrm>
            <a:off x="1501775" y="6089015"/>
            <a:ext cx="9472930" cy="241300"/>
            <a:chOff x="2124" y="9937"/>
            <a:chExt cx="13622" cy="347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AE331D81-B098-4111-5EC0-55A55F605084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2124" y="9937"/>
              <a:ext cx="1569" cy="320"/>
            </a:xfrm>
            <a:prstGeom prst="roundRect">
              <a:avLst>
                <a:gd name="adj" fmla="val 6735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机房设施</a:t>
              </a:r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0858EB42-D9D2-1D82-E842-BF3603178C7E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3846" y="9964"/>
              <a:ext cx="1569" cy="320"/>
            </a:xfrm>
            <a:prstGeom prst="roundRect">
              <a:avLst>
                <a:gd name="adj" fmla="val 6735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网络设施</a:t>
              </a:r>
            </a:p>
          </p:txBody>
        </p:sp>
        <p:sp>
          <p:nvSpPr>
            <p:cNvPr id="47" name="圆角矩形 46">
              <a:extLst>
                <a:ext uri="{FF2B5EF4-FFF2-40B4-BE49-F238E27FC236}">
                  <a16:creationId xmlns:a16="http://schemas.microsoft.com/office/drawing/2014/main" id="{CFB39175-4149-8D06-F7B9-037363B6F10E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5568" y="9964"/>
              <a:ext cx="1569" cy="320"/>
            </a:xfrm>
            <a:prstGeom prst="roundRect">
              <a:avLst>
                <a:gd name="adj" fmla="val 6735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监控设施</a:t>
              </a:r>
            </a:p>
          </p:txBody>
        </p:sp>
        <p:sp>
          <p:nvSpPr>
            <p:cNvPr id="48" name="圆角矩形 47">
              <a:extLst>
                <a:ext uri="{FF2B5EF4-FFF2-40B4-BE49-F238E27FC236}">
                  <a16:creationId xmlns:a16="http://schemas.microsoft.com/office/drawing/2014/main" id="{FD2AEC6B-9AFD-BE72-621B-B3A8CDA22F2F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290" y="9964"/>
              <a:ext cx="1569" cy="320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调度中心</a:t>
              </a:r>
            </a:p>
          </p:txBody>
        </p:sp>
        <p:sp>
          <p:nvSpPr>
            <p:cNvPr id="49" name="圆角矩形 48">
              <a:extLst>
                <a:ext uri="{FF2B5EF4-FFF2-40B4-BE49-F238E27FC236}">
                  <a16:creationId xmlns:a16="http://schemas.microsoft.com/office/drawing/2014/main" id="{42A3CADB-32E1-CD65-723E-176C808A58F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9012" y="9964"/>
              <a:ext cx="1569" cy="320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广播设施</a:t>
              </a:r>
            </a:p>
          </p:txBody>
        </p:sp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346BA16C-C4E1-2D2F-328E-4AD3EB15E252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734" y="9964"/>
              <a:ext cx="1569" cy="320"/>
            </a:xfrm>
            <a:prstGeom prst="roundRect">
              <a:avLst>
                <a:gd name="adj" fmla="val 6735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闸机设施</a:t>
              </a:r>
            </a:p>
          </p:txBody>
        </p:sp>
        <p:sp>
          <p:nvSpPr>
            <p:cNvPr id="51" name="圆角矩形 50">
              <a:extLst>
                <a:ext uri="{FF2B5EF4-FFF2-40B4-BE49-F238E27FC236}">
                  <a16:creationId xmlns:a16="http://schemas.microsoft.com/office/drawing/2014/main" id="{E7EAA52F-ADDB-EC57-B799-DF3D9BB944DE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2456" y="9964"/>
              <a:ext cx="1569" cy="320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智能化设施</a:t>
              </a:r>
            </a:p>
          </p:txBody>
        </p:sp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6E1ACBF4-E30C-991B-6FC6-56CB692FFAE8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4178" y="9964"/>
              <a:ext cx="1569" cy="320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其他设施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E7D5ED6-B060-F655-802A-2847DCC9EE55}"/>
              </a:ext>
            </a:extLst>
          </p:cNvPr>
          <p:cNvGrpSpPr/>
          <p:nvPr/>
        </p:nvGrpSpPr>
        <p:grpSpPr>
          <a:xfrm>
            <a:off x="706120" y="4875530"/>
            <a:ext cx="10808335" cy="710565"/>
            <a:chOff x="1979" y="8733"/>
            <a:chExt cx="15542" cy="1022"/>
          </a:xfrm>
        </p:grpSpPr>
        <p:sp>
          <p:nvSpPr>
            <p:cNvPr id="54" name="圆角矩形 53">
              <a:extLst>
                <a:ext uri="{FF2B5EF4-FFF2-40B4-BE49-F238E27FC236}">
                  <a16:creationId xmlns:a16="http://schemas.microsoft.com/office/drawing/2014/main" id="{C74B1842-750C-70E8-77FF-AAD32F9C6D4D}"/>
                </a:ext>
              </a:extLst>
            </p:cNvPr>
            <p:cNvSpPr/>
            <p:nvPr/>
          </p:nvSpPr>
          <p:spPr>
            <a:xfrm>
              <a:off x="1979" y="8733"/>
              <a:ext cx="15542" cy="1023"/>
            </a:xfrm>
            <a:prstGeom prst="roundRect">
              <a:avLst>
                <a:gd name="adj" fmla="val 6735"/>
              </a:avLst>
            </a:prstGeom>
            <a:noFill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lIns="71755" tIns="0" rIns="0" bIns="0" rtlCol="0" anchor="t" anchorCtr="0">
              <a:normAutofit/>
            </a:bodyPr>
            <a:lstStyle/>
            <a:p>
              <a:pPr algn="l"/>
              <a:r>
                <a:rPr 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大</a:t>
              </a:r>
            </a:p>
            <a:p>
              <a:pPr algn="l"/>
              <a:r>
                <a:rPr 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</a:t>
              </a:r>
            </a:p>
            <a:p>
              <a:pPr algn="l"/>
              <a:r>
                <a:rPr 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据</a:t>
              </a: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57C6CB28-1EE8-991B-D653-AE274A41C939}"/>
                </a:ext>
              </a:extLst>
            </p:cNvPr>
            <p:cNvGrpSpPr/>
            <p:nvPr/>
          </p:nvGrpSpPr>
          <p:grpSpPr>
            <a:xfrm>
              <a:off x="2592" y="8897"/>
              <a:ext cx="2794" cy="730"/>
              <a:chOff x="2592" y="8897"/>
              <a:chExt cx="2794" cy="730"/>
            </a:xfrm>
          </p:grpSpPr>
          <p:sp>
            <p:nvSpPr>
              <p:cNvPr id="70" name="圆角矩形 69">
                <a:extLst>
                  <a:ext uri="{FF2B5EF4-FFF2-40B4-BE49-F238E27FC236}">
                    <a16:creationId xmlns:a16="http://schemas.microsoft.com/office/drawing/2014/main" id="{1B452430-DADC-7C8B-BBEB-83E7858B5011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2592" y="8897"/>
                <a:ext cx="2795" cy="730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b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数据服务</a:t>
                </a:r>
              </a:p>
            </p:txBody>
          </p:sp>
          <p:sp>
            <p:nvSpPr>
              <p:cNvPr id="71" name="圆角矩形 70">
                <a:extLst>
                  <a:ext uri="{FF2B5EF4-FFF2-40B4-BE49-F238E27FC236}">
                    <a16:creationId xmlns:a16="http://schemas.microsoft.com/office/drawing/2014/main" id="{9CC3A4C6-6051-7F41-16A0-B05D537D88DF}"/>
                  </a:ext>
                </a:extLst>
              </p:cNvPr>
              <p:cNvSpPr/>
              <p:nvPr/>
            </p:nvSpPr>
            <p:spPr>
              <a:xfrm>
                <a:off x="2725" y="9003"/>
                <a:ext cx="722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集成服务</a:t>
                </a:r>
              </a:p>
            </p:txBody>
          </p:sp>
          <p:sp>
            <p:nvSpPr>
              <p:cNvPr id="72" name="圆角矩形 71">
                <a:extLst>
                  <a:ext uri="{FF2B5EF4-FFF2-40B4-BE49-F238E27FC236}">
                    <a16:creationId xmlns:a16="http://schemas.microsoft.com/office/drawing/2014/main" id="{6EF80C9A-9CFF-66DC-0CC0-CC36A506C5FC}"/>
                  </a:ext>
                </a:extLst>
              </p:cNvPr>
              <p:cNvSpPr/>
              <p:nvPr/>
            </p:nvSpPr>
            <p:spPr>
              <a:xfrm>
                <a:off x="3539" y="9003"/>
                <a:ext cx="819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开发服务</a:t>
                </a:r>
              </a:p>
            </p:txBody>
          </p:sp>
          <p:sp>
            <p:nvSpPr>
              <p:cNvPr id="73" name="圆角矩形 72">
                <a:extLst>
                  <a:ext uri="{FF2B5EF4-FFF2-40B4-BE49-F238E27FC236}">
                    <a16:creationId xmlns:a16="http://schemas.microsoft.com/office/drawing/2014/main" id="{6DFB4DF2-5FFA-4AF4-F7FC-8135DF11B565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4432" y="9003"/>
                <a:ext cx="819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应用服务</a:t>
                </a: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27C42DA6-1D31-C4B9-E59C-B942DB29D1CF}"/>
                </a:ext>
              </a:extLst>
            </p:cNvPr>
            <p:cNvGrpSpPr/>
            <p:nvPr/>
          </p:nvGrpSpPr>
          <p:grpSpPr>
            <a:xfrm>
              <a:off x="5514" y="8897"/>
              <a:ext cx="5104" cy="730"/>
              <a:chOff x="2592" y="8897"/>
              <a:chExt cx="2794" cy="730"/>
            </a:xfrm>
          </p:grpSpPr>
          <p:sp>
            <p:nvSpPr>
              <p:cNvPr id="66" name="圆角矩形 65">
                <a:extLst>
                  <a:ext uri="{FF2B5EF4-FFF2-40B4-BE49-F238E27FC236}">
                    <a16:creationId xmlns:a16="http://schemas.microsoft.com/office/drawing/2014/main" id="{3ECCBD01-EF9D-F919-A14F-5C9374B80B03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2592" y="8897"/>
                <a:ext cx="2795" cy="730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b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数据融合</a:t>
                </a:r>
              </a:p>
            </p:txBody>
          </p:sp>
          <p:sp>
            <p:nvSpPr>
              <p:cNvPr id="67" name="圆角矩形 66">
                <a:extLst>
                  <a:ext uri="{FF2B5EF4-FFF2-40B4-BE49-F238E27FC236}">
                    <a16:creationId xmlns:a16="http://schemas.microsoft.com/office/drawing/2014/main" id="{9FDF7F66-3F48-186B-B3DA-FBE04206A7F5}"/>
                  </a:ext>
                </a:extLst>
              </p:cNvPr>
              <p:cNvSpPr/>
              <p:nvPr/>
            </p:nvSpPr>
            <p:spPr>
              <a:xfrm>
                <a:off x="2725" y="9003"/>
                <a:ext cx="722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分布式数据采集</a:t>
                </a:r>
              </a:p>
            </p:txBody>
          </p:sp>
          <p:sp>
            <p:nvSpPr>
              <p:cNvPr id="68" name="圆角矩形 67">
                <a:extLst>
                  <a:ext uri="{FF2B5EF4-FFF2-40B4-BE49-F238E27FC236}">
                    <a16:creationId xmlns:a16="http://schemas.microsoft.com/office/drawing/2014/main" id="{FEA464B2-8613-AF62-646A-8191A3B692B8}"/>
                  </a:ext>
                </a:extLst>
              </p:cNvPr>
              <p:cNvSpPr/>
              <p:nvPr/>
            </p:nvSpPr>
            <p:spPr>
              <a:xfrm>
                <a:off x="3539" y="9003"/>
                <a:ext cx="819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分布式数据存储及数据库</a:t>
                </a:r>
              </a:p>
            </p:txBody>
          </p:sp>
          <p:sp>
            <p:nvSpPr>
              <p:cNvPr id="69" name="圆角矩形 68">
                <a:extLst>
                  <a:ext uri="{FF2B5EF4-FFF2-40B4-BE49-F238E27FC236}">
                    <a16:creationId xmlns:a16="http://schemas.microsoft.com/office/drawing/2014/main" id="{4EEAFD6B-29F9-DCB0-5538-132DAA4BF1CE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4432" y="9003"/>
                <a:ext cx="819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分布式数据处理及调度</a:t>
                </a: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FD1F7021-747D-5D5D-1402-32C093D295FA}"/>
                </a:ext>
              </a:extLst>
            </p:cNvPr>
            <p:cNvGrpSpPr/>
            <p:nvPr/>
          </p:nvGrpSpPr>
          <p:grpSpPr>
            <a:xfrm>
              <a:off x="10746" y="8897"/>
              <a:ext cx="6656" cy="730"/>
              <a:chOff x="11097" y="8938"/>
              <a:chExt cx="6656" cy="730"/>
            </a:xfrm>
          </p:grpSpPr>
          <p:sp>
            <p:nvSpPr>
              <p:cNvPr id="58" name="圆角矩形 57">
                <a:extLst>
                  <a:ext uri="{FF2B5EF4-FFF2-40B4-BE49-F238E27FC236}">
                    <a16:creationId xmlns:a16="http://schemas.microsoft.com/office/drawing/2014/main" id="{BC53B994-56E8-58B8-8EF9-227A5DDD2AE7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11097" y="8938"/>
                <a:ext cx="6657" cy="730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b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数据资源</a:t>
                </a:r>
              </a:p>
            </p:txBody>
          </p:sp>
          <p:sp>
            <p:nvSpPr>
              <p:cNvPr id="59" name="圆角矩形 58">
                <a:extLst>
                  <a:ext uri="{FF2B5EF4-FFF2-40B4-BE49-F238E27FC236}">
                    <a16:creationId xmlns:a16="http://schemas.microsoft.com/office/drawing/2014/main" id="{F692BC5A-7CAD-E649-4E9F-9E53D0F55BF7}"/>
                  </a:ext>
                </a:extLst>
              </p:cNvPr>
              <p:cNvSpPr/>
              <p:nvPr/>
            </p:nvSpPr>
            <p:spPr>
              <a:xfrm>
                <a:off x="11204" y="9044"/>
                <a:ext cx="793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游客数据</a:t>
                </a:r>
              </a:p>
            </p:txBody>
          </p:sp>
          <p:sp>
            <p:nvSpPr>
              <p:cNvPr id="60" name="圆角矩形 59">
                <a:extLst>
                  <a:ext uri="{FF2B5EF4-FFF2-40B4-BE49-F238E27FC236}">
                    <a16:creationId xmlns:a16="http://schemas.microsoft.com/office/drawing/2014/main" id="{FF6AB76F-9871-DC30-B3AE-64D2E47721D6}"/>
                  </a:ext>
                </a:extLst>
              </p:cNvPr>
              <p:cNvSpPr/>
              <p:nvPr/>
            </p:nvSpPr>
            <p:spPr>
              <a:xfrm>
                <a:off x="12040" y="9044"/>
                <a:ext cx="899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员工数据</a:t>
                </a:r>
              </a:p>
            </p:txBody>
          </p:sp>
          <p:sp>
            <p:nvSpPr>
              <p:cNvPr id="61" name="圆角矩形 60">
                <a:extLst>
                  <a:ext uri="{FF2B5EF4-FFF2-40B4-BE49-F238E27FC236}">
                    <a16:creationId xmlns:a16="http://schemas.microsoft.com/office/drawing/2014/main" id="{DFC257F1-3965-BFFB-E74C-FD4EAE2004E1}"/>
                  </a:ext>
                </a:extLst>
              </p:cNvPr>
              <p:cNvSpPr/>
              <p:nvPr/>
            </p:nvSpPr>
            <p:spPr>
              <a:xfrm>
                <a:off x="12982" y="9044"/>
                <a:ext cx="898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资产数据</a:t>
                </a:r>
              </a:p>
            </p:txBody>
          </p:sp>
          <p:sp>
            <p:nvSpPr>
              <p:cNvPr id="62" name="圆角矩形 61">
                <a:extLst>
                  <a:ext uri="{FF2B5EF4-FFF2-40B4-BE49-F238E27FC236}">
                    <a16:creationId xmlns:a16="http://schemas.microsoft.com/office/drawing/2014/main" id="{066BD8A5-DE5B-2AB1-131A-FAB7D139DFDE}"/>
                  </a:ext>
                </a:extLst>
              </p:cNvPr>
              <p:cNvSpPr/>
              <p:nvPr/>
            </p:nvSpPr>
            <p:spPr>
              <a:xfrm>
                <a:off x="13923" y="9044"/>
                <a:ext cx="898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设备数据</a:t>
                </a:r>
              </a:p>
            </p:txBody>
          </p:sp>
          <p:sp>
            <p:nvSpPr>
              <p:cNvPr id="63" name="圆角矩形 62">
                <a:extLst>
                  <a:ext uri="{FF2B5EF4-FFF2-40B4-BE49-F238E27FC236}">
                    <a16:creationId xmlns:a16="http://schemas.microsoft.com/office/drawing/2014/main" id="{AEA0E9C5-2850-E613-360F-6B522A6ACB37}"/>
                  </a:ext>
                </a:extLst>
              </p:cNvPr>
              <p:cNvSpPr/>
              <p:nvPr/>
            </p:nvSpPr>
            <p:spPr>
              <a:xfrm>
                <a:off x="14864" y="9044"/>
                <a:ext cx="898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空间实体</a:t>
                </a:r>
              </a:p>
            </p:txBody>
          </p:sp>
          <p:sp>
            <p:nvSpPr>
              <p:cNvPr id="64" name="圆角矩形 63">
                <a:extLst>
                  <a:ext uri="{FF2B5EF4-FFF2-40B4-BE49-F238E27FC236}">
                    <a16:creationId xmlns:a16="http://schemas.microsoft.com/office/drawing/2014/main" id="{735E397B-D4C6-1567-921F-E8025C79A7B8}"/>
                  </a:ext>
                </a:extLst>
              </p:cNvPr>
              <p:cNvSpPr/>
              <p:nvPr/>
            </p:nvSpPr>
            <p:spPr>
              <a:xfrm>
                <a:off x="15805" y="9044"/>
                <a:ext cx="898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文化数据</a:t>
                </a:r>
              </a:p>
            </p:txBody>
          </p:sp>
          <p:sp>
            <p:nvSpPr>
              <p:cNvPr id="65" name="圆角矩形 64">
                <a:extLst>
                  <a:ext uri="{FF2B5EF4-FFF2-40B4-BE49-F238E27FC236}">
                    <a16:creationId xmlns:a16="http://schemas.microsoft.com/office/drawing/2014/main" id="{EB747770-D6C0-7656-33EA-200B723FD752}"/>
                  </a:ext>
                </a:extLst>
              </p:cNvPr>
              <p:cNvSpPr/>
              <p:nvPr/>
            </p:nvSpPr>
            <p:spPr>
              <a:xfrm>
                <a:off x="16746" y="9044"/>
                <a:ext cx="898" cy="29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7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其他</a:t>
                </a:r>
              </a:p>
            </p:txBody>
          </p:sp>
        </p:grp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AB7F1B84-86A5-B8DA-CB99-A59947941D7D}"/>
              </a:ext>
            </a:extLst>
          </p:cNvPr>
          <p:cNvGrpSpPr/>
          <p:nvPr/>
        </p:nvGrpSpPr>
        <p:grpSpPr>
          <a:xfrm>
            <a:off x="714375" y="5631180"/>
            <a:ext cx="10808335" cy="357505"/>
            <a:chOff x="1970" y="9271"/>
            <a:chExt cx="15542" cy="514"/>
          </a:xfrm>
        </p:grpSpPr>
        <p:sp>
          <p:nvSpPr>
            <p:cNvPr id="75" name="圆角矩形 74">
              <a:extLst>
                <a:ext uri="{FF2B5EF4-FFF2-40B4-BE49-F238E27FC236}">
                  <a16:creationId xmlns:a16="http://schemas.microsoft.com/office/drawing/2014/main" id="{C5D7E90A-F422-F8C0-825E-B0F08523DA0D}"/>
                </a:ext>
              </a:extLst>
            </p:cNvPr>
            <p:cNvSpPr/>
            <p:nvPr/>
          </p:nvSpPr>
          <p:spPr>
            <a:xfrm>
              <a:off x="1970" y="9271"/>
              <a:ext cx="15542" cy="515"/>
            </a:xfrm>
            <a:prstGeom prst="roundRect">
              <a:avLst>
                <a:gd name="adj" fmla="val 6735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lIns="71755" tIns="0" rIns="0" bIns="0" rtlCol="0" anchor="ctr" anchorCtr="0">
              <a:normAutofit/>
            </a:bodyPr>
            <a:lstStyle/>
            <a:p>
              <a:pPr algn="l" fontAlgn="ctr"/>
              <a:r>
                <a:rPr 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云平台</a:t>
              </a:r>
            </a:p>
          </p:txBody>
        </p:sp>
        <p:sp>
          <p:nvSpPr>
            <p:cNvPr id="76" name="圆角矩形 75">
              <a:extLst>
                <a:ext uri="{FF2B5EF4-FFF2-40B4-BE49-F238E27FC236}">
                  <a16:creationId xmlns:a16="http://schemas.microsoft.com/office/drawing/2014/main" id="{DF06C162-B464-3B11-15BE-1268AE8048D1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3130" y="9368"/>
              <a:ext cx="3259" cy="320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X86</a:t>
              </a: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服务器（含云化）</a:t>
              </a:r>
            </a:p>
          </p:txBody>
        </p:sp>
        <p:sp>
          <p:nvSpPr>
            <p:cNvPr id="77" name="圆角矩形 76">
              <a:extLst>
                <a:ext uri="{FF2B5EF4-FFF2-40B4-BE49-F238E27FC236}">
                  <a16:creationId xmlns:a16="http://schemas.microsoft.com/office/drawing/2014/main" id="{FA15F67C-031A-95C2-A3F7-2F797658EA35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953" y="9368"/>
              <a:ext cx="3259" cy="320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存储资源（分布式</a:t>
              </a:r>
              <a:r>
                <a: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云化）</a:t>
              </a:r>
            </a:p>
          </p:txBody>
        </p:sp>
        <p:sp>
          <p:nvSpPr>
            <p:cNvPr id="78" name="圆角矩形 77">
              <a:extLst>
                <a:ext uri="{FF2B5EF4-FFF2-40B4-BE49-F238E27FC236}">
                  <a16:creationId xmlns:a16="http://schemas.microsoft.com/office/drawing/2014/main" id="{D6845BE0-F768-22C7-02BA-8B7746AF5203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776" y="9368"/>
              <a:ext cx="1569" cy="320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网络资源</a:t>
              </a:r>
            </a:p>
          </p:txBody>
        </p:sp>
        <p:sp>
          <p:nvSpPr>
            <p:cNvPr id="79" name="圆角矩形 78">
              <a:extLst>
                <a:ext uri="{FF2B5EF4-FFF2-40B4-BE49-F238E27FC236}">
                  <a16:creationId xmlns:a16="http://schemas.microsoft.com/office/drawing/2014/main" id="{DD87B10C-F57A-CF4B-B538-DDDC22D83E83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909" y="9368"/>
              <a:ext cx="1569" cy="320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容器</a:t>
              </a:r>
            </a:p>
          </p:txBody>
        </p:sp>
        <p:sp>
          <p:nvSpPr>
            <p:cNvPr id="80" name="圆角矩形 79">
              <a:extLst>
                <a:ext uri="{FF2B5EF4-FFF2-40B4-BE49-F238E27FC236}">
                  <a16:creationId xmlns:a16="http://schemas.microsoft.com/office/drawing/2014/main" id="{62795726-7AC7-EA22-B4BB-D18B50B3C1A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5155" y="9368"/>
              <a:ext cx="1569" cy="320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安全服务</a:t>
              </a:r>
            </a:p>
          </p:txBody>
        </p:sp>
      </p:grp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45A0CEB2-AC52-21DE-D2DB-63912DF45D53}"/>
              </a:ext>
            </a:extLst>
          </p:cNvPr>
          <p:cNvSpPr/>
          <p:nvPr/>
        </p:nvSpPr>
        <p:spPr>
          <a:xfrm>
            <a:off x="262890" y="1125220"/>
            <a:ext cx="330835" cy="5274945"/>
          </a:xfrm>
          <a:prstGeom prst="roundRect">
            <a:avLst>
              <a:gd name="adj" fmla="val 6735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eaVert" lIns="0" tIns="0" rIns="0" bIns="0" rtlCol="0" anchor="ctr">
            <a:norm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标准规范体系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7D95097D-A545-FEDD-B25D-5BABD5A9DD3F}"/>
              </a:ext>
            </a:extLst>
          </p:cNvPr>
          <p:cNvGrpSpPr/>
          <p:nvPr/>
        </p:nvGrpSpPr>
        <p:grpSpPr>
          <a:xfrm>
            <a:off x="695325" y="1857375"/>
            <a:ext cx="10819166" cy="1589405"/>
            <a:chOff x="2002" y="2925"/>
            <a:chExt cx="16131" cy="2503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B701BCCB-8E2C-3B90-B9FA-4454D6AA9EA4}"/>
                </a:ext>
              </a:extLst>
            </p:cNvPr>
            <p:cNvGrpSpPr/>
            <p:nvPr/>
          </p:nvGrpSpPr>
          <p:grpSpPr>
            <a:xfrm>
              <a:off x="2002" y="2939"/>
              <a:ext cx="2582" cy="2476"/>
              <a:chOff x="9910" y="2000"/>
              <a:chExt cx="2779" cy="2639"/>
            </a:xfrm>
          </p:grpSpPr>
          <p:sp>
            <p:nvSpPr>
              <p:cNvPr id="112" name="圆角矩形 111">
                <a:extLst>
                  <a:ext uri="{FF2B5EF4-FFF2-40B4-BE49-F238E27FC236}">
                    <a16:creationId xmlns:a16="http://schemas.microsoft.com/office/drawing/2014/main" id="{6D1481C9-EAC8-56A7-99C3-67336DE26C8A}"/>
                  </a:ext>
                </a:extLst>
              </p:cNvPr>
              <p:cNvSpPr/>
              <p:nvPr/>
            </p:nvSpPr>
            <p:spPr>
              <a:xfrm>
                <a:off x="9910" y="2000"/>
                <a:ext cx="2779" cy="2639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36195" rtlCol="0" anchor="b" anchorCtr="0">
                <a:normAutofit/>
              </a:bodyPr>
              <a:lstStyle/>
              <a:p>
                <a:pPr algn="ctr"/>
                <a:r>
                  <a:rPr 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智慧服务</a:t>
                </a:r>
              </a:p>
            </p:txBody>
          </p:sp>
          <p:sp>
            <p:nvSpPr>
              <p:cNvPr id="113" name="圆角矩形 112">
                <a:extLst>
                  <a:ext uri="{FF2B5EF4-FFF2-40B4-BE49-F238E27FC236}">
                    <a16:creationId xmlns:a16="http://schemas.microsoft.com/office/drawing/2014/main" id="{2680C658-5AC8-8538-F15B-338C665BC2DF}"/>
                  </a:ext>
                </a:extLst>
              </p:cNvPr>
              <p:cNvSpPr/>
              <p:nvPr/>
            </p:nvSpPr>
            <p:spPr>
              <a:xfrm>
                <a:off x="10057" y="3306"/>
                <a:ext cx="2334" cy="302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信息发布系统</a:t>
                </a:r>
              </a:p>
            </p:txBody>
          </p:sp>
          <p:sp>
            <p:nvSpPr>
              <p:cNvPr id="114" name="圆角矩形 113">
                <a:extLst>
                  <a:ext uri="{FF2B5EF4-FFF2-40B4-BE49-F238E27FC236}">
                    <a16:creationId xmlns:a16="http://schemas.microsoft.com/office/drawing/2014/main" id="{F913B29A-D982-E53C-BC12-D10E680D587F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10057" y="3697"/>
                <a:ext cx="2332" cy="30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智能</a:t>
                </a:r>
                <a:r>
                  <a:rPr lang="en-US" alt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AI</a:t>
                </a:r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客服系统</a:t>
                </a:r>
              </a:p>
            </p:txBody>
          </p:sp>
          <p:sp>
            <p:nvSpPr>
              <p:cNvPr id="115" name="圆角矩形 114">
                <a:extLst>
                  <a:ext uri="{FF2B5EF4-FFF2-40B4-BE49-F238E27FC236}">
                    <a16:creationId xmlns:a16="http://schemas.microsoft.com/office/drawing/2014/main" id="{358C746E-1F39-41C7-19C6-CF15AFC967C1}"/>
                  </a:ext>
                </a:extLst>
              </p:cNvPr>
              <p:cNvSpPr/>
              <p:nvPr/>
            </p:nvSpPr>
            <p:spPr>
              <a:xfrm>
                <a:off x="10055" y="2524"/>
                <a:ext cx="2326" cy="302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分销系统</a:t>
                </a:r>
              </a:p>
            </p:txBody>
          </p:sp>
          <p:sp>
            <p:nvSpPr>
              <p:cNvPr id="116" name="圆角矩形 115">
                <a:extLst>
                  <a:ext uri="{FF2B5EF4-FFF2-40B4-BE49-F238E27FC236}">
                    <a16:creationId xmlns:a16="http://schemas.microsoft.com/office/drawing/2014/main" id="{B8694A3C-EE28-11A3-C9D4-B9AC3E628989}"/>
                  </a:ext>
                </a:extLst>
              </p:cNvPr>
              <p:cNvSpPr/>
              <p:nvPr/>
            </p:nvSpPr>
            <p:spPr>
              <a:xfrm>
                <a:off x="10056" y="2132"/>
                <a:ext cx="2323" cy="302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票务预约系统</a:t>
                </a:r>
              </a:p>
            </p:txBody>
          </p:sp>
          <p:sp>
            <p:nvSpPr>
              <p:cNvPr id="117" name="圆角矩形 116">
                <a:extLst>
                  <a:ext uri="{FF2B5EF4-FFF2-40B4-BE49-F238E27FC236}">
                    <a16:creationId xmlns:a16="http://schemas.microsoft.com/office/drawing/2014/main" id="{1E17F11C-DFE6-2406-A52A-127A6B4393DB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10056" y="2915"/>
                <a:ext cx="2323" cy="302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导游导览系统</a:t>
                </a:r>
              </a:p>
            </p:txBody>
          </p:sp>
        </p:grpSp>
        <p:sp>
          <p:nvSpPr>
            <p:cNvPr id="84" name="圆角矩形 83">
              <a:extLst>
                <a:ext uri="{FF2B5EF4-FFF2-40B4-BE49-F238E27FC236}">
                  <a16:creationId xmlns:a16="http://schemas.microsoft.com/office/drawing/2014/main" id="{32A2F534-D6A8-DA81-DFD5-095512B9DC86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1363" y="2926"/>
              <a:ext cx="4020" cy="2502"/>
            </a:xfrm>
            <a:prstGeom prst="roundRect">
              <a:avLst>
                <a:gd name="adj" fmla="val 6735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36195" rtlCol="0" anchor="b" anchorCtr="0">
              <a:normAutofit/>
            </a:bodyPr>
            <a:lstStyle/>
            <a:p>
              <a:pPr algn="ctr"/>
              <a:r>
                <a:rPr 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智慧管理</a:t>
              </a: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98563D3A-0865-0749-A8E8-D007ED883CA4}"/>
                </a:ext>
              </a:extLst>
            </p:cNvPr>
            <p:cNvGrpSpPr/>
            <p:nvPr/>
          </p:nvGrpSpPr>
          <p:grpSpPr>
            <a:xfrm>
              <a:off x="11508" y="3056"/>
              <a:ext cx="3734" cy="1777"/>
              <a:chOff x="9972" y="3035"/>
              <a:chExt cx="3734" cy="1397"/>
            </a:xfrm>
          </p:grpSpPr>
          <p:sp>
            <p:nvSpPr>
              <p:cNvPr id="105" name="圆角矩形 104">
                <a:extLst>
                  <a:ext uri="{FF2B5EF4-FFF2-40B4-BE49-F238E27FC236}">
                    <a16:creationId xmlns:a16="http://schemas.microsoft.com/office/drawing/2014/main" id="{5307321A-C10A-A35B-FCA1-7CA73081BC9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9972" y="3035"/>
                <a:ext cx="1790" cy="280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客流监测系统</a:t>
                </a:r>
              </a:p>
            </p:txBody>
          </p:sp>
          <p:sp>
            <p:nvSpPr>
              <p:cNvPr id="106" name="圆角矩形 105">
                <a:extLst>
                  <a:ext uri="{FF2B5EF4-FFF2-40B4-BE49-F238E27FC236}">
                    <a16:creationId xmlns:a16="http://schemas.microsoft.com/office/drawing/2014/main" id="{1FA28883-856B-0CC5-62F2-1C68FC08699A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9972" y="3407"/>
                <a:ext cx="1790" cy="280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应急调度系统</a:t>
                </a:r>
              </a:p>
            </p:txBody>
          </p:sp>
          <p:sp>
            <p:nvSpPr>
              <p:cNvPr id="107" name="圆角矩形 106">
                <a:extLst>
                  <a:ext uri="{FF2B5EF4-FFF2-40B4-BE49-F238E27FC236}">
                    <a16:creationId xmlns:a16="http://schemas.microsoft.com/office/drawing/2014/main" id="{E2BE67C3-471F-750C-04C1-EE8F09BF90CE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9972" y="3779"/>
                <a:ext cx="1790" cy="280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运行监测系统</a:t>
                </a:r>
              </a:p>
            </p:txBody>
          </p:sp>
          <p:sp>
            <p:nvSpPr>
              <p:cNvPr id="108" name="圆角矩形 107">
                <a:extLst>
                  <a:ext uri="{FF2B5EF4-FFF2-40B4-BE49-F238E27FC236}">
                    <a16:creationId xmlns:a16="http://schemas.microsoft.com/office/drawing/2014/main" id="{2E717C83-C87D-0CEA-33EC-0D31FD7A24C5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11916" y="3035"/>
                <a:ext cx="1790" cy="280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安全管理系统</a:t>
                </a:r>
              </a:p>
            </p:txBody>
          </p:sp>
          <p:sp>
            <p:nvSpPr>
              <p:cNvPr id="109" name="圆角矩形 108">
                <a:extLst>
                  <a:ext uri="{FF2B5EF4-FFF2-40B4-BE49-F238E27FC236}">
                    <a16:creationId xmlns:a16="http://schemas.microsoft.com/office/drawing/2014/main" id="{7218B098-25A0-AD02-9ED4-2759D24672E0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11916" y="3407"/>
                <a:ext cx="1790" cy="280"/>
              </a:xfrm>
              <a:prstGeom prst="roundRect">
                <a:avLst>
                  <a:gd name="adj" fmla="val 6735"/>
                </a:avLst>
              </a:prstGeom>
              <a:solidFill>
                <a:schemeClr val="accent1"/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智慧厕所系统</a:t>
                </a:r>
              </a:p>
            </p:txBody>
          </p:sp>
          <p:sp>
            <p:nvSpPr>
              <p:cNvPr id="110" name="圆角矩形 109">
                <a:extLst>
                  <a:ext uri="{FF2B5EF4-FFF2-40B4-BE49-F238E27FC236}">
                    <a16:creationId xmlns:a16="http://schemas.microsoft.com/office/drawing/2014/main" id="{E1100BFE-D959-86A6-E7AB-CF5F6A7FA693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11916" y="3779"/>
                <a:ext cx="1790" cy="280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车辆管理系统</a:t>
                </a:r>
              </a:p>
            </p:txBody>
          </p:sp>
          <p:sp>
            <p:nvSpPr>
              <p:cNvPr id="111" name="圆角矩形 110">
                <a:extLst>
                  <a:ext uri="{FF2B5EF4-FFF2-40B4-BE49-F238E27FC236}">
                    <a16:creationId xmlns:a16="http://schemas.microsoft.com/office/drawing/2014/main" id="{E82A62B5-A108-2F91-11DE-1059475B3C04}"/>
                  </a:ext>
                </a:extLst>
              </p:cNvPr>
              <p:cNvSpPr/>
              <p:nvPr/>
            </p:nvSpPr>
            <p:spPr>
              <a:xfrm>
                <a:off x="11916" y="4153"/>
                <a:ext cx="1790" cy="279"/>
              </a:xfrm>
              <a:prstGeom prst="roundRect">
                <a:avLst>
                  <a:gd name="adj" fmla="val 6735"/>
                </a:avLst>
              </a:prstGeom>
              <a:solidFill>
                <a:schemeClr val="accent1"/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数据资源管理系统</a:t>
                </a:r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23012620-7F4B-CA28-AACF-24B57BAA64D1}"/>
                </a:ext>
              </a:extLst>
            </p:cNvPr>
            <p:cNvGrpSpPr/>
            <p:nvPr/>
          </p:nvGrpSpPr>
          <p:grpSpPr>
            <a:xfrm>
              <a:off x="15590" y="2925"/>
              <a:ext cx="2543" cy="2489"/>
              <a:chOff x="2584" y="2902"/>
              <a:chExt cx="2543" cy="2489"/>
            </a:xfrm>
          </p:grpSpPr>
          <p:sp>
            <p:nvSpPr>
              <p:cNvPr id="101" name="圆角矩形 100">
                <a:extLst>
                  <a:ext uri="{FF2B5EF4-FFF2-40B4-BE49-F238E27FC236}">
                    <a16:creationId xmlns:a16="http://schemas.microsoft.com/office/drawing/2014/main" id="{5EB10754-BF4B-ABEE-41C7-07FE2B4F25CC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2584" y="2902"/>
                <a:ext cx="2543" cy="2489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36195" rtlCol="0" anchor="b" anchorCtr="0">
                <a:normAutofit/>
              </a:bodyPr>
              <a:lstStyle/>
              <a:p>
                <a:pPr algn="ctr"/>
                <a:r>
                  <a:rPr 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智慧办公</a:t>
                </a:r>
              </a:p>
            </p:txBody>
          </p:sp>
          <p:sp>
            <p:nvSpPr>
              <p:cNvPr id="102" name="圆角矩形 101">
                <a:extLst>
                  <a:ext uri="{FF2B5EF4-FFF2-40B4-BE49-F238E27FC236}">
                    <a16:creationId xmlns:a16="http://schemas.microsoft.com/office/drawing/2014/main" id="{779EAA1A-7460-7B6F-26F6-3173A39CF485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2732" y="3033"/>
                <a:ext cx="2159" cy="432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智慧景区</a:t>
                </a:r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办公系统</a:t>
                </a:r>
              </a:p>
            </p:txBody>
          </p:sp>
          <p:sp>
            <p:nvSpPr>
              <p:cNvPr id="103" name="圆角矩形 102">
                <a:extLst>
                  <a:ext uri="{FF2B5EF4-FFF2-40B4-BE49-F238E27FC236}">
                    <a16:creationId xmlns:a16="http://schemas.microsoft.com/office/drawing/2014/main" id="{76BE5DF5-6712-BEE1-41B5-FE38C65DAAE0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2732" y="3620"/>
                <a:ext cx="2157" cy="380"/>
              </a:xfrm>
              <a:prstGeom prst="roundRect">
                <a:avLst>
                  <a:gd name="adj" fmla="val 6735"/>
                </a:avLst>
              </a:prstGeom>
              <a:solidFill>
                <a:schemeClr val="accent1"/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智慧景区</a:t>
                </a:r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项目管理系统</a:t>
                </a:r>
              </a:p>
            </p:txBody>
          </p:sp>
          <p:sp>
            <p:nvSpPr>
              <p:cNvPr id="104" name="圆角矩形 103">
                <a:extLst>
                  <a:ext uri="{FF2B5EF4-FFF2-40B4-BE49-F238E27FC236}">
                    <a16:creationId xmlns:a16="http://schemas.microsoft.com/office/drawing/2014/main" id="{C7C05594-C4D5-D194-0665-083E2CB528F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2732" y="4130"/>
                <a:ext cx="2159" cy="395"/>
              </a:xfrm>
              <a:prstGeom prst="roundRect">
                <a:avLst>
                  <a:gd name="adj" fmla="val 6735"/>
                </a:avLst>
              </a:prstGeom>
              <a:solidFill>
                <a:schemeClr val="accent1"/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智慧景区</a:t>
                </a:r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智能会议系统</a:t>
                </a:r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5156C0E4-1E0A-3BC6-7435-8419E643BB85}"/>
                </a:ext>
              </a:extLst>
            </p:cNvPr>
            <p:cNvGrpSpPr/>
            <p:nvPr/>
          </p:nvGrpSpPr>
          <p:grpSpPr>
            <a:xfrm>
              <a:off x="7105" y="2938"/>
              <a:ext cx="4020" cy="2490"/>
              <a:chOff x="3476" y="2905"/>
              <a:chExt cx="4020" cy="2490"/>
            </a:xfrm>
          </p:grpSpPr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E6F23D31-4FE3-7129-7A68-32A28DDF30E5}"/>
                  </a:ext>
                </a:extLst>
              </p:cNvPr>
              <p:cNvGrpSpPr/>
              <p:nvPr/>
            </p:nvGrpSpPr>
            <p:grpSpPr>
              <a:xfrm>
                <a:off x="3476" y="2905"/>
                <a:ext cx="4020" cy="2490"/>
                <a:chOff x="5915" y="2000"/>
                <a:chExt cx="3708" cy="2653"/>
              </a:xfrm>
            </p:grpSpPr>
            <p:sp>
              <p:nvSpPr>
                <p:cNvPr id="95" name="圆角矩形 94">
                  <a:extLst>
                    <a:ext uri="{FF2B5EF4-FFF2-40B4-BE49-F238E27FC236}">
                      <a16:creationId xmlns:a16="http://schemas.microsoft.com/office/drawing/2014/main" id="{B913FC01-8B90-335C-C59B-3CB8E1263E7C}"/>
                    </a:ext>
                  </a:extLst>
                </p:cNvPr>
                <p:cNvSpPr/>
                <p:nvPr/>
              </p:nvSpPr>
              <p:spPr>
                <a:xfrm>
                  <a:off x="5915" y="2000"/>
                  <a:ext cx="3708" cy="2653"/>
                </a:xfrm>
                <a:prstGeom prst="roundRect">
                  <a:avLst>
                    <a:gd name="adj" fmla="val 6735"/>
                  </a:avLst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36195" rtlCol="0" anchor="b" anchorCtr="0">
                  <a:normAutofit/>
                </a:bodyPr>
                <a:lstStyle/>
                <a:p>
                  <a:pPr algn="ctr"/>
                  <a:r>
                    <a:rPr lang="zh-CN" sz="10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智慧营销</a:t>
                  </a:r>
                </a:p>
              </p:txBody>
            </p:sp>
            <p:sp>
              <p:nvSpPr>
                <p:cNvPr id="96" name="圆角矩形 95">
                  <a:extLst>
                    <a:ext uri="{FF2B5EF4-FFF2-40B4-BE49-F238E27FC236}">
                      <a16:creationId xmlns:a16="http://schemas.microsoft.com/office/drawing/2014/main" id="{1FC438AB-F37A-B53F-EF7D-30999050768C}"/>
                    </a:ext>
                  </a:extLst>
                </p:cNvPr>
                <p:cNvSpPr/>
                <p:nvPr/>
              </p:nvSpPr>
              <p:spPr>
                <a:xfrm>
                  <a:off x="6048" y="2271"/>
                  <a:ext cx="1651" cy="397"/>
                </a:xfrm>
                <a:prstGeom prst="roundRect">
                  <a:avLst>
                    <a:gd name="adj" fmla="val 6735"/>
                  </a:avLst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 anchorCtr="0">
                  <a:normAutofit/>
                </a:bodyPr>
                <a:lstStyle/>
                <a:p>
                  <a:pPr algn="ctr"/>
                  <a:r>
                    <a:rPr lang="zh-CN" sz="9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多媒体分发系统</a:t>
                  </a:r>
                </a:p>
              </p:txBody>
            </p:sp>
            <p:sp>
              <p:nvSpPr>
                <p:cNvPr id="97" name="圆角矩形 96">
                  <a:extLst>
                    <a:ext uri="{FF2B5EF4-FFF2-40B4-BE49-F238E27FC236}">
                      <a16:creationId xmlns:a16="http://schemas.microsoft.com/office/drawing/2014/main" id="{E220C6C3-1BDE-0BA0-2586-721DD8D485C9}"/>
                    </a:ext>
                  </a:extLst>
                </p:cNvPr>
                <p:cNvSpPr/>
                <p:nvPr/>
              </p:nvSpPr>
              <p:spPr>
                <a:xfrm>
                  <a:off x="6048" y="3604"/>
                  <a:ext cx="1651" cy="397"/>
                </a:xfrm>
                <a:prstGeom prst="roundRect">
                  <a:avLst>
                    <a:gd name="adj" fmla="val 6735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 anchorCtr="0">
                  <a:normAutofit/>
                </a:bodyPr>
                <a:lstStyle/>
                <a:p>
                  <a:pPr algn="ctr"/>
                  <a:r>
                    <a:rPr lang="zh-CN" sz="9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舆情监测系统</a:t>
                  </a:r>
                </a:p>
              </p:txBody>
            </p:sp>
            <p:sp>
              <p:nvSpPr>
                <p:cNvPr id="98" name="圆角矩形 97">
                  <a:extLst>
                    <a:ext uri="{FF2B5EF4-FFF2-40B4-BE49-F238E27FC236}">
                      <a16:creationId xmlns:a16="http://schemas.microsoft.com/office/drawing/2014/main" id="{1A73DDBC-939B-8A97-2AE4-8BBE5FBC3D77}"/>
                    </a:ext>
                  </a:extLst>
                </p:cNvPr>
                <p:cNvSpPr/>
                <p:nvPr/>
              </p:nvSpPr>
              <p:spPr>
                <a:xfrm>
                  <a:off x="7841" y="2271"/>
                  <a:ext cx="1651" cy="397"/>
                </a:xfrm>
                <a:prstGeom prst="roundRect">
                  <a:avLst>
                    <a:gd name="adj" fmla="val 6735"/>
                  </a:avLst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 anchorCtr="0">
                  <a:normAutofit/>
                </a:bodyPr>
                <a:lstStyle/>
                <a:p>
                  <a:pPr algn="ctr"/>
                  <a:r>
                    <a:rPr lang="zh-CN" sz="9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优惠券系统</a:t>
                  </a:r>
                </a:p>
              </p:txBody>
            </p:sp>
            <p:sp>
              <p:nvSpPr>
                <p:cNvPr id="99" name="圆角矩形 98">
                  <a:extLst>
                    <a:ext uri="{FF2B5EF4-FFF2-40B4-BE49-F238E27FC236}">
                      <a16:creationId xmlns:a16="http://schemas.microsoft.com/office/drawing/2014/main" id="{D8784339-9223-EA34-10BA-A1E40C53B99D}"/>
                    </a:ext>
                  </a:extLst>
                </p:cNvPr>
                <p:cNvSpPr/>
                <p:nvPr/>
              </p:nvSpPr>
              <p:spPr>
                <a:xfrm>
                  <a:off x="7841" y="2729"/>
                  <a:ext cx="1651" cy="397"/>
                </a:xfrm>
                <a:prstGeom prst="roundRect">
                  <a:avLst>
                    <a:gd name="adj" fmla="val 6735"/>
                  </a:avLst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 anchorCtr="0">
                  <a:normAutofit/>
                </a:bodyPr>
                <a:lstStyle/>
                <a:p>
                  <a:pPr algn="ctr"/>
                  <a:r>
                    <a:rPr lang="zh-CN" sz="9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会员管理系统</a:t>
                  </a:r>
                </a:p>
              </p:txBody>
            </p:sp>
            <p:sp>
              <p:nvSpPr>
                <p:cNvPr id="100" name="圆角矩形 99">
                  <a:extLst>
                    <a:ext uri="{FF2B5EF4-FFF2-40B4-BE49-F238E27FC236}">
                      <a16:creationId xmlns:a16="http://schemas.microsoft.com/office/drawing/2014/main" id="{61625382-A733-9474-562F-78217A123F1A}"/>
                    </a:ext>
                  </a:extLst>
                </p:cNvPr>
                <p:cNvSpPr/>
                <p:nvPr/>
              </p:nvSpPr>
              <p:spPr>
                <a:xfrm>
                  <a:off x="7841" y="3185"/>
                  <a:ext cx="1651" cy="397"/>
                </a:xfrm>
                <a:prstGeom prst="roundRect">
                  <a:avLst>
                    <a:gd name="adj" fmla="val 6735"/>
                  </a:avLst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 anchorCtr="0">
                  <a:normAutofit/>
                </a:bodyPr>
                <a:lstStyle/>
                <a:p>
                  <a:pPr algn="ctr"/>
                  <a:r>
                    <a:rPr lang="zh-CN" sz="9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大数据分析系统</a:t>
                  </a:r>
                </a:p>
              </p:txBody>
            </p:sp>
          </p:grpSp>
          <p:sp>
            <p:nvSpPr>
              <p:cNvPr id="93" name="圆角矩形 92">
                <a:extLst>
                  <a:ext uri="{FF2B5EF4-FFF2-40B4-BE49-F238E27FC236}">
                    <a16:creationId xmlns:a16="http://schemas.microsoft.com/office/drawing/2014/main" id="{2C3A8E40-8DA3-D056-F312-8D080BD4985A}"/>
                  </a:ext>
                </a:extLst>
              </p:cNvPr>
              <p:cNvSpPr/>
              <p:nvPr/>
            </p:nvSpPr>
            <p:spPr>
              <a:xfrm>
                <a:off x="3620" y="4009"/>
                <a:ext cx="1790" cy="337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特产商城系统</a:t>
                </a:r>
              </a:p>
            </p:txBody>
          </p:sp>
          <p:sp>
            <p:nvSpPr>
              <p:cNvPr id="94" name="圆角矩形 93">
                <a:extLst>
                  <a:ext uri="{FF2B5EF4-FFF2-40B4-BE49-F238E27FC236}">
                    <a16:creationId xmlns:a16="http://schemas.microsoft.com/office/drawing/2014/main" id="{4C384DED-5FBA-BEEF-18A4-18881036BCFF}"/>
                  </a:ext>
                </a:extLst>
              </p:cNvPr>
              <p:cNvSpPr/>
              <p:nvPr/>
            </p:nvSpPr>
            <p:spPr>
              <a:xfrm>
                <a:off x="3620" y="3589"/>
                <a:ext cx="1790" cy="337"/>
              </a:xfrm>
              <a:prstGeom prst="roundRect">
                <a:avLst>
                  <a:gd name="adj" fmla="val 673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景区营销管控平台</a:t>
                </a:r>
              </a:p>
            </p:txBody>
          </p:sp>
        </p:grp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1909EF20-E226-42FE-1CE7-A93FCB846535}"/>
                </a:ext>
              </a:extLst>
            </p:cNvPr>
            <p:cNvGrpSpPr/>
            <p:nvPr/>
          </p:nvGrpSpPr>
          <p:grpSpPr>
            <a:xfrm>
              <a:off x="4815" y="2966"/>
              <a:ext cx="2063" cy="2462"/>
              <a:chOff x="14999" y="-657"/>
              <a:chExt cx="1691" cy="2415"/>
            </a:xfrm>
          </p:grpSpPr>
          <p:sp>
            <p:nvSpPr>
              <p:cNvPr id="89" name="圆角矩形 88">
                <a:extLst>
                  <a:ext uri="{FF2B5EF4-FFF2-40B4-BE49-F238E27FC236}">
                    <a16:creationId xmlns:a16="http://schemas.microsoft.com/office/drawing/2014/main" id="{3305AAF3-B006-35B9-4388-666934D27217}"/>
                  </a:ext>
                </a:extLst>
              </p:cNvPr>
              <p:cNvSpPr/>
              <p:nvPr/>
            </p:nvSpPr>
            <p:spPr>
              <a:xfrm>
                <a:off x="14999" y="-657"/>
                <a:ext cx="1691" cy="2415"/>
              </a:xfrm>
              <a:prstGeom prst="roundRect">
                <a:avLst>
                  <a:gd name="adj" fmla="val 6735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36195" rtlCol="0" anchor="b" anchorCtr="0">
                <a:normAutofit/>
              </a:bodyPr>
              <a:lstStyle/>
              <a:p>
                <a:pPr algn="ctr"/>
                <a:r>
                  <a:rPr 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智慧体验</a:t>
                </a:r>
              </a:p>
            </p:txBody>
          </p:sp>
          <p:sp>
            <p:nvSpPr>
              <p:cNvPr id="90" name="圆角矩形 89">
                <a:extLst>
                  <a:ext uri="{FF2B5EF4-FFF2-40B4-BE49-F238E27FC236}">
                    <a16:creationId xmlns:a16="http://schemas.microsoft.com/office/drawing/2014/main" id="{9ABF9E69-7FC1-579F-4780-F64123D5E411}"/>
                  </a:ext>
                </a:extLst>
              </p:cNvPr>
              <p:cNvSpPr/>
              <p:nvPr/>
            </p:nvSpPr>
            <p:spPr>
              <a:xfrm>
                <a:off x="15073" y="-14"/>
                <a:ext cx="1515" cy="301"/>
              </a:xfrm>
              <a:prstGeom prst="roundRect">
                <a:avLst>
                  <a:gd name="adj" fmla="val 6735"/>
                </a:avLst>
              </a:prstGeom>
              <a:solidFill>
                <a:schemeClr val="accent1"/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zh-CN" altLang="en-US" sz="900">
                    <a:ln>
                      <a:noFill/>
                    </a:ln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虚拟现实平台</a:t>
                </a:r>
                <a:endPara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91" name="圆角矩形 90">
                <a:extLst>
                  <a:ext uri="{FF2B5EF4-FFF2-40B4-BE49-F238E27FC236}">
                    <a16:creationId xmlns:a16="http://schemas.microsoft.com/office/drawing/2014/main" id="{88DB8816-8A2B-1744-FE13-D016372076A1}"/>
                  </a:ext>
                </a:extLst>
              </p:cNvPr>
              <p:cNvSpPr/>
              <p:nvPr/>
            </p:nvSpPr>
            <p:spPr>
              <a:xfrm>
                <a:off x="15074" y="-506"/>
                <a:ext cx="1513" cy="301"/>
              </a:xfrm>
              <a:prstGeom prst="roundRect">
                <a:avLst>
                  <a:gd name="adj" fmla="val 6735"/>
                </a:avLst>
              </a:prstGeom>
              <a:solidFill>
                <a:schemeClr val="accent1"/>
              </a:solid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 anchorCtr="0">
                <a:normAutofit/>
              </a:bodyPr>
              <a:lstStyle/>
              <a:p>
                <a:pPr algn="ctr"/>
                <a:r>
                  <a:rPr lang="en-US" altLang="zh-CN" sz="900">
                    <a:ln>
                      <a:noFill/>
                    </a:ln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VR/3D</a:t>
                </a:r>
                <a:r>
                  <a:rPr lang="zh-CN" altLang="en-US" sz="900">
                    <a:ln>
                      <a:noFill/>
                    </a:ln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管理平台</a:t>
                </a:r>
                <a:endPara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DC4D25B2-935C-623A-C158-25915CAE5E5C}"/>
              </a:ext>
            </a:extLst>
          </p:cNvPr>
          <p:cNvGrpSpPr/>
          <p:nvPr/>
        </p:nvGrpSpPr>
        <p:grpSpPr>
          <a:xfrm>
            <a:off x="706755" y="1151255"/>
            <a:ext cx="10824845" cy="593090"/>
            <a:chOff x="2002" y="1813"/>
            <a:chExt cx="16158" cy="934"/>
          </a:xfrm>
        </p:grpSpPr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9235B304-E2AE-D4C1-935F-B9B26BEADC89}"/>
                </a:ext>
              </a:extLst>
            </p:cNvPr>
            <p:cNvGrpSpPr/>
            <p:nvPr/>
          </p:nvGrpSpPr>
          <p:grpSpPr>
            <a:xfrm>
              <a:off x="7330" y="1813"/>
              <a:ext cx="10831" cy="935"/>
              <a:chOff x="8353" y="1771"/>
              <a:chExt cx="5216" cy="935"/>
            </a:xfrm>
          </p:grpSpPr>
          <p:sp>
            <p:nvSpPr>
              <p:cNvPr id="123" name="圆角矩形 122">
                <a:extLst>
                  <a:ext uri="{FF2B5EF4-FFF2-40B4-BE49-F238E27FC236}">
                    <a16:creationId xmlns:a16="http://schemas.microsoft.com/office/drawing/2014/main" id="{BAD25019-49E1-6465-9976-FD69634A2EFE}"/>
                  </a:ext>
                </a:extLst>
              </p:cNvPr>
              <p:cNvSpPr/>
              <p:nvPr/>
            </p:nvSpPr>
            <p:spPr>
              <a:xfrm>
                <a:off x="10951" y="1771"/>
                <a:ext cx="2618" cy="934"/>
              </a:xfrm>
              <a:prstGeom prst="roundRect">
                <a:avLst>
                  <a:gd name="adj" fmla="val 6735"/>
                </a:avLst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36195" rtlCol="0" anchor="b" anchorCtr="0">
                <a:normAutofit/>
              </a:bodyPr>
              <a:lstStyle/>
              <a:p>
                <a:pPr algn="ctr"/>
                <a:r>
                  <a:rPr lang="zh-CN" altLang="en-US" sz="10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面向游客</a:t>
                </a:r>
              </a:p>
            </p:txBody>
          </p: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37424EB9-C23E-AE4A-1C0E-8A1F74DAFF4E}"/>
                  </a:ext>
                </a:extLst>
              </p:cNvPr>
              <p:cNvGrpSpPr/>
              <p:nvPr/>
            </p:nvGrpSpPr>
            <p:grpSpPr>
              <a:xfrm>
                <a:off x="8353" y="1772"/>
                <a:ext cx="2451" cy="934"/>
                <a:chOff x="12654" y="294"/>
                <a:chExt cx="2261" cy="995"/>
              </a:xfrm>
            </p:grpSpPr>
            <p:sp>
              <p:nvSpPr>
                <p:cNvPr id="126" name="圆角矩形 125">
                  <a:extLst>
                    <a:ext uri="{FF2B5EF4-FFF2-40B4-BE49-F238E27FC236}">
                      <a16:creationId xmlns:a16="http://schemas.microsoft.com/office/drawing/2014/main" id="{B29BF965-A6D3-A568-5060-BD8FE6581759}"/>
                    </a:ext>
                  </a:extLst>
                </p:cNvPr>
                <p:cNvSpPr/>
                <p:nvPr/>
              </p:nvSpPr>
              <p:spPr>
                <a:xfrm>
                  <a:off x="12654" y="294"/>
                  <a:ext cx="2261" cy="995"/>
                </a:xfrm>
                <a:prstGeom prst="roundRect">
                  <a:avLst>
                    <a:gd name="adj" fmla="val 6735"/>
                  </a:avLst>
                </a:prstGeom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36195" rtlCol="0" anchor="b" anchorCtr="0">
                  <a:normAutofit/>
                </a:bodyPr>
                <a:lstStyle/>
                <a:p>
                  <a:pPr algn="ctr"/>
                  <a:r>
                    <a:rPr lang="zh-CN" altLang="en-US" sz="10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面向景区</a:t>
                  </a:r>
                </a:p>
              </p:txBody>
            </p:sp>
            <p:sp>
              <p:nvSpPr>
                <p:cNvPr id="127" name="TextBox 30">
                  <a:extLst>
                    <a:ext uri="{FF2B5EF4-FFF2-40B4-BE49-F238E27FC236}">
                      <a16:creationId xmlns:a16="http://schemas.microsoft.com/office/drawing/2014/main" id="{B710F006-AD6D-8AB8-2C79-B625159DB58D}"/>
                    </a:ext>
                  </a:extLst>
                </p:cNvPr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12655" y="368"/>
                  <a:ext cx="2194" cy="698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square" rtlCol="0">
                  <a:normAutofit/>
                </a:bodyPr>
                <a:lstStyle/>
                <a:p>
                  <a:pPr algn="just">
                    <a:lnSpc>
                      <a:spcPct val="100000"/>
                    </a:lnSpc>
                  </a:pPr>
                  <a:r>
                    <a:rPr lang="zh-CN" altLang="zh-CN" sz="9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提供智慧景区服务，降低智慧景区建设成本，提供专业化的运维管理服务支撑平台，提升景区管理与游客体验水平</a:t>
                  </a:r>
                </a:p>
              </p:txBody>
            </p:sp>
          </p:grpSp>
          <p:sp>
            <p:nvSpPr>
              <p:cNvPr id="125" name="TextBox 30">
                <a:extLst>
                  <a:ext uri="{FF2B5EF4-FFF2-40B4-BE49-F238E27FC236}">
                    <a16:creationId xmlns:a16="http://schemas.microsoft.com/office/drawing/2014/main" id="{3CEA1DA1-974C-D540-D532-1717D3121A2D}"/>
                  </a:ext>
                </a:extLst>
              </p:cNvPr>
              <p:cNvSpPr txBox="1"/>
              <p:nvPr/>
            </p:nvSpPr>
            <p:spPr>
              <a:xfrm>
                <a:off x="10969" y="1833"/>
                <a:ext cx="2539" cy="61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normAutofit/>
              </a:bodyPr>
              <a:lstStyle/>
              <a:p>
                <a:pPr algn="just">
                  <a:lnSpc>
                    <a:spcPct val="100000"/>
                  </a:lnSpc>
                  <a:defRPr/>
                </a:pPr>
                <a:r>
                  <a:rPr lang="zh-CN" altLang="zh-CN" sz="9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一站式体验景区优质服务，满足出行中所有场景，解决出行中的所有诉求及痛点，让出行愉快。</a:t>
                </a:r>
              </a:p>
            </p:txBody>
          </p: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D4C6AE3B-DDBF-78FC-7981-D4E9DDA5AD24}"/>
                </a:ext>
              </a:extLst>
            </p:cNvPr>
            <p:cNvGrpSpPr/>
            <p:nvPr/>
          </p:nvGrpSpPr>
          <p:grpSpPr>
            <a:xfrm>
              <a:off x="2002" y="1813"/>
              <a:ext cx="5090" cy="934"/>
              <a:chOff x="1170" y="1823"/>
              <a:chExt cx="5090" cy="934"/>
            </a:xfrm>
          </p:grpSpPr>
          <p:sp>
            <p:nvSpPr>
              <p:cNvPr id="121" name="圆角矩形 120">
                <a:extLst>
                  <a:ext uri="{FF2B5EF4-FFF2-40B4-BE49-F238E27FC236}">
                    <a16:creationId xmlns:a16="http://schemas.microsoft.com/office/drawing/2014/main" id="{726B44FE-6D4E-055C-69AA-D70323F5F60E}"/>
                  </a:ext>
                </a:extLst>
              </p:cNvPr>
              <p:cNvSpPr/>
              <p:nvPr/>
            </p:nvSpPr>
            <p:spPr>
              <a:xfrm>
                <a:off x="1170" y="1823"/>
                <a:ext cx="5090" cy="934"/>
              </a:xfrm>
              <a:prstGeom prst="roundRect">
                <a:avLst>
                  <a:gd name="adj" fmla="val 6735"/>
                </a:avLst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36195" rtlCol="0" anchor="b" anchorCtr="0">
                <a:normAutofit/>
              </a:bodyPr>
              <a:lstStyle/>
              <a:p>
                <a:pPr algn="ctr"/>
                <a:r>
                  <a:rPr lang="zh-CN" altLang="en-US" sz="10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面向政府</a:t>
                </a:r>
              </a:p>
            </p:txBody>
          </p:sp>
          <p:sp>
            <p:nvSpPr>
              <p:cNvPr id="122" name="TextBox 30">
                <a:extLst>
                  <a:ext uri="{FF2B5EF4-FFF2-40B4-BE49-F238E27FC236}">
                    <a16:creationId xmlns:a16="http://schemas.microsoft.com/office/drawing/2014/main" id="{E6854C36-B229-237D-3677-ED3E260B5D38}"/>
                  </a:ext>
                </a:extLst>
              </p:cNvPr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208" y="1884"/>
                <a:ext cx="4939" cy="65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zh-CN" altLang="zh-CN" sz="9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构建景区智慧大脑，搭建数据中心，增强监管水平，为景区，客人提供更优质的服务</a:t>
                </a: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9B5F4480-3FED-34FD-0EB0-0C4243F5B2D3}"/>
              </a:ext>
            </a:extLst>
          </p:cNvPr>
          <p:cNvGrpSpPr/>
          <p:nvPr/>
        </p:nvGrpSpPr>
        <p:grpSpPr>
          <a:xfrm>
            <a:off x="302895" y="417830"/>
            <a:ext cx="901700" cy="306070"/>
            <a:chOff x="828" y="271"/>
            <a:chExt cx="1420" cy="482"/>
          </a:xfrm>
        </p:grpSpPr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D359772D-61B5-EADA-FC8A-D43C30692A8F}"/>
                </a:ext>
              </a:extLst>
            </p:cNvPr>
            <p:cNvSpPr txBox="1"/>
            <p:nvPr/>
          </p:nvSpPr>
          <p:spPr>
            <a:xfrm>
              <a:off x="828" y="271"/>
              <a:ext cx="11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初级</a:t>
              </a:r>
            </a:p>
          </p:txBody>
        </p:sp>
        <p:sp>
          <p:nvSpPr>
            <p:cNvPr id="130" name="圆角矩形 129">
              <a:extLst>
                <a:ext uri="{FF2B5EF4-FFF2-40B4-BE49-F238E27FC236}">
                  <a16:creationId xmlns:a16="http://schemas.microsoft.com/office/drawing/2014/main" id="{CAB057DF-D3E3-6BB0-303C-9521CB780D07}"/>
                </a:ext>
              </a:extLst>
            </p:cNvPr>
            <p:cNvSpPr/>
            <p:nvPr/>
          </p:nvSpPr>
          <p:spPr>
            <a:xfrm>
              <a:off x="1700" y="389"/>
              <a:ext cx="549" cy="247"/>
            </a:xfrm>
            <a:prstGeom prst="roundRect">
              <a:avLst>
                <a:gd name="adj" fmla="val 6735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 anchorCtr="0">
              <a:normAutofit/>
            </a:bodyPr>
            <a:lstStyle/>
            <a:p>
              <a:pPr algn="ctr"/>
              <a:endPara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C450ED8A-2535-ED42-1553-D27E09D333C7}"/>
              </a:ext>
            </a:extLst>
          </p:cNvPr>
          <p:cNvGrpSpPr/>
          <p:nvPr/>
        </p:nvGrpSpPr>
        <p:grpSpPr>
          <a:xfrm>
            <a:off x="1446530" y="417830"/>
            <a:ext cx="901700" cy="306070"/>
            <a:chOff x="2950" y="271"/>
            <a:chExt cx="1420" cy="482"/>
          </a:xfrm>
        </p:grpSpPr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C5CD073D-B303-E220-0989-92B3AFE29316}"/>
                </a:ext>
              </a:extLst>
            </p:cNvPr>
            <p:cNvSpPr txBox="1"/>
            <p:nvPr/>
          </p:nvSpPr>
          <p:spPr>
            <a:xfrm>
              <a:off x="2950" y="271"/>
              <a:ext cx="11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中级</a:t>
              </a:r>
            </a:p>
          </p:txBody>
        </p:sp>
        <p:sp>
          <p:nvSpPr>
            <p:cNvPr id="133" name="圆角矩形 132">
              <a:extLst>
                <a:ext uri="{FF2B5EF4-FFF2-40B4-BE49-F238E27FC236}">
                  <a16:creationId xmlns:a16="http://schemas.microsoft.com/office/drawing/2014/main" id="{D4D6D265-21FE-AE6E-F442-D8BACFA8F1E6}"/>
                </a:ext>
              </a:extLst>
            </p:cNvPr>
            <p:cNvSpPr/>
            <p:nvPr/>
          </p:nvSpPr>
          <p:spPr>
            <a:xfrm>
              <a:off x="3822" y="389"/>
              <a:ext cx="549" cy="247"/>
            </a:xfrm>
            <a:prstGeom prst="roundRect">
              <a:avLst>
                <a:gd name="adj" fmla="val 6735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rmAutofit/>
            </a:bodyPr>
            <a:lstStyle/>
            <a:p>
              <a:pPr algn="ctr"/>
              <a:endPara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47F2F4E1-E11A-BA2F-C6E4-D9E7AA0A7A43}"/>
              </a:ext>
            </a:extLst>
          </p:cNvPr>
          <p:cNvGrpSpPr/>
          <p:nvPr/>
        </p:nvGrpSpPr>
        <p:grpSpPr>
          <a:xfrm>
            <a:off x="2662555" y="417830"/>
            <a:ext cx="902335" cy="306705"/>
            <a:chOff x="2950" y="271"/>
            <a:chExt cx="1421" cy="483"/>
          </a:xfrm>
        </p:grpSpPr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35B11415-FB00-6D49-29DC-3CDBB1510596}"/>
                </a:ext>
              </a:extLst>
            </p:cNvPr>
            <p:cNvSpPr txBox="1"/>
            <p:nvPr/>
          </p:nvSpPr>
          <p:spPr>
            <a:xfrm>
              <a:off x="2950" y="271"/>
              <a:ext cx="11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高级</a:t>
              </a:r>
            </a:p>
          </p:txBody>
        </p:sp>
        <p:sp>
          <p:nvSpPr>
            <p:cNvPr id="136" name="圆角矩形 135">
              <a:extLst>
                <a:ext uri="{FF2B5EF4-FFF2-40B4-BE49-F238E27FC236}">
                  <a16:creationId xmlns:a16="http://schemas.microsoft.com/office/drawing/2014/main" id="{33F1A38F-A504-BC10-1E82-61A8D8FC85DB}"/>
                </a:ext>
              </a:extLst>
            </p:cNvPr>
            <p:cNvSpPr/>
            <p:nvPr/>
          </p:nvSpPr>
          <p:spPr>
            <a:xfrm>
              <a:off x="3822" y="389"/>
              <a:ext cx="549" cy="247"/>
            </a:xfrm>
            <a:prstGeom prst="roundRect">
              <a:avLst>
                <a:gd name="adj" fmla="val 6735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rmAutofit/>
            </a:bodyPr>
            <a:lstStyle/>
            <a:p>
              <a:pPr algn="ctr"/>
              <a:endParaRPr 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37" name="文本框 136">
            <a:extLst>
              <a:ext uri="{FF2B5EF4-FFF2-40B4-BE49-F238E27FC236}">
                <a16:creationId xmlns:a16="http://schemas.microsoft.com/office/drawing/2014/main" id="{936D141F-6971-CE2E-150F-271141FFD650}"/>
              </a:ext>
            </a:extLst>
          </p:cNvPr>
          <p:cNvSpPr txBox="1"/>
          <p:nvPr/>
        </p:nvSpPr>
        <p:spPr>
          <a:xfrm>
            <a:off x="325120" y="724535"/>
            <a:ext cx="5380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/>
              <a:t>说明：高级包含初级中级内容，中级包含初级内容</a:t>
            </a:r>
          </a:p>
        </p:txBody>
      </p:sp>
      <p:sp>
        <p:nvSpPr>
          <p:cNvPr id="138" name="圆角矩形 137">
            <a:extLst>
              <a:ext uri="{FF2B5EF4-FFF2-40B4-BE49-F238E27FC236}">
                <a16:creationId xmlns:a16="http://schemas.microsoft.com/office/drawing/2014/main" id="{A3E69851-EC9D-91AE-C5B7-8CBFBFE10BBD}"/>
              </a:ext>
            </a:extLst>
          </p:cNvPr>
          <p:cNvSpPr/>
          <p:nvPr/>
        </p:nvSpPr>
        <p:spPr>
          <a:xfrm>
            <a:off x="2641303" y="2613351"/>
            <a:ext cx="1239655" cy="194855"/>
          </a:xfrm>
          <a:prstGeom prst="roundRect">
            <a:avLst>
              <a:gd name="adj" fmla="val 6735"/>
            </a:avLst>
          </a:prstGeom>
          <a:solidFill>
            <a:schemeClr val="accent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>
            <a:normAutofit/>
          </a:bodyPr>
          <a:lstStyle/>
          <a:p>
            <a:pPr algn="ctr"/>
            <a:r>
              <a:rPr lang="en-US" altLang="zh-CN" sz="90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AR</a:t>
            </a:r>
            <a:r>
              <a:rPr lang="zh-CN" altLang="en-US" sz="90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系统平台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388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911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游戏机&#10;&#10;描述已自动生成">
            <a:extLst>
              <a:ext uri="{FF2B5EF4-FFF2-40B4-BE49-F238E27FC236}">
                <a16:creationId xmlns:a16="http://schemas.microsoft.com/office/drawing/2014/main" id="{D112E8D1-BCC2-A34D-A9A4-F6B88318F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"/>
            <a:ext cx="12192000" cy="6879744"/>
          </a:xfrm>
          <a:prstGeom prst="rect">
            <a:avLst/>
          </a:prstGeom>
        </p:spPr>
      </p:pic>
      <p:pic>
        <p:nvPicPr>
          <p:cNvPr id="11" name="图片 10" descr="图片包含 游戏机, 画&#10;&#10;描述已自动生成">
            <a:extLst>
              <a:ext uri="{FF2B5EF4-FFF2-40B4-BE49-F238E27FC236}">
                <a16:creationId xmlns:a16="http://schemas.microsoft.com/office/drawing/2014/main" id="{7D6D8502-53CB-5D43-8CC9-417E74B7B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16" y="1988840"/>
            <a:ext cx="3293921" cy="1812528"/>
          </a:xfrm>
          <a:prstGeom prst="rect">
            <a:avLst/>
          </a:prstGeom>
        </p:spPr>
      </p:pic>
      <p:pic>
        <p:nvPicPr>
          <p:cNvPr id="13" name="图片 12" descr="图片包含 游戏机&#10;&#10;描述已自动生成">
            <a:extLst>
              <a:ext uri="{FF2B5EF4-FFF2-40B4-BE49-F238E27FC236}">
                <a16:creationId xmlns:a16="http://schemas.microsoft.com/office/drawing/2014/main" id="{016FC672-05C5-9F4F-969A-D4F13000D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944" y="6160161"/>
            <a:ext cx="1173844" cy="33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398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4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4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4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1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0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1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1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1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3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4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4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4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4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4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3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3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3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3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30650</TotalTime>
  <Words>1275</Words>
  <Application>Microsoft Macintosh PowerPoint</Application>
  <PresentationFormat>宽屏</PresentationFormat>
  <Paragraphs>246</Paragraphs>
  <Slides>34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DengXian</vt:lpstr>
      <vt:lpstr>微软雅黑</vt:lpstr>
      <vt:lpstr>system-ui</vt:lpstr>
      <vt:lpstr>Arial</vt:lpstr>
      <vt:lpstr>Avenir</vt:lpstr>
      <vt:lpstr>Office 主题</vt:lpstr>
      <vt:lpstr>流量回放&amp;智慧景区解决方案</vt:lpstr>
      <vt:lpstr>大纲</vt:lpstr>
      <vt:lpstr>流量回放解决的痛点</vt:lpstr>
      <vt:lpstr>流量回放解决的痛点</vt:lpstr>
      <vt:lpstr>技术选型</vt:lpstr>
      <vt:lpstr>AREX技术实现-AREX 核心优势</vt:lpstr>
      <vt:lpstr>AREX技术实现</vt:lpstr>
      <vt:lpstr>AREX技术实现</vt:lpstr>
      <vt:lpstr>AREX技术实现</vt:lpstr>
      <vt:lpstr>AREX技术实现</vt:lpstr>
      <vt:lpstr>AREX技术实现</vt:lpstr>
      <vt:lpstr>AREX技术实现</vt:lpstr>
      <vt:lpstr>AREX技术实现</vt:lpstr>
      <vt:lpstr>AREX技术实现</vt:lpstr>
      <vt:lpstr>AREX技术实现-技术难点-类加载器隔离、互通</vt:lpstr>
      <vt:lpstr>AREX技术实现-技术难点-调用链路 Trace 传递</vt:lpstr>
      <vt:lpstr>AREX技术实现-技术难点-调用链路 Trace 传递</vt:lpstr>
      <vt:lpstr>AREX技术实现-技术难点-组件版本兼容</vt:lpstr>
      <vt:lpstr>AREX技术实现-技术难点-本地缓存 MOCK</vt:lpstr>
      <vt:lpstr>AREX技术实现-技术难点-时间回放</vt:lpstr>
      <vt:lpstr>AREX实践-</vt:lpstr>
      <vt:lpstr>AREX实践-插件开发</vt:lpstr>
      <vt:lpstr>AREX实践-插件开发</vt:lpstr>
      <vt:lpstr>AREX实践-加载agent</vt:lpstr>
      <vt:lpstr>AREX实践-测试报告</vt:lpstr>
      <vt:lpstr>智慧景区解决方案-</vt:lpstr>
      <vt:lpstr>景区-票付通</vt:lpstr>
      <vt:lpstr>景区-票付通</vt:lpstr>
      <vt:lpstr>AREX实践-</vt:lpstr>
      <vt:lpstr>AREX实践-</vt:lpstr>
      <vt:lpstr>景区-川大智胜</vt:lpstr>
      <vt:lpstr>PowerPoint 演示文稿</vt:lpstr>
      <vt:lpstr>AREX实践-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User</cp:lastModifiedBy>
  <cp:revision>1080</cp:revision>
  <cp:lastPrinted>2020-03-17T07:20:27Z</cp:lastPrinted>
  <dcterms:created xsi:type="dcterms:W3CDTF">2019-11-27T03:37:06Z</dcterms:created>
  <dcterms:modified xsi:type="dcterms:W3CDTF">2024-08-13T09:49:11Z</dcterms:modified>
</cp:coreProperties>
</file>