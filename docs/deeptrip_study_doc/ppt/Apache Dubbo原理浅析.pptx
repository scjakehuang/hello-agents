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7.jpg" ContentType="image/png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77" r:id="rId1"/>
  </p:sldMasterIdLst>
  <p:notesMasterIdLst>
    <p:notesMasterId r:id="rId20"/>
  </p:notesMasterIdLst>
  <p:handoutMasterIdLst>
    <p:handoutMasterId r:id="rId21"/>
  </p:handoutMasterIdLst>
  <p:sldIdLst>
    <p:sldId id="3771" r:id="rId2"/>
    <p:sldId id="3888" r:id="rId3"/>
    <p:sldId id="3862" r:id="rId4"/>
    <p:sldId id="3897" r:id="rId5"/>
    <p:sldId id="3898" r:id="rId6"/>
    <p:sldId id="3899" r:id="rId7"/>
    <p:sldId id="3900" r:id="rId8"/>
    <p:sldId id="3889" r:id="rId9"/>
    <p:sldId id="3901" r:id="rId10"/>
    <p:sldId id="3903" r:id="rId11"/>
    <p:sldId id="3909" r:id="rId12"/>
    <p:sldId id="3904" r:id="rId13"/>
    <p:sldId id="3905" r:id="rId14"/>
    <p:sldId id="3902" r:id="rId15"/>
    <p:sldId id="3906" r:id="rId16"/>
    <p:sldId id="3907" r:id="rId17"/>
    <p:sldId id="3908" r:id="rId18"/>
    <p:sldId id="3887" r:id="rId19"/>
  </p:sldIdLst>
  <p:sldSz cx="14401800" cy="8101013"/>
  <p:notesSz cx="6797675" cy="9874250"/>
  <p:defaultTextStyle>
    <a:defPPr>
      <a:defRPr lang="zh-CN"/>
    </a:defPPr>
    <a:lvl1pPr algn="l" rtl="0" eaLnBrk="0" fontAlgn="base" hangingPunct="0">
      <a:spcBef>
        <a:spcPct val="50000"/>
      </a:spcBef>
      <a:spcAft>
        <a:spcPct val="0"/>
      </a:spcAft>
      <a:defRPr kumimoji="1" sz="1700" kern="1200">
        <a:solidFill>
          <a:schemeClr val="tx1"/>
        </a:solidFill>
        <a:latin typeface="Arial" charset="0"/>
        <a:ea typeface="楷体_GB2312" pitchFamily="49" charset="-122"/>
        <a:cs typeface="+mn-cs"/>
      </a:defRPr>
    </a:lvl1pPr>
    <a:lvl2pPr marL="465205" indent="1633" algn="l" rtl="0" eaLnBrk="0" fontAlgn="base" hangingPunct="0">
      <a:spcBef>
        <a:spcPct val="50000"/>
      </a:spcBef>
      <a:spcAft>
        <a:spcPct val="0"/>
      </a:spcAft>
      <a:defRPr kumimoji="1" sz="1700" kern="1200">
        <a:solidFill>
          <a:schemeClr val="tx1"/>
        </a:solidFill>
        <a:latin typeface="Arial" charset="0"/>
        <a:ea typeface="楷体_GB2312" pitchFamily="49" charset="-122"/>
        <a:cs typeface="+mn-cs"/>
      </a:defRPr>
    </a:lvl2pPr>
    <a:lvl3pPr marL="935306" indent="1633" algn="l" rtl="0" eaLnBrk="0" fontAlgn="base" hangingPunct="0">
      <a:spcBef>
        <a:spcPct val="50000"/>
      </a:spcBef>
      <a:spcAft>
        <a:spcPct val="0"/>
      </a:spcAft>
      <a:defRPr kumimoji="1" sz="1700" kern="1200">
        <a:solidFill>
          <a:schemeClr val="tx1"/>
        </a:solidFill>
        <a:latin typeface="Arial" charset="0"/>
        <a:ea typeface="楷体_GB2312" pitchFamily="49" charset="-122"/>
        <a:cs typeface="+mn-cs"/>
      </a:defRPr>
    </a:lvl3pPr>
    <a:lvl4pPr marL="1403774" indent="1633" algn="l" rtl="0" eaLnBrk="0" fontAlgn="base" hangingPunct="0">
      <a:spcBef>
        <a:spcPct val="50000"/>
      </a:spcBef>
      <a:spcAft>
        <a:spcPct val="0"/>
      </a:spcAft>
      <a:defRPr kumimoji="1" sz="1700" kern="1200">
        <a:solidFill>
          <a:schemeClr val="tx1"/>
        </a:solidFill>
        <a:latin typeface="Arial" charset="0"/>
        <a:ea typeface="楷体_GB2312" pitchFamily="49" charset="-122"/>
        <a:cs typeface="+mn-cs"/>
      </a:defRPr>
    </a:lvl4pPr>
    <a:lvl5pPr marL="1873874" indent="1633" algn="l" rtl="0" eaLnBrk="0" fontAlgn="base" hangingPunct="0">
      <a:spcBef>
        <a:spcPct val="50000"/>
      </a:spcBef>
      <a:spcAft>
        <a:spcPct val="0"/>
      </a:spcAft>
      <a:defRPr kumimoji="1" sz="1700" kern="1200">
        <a:solidFill>
          <a:schemeClr val="tx1"/>
        </a:solidFill>
        <a:latin typeface="Arial" charset="0"/>
        <a:ea typeface="楷体_GB2312" pitchFamily="49" charset="-122"/>
        <a:cs typeface="+mn-cs"/>
      </a:defRPr>
    </a:lvl5pPr>
    <a:lvl6pPr marL="2350503" algn="l" defTabSz="940204" rtl="0" eaLnBrk="1" latinLnBrk="0" hangingPunct="1">
      <a:defRPr kumimoji="1" sz="1700" kern="1200">
        <a:solidFill>
          <a:schemeClr val="tx1"/>
        </a:solidFill>
        <a:latin typeface="Arial" charset="0"/>
        <a:ea typeface="楷体_GB2312" pitchFamily="49" charset="-122"/>
        <a:cs typeface="+mn-cs"/>
      </a:defRPr>
    </a:lvl6pPr>
    <a:lvl7pPr marL="2820606" algn="l" defTabSz="940204" rtl="0" eaLnBrk="1" latinLnBrk="0" hangingPunct="1">
      <a:defRPr kumimoji="1" sz="1700" kern="1200">
        <a:solidFill>
          <a:schemeClr val="tx1"/>
        </a:solidFill>
        <a:latin typeface="Arial" charset="0"/>
        <a:ea typeface="楷体_GB2312" pitchFamily="49" charset="-122"/>
        <a:cs typeface="+mn-cs"/>
      </a:defRPr>
    </a:lvl7pPr>
    <a:lvl8pPr marL="3290706" algn="l" defTabSz="940204" rtl="0" eaLnBrk="1" latinLnBrk="0" hangingPunct="1">
      <a:defRPr kumimoji="1" sz="1700" kern="1200">
        <a:solidFill>
          <a:schemeClr val="tx1"/>
        </a:solidFill>
        <a:latin typeface="Arial" charset="0"/>
        <a:ea typeface="楷体_GB2312" pitchFamily="49" charset="-122"/>
        <a:cs typeface="+mn-cs"/>
      </a:defRPr>
    </a:lvl8pPr>
    <a:lvl9pPr marL="3760805" algn="l" defTabSz="940204" rtl="0" eaLnBrk="1" latinLnBrk="0" hangingPunct="1">
      <a:defRPr kumimoji="1" sz="1700" kern="1200">
        <a:solidFill>
          <a:schemeClr val="tx1"/>
        </a:solidFill>
        <a:latin typeface="Arial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25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FFFFCC"/>
    <a:srgbClr val="0000FF"/>
    <a:srgbClr val="E68207"/>
    <a:srgbClr val="EF8207"/>
    <a:srgbClr val="8BAB25"/>
    <a:srgbClr val="FFFF99"/>
    <a:srgbClr val="12D975"/>
    <a:srgbClr val="D96711"/>
    <a:srgbClr val="11D9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68" autoAdjust="0"/>
    <p:restoredTop sz="76608" autoAdjust="0"/>
  </p:normalViewPr>
  <p:slideViewPr>
    <p:cSldViewPr>
      <p:cViewPr varScale="1">
        <p:scale>
          <a:sx n="74" d="100"/>
          <a:sy n="74" d="100"/>
        </p:scale>
        <p:origin x="1296" y="102"/>
      </p:cViewPr>
      <p:guideLst>
        <p:guide orient="horz" pos="2306"/>
        <p:guide pos="25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7" d="100"/>
          <a:sy n="47" d="100"/>
        </p:scale>
        <p:origin x="-3012" y="-108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134" tIns="46066" rIns="92134" bIns="46066" numCol="1" anchor="t" anchorCtr="0" compatLnSpc="1">
            <a:prstTxWarp prst="textNoShape">
              <a:avLst/>
            </a:prstTxWarp>
          </a:bodyPr>
          <a:lstStyle>
            <a:lvl1pPr defTabSz="920750" eaLnBrk="1" hangingPunct="1">
              <a:spcBef>
                <a:spcPct val="0"/>
              </a:spcBef>
              <a:defRPr kumimoji="0"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2863" y="0"/>
            <a:ext cx="2944812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134" tIns="46066" rIns="92134" bIns="46066" numCol="1" anchor="t" anchorCtr="0" compatLnSpc="1">
            <a:prstTxWarp prst="textNoShape">
              <a:avLst/>
            </a:prstTxWarp>
          </a:bodyPr>
          <a:lstStyle>
            <a:lvl1pPr algn="r" defTabSz="920750" eaLnBrk="1" hangingPunct="1">
              <a:spcBef>
                <a:spcPct val="0"/>
              </a:spcBef>
              <a:defRPr kumimoji="0"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80538"/>
            <a:ext cx="2944813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134" tIns="46066" rIns="92134" bIns="46066" numCol="1" anchor="b" anchorCtr="0" compatLnSpc="1">
            <a:prstTxWarp prst="textNoShape">
              <a:avLst/>
            </a:prstTxWarp>
          </a:bodyPr>
          <a:lstStyle>
            <a:lvl1pPr defTabSz="920750" eaLnBrk="1" hangingPunct="1">
              <a:spcBef>
                <a:spcPct val="0"/>
              </a:spcBef>
              <a:defRPr kumimoji="0"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2863" y="9380538"/>
            <a:ext cx="2944812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134" tIns="46066" rIns="92134" bIns="46066" numCol="1" anchor="b" anchorCtr="0" compatLnSpc="1">
            <a:prstTxWarp prst="textNoShape">
              <a:avLst/>
            </a:prstTxWarp>
          </a:bodyPr>
          <a:lstStyle>
            <a:lvl1pPr algn="r" defTabSz="920750" eaLnBrk="1" hangingPunct="1">
              <a:spcBef>
                <a:spcPct val="0"/>
              </a:spcBef>
              <a:defRPr kumimoji="0"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7403D237-489C-40ED-9399-2456704FD5D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4559937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134" tIns="46066" rIns="92134" bIns="46066" numCol="1" anchor="t" anchorCtr="0" compatLnSpc="1">
            <a:prstTxWarp prst="textNoShape">
              <a:avLst/>
            </a:prstTxWarp>
          </a:bodyPr>
          <a:lstStyle>
            <a:lvl1pPr defTabSz="920750" eaLnBrk="1" hangingPunct="1">
              <a:spcBef>
                <a:spcPct val="0"/>
              </a:spcBef>
              <a:defRPr kumimoji="0"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863" y="0"/>
            <a:ext cx="2944812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134" tIns="46066" rIns="92134" bIns="46066" numCol="1" anchor="t" anchorCtr="0" compatLnSpc="1">
            <a:prstTxWarp prst="textNoShape">
              <a:avLst/>
            </a:prstTxWarp>
          </a:bodyPr>
          <a:lstStyle>
            <a:lvl1pPr algn="r" defTabSz="920750" eaLnBrk="1" hangingPunct="1">
              <a:spcBef>
                <a:spcPct val="0"/>
              </a:spcBef>
              <a:defRPr kumimoji="0"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7950" y="741363"/>
            <a:ext cx="6584950" cy="37036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691063"/>
            <a:ext cx="4984750" cy="444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134" tIns="46066" rIns="92134" bIns="460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80538"/>
            <a:ext cx="2944813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134" tIns="46066" rIns="92134" bIns="46066" numCol="1" anchor="b" anchorCtr="0" compatLnSpc="1">
            <a:prstTxWarp prst="textNoShape">
              <a:avLst/>
            </a:prstTxWarp>
          </a:bodyPr>
          <a:lstStyle>
            <a:lvl1pPr defTabSz="920750" eaLnBrk="1" hangingPunct="1">
              <a:spcBef>
                <a:spcPct val="0"/>
              </a:spcBef>
              <a:defRPr kumimoji="0"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863" y="9380538"/>
            <a:ext cx="2944812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134" tIns="46066" rIns="92134" bIns="46066" numCol="1" anchor="b" anchorCtr="0" compatLnSpc="1">
            <a:prstTxWarp prst="textNoShape">
              <a:avLst/>
            </a:prstTxWarp>
          </a:bodyPr>
          <a:lstStyle>
            <a:lvl1pPr algn="r" defTabSz="920750" eaLnBrk="1" hangingPunct="1">
              <a:spcBef>
                <a:spcPct val="0"/>
              </a:spcBef>
              <a:defRPr kumimoji="0"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EBF4EC10-889F-4995-B3E8-B699C48344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14340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652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3530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403774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73874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345940" algn="l" defTabSz="938374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815127" algn="l" defTabSz="938374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284313" algn="l" defTabSz="938374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753501" algn="l" defTabSz="938374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F4EC10-889F-4995-B3E8-B699C48344AB}" type="slidenum">
              <a:rPr lang="en-US" altLang="zh-CN" smtClean="0"/>
              <a:pPr>
                <a:defRPr/>
              </a:pPr>
              <a:t>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42046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300" b="1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单一应用架构</a:t>
            </a:r>
          </a:p>
          <a:p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当网站流量很小时，只需一个应用，将所有功能都部署在一起，以减少部署节点和成本。此时，用于简化增删改查工作量的数据访问框架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(ORM)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是关键。</a:t>
            </a:r>
          </a:p>
          <a:p>
            <a:r>
              <a:rPr lang="zh-CN" altLang="en-US" sz="1300" b="1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垂直应用架构</a:t>
            </a:r>
          </a:p>
          <a:p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当访问量逐渐增大，单一应用增加机器带来的加速度越来越小，将应用拆成互不相干的几个应用，以提升效率。此时，用于加速前端页面开发的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Web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框架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(MVC)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是关键。</a:t>
            </a:r>
          </a:p>
          <a:p>
            <a:r>
              <a:rPr lang="zh-CN" altLang="en-US" sz="1300" b="1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分布式服务架构</a:t>
            </a:r>
          </a:p>
          <a:p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当垂直应用越来越多，应用之间交互不可避免，将核心业务抽取出来，作为独立的服务，逐渐形成稳定的服务中心，使前端应用能更快速的响应多变的市场需求。此时，用于提高业务复用及整合的分布式服务框架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(RPC)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是关键。</a:t>
            </a:r>
          </a:p>
          <a:p>
            <a:r>
              <a:rPr lang="zh-CN" altLang="en-US" sz="1300" b="1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流动计算架构</a:t>
            </a:r>
          </a:p>
          <a:p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当服务越来越多，容量的评估，小服务资源的浪费等问题逐渐显现，此时需增加一个调度中心基于访问压力实时管理集群容量，提高集群利用率。此时，用于提高机器利用率的资源调度和治理中心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(SOA)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是关键。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207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F4EC10-889F-4995-B3E8-B699C48344A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207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078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207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F4EC10-889F-4995-B3E8-B699C48344A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207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3416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原始的方案实现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RPC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框架，采用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Socket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通信、动态代理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\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反射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\Java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原生的序列化。</a:t>
            </a:r>
            <a:endParaRPr lang="en-US" altLang="zh-CN" sz="1300" b="0" i="0" kern="1200" dirty="0" smtClean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+mn-cs"/>
            </a:endParaRPr>
          </a:p>
          <a:p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客户端（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Client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）：服务调用方。</a:t>
            </a:r>
          </a:p>
          <a:p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客户端存根（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Client Stub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）：存放服务端地址信息，将客户端的请求参数数据信息打包成网络消息，再通过网络传输发送给服务端。</a:t>
            </a:r>
          </a:p>
          <a:p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服务端存根（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Server Stub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）：接收客户端发送过来的请求消息并进行解包，然后再调用本地服务进行处理。</a:t>
            </a:r>
          </a:p>
          <a:p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服务端（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Server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）：服务的真正提供者。</a:t>
            </a:r>
          </a:p>
          <a:p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Network Service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：底层传输，可以是 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TCP 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或 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HTTP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。</a:t>
            </a:r>
            <a:endParaRPr lang="en-US" altLang="zh-CN" sz="1300" b="0" i="0" kern="1200" dirty="0" smtClean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+mn-cs"/>
            </a:endParaRPr>
          </a:p>
          <a:p>
            <a:endParaRPr lang="en-US" altLang="zh-CN" sz="1300" b="0" i="0" kern="1200" dirty="0" smtClean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服务寻址（服务注册中心）、数据流的序列化和反序列化（</a:t>
            </a:r>
            <a:r>
              <a:rPr lang="en-US" altLang="zh-CN" sz="13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Protobuf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 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）、网络传输（</a:t>
            </a:r>
            <a:r>
              <a:rPr lang="en-US" altLang="zh-CN" sz="13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Netty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，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TCP 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协议、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UDP 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协议、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HTTP 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协议）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sz="1300" b="0" i="0" kern="1200" dirty="0" smtClean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207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F4EC10-889F-4995-B3E8-B699C48344A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207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1860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完整的 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RPC 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框架</a:t>
            </a:r>
            <a:endParaRPr lang="en-US" altLang="zh-CN" sz="1300" b="0" i="0" kern="1200" dirty="0" smtClean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207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F4EC10-889F-4995-B3E8-B699C48344A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207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5902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服务治理型：</a:t>
            </a:r>
            <a:r>
              <a:rPr lang="en-US" altLang="zh-CN" dirty="0" err="1" smtClean="0"/>
              <a:t>dubbo,dubbox,motan,spring</a:t>
            </a:r>
            <a:r>
              <a:rPr lang="en-US" altLang="zh-CN" baseline="0" dirty="0" smtClean="0"/>
              <a:t> cloud</a:t>
            </a:r>
          </a:p>
          <a:p>
            <a:r>
              <a:rPr lang="zh-CN" altLang="en-US" baseline="0" dirty="0" smtClean="0"/>
              <a:t>多语言型：</a:t>
            </a:r>
            <a:r>
              <a:rPr lang="en-US" altLang="zh-CN" baseline="0" dirty="0" err="1" smtClean="0"/>
              <a:t>gRpc,Thrift</a:t>
            </a:r>
            <a:endParaRPr lang="en-US" altLang="zh-CN" baseline="0" dirty="0" smtClean="0"/>
          </a:p>
          <a:p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Apache </a:t>
            </a:r>
            <a:r>
              <a:rPr lang="en-US" altLang="zh-CN" sz="13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Dubbo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 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是阿里开源的一款高性能 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RPC 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框架，特性包括基于透明接口的 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RPC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、智能负载均衡、自动服务注册和发现、可扩展性高、运行时流量路由与可视化的服务治理。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207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F4EC10-889F-4995-B3E8-B699C48344A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207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05754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300" b="1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调用关系说明</a:t>
            </a:r>
          </a:p>
          <a:p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服务容器负责启动，加载，运行服务提供者。</a:t>
            </a:r>
          </a:p>
          <a:p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服务提供者在启动时，向注册中心注册自己提供的服务。</a:t>
            </a:r>
          </a:p>
          <a:p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服务消费者在启动时，向注册中心订阅自己所需的服务。</a:t>
            </a:r>
          </a:p>
          <a:p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注册中心返回服务提供者地址列表给消费者，如果有变更，注册中心将基于长连接推送变更数据给消费者。</a:t>
            </a:r>
          </a:p>
          <a:p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服务消费者，从提供者地址列表中，基于软负载均衡算法，选一台提供者进行调用，如果调用失败，再选另一台调用。</a:t>
            </a:r>
          </a:p>
          <a:p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服务消费者和提供者，在内存中累计调用次数和调用时间，定时每分钟发送一次统计数据到监控中心。</a:t>
            </a:r>
          </a:p>
          <a:p>
            <a:r>
              <a:rPr lang="en-US" altLang="zh-CN" sz="13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Dubbo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 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架构具有以下几个特点，分别是连通性、健壮性、伸缩性、以及向未来架构的升级性。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F4EC10-889F-4995-B3E8-B699C48344AB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0177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DUBBO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的实现思路是通过注册中心实现服务的动态注册与发现，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Provider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暴露服务，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Consumer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直接和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Provider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通讯实现服务间的调用的。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F4EC10-889F-4995-B3E8-B699C48344AB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48939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DUBBO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的实现思路是通过注册中心实现服务的动态注册与发现，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Provider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暴露服务，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Consumer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直接和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Provider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通讯实现服务间的调用的。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F4EC10-889F-4995-B3E8-B699C48344AB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32573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3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configVersion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表示</a:t>
            </a:r>
            <a:r>
              <a:rPr lang="en-US" altLang="zh-CN" sz="13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dubbo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的版本</a:t>
            </a:r>
          </a:p>
          <a:p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scope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表示配置作用范围，分别是应用（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application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）或服务（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service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）粒度。</a:t>
            </a:r>
            <a:r>
              <a:rPr lang="zh-CN" altLang="en-US" sz="1300" b="1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必填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。</a:t>
            </a:r>
          </a:p>
          <a:p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key 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指定规则体作用在哪个服务或应用。</a:t>
            </a:r>
            <a:r>
              <a:rPr lang="zh-CN" altLang="en-US" sz="1300" b="1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必填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。</a:t>
            </a:r>
            <a:endParaRPr lang="en-US" altLang="zh-CN" sz="1300" b="0" i="0" kern="1200" dirty="0" smtClean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+mn-cs"/>
            </a:endParaRPr>
          </a:p>
          <a:p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scope=service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时，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key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取值为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[{group}:]{service}[:{version}]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的组合</a:t>
            </a:r>
          </a:p>
          <a:p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scope=application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时，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key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取值为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application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名称</a:t>
            </a:r>
          </a:p>
          <a:p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enabled=true 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覆盖规则是否生效，可不填，缺省生效。</a:t>
            </a:r>
          </a:p>
          <a:p>
            <a:r>
              <a:rPr lang="en-US" altLang="zh-CN" sz="13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configs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 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定义具体的覆盖规则内容，可以指定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n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（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n&gt;=1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）个规则体。</a:t>
            </a:r>
            <a:r>
              <a:rPr lang="zh-CN" altLang="en-US" sz="1300" b="1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必填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。</a:t>
            </a:r>
          </a:p>
          <a:p>
            <a:pPr lvl="1"/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side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，</a:t>
            </a:r>
          </a:p>
          <a:p>
            <a:pPr lvl="1"/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applications</a:t>
            </a:r>
          </a:p>
          <a:p>
            <a:pPr lvl="1"/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services</a:t>
            </a:r>
          </a:p>
          <a:p>
            <a:pPr lvl="1"/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parameters</a:t>
            </a:r>
          </a:p>
          <a:p>
            <a:pPr lvl="1"/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addresses</a:t>
            </a:r>
          </a:p>
          <a:p>
            <a:pPr lvl="1"/>
            <a:r>
              <a:rPr lang="en-US" altLang="zh-CN" sz="13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providerAddresses</a:t>
            </a:r>
            <a:endParaRPr lang="en-US" altLang="zh-CN" sz="1300" b="0" i="0" kern="1200" dirty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F4EC10-889F-4995-B3E8-B699C48344AB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75927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300" b="1" i="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config</a:t>
            </a:r>
            <a:r>
              <a:rPr lang="en-US" altLang="zh-CN" sz="1300" b="1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 </a:t>
            </a:r>
            <a:r>
              <a:rPr lang="zh-CN" altLang="en-US" sz="1300" b="1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配置层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：对外配置接口，以 </a:t>
            </a:r>
            <a:r>
              <a:rPr lang="en-US" altLang="zh-CN" sz="13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ServiceConfig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, </a:t>
            </a:r>
            <a:r>
              <a:rPr lang="en-US" altLang="zh-CN" sz="13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ReferenceConfig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 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为中心，可以直接初始化配置类，也可以通过 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spring 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解析配置生成配置类</a:t>
            </a:r>
          </a:p>
          <a:p>
            <a:r>
              <a:rPr lang="en-US" altLang="zh-CN" sz="1300" b="1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proxy </a:t>
            </a:r>
            <a:r>
              <a:rPr lang="zh-CN" altLang="en-US" sz="1300" b="1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服务代理层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：服务接口透明代理，生成服务的客户端 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Stub 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和服务器端 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Skeleton, 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以 </a:t>
            </a:r>
            <a:r>
              <a:rPr lang="en-US" altLang="zh-CN" sz="13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ServiceProxy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为中心，扩展接口为 </a:t>
            </a:r>
            <a:r>
              <a:rPr lang="en-US" altLang="zh-CN" sz="13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ProxyFactory</a:t>
            </a:r>
            <a:endParaRPr lang="en-US" altLang="zh-CN" sz="1300" b="0" i="0" kern="1200" dirty="0" smtClean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+mn-cs"/>
            </a:endParaRPr>
          </a:p>
          <a:p>
            <a:r>
              <a:rPr lang="en-US" altLang="zh-CN" sz="1300" b="1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registry </a:t>
            </a:r>
            <a:r>
              <a:rPr lang="zh-CN" altLang="en-US" sz="1300" b="1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注册中心层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：封装服务地址的注册与发现，以服务 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URL 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为中心，扩展接口为 </a:t>
            </a:r>
            <a:r>
              <a:rPr lang="en-US" altLang="zh-CN" sz="13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RegistryFactory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, Registry, </a:t>
            </a:r>
            <a:r>
              <a:rPr lang="en-US" altLang="zh-CN" sz="13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RegistryService</a:t>
            </a:r>
            <a:endParaRPr lang="en-US" altLang="zh-CN" sz="1300" b="0" i="0" kern="1200" dirty="0" smtClean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+mn-cs"/>
            </a:endParaRPr>
          </a:p>
          <a:p>
            <a:r>
              <a:rPr lang="en-US" altLang="zh-CN" sz="1300" b="1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cluster </a:t>
            </a:r>
            <a:r>
              <a:rPr lang="zh-CN" altLang="en-US" sz="1300" b="1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路由层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：封装多个提供者的路由及负载均衡，并桥接注册中心，以 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Invoker 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为中心，扩展接口为 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Cluster, Directory, Router, </a:t>
            </a:r>
            <a:r>
              <a:rPr lang="en-US" altLang="zh-CN" sz="13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LoadBalance</a:t>
            </a:r>
            <a:endParaRPr lang="en-US" altLang="zh-CN" sz="1300" b="0" i="0" kern="1200" dirty="0" smtClean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+mn-cs"/>
            </a:endParaRPr>
          </a:p>
          <a:p>
            <a:r>
              <a:rPr lang="en-US" altLang="zh-CN" sz="1300" b="1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monitor </a:t>
            </a:r>
            <a:r>
              <a:rPr lang="zh-CN" altLang="en-US" sz="1300" b="1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监控层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：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RPC 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调用次数和调用时间监控，以 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Statistics 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为中心，扩展接口为 </a:t>
            </a:r>
            <a:r>
              <a:rPr lang="en-US" altLang="zh-CN" sz="13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MonitorFactory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, Monitor, </a:t>
            </a:r>
            <a:r>
              <a:rPr lang="en-US" altLang="zh-CN" sz="13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MonitorService</a:t>
            </a:r>
            <a:endParaRPr lang="en-US" altLang="zh-CN" sz="1300" b="0" i="0" kern="1200" dirty="0" smtClean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+mn-cs"/>
            </a:endParaRPr>
          </a:p>
          <a:p>
            <a:r>
              <a:rPr lang="en-US" altLang="zh-CN" sz="1300" b="1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protocol </a:t>
            </a:r>
            <a:r>
              <a:rPr lang="zh-CN" altLang="en-US" sz="1300" b="1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远程调用层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：封装 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RPC 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调用，以 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Invocation, Result 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为中心，扩展接口为 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Protocol, Invoker, Exporter</a:t>
            </a:r>
          </a:p>
          <a:p>
            <a:r>
              <a:rPr lang="en-US" altLang="zh-CN" sz="1300" b="1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exchange </a:t>
            </a:r>
            <a:r>
              <a:rPr lang="zh-CN" altLang="en-US" sz="1300" b="1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信息交换层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：封装请求响应模式，同步转异步，以 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Request, Response 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为中心，扩展接口为 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Exchanger, </a:t>
            </a:r>
            <a:r>
              <a:rPr lang="en-US" altLang="zh-CN" sz="13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ExchangeChannel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, </a:t>
            </a:r>
            <a:r>
              <a:rPr lang="en-US" altLang="zh-CN" sz="13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ExchangeClient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, </a:t>
            </a:r>
            <a:r>
              <a:rPr lang="en-US" altLang="zh-CN" sz="13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ExchangeServer</a:t>
            </a:r>
            <a:endParaRPr lang="en-US" altLang="zh-CN" sz="1300" b="0" i="0" kern="1200" dirty="0" smtClean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+mn-cs"/>
            </a:endParaRPr>
          </a:p>
          <a:p>
            <a:r>
              <a:rPr lang="en-US" altLang="zh-CN" sz="1300" b="1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transport </a:t>
            </a:r>
            <a:r>
              <a:rPr lang="zh-CN" altLang="en-US" sz="1300" b="1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网络传输层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：抽象 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mina 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和 </a:t>
            </a:r>
            <a:r>
              <a:rPr lang="en-US" altLang="zh-CN" sz="13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netty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 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为统一接口，以 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Message 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为中心，扩展接口为 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Channel, Transporter, Client, Server, Codec</a:t>
            </a:r>
          </a:p>
          <a:p>
            <a:r>
              <a:rPr lang="en-US" altLang="zh-CN" sz="1300" b="1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serialize </a:t>
            </a:r>
            <a:r>
              <a:rPr lang="zh-CN" altLang="en-US" sz="1300" b="1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数据序列化层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：可复用的一些工具，扩展接口为 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Serialization, </a:t>
            </a:r>
            <a:r>
              <a:rPr lang="en-US" altLang="zh-CN" sz="13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ObjectInput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, </a:t>
            </a:r>
            <a:r>
              <a:rPr lang="en-US" altLang="zh-CN" sz="13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ObjectOutput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, </a:t>
            </a:r>
            <a:r>
              <a:rPr lang="en-US" altLang="zh-CN" sz="13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ThreadPool</a:t>
            </a:r>
            <a:endParaRPr lang="en-US" altLang="zh-CN" sz="1300" b="0" i="0" kern="1200" dirty="0" smtClean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F4EC10-889F-4995-B3E8-B699C48344AB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29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F4EC10-889F-4995-B3E8-B699C48344AB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93483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 smtClean="0"/>
              <a:t>Dubbo</a:t>
            </a:r>
            <a:r>
              <a:rPr lang="zh-CN" altLang="en-US" dirty="0" smtClean="0"/>
              <a:t>通过扩展</a:t>
            </a:r>
            <a:r>
              <a:rPr lang="en-US" altLang="zh-CN" dirty="0" smtClean="0"/>
              <a:t>Spring Schema</a:t>
            </a:r>
            <a:r>
              <a:rPr lang="zh-CN" altLang="en-US" dirty="0" smtClean="0"/>
              <a:t>完成自定义</a:t>
            </a:r>
            <a:r>
              <a:rPr lang="en-US" altLang="zh-CN" dirty="0" smtClean="0"/>
              <a:t>bean</a:t>
            </a:r>
            <a:r>
              <a:rPr lang="zh-CN" altLang="en-US" dirty="0" smtClean="0"/>
              <a:t>的</a:t>
            </a:r>
            <a:r>
              <a:rPr lang="en-US" altLang="zh-CN" dirty="0" err="1" smtClean="0"/>
              <a:t>IoC</a:t>
            </a:r>
            <a:r>
              <a:rPr lang="zh-CN" altLang="en-US" dirty="0" smtClean="0"/>
              <a:t>容器注入。在</a:t>
            </a:r>
            <a:r>
              <a:rPr lang="en-US" altLang="zh-CN" dirty="0" smtClean="0"/>
              <a:t>Spring</a:t>
            </a:r>
            <a:r>
              <a:rPr lang="zh-CN" altLang="en-US" dirty="0" smtClean="0"/>
              <a:t>注入和初始化</a:t>
            </a:r>
            <a:r>
              <a:rPr lang="en-US" altLang="zh-CN" dirty="0" smtClean="0"/>
              <a:t>bean</a:t>
            </a:r>
            <a:r>
              <a:rPr lang="zh-CN" altLang="en-US" dirty="0" smtClean="0"/>
              <a:t>时，通过</a:t>
            </a:r>
            <a:r>
              <a:rPr lang="en-US" altLang="zh-CN" dirty="0" smtClean="0"/>
              <a:t>Protocol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ProxyFactory</a:t>
            </a:r>
            <a:r>
              <a:rPr lang="zh-CN" altLang="en-US" dirty="0" smtClean="0"/>
              <a:t>配合完成服务的暴露和服务代理的创建。这种全</a:t>
            </a:r>
            <a:r>
              <a:rPr lang="en-US" altLang="zh-CN" dirty="0" smtClean="0"/>
              <a:t>Spring</a:t>
            </a:r>
            <a:r>
              <a:rPr lang="zh-CN" altLang="en-US" dirty="0" smtClean="0"/>
              <a:t>的配置方式，使得用户能够透明化接入应用，并且对应用没有任何</a:t>
            </a:r>
            <a:r>
              <a:rPr lang="en-US" altLang="zh-CN" dirty="0" smtClean="0"/>
              <a:t>API</a:t>
            </a:r>
            <a:r>
              <a:rPr lang="zh-CN" altLang="en-US" dirty="0" smtClean="0"/>
              <a:t>侵入。</a:t>
            </a:r>
            <a:endParaRPr lang="en-US" altLang="zh-CN" dirty="0" smtClean="0"/>
          </a:p>
          <a:p>
            <a:r>
              <a:rPr lang="zh-CN" altLang="en-US" dirty="0" smtClean="0"/>
              <a:t>自定义了</a:t>
            </a:r>
            <a:r>
              <a:rPr lang="en-US" altLang="zh-CN" dirty="0" smtClean="0"/>
              <a:t>XML Schema</a:t>
            </a:r>
            <a:r>
              <a:rPr lang="zh-CN" altLang="en-US" dirty="0" smtClean="0"/>
              <a:t>文件</a:t>
            </a:r>
            <a:r>
              <a:rPr lang="en-US" altLang="zh-CN" dirty="0" smtClean="0"/>
              <a:t>META-INF/dubbo.xsd</a:t>
            </a:r>
            <a:r>
              <a:rPr lang="zh-CN" altLang="en-US" dirty="0" smtClean="0"/>
              <a:t>描述自定义元素；</a:t>
            </a:r>
            <a:endParaRPr lang="en-US" altLang="zh-CN" dirty="0" smtClean="0"/>
          </a:p>
          <a:p>
            <a:r>
              <a:rPr lang="zh-CN" altLang="en-US" dirty="0" smtClean="0"/>
              <a:t>自定义继承自</a:t>
            </a:r>
            <a:r>
              <a:rPr lang="en-US" altLang="zh-CN" dirty="0" err="1" smtClean="0"/>
              <a:t>org.springframework.beans.factory.xml.NamespaceHandlerSupport</a:t>
            </a:r>
            <a:r>
              <a:rPr lang="zh-CN" altLang="en-US" dirty="0" smtClean="0"/>
              <a:t>抽象类的</a:t>
            </a:r>
            <a:r>
              <a:rPr lang="en-US" altLang="zh-CN" dirty="0" err="1" smtClean="0"/>
              <a:t>DubboNamespaceHandler</a:t>
            </a:r>
            <a:r>
              <a:rPr lang="zh-CN" altLang="en-US" dirty="0" smtClean="0"/>
              <a:t>处理器类；</a:t>
            </a:r>
            <a:endParaRPr lang="en-US" altLang="zh-CN" dirty="0" smtClean="0"/>
          </a:p>
          <a:p>
            <a:r>
              <a:rPr lang="zh-CN" altLang="en-US" dirty="0" smtClean="0"/>
              <a:t>自定义实现了</a:t>
            </a:r>
            <a:r>
              <a:rPr lang="en-US" altLang="zh-CN" dirty="0" err="1" smtClean="0"/>
              <a:t>org.springframework.beans.factory.xml.BeanDefinitionParser</a:t>
            </a:r>
            <a:r>
              <a:rPr lang="zh-CN" altLang="en-US" dirty="0" smtClean="0"/>
              <a:t>接口的</a:t>
            </a:r>
            <a:r>
              <a:rPr lang="en-US" altLang="zh-CN" dirty="0" err="1" smtClean="0"/>
              <a:t>DubboBeanDefinitionParser</a:t>
            </a:r>
            <a:r>
              <a:rPr lang="zh-CN" altLang="en-US" dirty="0" smtClean="0"/>
              <a:t>解析器类；</a:t>
            </a:r>
            <a:endParaRPr lang="en-US" altLang="zh-CN" dirty="0" smtClean="0"/>
          </a:p>
          <a:p>
            <a:r>
              <a:rPr lang="zh-CN" altLang="en-US" dirty="0" smtClean="0"/>
              <a:t>这样，</a:t>
            </a:r>
            <a:r>
              <a:rPr lang="en-US" altLang="zh-CN" dirty="0" smtClean="0"/>
              <a:t>DUBBO</a:t>
            </a:r>
            <a:r>
              <a:rPr lang="zh-CN" altLang="en-US" dirty="0" smtClean="0"/>
              <a:t>很好地将配置转化成</a:t>
            </a:r>
            <a:r>
              <a:rPr lang="en-US" altLang="zh-CN" dirty="0" smtClean="0"/>
              <a:t>bean</a:t>
            </a:r>
            <a:r>
              <a:rPr lang="zh-CN" altLang="en-US" dirty="0" smtClean="0"/>
              <a:t>，基于</a:t>
            </a:r>
            <a:r>
              <a:rPr lang="en-US" altLang="zh-CN" dirty="0" smtClean="0"/>
              <a:t>Spring</a:t>
            </a:r>
            <a:r>
              <a:rPr lang="zh-CN" altLang="en-US" dirty="0" smtClean="0"/>
              <a:t>容器的应用能够方便地使用。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F4EC10-889F-4995-B3E8-B699C48344AB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89471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在</a:t>
            </a:r>
            <a:r>
              <a:rPr lang="en-US" altLang="zh-CN" dirty="0" err="1" smtClean="0"/>
              <a:t>Dubbo</a:t>
            </a:r>
            <a:r>
              <a:rPr lang="zh-CN" altLang="en-US" dirty="0" smtClean="0"/>
              <a:t>的服务实际调用中都是围绕着</a:t>
            </a:r>
            <a:r>
              <a:rPr lang="en-US" altLang="zh-CN" dirty="0" smtClean="0"/>
              <a:t>Protocol</a:t>
            </a:r>
            <a:r>
              <a:rPr lang="zh-CN" altLang="en-US" dirty="0" smtClean="0"/>
              <a:t>、</a:t>
            </a:r>
            <a:r>
              <a:rPr lang="en-US" altLang="zh-CN" dirty="0" smtClean="0"/>
              <a:t>Invoker</a:t>
            </a:r>
            <a:r>
              <a:rPr lang="zh-CN" altLang="en-US" dirty="0" smtClean="0"/>
              <a:t>和</a:t>
            </a:r>
            <a:r>
              <a:rPr lang="en-US" altLang="zh-CN" dirty="0" smtClean="0"/>
              <a:t>Invocation</a:t>
            </a:r>
            <a:r>
              <a:rPr lang="zh-CN" altLang="en-US" dirty="0" smtClean="0"/>
              <a:t>三者，这也是</a:t>
            </a:r>
            <a:r>
              <a:rPr lang="en-US" altLang="zh-CN" dirty="0" smtClean="0"/>
              <a:t>DUBBO</a:t>
            </a:r>
            <a:r>
              <a:rPr lang="zh-CN" altLang="en-US" dirty="0" smtClean="0"/>
              <a:t>的核心领域模型：</a:t>
            </a:r>
            <a:endParaRPr lang="en-US" altLang="zh-CN" dirty="0" smtClean="0"/>
          </a:p>
          <a:p>
            <a:r>
              <a:rPr lang="en-US" altLang="zh-CN" dirty="0" smtClean="0"/>
              <a:t>Protocol </a:t>
            </a:r>
            <a:r>
              <a:rPr lang="zh-CN" altLang="en-US" dirty="0" smtClean="0"/>
              <a:t>是服务域，它是 </a:t>
            </a:r>
            <a:r>
              <a:rPr lang="en-US" altLang="zh-CN" dirty="0" smtClean="0"/>
              <a:t>Invoker </a:t>
            </a:r>
            <a:r>
              <a:rPr lang="zh-CN" altLang="en-US" dirty="0" smtClean="0"/>
              <a:t>暴露和引用的主功能入口，它负责 </a:t>
            </a:r>
            <a:r>
              <a:rPr lang="en-US" altLang="zh-CN" dirty="0" smtClean="0"/>
              <a:t>Invoker </a:t>
            </a:r>
            <a:r>
              <a:rPr lang="zh-CN" altLang="en-US" dirty="0" smtClean="0"/>
              <a:t>的生命周期管理。</a:t>
            </a:r>
            <a:endParaRPr lang="en-US" altLang="zh-CN" dirty="0" smtClean="0"/>
          </a:p>
          <a:p>
            <a:r>
              <a:rPr lang="en-US" altLang="zh-CN" dirty="0" smtClean="0"/>
              <a:t>Invoker </a:t>
            </a:r>
            <a:r>
              <a:rPr lang="zh-CN" altLang="en-US" dirty="0" smtClean="0"/>
              <a:t>是实体域，它是 </a:t>
            </a:r>
            <a:r>
              <a:rPr lang="en-US" altLang="zh-CN" dirty="0" err="1" smtClean="0"/>
              <a:t>Dubbo</a:t>
            </a:r>
            <a:r>
              <a:rPr lang="en-US" altLang="zh-CN" dirty="0" smtClean="0"/>
              <a:t> </a:t>
            </a:r>
            <a:r>
              <a:rPr lang="zh-CN" altLang="en-US" dirty="0" smtClean="0"/>
              <a:t>的核心模型，其它模型都向它靠扰，或转换成它，它代表一个可执行体，可向它发起 </a:t>
            </a:r>
            <a:r>
              <a:rPr lang="en-US" altLang="zh-CN" dirty="0" smtClean="0"/>
              <a:t>invoke </a:t>
            </a:r>
            <a:r>
              <a:rPr lang="zh-CN" altLang="en-US" dirty="0" smtClean="0"/>
              <a:t>调用，它有可能是一个本地的实现，也可能是一个远程的实现，也可能一个集群实现。</a:t>
            </a:r>
            <a:endParaRPr lang="en-US" altLang="zh-CN" dirty="0" smtClean="0"/>
          </a:p>
          <a:p>
            <a:r>
              <a:rPr lang="en-US" altLang="zh-CN" dirty="0" smtClean="0"/>
              <a:t>Invocation </a:t>
            </a:r>
            <a:r>
              <a:rPr lang="zh-CN" altLang="en-US" dirty="0" smtClean="0"/>
              <a:t>是会话域，它持有调用过程中的变量，比如方法名，参数等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F4EC10-889F-4995-B3E8-B699C48344AB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25736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 smtClean="0"/>
              <a:t>ReferenceBean</a:t>
            </a:r>
            <a:r>
              <a:rPr lang="zh-CN" altLang="en-US" dirty="0" smtClean="0"/>
              <a:t>实现了</a:t>
            </a:r>
            <a:r>
              <a:rPr lang="en-US" altLang="zh-CN" dirty="0" err="1" smtClean="0"/>
              <a:t>FactoryBean</a:t>
            </a:r>
            <a:r>
              <a:rPr lang="zh-CN" altLang="en-US" dirty="0" smtClean="0"/>
              <a:t>接口，用于根据加载的配置（</a:t>
            </a:r>
            <a:r>
              <a:rPr lang="en-US" altLang="zh-CN" dirty="0" smtClean="0"/>
              <a:t>xml</a:t>
            </a:r>
            <a:r>
              <a:rPr lang="zh-CN" altLang="en-US" dirty="0" smtClean="0"/>
              <a:t>中</a:t>
            </a:r>
            <a:r>
              <a:rPr lang="en-US" altLang="zh-CN" dirty="0" err="1" smtClean="0"/>
              <a:t>dubbo:reference</a:t>
            </a:r>
            <a:r>
              <a:rPr lang="zh-CN" altLang="en-US" dirty="0" smtClean="0"/>
              <a:t>节点的配置或者</a:t>
            </a:r>
            <a:r>
              <a:rPr lang="en-US" altLang="zh-CN" dirty="0" smtClean="0"/>
              <a:t>@Reference</a:t>
            </a:r>
            <a:r>
              <a:rPr lang="zh-CN" altLang="en-US" dirty="0" smtClean="0"/>
              <a:t>注解的配置）创建</a:t>
            </a:r>
            <a:r>
              <a:rPr lang="en-US" altLang="zh-CN" dirty="0" smtClean="0"/>
              <a:t>bean</a:t>
            </a:r>
            <a:r>
              <a:rPr lang="zh-CN" altLang="en-US" dirty="0" smtClean="0"/>
              <a:t>实例。创建实例的过程就是创建引用接口的代理，</a:t>
            </a:r>
            <a:r>
              <a:rPr lang="en-US" altLang="zh-CN" dirty="0" err="1" smtClean="0"/>
              <a:t>ReferenceConfig</a:t>
            </a:r>
            <a:r>
              <a:rPr lang="zh-CN" altLang="en-US" dirty="0" smtClean="0"/>
              <a:t>中有个</a:t>
            </a:r>
            <a:r>
              <a:rPr lang="en-US" altLang="zh-CN" dirty="0" smtClean="0"/>
              <a:t>ref</a:t>
            </a:r>
            <a:r>
              <a:rPr lang="zh-CN" altLang="en-US" dirty="0" smtClean="0"/>
              <a:t>属性用于引用该接口的代理</a:t>
            </a:r>
          </a:p>
          <a:p>
            <a:r>
              <a:rPr lang="en-US" altLang="zh-CN" dirty="0" smtClean="0"/>
              <a:t>[DUBBO] Register: dubbo://10.101.24.30:20880/org.apache.dubbo.demo.DemoService?anyhost=true&amp;application=demo-provider&amp;bean.name=org.apache.dubbo.demo.DemoService&amp;deprecated=false&amp;dubbo=2.0.2&amp;dynamic=true&amp;generic=false&amp;interface=org.apache.dubbo.demo.DemoService&amp;methods=sayHello&amp;pid=17484&amp;release=&amp;side=provider&amp;timestamp=1576218044607, </a:t>
            </a:r>
            <a:r>
              <a:rPr lang="en-US" altLang="zh-CN" dirty="0" err="1" smtClean="0"/>
              <a:t>dubbo</a:t>
            </a:r>
            <a:r>
              <a:rPr lang="en-US" altLang="zh-CN" dirty="0" smtClean="0"/>
              <a:t> version: , current host: 10.101.24.30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F4EC10-889F-4995-B3E8-B699C48344AB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16050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方法中很重要的一段逻辑是通过</a:t>
            </a:r>
            <a:r>
              <a:rPr lang="en-US" altLang="zh-CN" sz="13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ProxyFactory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根据引用的接口对象和拼装的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URL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生成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Invoker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，而后通过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Protocol</a:t>
            </a:r>
            <a:r>
              <a:rPr lang="zh-CN" altLang="en-US" sz="1300" b="0" i="0" kern="120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暴露出来。</a:t>
            </a:r>
            <a:endParaRPr lang="en-US" altLang="zh-CN" sz="1300" b="0" i="0" kern="1200" smtClean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+mn-cs"/>
            </a:endParaRPr>
          </a:p>
          <a:p>
            <a:r>
              <a:rPr lang="en-US" altLang="zh-CN" sz="13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ReferenceConfig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和</a:t>
            </a:r>
            <a:r>
              <a:rPr lang="en-US" altLang="zh-CN" sz="13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ServiceConfig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都有一个属性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Protocol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，服务与</a:t>
            </a:r>
            <a:r>
              <a:rPr lang="en-US" altLang="zh-CN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Protocol</a:t>
            </a:r>
            <a:r>
              <a:rPr lang="zh-CN" altLang="en-US" sz="13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间就是通过这个属性建立联系的。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F4EC10-889F-4995-B3E8-B699C48344AB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4348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2147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076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7383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255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64640" y="1270786"/>
            <a:ext cx="13083117" cy="6367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084" tIns="51028" rIns="102084" bIns="5102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</p:txBody>
      </p:sp>
      <p:pic>
        <p:nvPicPr>
          <p:cNvPr id="5" name="Picture 2" descr="E:\同程艺龙横版.png">
            <a:extLst>
              <a:ext uri="{FF2B5EF4-FFF2-40B4-BE49-F238E27FC236}">
                <a16:creationId xmlns:a16="http://schemas.microsoft.com/office/drawing/2014/main" id="{93C576F4-F6C9-4586-B95C-73CEC6BF16F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7364" y="170721"/>
            <a:ext cx="2608709" cy="488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917" r:id="rId1"/>
    <p:sldLayoutId id="2147487918" r:id="rId2"/>
    <p:sldLayoutId id="2147487919" r:id="rId3"/>
    <p:sldLayoutId id="2147487955" r:id="rId4"/>
  </p:sldLayoutIdLst>
  <p:hf hdr="0" ftr="0" dt="0"/>
  <p:txStyles>
    <p:titleStyle>
      <a:lvl1pPr algn="l" defTabSz="1020186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accent2"/>
          </a:solidFill>
          <a:latin typeface="+mj-lt"/>
          <a:ea typeface="+mj-ea"/>
          <a:cs typeface="+mj-cs"/>
        </a:defRPr>
      </a:lvl1pPr>
      <a:lvl2pPr algn="l" defTabSz="1020186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accent2"/>
          </a:solidFill>
          <a:latin typeface="Arial" pitchFamily="34" charset="0"/>
          <a:ea typeface="楷体_GB2312" pitchFamily="49" charset="-122"/>
        </a:defRPr>
      </a:lvl2pPr>
      <a:lvl3pPr algn="l" defTabSz="1020186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accent2"/>
          </a:solidFill>
          <a:latin typeface="Arial" pitchFamily="34" charset="0"/>
          <a:ea typeface="楷体_GB2312" pitchFamily="49" charset="-122"/>
        </a:defRPr>
      </a:lvl3pPr>
      <a:lvl4pPr algn="l" defTabSz="1020186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accent2"/>
          </a:solidFill>
          <a:latin typeface="Arial" pitchFamily="34" charset="0"/>
          <a:ea typeface="楷体_GB2312" pitchFamily="49" charset="-122"/>
        </a:defRPr>
      </a:lvl4pPr>
      <a:lvl5pPr algn="l" defTabSz="1020186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accent2"/>
          </a:solidFill>
          <a:latin typeface="Arial" pitchFamily="34" charset="0"/>
          <a:ea typeface="楷体_GB2312" pitchFamily="49" charset="-122"/>
        </a:defRPr>
      </a:lvl5pPr>
      <a:lvl6pPr marL="469185" algn="l" defTabSz="1023090" rtl="0" fontAlgn="base">
        <a:spcBef>
          <a:spcPct val="0"/>
        </a:spcBef>
        <a:spcAft>
          <a:spcPct val="0"/>
        </a:spcAft>
        <a:defRPr sz="3000" b="1">
          <a:solidFill>
            <a:schemeClr val="accent2"/>
          </a:solidFill>
          <a:latin typeface="Arial" pitchFamily="34" charset="0"/>
          <a:ea typeface="楷体_GB2312" pitchFamily="49" charset="-122"/>
        </a:defRPr>
      </a:lvl6pPr>
      <a:lvl7pPr marL="938374" algn="l" defTabSz="1023090" rtl="0" fontAlgn="base">
        <a:spcBef>
          <a:spcPct val="0"/>
        </a:spcBef>
        <a:spcAft>
          <a:spcPct val="0"/>
        </a:spcAft>
        <a:defRPr sz="3000" b="1">
          <a:solidFill>
            <a:schemeClr val="accent2"/>
          </a:solidFill>
          <a:latin typeface="Arial" pitchFamily="34" charset="0"/>
          <a:ea typeface="楷体_GB2312" pitchFamily="49" charset="-122"/>
        </a:defRPr>
      </a:lvl7pPr>
      <a:lvl8pPr marL="1407560" algn="l" defTabSz="1023090" rtl="0" fontAlgn="base">
        <a:spcBef>
          <a:spcPct val="0"/>
        </a:spcBef>
        <a:spcAft>
          <a:spcPct val="0"/>
        </a:spcAft>
        <a:defRPr sz="3000" b="1">
          <a:solidFill>
            <a:schemeClr val="accent2"/>
          </a:solidFill>
          <a:latin typeface="Arial" pitchFamily="34" charset="0"/>
          <a:ea typeface="楷体_GB2312" pitchFamily="49" charset="-122"/>
        </a:defRPr>
      </a:lvl8pPr>
      <a:lvl9pPr marL="1876753" algn="l" defTabSz="1023090" rtl="0" fontAlgn="base">
        <a:spcBef>
          <a:spcPct val="0"/>
        </a:spcBef>
        <a:spcAft>
          <a:spcPct val="0"/>
        </a:spcAft>
        <a:defRPr sz="3000" b="1">
          <a:solidFill>
            <a:schemeClr val="accent2"/>
          </a:solidFill>
          <a:latin typeface="Arial" pitchFamily="34" charset="0"/>
          <a:ea typeface="楷体_GB2312" pitchFamily="49" charset="-122"/>
        </a:defRPr>
      </a:lvl9pPr>
    </p:titleStyle>
    <p:bodyStyle>
      <a:lvl1pPr marL="380325" indent="-380325" algn="l" defTabSz="1020186" rtl="0" eaLnBrk="0" fontAlgn="base" hangingPunct="0">
        <a:spcBef>
          <a:spcPct val="20000"/>
        </a:spcBef>
        <a:spcAft>
          <a:spcPct val="0"/>
        </a:spcAft>
        <a:buClr>
          <a:srgbClr val="A3001E"/>
        </a:buClr>
        <a:buSzPct val="80000"/>
        <a:buFont typeface="Wingdings" pitchFamily="2" charset="2"/>
        <a:buChar char="n"/>
        <a:defRPr sz="27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825941" indent="-313398" algn="l" defTabSz="1020186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sz="2500">
          <a:solidFill>
            <a:schemeClr val="tx1"/>
          </a:solidFill>
          <a:latin typeface="微软雅黑" pitchFamily="34" charset="-122"/>
          <a:ea typeface="微软雅黑" pitchFamily="34" charset="-122"/>
        </a:defRPr>
      </a:lvl2pPr>
      <a:lvl3pPr marL="1276454" indent="-251375" algn="l" defTabSz="1020186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ü"/>
        <a:defRPr sz="2200">
          <a:solidFill>
            <a:schemeClr val="tx1"/>
          </a:solidFill>
          <a:latin typeface="微软雅黑" pitchFamily="34" charset="-122"/>
          <a:ea typeface="微软雅黑" pitchFamily="34" charset="-122"/>
        </a:defRPr>
      </a:lvl3pPr>
      <a:lvl4pPr marL="1787364" indent="-251375" algn="l" defTabSz="1020186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  <a:ea typeface="+mn-ea"/>
        </a:defRPr>
      </a:lvl4pPr>
      <a:lvl5pPr marL="2299905" indent="-253008" algn="l" defTabSz="1020186" rtl="0" eaLnBrk="0" fontAlgn="base" hangingPunct="0">
        <a:spcBef>
          <a:spcPct val="2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5pPr>
      <a:lvl6pPr marL="2771143" indent="-257405" algn="l" defTabSz="1023090" rtl="0" fontAlgn="base">
        <a:spcBef>
          <a:spcPct val="2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6pPr>
      <a:lvl7pPr marL="3240329" indent="-257405" algn="l" defTabSz="1023090" rtl="0" fontAlgn="base">
        <a:spcBef>
          <a:spcPct val="2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7pPr>
      <a:lvl8pPr marL="3709517" indent="-257405" algn="l" defTabSz="1023090" rtl="0" fontAlgn="base">
        <a:spcBef>
          <a:spcPct val="2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8pPr>
      <a:lvl9pPr marL="4178705" indent="-257405" algn="l" defTabSz="1023090" rtl="0" fontAlgn="base">
        <a:spcBef>
          <a:spcPct val="2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3837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69185" algn="l" defTabSz="93837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38374" algn="l" defTabSz="93837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07560" algn="l" defTabSz="93837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76753" algn="l" defTabSz="93837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45940" algn="l" defTabSz="93837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15127" algn="l" defTabSz="93837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84313" algn="l" defTabSz="93837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753501" algn="l" defTabSz="93837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1944316" y="2738394"/>
            <a:ext cx="9937104" cy="1600143"/>
          </a:xfrm>
          <a:prstGeom prst="rect">
            <a:avLst/>
          </a:prstGeom>
          <a:ln/>
        </p:spPr>
        <p:txBody>
          <a:bodyPr vert="horz" lIns="94020" tIns="47011" rIns="94020" bIns="4701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5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Apache </a:t>
            </a:r>
            <a:r>
              <a:rPr lang="en-US" altLang="zh-CN" sz="5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Dubbo</a:t>
            </a:r>
            <a:r>
              <a:rPr lang="zh-CN" altLang="en-US" sz="5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原理浅析</a:t>
            </a:r>
            <a:endParaRPr lang="en-US" altLang="zh-CN" sz="5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60239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/>
          <p:cNvSpPr>
            <a:spLocks noChangeArrowheads="1"/>
          </p:cNvSpPr>
          <p:nvPr/>
        </p:nvSpPr>
        <p:spPr bwMode="auto">
          <a:xfrm>
            <a:off x="3205341" y="1579363"/>
            <a:ext cx="589356" cy="4060776"/>
          </a:xfrm>
          <a:custGeom>
            <a:avLst/>
            <a:gdLst>
              <a:gd name="T0" fmla="*/ 0 w 1049"/>
              <a:gd name="T1" fmla="*/ 0 h 7451"/>
              <a:gd name="T2" fmla="*/ 1049 w 1049"/>
              <a:gd name="T3" fmla="*/ 3726 h 7451"/>
              <a:gd name="T4" fmla="*/ 0 w 1049"/>
              <a:gd name="T5" fmla="*/ 7451 h 7451"/>
              <a:gd name="T6" fmla="*/ 0 60000 65536"/>
              <a:gd name="T7" fmla="*/ 0 60000 65536"/>
              <a:gd name="T8" fmla="*/ 0 60000 65536"/>
              <a:gd name="T9" fmla="*/ 0 w 1049"/>
              <a:gd name="T10" fmla="*/ 0 h 7451"/>
              <a:gd name="T11" fmla="*/ 1049 w 1049"/>
              <a:gd name="T12" fmla="*/ 7451 h 74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49" h="7451">
                <a:moveTo>
                  <a:pt x="0" y="0"/>
                </a:moveTo>
                <a:cubicBezTo>
                  <a:pt x="665" y="1085"/>
                  <a:pt x="1049" y="2360"/>
                  <a:pt x="1049" y="3726"/>
                </a:cubicBezTo>
                <a:cubicBezTo>
                  <a:pt x="1049" y="5091"/>
                  <a:pt x="665" y="6367"/>
                  <a:pt x="0" y="7451"/>
                </a:cubicBezTo>
              </a:path>
            </a:pathLst>
          </a:custGeom>
          <a:noFill/>
          <a:ln w="10" cap="flat" cmpd="sng">
            <a:solidFill>
              <a:srgbClr val="2E2C2C"/>
            </a:solidFill>
            <a:prstDash val="dash"/>
            <a:miter lim="800000"/>
            <a:headEnd/>
            <a:tailEnd/>
          </a:ln>
        </p:spPr>
        <p:txBody>
          <a:bodyPr/>
          <a:lstStyle/>
          <a:p>
            <a:endParaRPr lang="zh-CN" altLang="zh-CN">
              <a:solidFill>
                <a:srgbClr val="C4261D"/>
              </a:solidFill>
              <a:sym typeface="Arial" pitchFamily="34" charset="0"/>
            </a:endParaRPr>
          </a:p>
        </p:txBody>
      </p:sp>
      <p:grpSp>
        <p:nvGrpSpPr>
          <p:cNvPr id="3" name="组合 105"/>
          <p:cNvGrpSpPr>
            <a:grpSpLocks/>
          </p:cNvGrpSpPr>
          <p:nvPr/>
        </p:nvGrpSpPr>
        <p:grpSpPr bwMode="auto">
          <a:xfrm>
            <a:off x="3731894" y="1710091"/>
            <a:ext cx="3518795" cy="471484"/>
            <a:chOff x="0" y="0"/>
            <a:chExt cx="4833680" cy="648258"/>
          </a:xfrm>
        </p:grpSpPr>
        <p:sp>
          <p:nvSpPr>
            <p:cNvPr id="4" name="Freeform 13"/>
            <p:cNvSpPr>
              <a:spLocks noChangeArrowheads="1"/>
            </p:cNvSpPr>
            <p:nvPr/>
          </p:nvSpPr>
          <p:spPr bwMode="auto">
            <a:xfrm>
              <a:off x="0" y="0"/>
              <a:ext cx="4833680" cy="648258"/>
            </a:xfrm>
            <a:custGeom>
              <a:avLst/>
              <a:gdLst>
                <a:gd name="T0" fmla="*/ 10 w 7091"/>
                <a:gd name="T1" fmla="*/ 0 h 933"/>
                <a:gd name="T2" fmla="*/ 6624 w 7091"/>
                <a:gd name="T3" fmla="*/ 0 h 933"/>
                <a:gd name="T4" fmla="*/ 7091 w 7091"/>
                <a:gd name="T5" fmla="*/ 466 h 933"/>
                <a:gd name="T6" fmla="*/ 7091 w 7091"/>
                <a:gd name="T7" fmla="*/ 466 h 933"/>
                <a:gd name="T8" fmla="*/ 6624 w 7091"/>
                <a:gd name="T9" fmla="*/ 933 h 933"/>
                <a:gd name="T10" fmla="*/ 10 w 7091"/>
                <a:gd name="T11" fmla="*/ 933 h 933"/>
                <a:gd name="T12" fmla="*/ 0 w 7091"/>
                <a:gd name="T13" fmla="*/ 933 h 933"/>
                <a:gd name="T14" fmla="*/ 192 w 7091"/>
                <a:gd name="T15" fmla="*/ 466 h 933"/>
                <a:gd name="T16" fmla="*/ 0 w 7091"/>
                <a:gd name="T17" fmla="*/ 0 h 933"/>
                <a:gd name="T18" fmla="*/ 10 w 7091"/>
                <a:gd name="T19" fmla="*/ 0 h 93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091"/>
                <a:gd name="T31" fmla="*/ 0 h 933"/>
                <a:gd name="T32" fmla="*/ 7091 w 7091"/>
                <a:gd name="T33" fmla="*/ 933 h 93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091" h="933">
                  <a:moveTo>
                    <a:pt x="10" y="0"/>
                  </a:moveTo>
                  <a:lnTo>
                    <a:pt x="6624" y="0"/>
                  </a:lnTo>
                  <a:cubicBezTo>
                    <a:pt x="6881" y="0"/>
                    <a:pt x="7091" y="210"/>
                    <a:pt x="7091" y="466"/>
                  </a:cubicBezTo>
                  <a:lnTo>
                    <a:pt x="7091" y="466"/>
                  </a:lnTo>
                  <a:cubicBezTo>
                    <a:pt x="7091" y="723"/>
                    <a:pt x="6881" y="933"/>
                    <a:pt x="6624" y="933"/>
                  </a:cubicBezTo>
                  <a:lnTo>
                    <a:pt x="10" y="933"/>
                  </a:lnTo>
                  <a:cubicBezTo>
                    <a:pt x="7" y="933"/>
                    <a:pt x="4" y="933"/>
                    <a:pt x="0" y="933"/>
                  </a:cubicBezTo>
                  <a:cubicBezTo>
                    <a:pt x="119" y="813"/>
                    <a:pt x="192" y="648"/>
                    <a:pt x="192" y="466"/>
                  </a:cubicBezTo>
                  <a:cubicBezTo>
                    <a:pt x="192" y="284"/>
                    <a:pt x="119" y="120"/>
                    <a:pt x="0" y="0"/>
                  </a:cubicBezTo>
                  <a:cubicBezTo>
                    <a:pt x="4" y="0"/>
                    <a:pt x="7" y="0"/>
                    <a:pt x="10" y="0"/>
                  </a:cubicBezTo>
                  <a:close/>
                </a:path>
              </a:pathLst>
            </a:custGeom>
            <a:solidFill>
              <a:srgbClr val="8BB923"/>
            </a:solidFill>
            <a:ln w="9525" cmpd="sng">
              <a:noFill/>
              <a:bevel/>
              <a:headEnd/>
              <a:tailEnd/>
            </a:ln>
          </p:spPr>
          <p:txBody>
            <a:bodyPr lIns="90170" tIns="46990" rIns="90170" bIns="46990"/>
            <a:lstStyle/>
            <a:p>
              <a:endParaRPr lang="zh-CN" altLang="zh-CN">
                <a:solidFill>
                  <a:srgbClr val="C4261D"/>
                </a:solidFill>
                <a:sym typeface="Arial" pitchFamily="34" charset="0"/>
              </a:endParaRPr>
            </a:p>
          </p:txBody>
        </p:sp>
        <p:sp>
          <p:nvSpPr>
            <p:cNvPr id="5" name="Freeform 15"/>
            <p:cNvSpPr>
              <a:spLocks noEditPoints="1" noChangeArrowheads="1"/>
            </p:cNvSpPr>
            <p:nvPr/>
          </p:nvSpPr>
          <p:spPr bwMode="auto">
            <a:xfrm>
              <a:off x="4326709" y="182842"/>
              <a:ext cx="279250" cy="285899"/>
            </a:xfrm>
            <a:custGeom>
              <a:avLst/>
              <a:gdLst>
                <a:gd name="T0" fmla="*/ 224 w 411"/>
                <a:gd name="T1" fmla="*/ 346 h 411"/>
                <a:gd name="T2" fmla="*/ 193 w 411"/>
                <a:gd name="T3" fmla="*/ 320 h 411"/>
                <a:gd name="T4" fmla="*/ 272 w 411"/>
                <a:gd name="T5" fmla="*/ 227 h 411"/>
                <a:gd name="T6" fmla="*/ 67 w 411"/>
                <a:gd name="T7" fmla="*/ 227 h 411"/>
                <a:gd name="T8" fmla="*/ 67 w 411"/>
                <a:gd name="T9" fmla="*/ 183 h 411"/>
                <a:gd name="T10" fmla="*/ 272 w 411"/>
                <a:gd name="T11" fmla="*/ 183 h 411"/>
                <a:gd name="T12" fmla="*/ 193 w 411"/>
                <a:gd name="T13" fmla="*/ 91 h 411"/>
                <a:gd name="T14" fmla="*/ 224 w 411"/>
                <a:gd name="T15" fmla="*/ 64 h 411"/>
                <a:gd name="T16" fmla="*/ 345 w 411"/>
                <a:gd name="T17" fmla="*/ 205 h 411"/>
                <a:gd name="T18" fmla="*/ 224 w 411"/>
                <a:gd name="T19" fmla="*/ 346 h 411"/>
                <a:gd name="T20" fmla="*/ 206 w 411"/>
                <a:gd name="T21" fmla="*/ 0 h 411"/>
                <a:gd name="T22" fmla="*/ 411 w 411"/>
                <a:gd name="T23" fmla="*/ 205 h 411"/>
                <a:gd name="T24" fmla="*/ 206 w 411"/>
                <a:gd name="T25" fmla="*/ 411 h 411"/>
                <a:gd name="T26" fmla="*/ 0 w 411"/>
                <a:gd name="T27" fmla="*/ 205 h 411"/>
                <a:gd name="T28" fmla="*/ 206 w 411"/>
                <a:gd name="T29" fmla="*/ 0 h 411"/>
                <a:gd name="T30" fmla="*/ 206 w 411"/>
                <a:gd name="T31" fmla="*/ 26 h 411"/>
                <a:gd name="T32" fmla="*/ 385 w 411"/>
                <a:gd name="T33" fmla="*/ 205 h 411"/>
                <a:gd name="T34" fmla="*/ 206 w 411"/>
                <a:gd name="T35" fmla="*/ 385 h 411"/>
                <a:gd name="T36" fmla="*/ 27 w 411"/>
                <a:gd name="T37" fmla="*/ 205 h 411"/>
                <a:gd name="T38" fmla="*/ 206 w 411"/>
                <a:gd name="T39" fmla="*/ 26 h 41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11"/>
                <a:gd name="T61" fmla="*/ 0 h 411"/>
                <a:gd name="T62" fmla="*/ 411 w 411"/>
                <a:gd name="T63" fmla="*/ 411 h 411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11" h="411">
                  <a:moveTo>
                    <a:pt x="224" y="346"/>
                  </a:moveTo>
                  <a:lnTo>
                    <a:pt x="193" y="320"/>
                  </a:lnTo>
                  <a:lnTo>
                    <a:pt x="272" y="227"/>
                  </a:lnTo>
                  <a:lnTo>
                    <a:pt x="67" y="227"/>
                  </a:lnTo>
                  <a:lnTo>
                    <a:pt x="67" y="183"/>
                  </a:lnTo>
                  <a:lnTo>
                    <a:pt x="272" y="183"/>
                  </a:lnTo>
                  <a:lnTo>
                    <a:pt x="193" y="91"/>
                  </a:lnTo>
                  <a:lnTo>
                    <a:pt x="224" y="64"/>
                  </a:lnTo>
                  <a:lnTo>
                    <a:pt x="345" y="205"/>
                  </a:lnTo>
                  <a:lnTo>
                    <a:pt x="224" y="346"/>
                  </a:lnTo>
                  <a:close/>
                  <a:moveTo>
                    <a:pt x="206" y="0"/>
                  </a:moveTo>
                  <a:cubicBezTo>
                    <a:pt x="319" y="0"/>
                    <a:pt x="411" y="92"/>
                    <a:pt x="411" y="205"/>
                  </a:cubicBezTo>
                  <a:cubicBezTo>
                    <a:pt x="411" y="319"/>
                    <a:pt x="319" y="411"/>
                    <a:pt x="206" y="411"/>
                  </a:cubicBezTo>
                  <a:cubicBezTo>
                    <a:pt x="92" y="411"/>
                    <a:pt x="0" y="319"/>
                    <a:pt x="0" y="205"/>
                  </a:cubicBezTo>
                  <a:cubicBezTo>
                    <a:pt x="0" y="92"/>
                    <a:pt x="92" y="0"/>
                    <a:pt x="206" y="0"/>
                  </a:cubicBezTo>
                  <a:close/>
                  <a:moveTo>
                    <a:pt x="206" y="26"/>
                  </a:moveTo>
                  <a:cubicBezTo>
                    <a:pt x="305" y="26"/>
                    <a:pt x="385" y="106"/>
                    <a:pt x="385" y="205"/>
                  </a:cubicBezTo>
                  <a:cubicBezTo>
                    <a:pt x="385" y="304"/>
                    <a:pt x="305" y="385"/>
                    <a:pt x="206" y="385"/>
                  </a:cubicBezTo>
                  <a:cubicBezTo>
                    <a:pt x="107" y="385"/>
                    <a:pt x="27" y="304"/>
                    <a:pt x="27" y="205"/>
                  </a:cubicBezTo>
                  <a:cubicBezTo>
                    <a:pt x="27" y="106"/>
                    <a:pt x="107" y="26"/>
                    <a:pt x="206" y="26"/>
                  </a:cubicBezTo>
                  <a:close/>
                </a:path>
              </a:pathLst>
            </a:custGeom>
            <a:solidFill>
              <a:srgbClr val="8BB923"/>
            </a:solidFill>
            <a:ln w="9525" cmpd="sng">
              <a:noFill/>
              <a:bevel/>
              <a:headEnd/>
              <a:tailEnd/>
            </a:ln>
          </p:spPr>
          <p:txBody>
            <a:bodyPr lIns="90170" tIns="46990" rIns="90170" bIns="46990"/>
            <a:lstStyle/>
            <a:p>
              <a:endParaRPr lang="zh-CN" altLang="zh-CN">
                <a:solidFill>
                  <a:srgbClr val="C4261D"/>
                </a:solidFill>
                <a:sym typeface="Arial" pitchFamily="34" charset="0"/>
              </a:endParaRPr>
            </a:p>
          </p:txBody>
        </p:sp>
      </p:grpSp>
      <p:sp>
        <p:nvSpPr>
          <p:cNvPr id="6" name="Oval 12"/>
          <p:cNvSpPr>
            <a:spLocks noChangeArrowheads="1"/>
          </p:cNvSpPr>
          <p:nvPr/>
        </p:nvSpPr>
        <p:spPr bwMode="auto">
          <a:xfrm>
            <a:off x="3218808" y="1713632"/>
            <a:ext cx="513086" cy="522331"/>
          </a:xfrm>
          <a:prstGeom prst="ellipse">
            <a:avLst/>
          </a:prstGeom>
          <a:solidFill>
            <a:srgbClr val="8BB923"/>
          </a:solidFill>
          <a:ln w="9525" cmpd="sng">
            <a:noFill/>
            <a:bevel/>
            <a:headEnd/>
            <a:tailEnd/>
          </a:ln>
        </p:spPr>
        <p:txBody>
          <a:bodyPr lIns="90170" tIns="46990" rIns="90170" bIns="46990"/>
          <a:lstStyle/>
          <a:p>
            <a:endParaRPr lang="zh-CN" altLang="zh-CN">
              <a:solidFill>
                <a:srgbClr val="C4261D"/>
              </a:solidFill>
              <a:sym typeface="Arial" pitchFamily="34" charset="0"/>
            </a:endParaRPr>
          </a:p>
        </p:txBody>
      </p:sp>
      <p:sp>
        <p:nvSpPr>
          <p:cNvPr id="7" name="TextBox 111"/>
          <p:cNvSpPr>
            <a:spLocks noChangeArrowheads="1"/>
          </p:cNvSpPr>
          <p:nvPr/>
        </p:nvSpPr>
        <p:spPr bwMode="auto">
          <a:xfrm>
            <a:off x="3271067" y="1731907"/>
            <a:ext cx="33859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8F8F8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1</a:t>
            </a:r>
          </a:p>
        </p:txBody>
      </p:sp>
      <p:grpSp>
        <p:nvGrpSpPr>
          <p:cNvPr id="8" name="组合 112"/>
          <p:cNvGrpSpPr>
            <a:grpSpLocks/>
          </p:cNvGrpSpPr>
          <p:nvPr/>
        </p:nvGrpSpPr>
        <p:grpSpPr bwMode="auto">
          <a:xfrm>
            <a:off x="3989910" y="2742319"/>
            <a:ext cx="3518797" cy="472640"/>
            <a:chOff x="0" y="0"/>
            <a:chExt cx="4833680" cy="648258"/>
          </a:xfrm>
        </p:grpSpPr>
        <p:sp>
          <p:nvSpPr>
            <p:cNvPr id="9" name="Freeform 13"/>
            <p:cNvSpPr>
              <a:spLocks noChangeArrowheads="1"/>
            </p:cNvSpPr>
            <p:nvPr/>
          </p:nvSpPr>
          <p:spPr bwMode="auto">
            <a:xfrm>
              <a:off x="0" y="0"/>
              <a:ext cx="4833680" cy="648258"/>
            </a:xfrm>
            <a:custGeom>
              <a:avLst/>
              <a:gdLst>
                <a:gd name="T0" fmla="*/ 10 w 7091"/>
                <a:gd name="T1" fmla="*/ 0 h 933"/>
                <a:gd name="T2" fmla="*/ 6624 w 7091"/>
                <a:gd name="T3" fmla="*/ 0 h 933"/>
                <a:gd name="T4" fmla="*/ 7091 w 7091"/>
                <a:gd name="T5" fmla="*/ 466 h 933"/>
                <a:gd name="T6" fmla="*/ 7091 w 7091"/>
                <a:gd name="T7" fmla="*/ 466 h 933"/>
                <a:gd name="T8" fmla="*/ 6624 w 7091"/>
                <a:gd name="T9" fmla="*/ 933 h 933"/>
                <a:gd name="T10" fmla="*/ 10 w 7091"/>
                <a:gd name="T11" fmla="*/ 933 h 933"/>
                <a:gd name="T12" fmla="*/ 0 w 7091"/>
                <a:gd name="T13" fmla="*/ 933 h 933"/>
                <a:gd name="T14" fmla="*/ 192 w 7091"/>
                <a:gd name="T15" fmla="*/ 466 h 933"/>
                <a:gd name="T16" fmla="*/ 0 w 7091"/>
                <a:gd name="T17" fmla="*/ 0 h 933"/>
                <a:gd name="T18" fmla="*/ 10 w 7091"/>
                <a:gd name="T19" fmla="*/ 0 h 93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091"/>
                <a:gd name="T31" fmla="*/ 0 h 933"/>
                <a:gd name="T32" fmla="*/ 7091 w 7091"/>
                <a:gd name="T33" fmla="*/ 933 h 93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091" h="933">
                  <a:moveTo>
                    <a:pt x="10" y="0"/>
                  </a:moveTo>
                  <a:lnTo>
                    <a:pt x="6624" y="0"/>
                  </a:lnTo>
                  <a:cubicBezTo>
                    <a:pt x="6881" y="0"/>
                    <a:pt x="7091" y="210"/>
                    <a:pt x="7091" y="466"/>
                  </a:cubicBezTo>
                  <a:lnTo>
                    <a:pt x="7091" y="466"/>
                  </a:lnTo>
                  <a:cubicBezTo>
                    <a:pt x="7091" y="723"/>
                    <a:pt x="6881" y="933"/>
                    <a:pt x="6624" y="933"/>
                  </a:cubicBezTo>
                  <a:lnTo>
                    <a:pt x="10" y="933"/>
                  </a:lnTo>
                  <a:cubicBezTo>
                    <a:pt x="7" y="933"/>
                    <a:pt x="4" y="933"/>
                    <a:pt x="0" y="933"/>
                  </a:cubicBezTo>
                  <a:cubicBezTo>
                    <a:pt x="119" y="813"/>
                    <a:pt x="192" y="648"/>
                    <a:pt x="192" y="466"/>
                  </a:cubicBezTo>
                  <a:cubicBezTo>
                    <a:pt x="192" y="284"/>
                    <a:pt x="119" y="120"/>
                    <a:pt x="0" y="0"/>
                  </a:cubicBezTo>
                  <a:cubicBezTo>
                    <a:pt x="4" y="0"/>
                    <a:pt x="7" y="0"/>
                    <a:pt x="10" y="0"/>
                  </a:cubicBezTo>
                  <a:close/>
                </a:path>
              </a:pathLst>
            </a:custGeom>
            <a:solidFill>
              <a:srgbClr val="8BB923"/>
            </a:solidFill>
            <a:ln w="9525" cmpd="sng">
              <a:noFill/>
              <a:bevel/>
              <a:headEnd/>
              <a:tailEnd/>
            </a:ln>
          </p:spPr>
          <p:txBody>
            <a:bodyPr lIns="90170" tIns="46990" rIns="90170" bIns="46990"/>
            <a:lstStyle/>
            <a:p>
              <a:endParaRPr lang="zh-CN" altLang="zh-CN">
                <a:solidFill>
                  <a:srgbClr val="C4261D"/>
                </a:solidFill>
                <a:sym typeface="Arial" pitchFamily="34" charset="0"/>
              </a:endParaRPr>
            </a:p>
          </p:txBody>
        </p:sp>
        <p:sp>
          <p:nvSpPr>
            <p:cNvPr id="10" name="Freeform 15"/>
            <p:cNvSpPr>
              <a:spLocks noEditPoints="1" noChangeArrowheads="1"/>
            </p:cNvSpPr>
            <p:nvPr/>
          </p:nvSpPr>
          <p:spPr bwMode="auto">
            <a:xfrm>
              <a:off x="4326709" y="182842"/>
              <a:ext cx="279250" cy="285899"/>
            </a:xfrm>
            <a:custGeom>
              <a:avLst/>
              <a:gdLst>
                <a:gd name="T0" fmla="*/ 224 w 411"/>
                <a:gd name="T1" fmla="*/ 346 h 411"/>
                <a:gd name="T2" fmla="*/ 193 w 411"/>
                <a:gd name="T3" fmla="*/ 320 h 411"/>
                <a:gd name="T4" fmla="*/ 272 w 411"/>
                <a:gd name="T5" fmla="*/ 227 h 411"/>
                <a:gd name="T6" fmla="*/ 67 w 411"/>
                <a:gd name="T7" fmla="*/ 227 h 411"/>
                <a:gd name="T8" fmla="*/ 67 w 411"/>
                <a:gd name="T9" fmla="*/ 183 h 411"/>
                <a:gd name="T10" fmla="*/ 272 w 411"/>
                <a:gd name="T11" fmla="*/ 183 h 411"/>
                <a:gd name="T12" fmla="*/ 193 w 411"/>
                <a:gd name="T13" fmla="*/ 91 h 411"/>
                <a:gd name="T14" fmla="*/ 224 w 411"/>
                <a:gd name="T15" fmla="*/ 64 h 411"/>
                <a:gd name="T16" fmla="*/ 345 w 411"/>
                <a:gd name="T17" fmla="*/ 205 h 411"/>
                <a:gd name="T18" fmla="*/ 224 w 411"/>
                <a:gd name="T19" fmla="*/ 346 h 411"/>
                <a:gd name="T20" fmla="*/ 206 w 411"/>
                <a:gd name="T21" fmla="*/ 0 h 411"/>
                <a:gd name="T22" fmla="*/ 411 w 411"/>
                <a:gd name="T23" fmla="*/ 205 h 411"/>
                <a:gd name="T24" fmla="*/ 206 w 411"/>
                <a:gd name="T25" fmla="*/ 411 h 411"/>
                <a:gd name="T26" fmla="*/ 0 w 411"/>
                <a:gd name="T27" fmla="*/ 205 h 411"/>
                <a:gd name="T28" fmla="*/ 206 w 411"/>
                <a:gd name="T29" fmla="*/ 0 h 411"/>
                <a:gd name="T30" fmla="*/ 206 w 411"/>
                <a:gd name="T31" fmla="*/ 26 h 411"/>
                <a:gd name="T32" fmla="*/ 385 w 411"/>
                <a:gd name="T33" fmla="*/ 205 h 411"/>
                <a:gd name="T34" fmla="*/ 206 w 411"/>
                <a:gd name="T35" fmla="*/ 385 h 411"/>
                <a:gd name="T36" fmla="*/ 27 w 411"/>
                <a:gd name="T37" fmla="*/ 205 h 411"/>
                <a:gd name="T38" fmla="*/ 206 w 411"/>
                <a:gd name="T39" fmla="*/ 26 h 41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11"/>
                <a:gd name="T61" fmla="*/ 0 h 411"/>
                <a:gd name="T62" fmla="*/ 411 w 411"/>
                <a:gd name="T63" fmla="*/ 411 h 411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11" h="411">
                  <a:moveTo>
                    <a:pt x="224" y="346"/>
                  </a:moveTo>
                  <a:lnTo>
                    <a:pt x="193" y="320"/>
                  </a:lnTo>
                  <a:lnTo>
                    <a:pt x="272" y="227"/>
                  </a:lnTo>
                  <a:lnTo>
                    <a:pt x="67" y="227"/>
                  </a:lnTo>
                  <a:lnTo>
                    <a:pt x="67" y="183"/>
                  </a:lnTo>
                  <a:lnTo>
                    <a:pt x="272" y="183"/>
                  </a:lnTo>
                  <a:lnTo>
                    <a:pt x="193" y="91"/>
                  </a:lnTo>
                  <a:lnTo>
                    <a:pt x="224" y="64"/>
                  </a:lnTo>
                  <a:lnTo>
                    <a:pt x="345" y="205"/>
                  </a:lnTo>
                  <a:lnTo>
                    <a:pt x="224" y="346"/>
                  </a:lnTo>
                  <a:close/>
                  <a:moveTo>
                    <a:pt x="206" y="0"/>
                  </a:moveTo>
                  <a:cubicBezTo>
                    <a:pt x="319" y="0"/>
                    <a:pt x="411" y="92"/>
                    <a:pt x="411" y="205"/>
                  </a:cubicBezTo>
                  <a:cubicBezTo>
                    <a:pt x="411" y="319"/>
                    <a:pt x="319" y="411"/>
                    <a:pt x="206" y="411"/>
                  </a:cubicBezTo>
                  <a:cubicBezTo>
                    <a:pt x="92" y="411"/>
                    <a:pt x="0" y="319"/>
                    <a:pt x="0" y="205"/>
                  </a:cubicBezTo>
                  <a:cubicBezTo>
                    <a:pt x="0" y="92"/>
                    <a:pt x="92" y="0"/>
                    <a:pt x="206" y="0"/>
                  </a:cubicBezTo>
                  <a:close/>
                  <a:moveTo>
                    <a:pt x="206" y="26"/>
                  </a:moveTo>
                  <a:cubicBezTo>
                    <a:pt x="305" y="26"/>
                    <a:pt x="385" y="106"/>
                    <a:pt x="385" y="205"/>
                  </a:cubicBezTo>
                  <a:cubicBezTo>
                    <a:pt x="385" y="304"/>
                    <a:pt x="305" y="385"/>
                    <a:pt x="206" y="385"/>
                  </a:cubicBezTo>
                  <a:cubicBezTo>
                    <a:pt x="107" y="385"/>
                    <a:pt x="27" y="304"/>
                    <a:pt x="27" y="205"/>
                  </a:cubicBezTo>
                  <a:cubicBezTo>
                    <a:pt x="27" y="106"/>
                    <a:pt x="107" y="26"/>
                    <a:pt x="206" y="26"/>
                  </a:cubicBezTo>
                  <a:close/>
                </a:path>
              </a:pathLst>
            </a:custGeom>
            <a:solidFill>
              <a:srgbClr val="8BB923"/>
            </a:solidFill>
            <a:ln w="9525" cmpd="sng">
              <a:noFill/>
              <a:bevel/>
              <a:headEnd/>
              <a:tailEnd/>
            </a:ln>
          </p:spPr>
          <p:txBody>
            <a:bodyPr lIns="90170" tIns="46990" rIns="90170" bIns="46990"/>
            <a:lstStyle/>
            <a:p>
              <a:endParaRPr lang="zh-CN" altLang="zh-CN">
                <a:solidFill>
                  <a:srgbClr val="C4261D"/>
                </a:solidFill>
                <a:sym typeface="Arial" pitchFamily="34" charset="0"/>
              </a:endParaRPr>
            </a:p>
          </p:txBody>
        </p:sp>
      </p:grpSp>
      <p:sp>
        <p:nvSpPr>
          <p:cNvPr id="11" name="Oval 12"/>
          <p:cNvSpPr>
            <a:spLocks noChangeArrowheads="1"/>
          </p:cNvSpPr>
          <p:nvPr/>
        </p:nvSpPr>
        <p:spPr bwMode="auto">
          <a:xfrm>
            <a:off x="3485854" y="2742319"/>
            <a:ext cx="513086" cy="522331"/>
          </a:xfrm>
          <a:prstGeom prst="ellipse">
            <a:avLst/>
          </a:prstGeom>
          <a:solidFill>
            <a:srgbClr val="8BB923"/>
          </a:solidFill>
          <a:ln w="9525" cmpd="sng">
            <a:noFill/>
            <a:bevel/>
            <a:headEnd/>
            <a:tailEnd/>
          </a:ln>
        </p:spPr>
        <p:txBody>
          <a:bodyPr lIns="90170" tIns="46990" rIns="90170" bIns="46990"/>
          <a:lstStyle/>
          <a:p>
            <a:endParaRPr lang="zh-CN" altLang="zh-CN">
              <a:solidFill>
                <a:srgbClr val="C4261D"/>
              </a:solidFill>
              <a:sym typeface="Arial" pitchFamily="34" charset="0"/>
            </a:endParaRPr>
          </a:p>
        </p:txBody>
      </p:sp>
      <p:sp>
        <p:nvSpPr>
          <p:cNvPr id="12" name="TextBox 118"/>
          <p:cNvSpPr>
            <a:spLocks noChangeArrowheads="1"/>
          </p:cNvSpPr>
          <p:nvPr/>
        </p:nvSpPr>
        <p:spPr bwMode="auto">
          <a:xfrm>
            <a:off x="3538545" y="2767302"/>
            <a:ext cx="33974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8F8F8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</a:t>
            </a:r>
          </a:p>
        </p:txBody>
      </p:sp>
      <p:grpSp>
        <p:nvGrpSpPr>
          <p:cNvPr id="13" name="组合 119"/>
          <p:cNvGrpSpPr>
            <a:grpSpLocks/>
          </p:cNvGrpSpPr>
          <p:nvPr/>
        </p:nvGrpSpPr>
        <p:grpSpPr bwMode="auto">
          <a:xfrm>
            <a:off x="4062929" y="3770841"/>
            <a:ext cx="3518796" cy="472640"/>
            <a:chOff x="0" y="0"/>
            <a:chExt cx="4833680" cy="648258"/>
          </a:xfrm>
        </p:grpSpPr>
        <p:sp>
          <p:nvSpPr>
            <p:cNvPr id="14" name="Freeform 13"/>
            <p:cNvSpPr>
              <a:spLocks noChangeArrowheads="1"/>
            </p:cNvSpPr>
            <p:nvPr/>
          </p:nvSpPr>
          <p:spPr bwMode="auto">
            <a:xfrm>
              <a:off x="0" y="0"/>
              <a:ext cx="4833680" cy="648258"/>
            </a:xfrm>
            <a:custGeom>
              <a:avLst/>
              <a:gdLst>
                <a:gd name="T0" fmla="*/ 10 w 7091"/>
                <a:gd name="T1" fmla="*/ 0 h 933"/>
                <a:gd name="T2" fmla="*/ 6624 w 7091"/>
                <a:gd name="T3" fmla="*/ 0 h 933"/>
                <a:gd name="T4" fmla="*/ 7091 w 7091"/>
                <a:gd name="T5" fmla="*/ 466 h 933"/>
                <a:gd name="T6" fmla="*/ 7091 w 7091"/>
                <a:gd name="T7" fmla="*/ 466 h 933"/>
                <a:gd name="T8" fmla="*/ 6624 w 7091"/>
                <a:gd name="T9" fmla="*/ 933 h 933"/>
                <a:gd name="T10" fmla="*/ 10 w 7091"/>
                <a:gd name="T11" fmla="*/ 933 h 933"/>
                <a:gd name="T12" fmla="*/ 0 w 7091"/>
                <a:gd name="T13" fmla="*/ 933 h 933"/>
                <a:gd name="T14" fmla="*/ 192 w 7091"/>
                <a:gd name="T15" fmla="*/ 466 h 933"/>
                <a:gd name="T16" fmla="*/ 0 w 7091"/>
                <a:gd name="T17" fmla="*/ 0 h 933"/>
                <a:gd name="T18" fmla="*/ 10 w 7091"/>
                <a:gd name="T19" fmla="*/ 0 h 93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091"/>
                <a:gd name="T31" fmla="*/ 0 h 933"/>
                <a:gd name="T32" fmla="*/ 7091 w 7091"/>
                <a:gd name="T33" fmla="*/ 933 h 93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091" h="933">
                  <a:moveTo>
                    <a:pt x="10" y="0"/>
                  </a:moveTo>
                  <a:lnTo>
                    <a:pt x="6624" y="0"/>
                  </a:lnTo>
                  <a:cubicBezTo>
                    <a:pt x="6881" y="0"/>
                    <a:pt x="7091" y="210"/>
                    <a:pt x="7091" y="466"/>
                  </a:cubicBezTo>
                  <a:lnTo>
                    <a:pt x="7091" y="466"/>
                  </a:lnTo>
                  <a:cubicBezTo>
                    <a:pt x="7091" y="723"/>
                    <a:pt x="6881" y="933"/>
                    <a:pt x="6624" y="933"/>
                  </a:cubicBezTo>
                  <a:lnTo>
                    <a:pt x="10" y="933"/>
                  </a:lnTo>
                  <a:cubicBezTo>
                    <a:pt x="7" y="933"/>
                    <a:pt x="4" y="933"/>
                    <a:pt x="0" y="933"/>
                  </a:cubicBezTo>
                  <a:cubicBezTo>
                    <a:pt x="119" y="813"/>
                    <a:pt x="192" y="648"/>
                    <a:pt x="192" y="466"/>
                  </a:cubicBezTo>
                  <a:cubicBezTo>
                    <a:pt x="192" y="284"/>
                    <a:pt x="119" y="120"/>
                    <a:pt x="0" y="0"/>
                  </a:cubicBezTo>
                  <a:cubicBezTo>
                    <a:pt x="4" y="0"/>
                    <a:pt x="7" y="0"/>
                    <a:pt x="10" y="0"/>
                  </a:cubicBezTo>
                  <a:close/>
                </a:path>
              </a:pathLst>
            </a:custGeom>
            <a:solidFill>
              <a:srgbClr val="8BB923"/>
            </a:solidFill>
            <a:ln w="9525" cmpd="sng">
              <a:noFill/>
              <a:bevel/>
              <a:headEnd/>
              <a:tailEnd/>
            </a:ln>
          </p:spPr>
          <p:txBody>
            <a:bodyPr lIns="90170" tIns="46990" rIns="90170" bIns="46990"/>
            <a:lstStyle/>
            <a:p>
              <a:endParaRPr lang="zh-CN" altLang="zh-CN">
                <a:solidFill>
                  <a:srgbClr val="C4261D"/>
                </a:solidFill>
                <a:sym typeface="Arial" pitchFamily="34" charset="0"/>
              </a:endParaRPr>
            </a:p>
          </p:txBody>
        </p:sp>
        <p:sp>
          <p:nvSpPr>
            <p:cNvPr id="15" name="Freeform 15"/>
            <p:cNvSpPr>
              <a:spLocks noEditPoints="1" noChangeArrowheads="1"/>
            </p:cNvSpPr>
            <p:nvPr/>
          </p:nvSpPr>
          <p:spPr bwMode="auto">
            <a:xfrm>
              <a:off x="4326709" y="182842"/>
              <a:ext cx="279250" cy="285899"/>
            </a:xfrm>
            <a:custGeom>
              <a:avLst/>
              <a:gdLst>
                <a:gd name="T0" fmla="*/ 224 w 411"/>
                <a:gd name="T1" fmla="*/ 346 h 411"/>
                <a:gd name="T2" fmla="*/ 193 w 411"/>
                <a:gd name="T3" fmla="*/ 320 h 411"/>
                <a:gd name="T4" fmla="*/ 272 w 411"/>
                <a:gd name="T5" fmla="*/ 227 h 411"/>
                <a:gd name="T6" fmla="*/ 67 w 411"/>
                <a:gd name="T7" fmla="*/ 227 h 411"/>
                <a:gd name="T8" fmla="*/ 67 w 411"/>
                <a:gd name="T9" fmla="*/ 183 h 411"/>
                <a:gd name="T10" fmla="*/ 272 w 411"/>
                <a:gd name="T11" fmla="*/ 183 h 411"/>
                <a:gd name="T12" fmla="*/ 193 w 411"/>
                <a:gd name="T13" fmla="*/ 91 h 411"/>
                <a:gd name="T14" fmla="*/ 224 w 411"/>
                <a:gd name="T15" fmla="*/ 64 h 411"/>
                <a:gd name="T16" fmla="*/ 345 w 411"/>
                <a:gd name="T17" fmla="*/ 205 h 411"/>
                <a:gd name="T18" fmla="*/ 224 w 411"/>
                <a:gd name="T19" fmla="*/ 346 h 411"/>
                <a:gd name="T20" fmla="*/ 206 w 411"/>
                <a:gd name="T21" fmla="*/ 0 h 411"/>
                <a:gd name="T22" fmla="*/ 411 w 411"/>
                <a:gd name="T23" fmla="*/ 205 h 411"/>
                <a:gd name="T24" fmla="*/ 206 w 411"/>
                <a:gd name="T25" fmla="*/ 411 h 411"/>
                <a:gd name="T26" fmla="*/ 0 w 411"/>
                <a:gd name="T27" fmla="*/ 205 h 411"/>
                <a:gd name="T28" fmla="*/ 206 w 411"/>
                <a:gd name="T29" fmla="*/ 0 h 411"/>
                <a:gd name="T30" fmla="*/ 206 w 411"/>
                <a:gd name="T31" fmla="*/ 26 h 411"/>
                <a:gd name="T32" fmla="*/ 385 w 411"/>
                <a:gd name="T33" fmla="*/ 205 h 411"/>
                <a:gd name="T34" fmla="*/ 206 w 411"/>
                <a:gd name="T35" fmla="*/ 385 h 411"/>
                <a:gd name="T36" fmla="*/ 27 w 411"/>
                <a:gd name="T37" fmla="*/ 205 h 411"/>
                <a:gd name="T38" fmla="*/ 206 w 411"/>
                <a:gd name="T39" fmla="*/ 26 h 41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11"/>
                <a:gd name="T61" fmla="*/ 0 h 411"/>
                <a:gd name="T62" fmla="*/ 411 w 411"/>
                <a:gd name="T63" fmla="*/ 411 h 411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11" h="411">
                  <a:moveTo>
                    <a:pt x="224" y="346"/>
                  </a:moveTo>
                  <a:lnTo>
                    <a:pt x="193" y="320"/>
                  </a:lnTo>
                  <a:lnTo>
                    <a:pt x="272" y="227"/>
                  </a:lnTo>
                  <a:lnTo>
                    <a:pt x="67" y="227"/>
                  </a:lnTo>
                  <a:lnTo>
                    <a:pt x="67" y="183"/>
                  </a:lnTo>
                  <a:lnTo>
                    <a:pt x="272" y="183"/>
                  </a:lnTo>
                  <a:lnTo>
                    <a:pt x="193" y="91"/>
                  </a:lnTo>
                  <a:lnTo>
                    <a:pt x="224" y="64"/>
                  </a:lnTo>
                  <a:lnTo>
                    <a:pt x="345" y="205"/>
                  </a:lnTo>
                  <a:lnTo>
                    <a:pt x="224" y="346"/>
                  </a:lnTo>
                  <a:close/>
                  <a:moveTo>
                    <a:pt x="206" y="0"/>
                  </a:moveTo>
                  <a:cubicBezTo>
                    <a:pt x="319" y="0"/>
                    <a:pt x="411" y="92"/>
                    <a:pt x="411" y="205"/>
                  </a:cubicBezTo>
                  <a:cubicBezTo>
                    <a:pt x="411" y="319"/>
                    <a:pt x="319" y="411"/>
                    <a:pt x="206" y="411"/>
                  </a:cubicBezTo>
                  <a:cubicBezTo>
                    <a:pt x="92" y="411"/>
                    <a:pt x="0" y="319"/>
                    <a:pt x="0" y="205"/>
                  </a:cubicBezTo>
                  <a:cubicBezTo>
                    <a:pt x="0" y="92"/>
                    <a:pt x="92" y="0"/>
                    <a:pt x="206" y="0"/>
                  </a:cubicBezTo>
                  <a:close/>
                  <a:moveTo>
                    <a:pt x="206" y="26"/>
                  </a:moveTo>
                  <a:cubicBezTo>
                    <a:pt x="305" y="26"/>
                    <a:pt x="385" y="106"/>
                    <a:pt x="385" y="205"/>
                  </a:cubicBezTo>
                  <a:cubicBezTo>
                    <a:pt x="385" y="304"/>
                    <a:pt x="305" y="385"/>
                    <a:pt x="206" y="385"/>
                  </a:cubicBezTo>
                  <a:cubicBezTo>
                    <a:pt x="107" y="385"/>
                    <a:pt x="27" y="304"/>
                    <a:pt x="27" y="205"/>
                  </a:cubicBezTo>
                  <a:cubicBezTo>
                    <a:pt x="27" y="106"/>
                    <a:pt x="107" y="26"/>
                    <a:pt x="206" y="26"/>
                  </a:cubicBezTo>
                  <a:close/>
                </a:path>
              </a:pathLst>
            </a:custGeom>
            <a:solidFill>
              <a:srgbClr val="8BB923"/>
            </a:solidFill>
            <a:ln w="9525" cmpd="sng">
              <a:noFill/>
              <a:bevel/>
              <a:headEnd/>
              <a:tailEnd/>
            </a:ln>
          </p:spPr>
          <p:txBody>
            <a:bodyPr lIns="90170" tIns="46990" rIns="90170" bIns="46990"/>
            <a:lstStyle/>
            <a:p>
              <a:endParaRPr lang="zh-CN" altLang="zh-CN">
                <a:solidFill>
                  <a:srgbClr val="C4261D"/>
                </a:solidFill>
                <a:sym typeface="Arial" pitchFamily="34" charset="0"/>
              </a:endParaRPr>
            </a:p>
          </p:txBody>
        </p:sp>
      </p:grpSp>
      <p:sp>
        <p:nvSpPr>
          <p:cNvPr id="16" name="Oval 12"/>
          <p:cNvSpPr>
            <a:spLocks noChangeArrowheads="1"/>
          </p:cNvSpPr>
          <p:nvPr/>
        </p:nvSpPr>
        <p:spPr bwMode="auto">
          <a:xfrm>
            <a:off x="3558873" y="3770841"/>
            <a:ext cx="513086" cy="522331"/>
          </a:xfrm>
          <a:prstGeom prst="ellipse">
            <a:avLst/>
          </a:prstGeom>
          <a:solidFill>
            <a:srgbClr val="8BB923"/>
          </a:solidFill>
          <a:ln w="9525" cmpd="sng">
            <a:noFill/>
            <a:bevel/>
            <a:headEnd/>
            <a:tailEnd/>
          </a:ln>
        </p:spPr>
        <p:txBody>
          <a:bodyPr lIns="90170" tIns="46990" rIns="90170" bIns="46990"/>
          <a:lstStyle/>
          <a:p>
            <a:endParaRPr lang="zh-CN" altLang="zh-CN">
              <a:solidFill>
                <a:srgbClr val="C4261D"/>
              </a:solidFill>
              <a:sym typeface="Arial" pitchFamily="34" charset="0"/>
            </a:endParaRPr>
          </a:p>
        </p:txBody>
      </p:sp>
      <p:sp>
        <p:nvSpPr>
          <p:cNvPr id="17" name="TextBox 125"/>
          <p:cNvSpPr>
            <a:spLocks noChangeArrowheads="1"/>
          </p:cNvSpPr>
          <p:nvPr/>
        </p:nvSpPr>
        <p:spPr bwMode="auto">
          <a:xfrm>
            <a:off x="3611132" y="3750967"/>
            <a:ext cx="33859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8F8F8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3</a:t>
            </a:r>
          </a:p>
        </p:txBody>
      </p:sp>
      <p:sp>
        <p:nvSpPr>
          <p:cNvPr id="18" name="Freeform 6"/>
          <p:cNvSpPr>
            <a:spLocks noChangeArrowheads="1"/>
          </p:cNvSpPr>
          <p:nvPr/>
        </p:nvSpPr>
        <p:spPr bwMode="auto">
          <a:xfrm flipH="1">
            <a:off x="145042" y="2348880"/>
            <a:ext cx="1191423" cy="1839714"/>
          </a:xfrm>
          <a:custGeom>
            <a:avLst/>
            <a:gdLst>
              <a:gd name="T0" fmla="*/ 0 w 1636805"/>
              <a:gd name="T1" fmla="*/ 0 h 2527151"/>
              <a:gd name="T2" fmla="*/ 0 60000 65536"/>
              <a:gd name="T3" fmla="*/ 0 w 1636805"/>
              <a:gd name="T4" fmla="*/ 0 h 2527151"/>
              <a:gd name="T5" fmla="*/ 1636805 w 1636805"/>
              <a:gd name="T6" fmla="*/ 2527151 h 2527151"/>
            </a:gdLst>
            <a:ahLst/>
            <a:cxnLst>
              <a:cxn ang="T2">
                <a:pos x="T0" y="T1"/>
              </a:cxn>
            </a:cxnLst>
            <a:rect l="T3" t="T4" r="T5" b="T6"/>
            <a:pathLst>
              <a:path w="1636805" h="2527151">
                <a:moveTo>
                  <a:pt x="1636805" y="0"/>
                </a:moveTo>
                <a:lnTo>
                  <a:pt x="157161" y="0"/>
                </a:lnTo>
                <a:cubicBezTo>
                  <a:pt x="479113" y="297673"/>
                  <a:pt x="680524" y="725002"/>
                  <a:pt x="680524" y="1199898"/>
                </a:cubicBezTo>
                <a:cubicBezTo>
                  <a:pt x="680524" y="1746911"/>
                  <a:pt x="411976" y="2231780"/>
                  <a:pt x="0" y="2527151"/>
                </a:cubicBezTo>
                <a:lnTo>
                  <a:pt x="1636805" y="2527151"/>
                </a:lnTo>
                <a:close/>
              </a:path>
            </a:pathLst>
          </a:custGeom>
          <a:solidFill>
            <a:srgbClr val="FF6600"/>
          </a:solidFill>
          <a:ln w="9525" cmpd="sng">
            <a:noFill/>
            <a:bevel/>
            <a:headEnd/>
            <a:tailEnd/>
          </a:ln>
        </p:spPr>
        <p:txBody>
          <a:bodyPr lIns="90170" tIns="46990" rIns="90170" bIns="46990"/>
          <a:lstStyle/>
          <a:p>
            <a:endParaRPr lang="zh-CN" altLang="zh-CN">
              <a:solidFill>
                <a:srgbClr val="C4261D"/>
              </a:solidFill>
              <a:sym typeface="Arial" pitchFamily="34" charset="0"/>
            </a:endParaRPr>
          </a:p>
        </p:txBody>
      </p:sp>
      <p:sp>
        <p:nvSpPr>
          <p:cNvPr id="19" name="Freeform 6"/>
          <p:cNvSpPr>
            <a:spLocks noChangeArrowheads="1"/>
          </p:cNvSpPr>
          <p:nvPr/>
        </p:nvSpPr>
        <p:spPr bwMode="auto">
          <a:xfrm flipH="1">
            <a:off x="13647754" y="2132856"/>
            <a:ext cx="753450" cy="1839714"/>
          </a:xfrm>
          <a:custGeom>
            <a:avLst/>
            <a:gdLst>
              <a:gd name="T0" fmla="*/ 0 w 621232"/>
              <a:gd name="T1" fmla="*/ 0 h 2527151"/>
              <a:gd name="T2" fmla="*/ 0 60000 65536"/>
              <a:gd name="T3" fmla="*/ 0 w 621232"/>
              <a:gd name="T4" fmla="*/ 0 h 2527151"/>
              <a:gd name="T5" fmla="*/ 621232 w 621232"/>
              <a:gd name="T6" fmla="*/ 2527151 h 2527151"/>
            </a:gdLst>
            <a:ahLst/>
            <a:cxnLst>
              <a:cxn ang="T2">
                <a:pos x="T0" y="T1"/>
              </a:cxn>
            </a:cxnLst>
            <a:rect l="T3" t="T4" r="T5" b="T6"/>
            <a:pathLst>
              <a:path w="621232" h="2527151">
                <a:moveTo>
                  <a:pt x="621232" y="0"/>
                </a:moveTo>
                <a:lnTo>
                  <a:pt x="0" y="0"/>
                </a:lnTo>
                <a:lnTo>
                  <a:pt x="0" y="2527151"/>
                </a:lnTo>
                <a:lnTo>
                  <a:pt x="621232" y="2527151"/>
                </a:lnTo>
                <a:close/>
              </a:path>
            </a:pathLst>
          </a:custGeom>
          <a:solidFill>
            <a:srgbClr val="FF6600"/>
          </a:solidFill>
          <a:ln w="9525" cmpd="sng">
            <a:noFill/>
            <a:bevel/>
            <a:headEnd/>
            <a:tailEnd/>
          </a:ln>
        </p:spPr>
        <p:txBody>
          <a:bodyPr lIns="90170" tIns="46990" rIns="90170" bIns="46990"/>
          <a:lstStyle/>
          <a:p>
            <a:endParaRPr lang="zh-CN" altLang="zh-CN">
              <a:solidFill>
                <a:srgbClr val="C4261D"/>
              </a:solidFill>
              <a:sym typeface="Arial" pitchFamily="34" charset="0"/>
            </a:endParaRPr>
          </a:p>
        </p:txBody>
      </p:sp>
      <p:grpSp>
        <p:nvGrpSpPr>
          <p:cNvPr id="20" name="组合 1"/>
          <p:cNvGrpSpPr>
            <a:grpSpLocks/>
          </p:cNvGrpSpPr>
          <p:nvPr/>
        </p:nvGrpSpPr>
        <p:grpSpPr bwMode="auto">
          <a:xfrm>
            <a:off x="967195" y="2149908"/>
            <a:ext cx="2218750" cy="2226839"/>
            <a:chOff x="0" y="0"/>
            <a:chExt cx="3048726" cy="3057872"/>
          </a:xfrm>
        </p:grpSpPr>
        <p:sp>
          <p:nvSpPr>
            <p:cNvPr id="21" name="Oval 5"/>
            <p:cNvSpPr>
              <a:spLocks noChangeArrowheads="1"/>
            </p:cNvSpPr>
            <p:nvPr/>
          </p:nvSpPr>
          <p:spPr bwMode="auto">
            <a:xfrm>
              <a:off x="0" y="0"/>
              <a:ext cx="3048726" cy="3057872"/>
            </a:xfrm>
            <a:prstGeom prst="ellipse">
              <a:avLst/>
            </a:prstGeom>
            <a:solidFill>
              <a:srgbClr val="FF9900"/>
            </a:solidFill>
            <a:ln w="9525" cmpd="sng">
              <a:noFill/>
              <a:bevel/>
              <a:headEnd/>
              <a:tailEnd/>
            </a:ln>
          </p:spPr>
          <p:txBody>
            <a:bodyPr lIns="90170" tIns="46990" rIns="90170" bIns="46990"/>
            <a:lstStyle/>
            <a:p>
              <a:endParaRPr lang="zh-CN" altLang="zh-CN">
                <a:solidFill>
                  <a:srgbClr val="C4261D"/>
                </a:solidFill>
                <a:sym typeface="Arial" pitchFamily="34" charset="0"/>
              </a:endParaRPr>
            </a:p>
          </p:txBody>
        </p:sp>
        <p:sp>
          <p:nvSpPr>
            <p:cNvPr id="22" name="Oval 5"/>
            <p:cNvSpPr>
              <a:spLocks noChangeArrowheads="1"/>
            </p:cNvSpPr>
            <p:nvPr/>
          </p:nvSpPr>
          <p:spPr bwMode="auto">
            <a:xfrm>
              <a:off x="134434" y="134837"/>
              <a:ext cx="2779858" cy="2788198"/>
            </a:xfrm>
            <a:prstGeom prst="ellipse">
              <a:avLst/>
            </a:prstGeom>
            <a:solidFill>
              <a:srgbClr val="FF9900"/>
            </a:solidFill>
            <a:ln w="9525" cmpd="sng">
              <a:solidFill>
                <a:srgbClr val="F8F8F8"/>
              </a:solidFill>
              <a:prstDash val="dash"/>
              <a:bevel/>
              <a:headEnd/>
              <a:tailEnd/>
            </a:ln>
          </p:spPr>
          <p:txBody>
            <a:bodyPr lIns="90170" tIns="46990" rIns="90170" bIns="46990"/>
            <a:lstStyle/>
            <a:p>
              <a:endParaRPr lang="zh-CN" altLang="zh-CN">
                <a:solidFill>
                  <a:srgbClr val="C4261D"/>
                </a:solidFill>
                <a:sym typeface="Arial" pitchFamily="34" charset="0"/>
              </a:endParaRPr>
            </a:p>
          </p:txBody>
        </p:sp>
      </p:grpSp>
      <p:sp>
        <p:nvSpPr>
          <p:cNvPr id="23" name="Freeform 6"/>
          <p:cNvSpPr>
            <a:spLocks noEditPoints="1" noChangeArrowheads="1"/>
          </p:cNvSpPr>
          <p:nvPr/>
        </p:nvSpPr>
        <p:spPr bwMode="auto">
          <a:xfrm>
            <a:off x="1729218" y="2313607"/>
            <a:ext cx="792741" cy="1088574"/>
          </a:xfrm>
          <a:custGeom>
            <a:avLst/>
            <a:gdLst>
              <a:gd name="T0" fmla="*/ 250 w 1905"/>
              <a:gd name="T1" fmla="*/ 421 h 2600"/>
              <a:gd name="T2" fmla="*/ 211 w 1905"/>
              <a:gd name="T3" fmla="*/ 2600 h 2600"/>
              <a:gd name="T4" fmla="*/ 1905 w 1905"/>
              <a:gd name="T5" fmla="*/ 638 h 2600"/>
              <a:gd name="T6" fmla="*/ 1760 w 1905"/>
              <a:gd name="T7" fmla="*/ 684 h 2600"/>
              <a:gd name="T8" fmla="*/ 217 w 1905"/>
              <a:gd name="T9" fmla="*/ 2448 h 2600"/>
              <a:gd name="T10" fmla="*/ 824 w 1905"/>
              <a:gd name="T11" fmla="*/ 276 h 2600"/>
              <a:gd name="T12" fmla="*/ 1081 w 1905"/>
              <a:gd name="T13" fmla="*/ 276 h 2600"/>
              <a:gd name="T14" fmla="*/ 949 w 1905"/>
              <a:gd name="T15" fmla="*/ 414 h 2600"/>
              <a:gd name="T16" fmla="*/ 666 w 1905"/>
              <a:gd name="T17" fmla="*/ 283 h 2600"/>
              <a:gd name="T18" fmla="*/ 349 w 1905"/>
              <a:gd name="T19" fmla="*/ 658 h 2600"/>
              <a:gd name="T20" fmla="*/ 1556 w 1905"/>
              <a:gd name="T21" fmla="*/ 658 h 2600"/>
              <a:gd name="T22" fmla="*/ 1239 w 1905"/>
              <a:gd name="T23" fmla="*/ 283 h 2600"/>
              <a:gd name="T24" fmla="*/ 666 w 1905"/>
              <a:gd name="T25" fmla="*/ 283 h 2600"/>
              <a:gd name="T26" fmla="*/ 672 w 1905"/>
              <a:gd name="T27" fmla="*/ 1974 h 2600"/>
              <a:gd name="T28" fmla="*/ 461 w 1905"/>
              <a:gd name="T29" fmla="*/ 2033 h 2600"/>
              <a:gd name="T30" fmla="*/ 415 w 1905"/>
              <a:gd name="T31" fmla="*/ 2080 h 2600"/>
              <a:gd name="T32" fmla="*/ 672 w 1905"/>
              <a:gd name="T33" fmla="*/ 2099 h 2600"/>
              <a:gd name="T34" fmla="*/ 402 w 1905"/>
              <a:gd name="T35" fmla="*/ 2231 h 2600"/>
              <a:gd name="T36" fmla="*/ 738 w 1905"/>
              <a:gd name="T37" fmla="*/ 2066 h 2600"/>
              <a:gd name="T38" fmla="*/ 738 w 1905"/>
              <a:gd name="T39" fmla="*/ 1961 h 2600"/>
              <a:gd name="T40" fmla="*/ 336 w 1905"/>
              <a:gd name="T41" fmla="*/ 1981 h 2600"/>
              <a:gd name="T42" fmla="*/ 653 w 1905"/>
              <a:gd name="T43" fmla="*/ 2317 h 2600"/>
              <a:gd name="T44" fmla="*/ 653 w 1905"/>
              <a:gd name="T45" fmla="*/ 1020 h 2600"/>
              <a:gd name="T46" fmla="*/ 461 w 1905"/>
              <a:gd name="T47" fmla="*/ 1079 h 2600"/>
              <a:gd name="T48" fmla="*/ 527 w 1905"/>
              <a:gd name="T49" fmla="*/ 1250 h 2600"/>
              <a:gd name="T50" fmla="*/ 402 w 1905"/>
              <a:gd name="T51" fmla="*/ 1296 h 2600"/>
              <a:gd name="T52" fmla="*/ 653 w 1905"/>
              <a:gd name="T53" fmla="*/ 954 h 2600"/>
              <a:gd name="T54" fmla="*/ 336 w 1905"/>
              <a:gd name="T55" fmla="*/ 1290 h 2600"/>
              <a:gd name="T56" fmla="*/ 736 w 1905"/>
              <a:gd name="T57" fmla="*/ 1096 h 2600"/>
              <a:gd name="T58" fmla="*/ 732 w 1905"/>
              <a:gd name="T59" fmla="*/ 1007 h 2600"/>
              <a:gd name="T60" fmla="*/ 672 w 1905"/>
              <a:gd name="T61" fmla="*/ 1533 h 2600"/>
              <a:gd name="T62" fmla="*/ 415 w 1905"/>
              <a:gd name="T63" fmla="*/ 1599 h 2600"/>
              <a:gd name="T64" fmla="*/ 672 w 1905"/>
              <a:gd name="T65" fmla="*/ 1770 h 2600"/>
              <a:gd name="T66" fmla="*/ 737 w 1905"/>
              <a:gd name="T67" fmla="*/ 1484 h 2600"/>
              <a:gd name="T68" fmla="*/ 336 w 1905"/>
              <a:gd name="T69" fmla="*/ 1500 h 2600"/>
              <a:gd name="T70" fmla="*/ 672 w 1905"/>
              <a:gd name="T71" fmla="*/ 1836 h 2600"/>
              <a:gd name="T72" fmla="*/ 881 w 1905"/>
              <a:gd name="T73" fmla="*/ 1417 h 2600"/>
              <a:gd name="T74" fmla="*/ 995 w 1905"/>
              <a:gd name="T75" fmla="*/ 2205 h 2600"/>
              <a:gd name="T76" fmla="*/ 1530 w 1905"/>
              <a:gd name="T77" fmla="*/ 2040 h 2600"/>
              <a:gd name="T78" fmla="*/ 976 w 1905"/>
              <a:gd name="T79" fmla="*/ 2185 h 2600"/>
              <a:gd name="T80" fmla="*/ 1530 w 1905"/>
              <a:gd name="T81" fmla="*/ 1546 h 2600"/>
              <a:gd name="T82" fmla="*/ 976 w 1905"/>
              <a:gd name="T83" fmla="*/ 1250 h 2600"/>
              <a:gd name="T84" fmla="*/ 976 w 1905"/>
              <a:gd name="T85" fmla="*/ 1072 h 2600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905"/>
              <a:gd name="T130" fmla="*/ 0 h 2600"/>
              <a:gd name="T131" fmla="*/ 1905 w 1905"/>
              <a:gd name="T132" fmla="*/ 2600 h 2600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905" h="2600">
                <a:moveTo>
                  <a:pt x="145" y="684"/>
                </a:moveTo>
                <a:cubicBezTo>
                  <a:pt x="145" y="611"/>
                  <a:pt x="179" y="574"/>
                  <a:pt x="250" y="572"/>
                </a:cubicBezTo>
                <a:lnTo>
                  <a:pt x="250" y="421"/>
                </a:lnTo>
                <a:cubicBezTo>
                  <a:pt x="118" y="424"/>
                  <a:pt x="0" y="509"/>
                  <a:pt x="0" y="638"/>
                </a:cubicBezTo>
                <a:lnTo>
                  <a:pt x="0" y="2389"/>
                </a:lnTo>
                <a:cubicBezTo>
                  <a:pt x="0" y="2496"/>
                  <a:pt x="104" y="2600"/>
                  <a:pt x="211" y="2600"/>
                </a:cubicBezTo>
                <a:lnTo>
                  <a:pt x="1694" y="2600"/>
                </a:lnTo>
                <a:cubicBezTo>
                  <a:pt x="1801" y="2600"/>
                  <a:pt x="1905" y="2496"/>
                  <a:pt x="1905" y="2389"/>
                </a:cubicBezTo>
                <a:lnTo>
                  <a:pt x="1905" y="638"/>
                </a:lnTo>
                <a:cubicBezTo>
                  <a:pt x="1905" y="509"/>
                  <a:pt x="1787" y="424"/>
                  <a:pt x="1655" y="421"/>
                </a:cubicBezTo>
                <a:lnTo>
                  <a:pt x="1655" y="572"/>
                </a:lnTo>
                <a:cubicBezTo>
                  <a:pt x="1727" y="574"/>
                  <a:pt x="1760" y="611"/>
                  <a:pt x="1760" y="684"/>
                </a:cubicBezTo>
                <a:lnTo>
                  <a:pt x="1760" y="2343"/>
                </a:lnTo>
                <a:cubicBezTo>
                  <a:pt x="1760" y="2395"/>
                  <a:pt x="1738" y="2448"/>
                  <a:pt x="1688" y="2448"/>
                </a:cubicBezTo>
                <a:lnTo>
                  <a:pt x="217" y="2448"/>
                </a:lnTo>
                <a:cubicBezTo>
                  <a:pt x="161" y="2448"/>
                  <a:pt x="145" y="2388"/>
                  <a:pt x="145" y="2330"/>
                </a:cubicBezTo>
                <a:lnTo>
                  <a:pt x="145" y="684"/>
                </a:lnTo>
                <a:close/>
                <a:moveTo>
                  <a:pt x="824" y="276"/>
                </a:moveTo>
                <a:cubicBezTo>
                  <a:pt x="824" y="216"/>
                  <a:pt x="882" y="158"/>
                  <a:pt x="943" y="158"/>
                </a:cubicBezTo>
                <a:lnTo>
                  <a:pt x="962" y="158"/>
                </a:lnTo>
                <a:cubicBezTo>
                  <a:pt x="1023" y="158"/>
                  <a:pt x="1081" y="216"/>
                  <a:pt x="1081" y="276"/>
                </a:cubicBezTo>
                <a:lnTo>
                  <a:pt x="1081" y="289"/>
                </a:lnTo>
                <a:cubicBezTo>
                  <a:pt x="1081" y="356"/>
                  <a:pt x="1023" y="414"/>
                  <a:pt x="956" y="414"/>
                </a:cubicBezTo>
                <a:lnTo>
                  <a:pt x="949" y="414"/>
                </a:lnTo>
                <a:cubicBezTo>
                  <a:pt x="882" y="414"/>
                  <a:pt x="824" y="356"/>
                  <a:pt x="824" y="289"/>
                </a:cubicBezTo>
                <a:lnTo>
                  <a:pt x="824" y="276"/>
                </a:lnTo>
                <a:close/>
                <a:moveTo>
                  <a:pt x="666" y="283"/>
                </a:moveTo>
                <a:lnTo>
                  <a:pt x="455" y="283"/>
                </a:lnTo>
                <a:cubicBezTo>
                  <a:pt x="383" y="283"/>
                  <a:pt x="349" y="316"/>
                  <a:pt x="349" y="388"/>
                </a:cubicBezTo>
                <a:lnTo>
                  <a:pt x="349" y="658"/>
                </a:lnTo>
                <a:cubicBezTo>
                  <a:pt x="349" y="703"/>
                  <a:pt x="378" y="750"/>
                  <a:pt x="422" y="750"/>
                </a:cubicBezTo>
                <a:lnTo>
                  <a:pt x="1483" y="750"/>
                </a:lnTo>
                <a:cubicBezTo>
                  <a:pt x="1527" y="750"/>
                  <a:pt x="1556" y="703"/>
                  <a:pt x="1556" y="658"/>
                </a:cubicBezTo>
                <a:lnTo>
                  <a:pt x="1556" y="388"/>
                </a:lnTo>
                <a:cubicBezTo>
                  <a:pt x="1556" y="316"/>
                  <a:pt x="1523" y="283"/>
                  <a:pt x="1450" y="283"/>
                </a:cubicBezTo>
                <a:lnTo>
                  <a:pt x="1239" y="283"/>
                </a:lnTo>
                <a:cubicBezTo>
                  <a:pt x="1239" y="137"/>
                  <a:pt x="1116" y="0"/>
                  <a:pt x="976" y="0"/>
                </a:cubicBezTo>
                <a:lnTo>
                  <a:pt x="930" y="0"/>
                </a:lnTo>
                <a:cubicBezTo>
                  <a:pt x="790" y="0"/>
                  <a:pt x="666" y="137"/>
                  <a:pt x="666" y="283"/>
                </a:cubicBezTo>
                <a:close/>
                <a:moveTo>
                  <a:pt x="402" y="1994"/>
                </a:moveTo>
                <a:cubicBezTo>
                  <a:pt x="402" y="1979"/>
                  <a:pt x="407" y="1974"/>
                  <a:pt x="422" y="1974"/>
                </a:cubicBezTo>
                <a:lnTo>
                  <a:pt x="672" y="1974"/>
                </a:lnTo>
                <a:lnTo>
                  <a:pt x="672" y="1994"/>
                </a:lnTo>
                <a:cubicBezTo>
                  <a:pt x="672" y="2015"/>
                  <a:pt x="568" y="2075"/>
                  <a:pt x="547" y="2086"/>
                </a:cubicBezTo>
                <a:cubicBezTo>
                  <a:pt x="530" y="2071"/>
                  <a:pt x="490" y="2033"/>
                  <a:pt x="461" y="2033"/>
                </a:cubicBezTo>
                <a:lnTo>
                  <a:pt x="455" y="2033"/>
                </a:lnTo>
                <a:cubicBezTo>
                  <a:pt x="439" y="2033"/>
                  <a:pt x="415" y="2057"/>
                  <a:pt x="415" y="2073"/>
                </a:cubicBezTo>
                <a:lnTo>
                  <a:pt x="415" y="2080"/>
                </a:lnTo>
                <a:cubicBezTo>
                  <a:pt x="415" y="2097"/>
                  <a:pt x="508" y="2198"/>
                  <a:pt x="527" y="2198"/>
                </a:cubicBezTo>
                <a:lnTo>
                  <a:pt x="534" y="2198"/>
                </a:lnTo>
                <a:cubicBezTo>
                  <a:pt x="548" y="2198"/>
                  <a:pt x="651" y="2113"/>
                  <a:pt x="672" y="2099"/>
                </a:cubicBezTo>
                <a:cubicBezTo>
                  <a:pt x="672" y="2135"/>
                  <a:pt x="687" y="2251"/>
                  <a:pt x="653" y="2251"/>
                </a:cubicBezTo>
                <a:lnTo>
                  <a:pt x="422" y="2251"/>
                </a:lnTo>
                <a:cubicBezTo>
                  <a:pt x="407" y="2251"/>
                  <a:pt x="402" y="2246"/>
                  <a:pt x="402" y="2231"/>
                </a:cubicBezTo>
                <a:lnTo>
                  <a:pt x="402" y="1994"/>
                </a:lnTo>
                <a:close/>
                <a:moveTo>
                  <a:pt x="653" y="2317"/>
                </a:moveTo>
                <a:cubicBezTo>
                  <a:pt x="777" y="2317"/>
                  <a:pt x="731" y="2181"/>
                  <a:pt x="738" y="2066"/>
                </a:cubicBezTo>
                <a:cubicBezTo>
                  <a:pt x="742" y="2008"/>
                  <a:pt x="889" y="1956"/>
                  <a:pt x="903" y="1902"/>
                </a:cubicBezTo>
                <a:lnTo>
                  <a:pt x="883" y="1902"/>
                </a:lnTo>
                <a:cubicBezTo>
                  <a:pt x="839" y="1902"/>
                  <a:pt x="771" y="1944"/>
                  <a:pt x="738" y="1961"/>
                </a:cubicBezTo>
                <a:cubicBezTo>
                  <a:pt x="722" y="1936"/>
                  <a:pt x="707" y="1908"/>
                  <a:pt x="666" y="1908"/>
                </a:cubicBezTo>
                <a:lnTo>
                  <a:pt x="409" y="1908"/>
                </a:lnTo>
                <a:cubicBezTo>
                  <a:pt x="370" y="1908"/>
                  <a:pt x="336" y="1942"/>
                  <a:pt x="336" y="1981"/>
                </a:cubicBezTo>
                <a:lnTo>
                  <a:pt x="336" y="2244"/>
                </a:lnTo>
                <a:cubicBezTo>
                  <a:pt x="336" y="2289"/>
                  <a:pt x="376" y="2317"/>
                  <a:pt x="422" y="2317"/>
                </a:cubicBezTo>
                <a:lnTo>
                  <a:pt x="653" y="2317"/>
                </a:lnTo>
                <a:close/>
                <a:moveTo>
                  <a:pt x="402" y="1040"/>
                </a:moveTo>
                <a:cubicBezTo>
                  <a:pt x="402" y="1024"/>
                  <a:pt x="407" y="1020"/>
                  <a:pt x="422" y="1020"/>
                </a:cubicBezTo>
                <a:lnTo>
                  <a:pt x="653" y="1020"/>
                </a:lnTo>
                <a:cubicBezTo>
                  <a:pt x="668" y="1020"/>
                  <a:pt x="672" y="1024"/>
                  <a:pt x="672" y="1040"/>
                </a:cubicBezTo>
                <a:cubicBezTo>
                  <a:pt x="672" y="1056"/>
                  <a:pt x="560" y="1132"/>
                  <a:pt x="547" y="1132"/>
                </a:cubicBezTo>
                <a:cubicBezTo>
                  <a:pt x="534" y="1132"/>
                  <a:pt x="500" y="1079"/>
                  <a:pt x="461" y="1079"/>
                </a:cubicBezTo>
                <a:cubicBezTo>
                  <a:pt x="443" y="1079"/>
                  <a:pt x="415" y="1100"/>
                  <a:pt x="415" y="1119"/>
                </a:cubicBezTo>
                <a:lnTo>
                  <a:pt x="415" y="1125"/>
                </a:lnTo>
                <a:cubicBezTo>
                  <a:pt x="415" y="1151"/>
                  <a:pt x="506" y="1239"/>
                  <a:pt x="527" y="1250"/>
                </a:cubicBezTo>
                <a:lnTo>
                  <a:pt x="672" y="1145"/>
                </a:lnTo>
                <a:lnTo>
                  <a:pt x="672" y="1296"/>
                </a:lnTo>
                <a:lnTo>
                  <a:pt x="402" y="1296"/>
                </a:lnTo>
                <a:lnTo>
                  <a:pt x="402" y="1040"/>
                </a:lnTo>
                <a:close/>
                <a:moveTo>
                  <a:pt x="732" y="1007"/>
                </a:moveTo>
                <a:cubicBezTo>
                  <a:pt x="724" y="972"/>
                  <a:pt x="694" y="954"/>
                  <a:pt x="653" y="954"/>
                </a:cubicBezTo>
                <a:lnTo>
                  <a:pt x="422" y="954"/>
                </a:lnTo>
                <a:cubicBezTo>
                  <a:pt x="376" y="954"/>
                  <a:pt x="336" y="982"/>
                  <a:pt x="336" y="1026"/>
                </a:cubicBezTo>
                <a:lnTo>
                  <a:pt x="336" y="1290"/>
                </a:lnTo>
                <a:cubicBezTo>
                  <a:pt x="336" y="1328"/>
                  <a:pt x="370" y="1362"/>
                  <a:pt x="409" y="1362"/>
                </a:cubicBezTo>
                <a:lnTo>
                  <a:pt x="666" y="1362"/>
                </a:lnTo>
                <a:cubicBezTo>
                  <a:pt x="769" y="1362"/>
                  <a:pt x="738" y="1199"/>
                  <a:pt x="736" y="1096"/>
                </a:cubicBezTo>
                <a:lnTo>
                  <a:pt x="903" y="954"/>
                </a:lnTo>
                <a:cubicBezTo>
                  <a:pt x="903" y="954"/>
                  <a:pt x="891" y="947"/>
                  <a:pt x="890" y="947"/>
                </a:cubicBezTo>
                <a:cubicBezTo>
                  <a:pt x="825" y="947"/>
                  <a:pt x="772" y="1003"/>
                  <a:pt x="732" y="1007"/>
                </a:cubicBezTo>
                <a:close/>
                <a:moveTo>
                  <a:pt x="402" y="1500"/>
                </a:moveTo>
                <a:lnTo>
                  <a:pt x="672" y="1500"/>
                </a:lnTo>
                <a:lnTo>
                  <a:pt x="672" y="1533"/>
                </a:lnTo>
                <a:lnTo>
                  <a:pt x="547" y="1612"/>
                </a:lnTo>
                <a:lnTo>
                  <a:pt x="464" y="1550"/>
                </a:lnTo>
                <a:cubicBezTo>
                  <a:pt x="441" y="1563"/>
                  <a:pt x="415" y="1569"/>
                  <a:pt x="415" y="1599"/>
                </a:cubicBezTo>
                <a:cubicBezTo>
                  <a:pt x="415" y="1619"/>
                  <a:pt x="509" y="1724"/>
                  <a:pt x="527" y="1724"/>
                </a:cubicBezTo>
                <a:cubicBezTo>
                  <a:pt x="558" y="1724"/>
                  <a:pt x="638" y="1634"/>
                  <a:pt x="672" y="1625"/>
                </a:cubicBezTo>
                <a:lnTo>
                  <a:pt x="672" y="1770"/>
                </a:lnTo>
                <a:lnTo>
                  <a:pt x="402" y="1770"/>
                </a:lnTo>
                <a:lnTo>
                  <a:pt x="402" y="1500"/>
                </a:lnTo>
                <a:close/>
                <a:moveTo>
                  <a:pt x="737" y="1484"/>
                </a:moveTo>
                <a:cubicBezTo>
                  <a:pt x="725" y="1462"/>
                  <a:pt x="710" y="1434"/>
                  <a:pt x="672" y="1434"/>
                </a:cubicBezTo>
                <a:lnTo>
                  <a:pt x="402" y="1434"/>
                </a:lnTo>
                <a:cubicBezTo>
                  <a:pt x="369" y="1434"/>
                  <a:pt x="336" y="1467"/>
                  <a:pt x="336" y="1500"/>
                </a:cubicBezTo>
                <a:lnTo>
                  <a:pt x="336" y="1770"/>
                </a:lnTo>
                <a:cubicBezTo>
                  <a:pt x="336" y="1803"/>
                  <a:pt x="369" y="1836"/>
                  <a:pt x="402" y="1836"/>
                </a:cubicBezTo>
                <a:lnTo>
                  <a:pt x="672" y="1836"/>
                </a:lnTo>
                <a:cubicBezTo>
                  <a:pt x="768" y="1836"/>
                  <a:pt x="738" y="1667"/>
                  <a:pt x="736" y="1570"/>
                </a:cubicBezTo>
                <a:lnTo>
                  <a:pt x="903" y="1429"/>
                </a:lnTo>
                <a:lnTo>
                  <a:pt x="881" y="1417"/>
                </a:lnTo>
                <a:lnTo>
                  <a:pt x="737" y="1484"/>
                </a:lnTo>
                <a:close/>
                <a:moveTo>
                  <a:pt x="976" y="2185"/>
                </a:moveTo>
                <a:cubicBezTo>
                  <a:pt x="976" y="2200"/>
                  <a:pt x="980" y="2205"/>
                  <a:pt x="995" y="2205"/>
                </a:cubicBezTo>
                <a:lnTo>
                  <a:pt x="1510" y="2205"/>
                </a:lnTo>
                <a:cubicBezTo>
                  <a:pt x="1525" y="2205"/>
                  <a:pt x="1530" y="2200"/>
                  <a:pt x="1530" y="2185"/>
                </a:cubicBezTo>
                <a:lnTo>
                  <a:pt x="1530" y="2040"/>
                </a:lnTo>
                <a:cubicBezTo>
                  <a:pt x="1530" y="2025"/>
                  <a:pt x="1525" y="2020"/>
                  <a:pt x="1510" y="2020"/>
                </a:cubicBezTo>
                <a:lnTo>
                  <a:pt x="976" y="2020"/>
                </a:lnTo>
                <a:lnTo>
                  <a:pt x="976" y="2185"/>
                </a:lnTo>
                <a:close/>
                <a:moveTo>
                  <a:pt x="976" y="1724"/>
                </a:moveTo>
                <a:lnTo>
                  <a:pt x="1530" y="1724"/>
                </a:lnTo>
                <a:lnTo>
                  <a:pt x="1530" y="1546"/>
                </a:lnTo>
                <a:lnTo>
                  <a:pt x="976" y="1546"/>
                </a:lnTo>
                <a:lnTo>
                  <a:pt x="976" y="1724"/>
                </a:lnTo>
                <a:close/>
                <a:moveTo>
                  <a:pt x="976" y="1250"/>
                </a:moveTo>
                <a:lnTo>
                  <a:pt x="1378" y="1250"/>
                </a:lnTo>
                <a:lnTo>
                  <a:pt x="1378" y="1072"/>
                </a:lnTo>
                <a:lnTo>
                  <a:pt x="976" y="1072"/>
                </a:lnTo>
                <a:lnTo>
                  <a:pt x="976" y="1250"/>
                </a:lnTo>
                <a:close/>
              </a:path>
            </a:pathLst>
          </a:custGeom>
          <a:solidFill>
            <a:srgbClr val="F8F8F8"/>
          </a:solidFill>
          <a:ln w="9525" cmpd="sng">
            <a:noFill/>
            <a:bevel/>
            <a:headEnd/>
            <a:tailEnd/>
          </a:ln>
        </p:spPr>
        <p:txBody>
          <a:bodyPr/>
          <a:lstStyle/>
          <a:p>
            <a:endParaRPr lang="zh-CN" altLang="zh-CN">
              <a:solidFill>
                <a:srgbClr val="C4261D"/>
              </a:solidFill>
              <a:sym typeface="Arial" pitchFamily="34" charset="0"/>
            </a:endParaRPr>
          </a:p>
        </p:txBody>
      </p:sp>
      <p:sp>
        <p:nvSpPr>
          <p:cNvPr id="24" name="TextBox 47"/>
          <p:cNvSpPr>
            <a:spLocks noChangeArrowheads="1"/>
          </p:cNvSpPr>
          <p:nvPr/>
        </p:nvSpPr>
        <p:spPr bwMode="auto">
          <a:xfrm>
            <a:off x="1441186" y="3609751"/>
            <a:ext cx="12657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dist"/>
            <a:r>
              <a:rPr lang="zh-CN" altLang="en-US" sz="2800" dirty="0" smtClean="0">
                <a:solidFill>
                  <a:srgbClr val="F8F8F8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目录</a:t>
            </a:r>
            <a:endParaRPr lang="zh-CN" altLang="en-US" sz="2800" dirty="0">
              <a:solidFill>
                <a:srgbClr val="F8F8F8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25" name="TextBox 49"/>
          <p:cNvSpPr>
            <a:spLocks noChangeArrowheads="1"/>
          </p:cNvSpPr>
          <p:nvPr/>
        </p:nvSpPr>
        <p:spPr bwMode="auto">
          <a:xfrm>
            <a:off x="1513194" y="3384435"/>
            <a:ext cx="130265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8F8F8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Contents</a:t>
            </a:r>
            <a:endParaRPr lang="zh-CN" altLang="en-US" dirty="0">
              <a:solidFill>
                <a:srgbClr val="F8F8F8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26" name="Freeform 6"/>
          <p:cNvSpPr>
            <a:spLocks noChangeArrowheads="1"/>
          </p:cNvSpPr>
          <p:nvPr/>
        </p:nvSpPr>
        <p:spPr bwMode="auto">
          <a:xfrm flipH="1">
            <a:off x="-36512" y="2343471"/>
            <a:ext cx="187207" cy="1839714"/>
          </a:xfrm>
          <a:custGeom>
            <a:avLst/>
            <a:gdLst>
              <a:gd name="T0" fmla="*/ 0 w 621232"/>
              <a:gd name="T1" fmla="*/ 0 h 2527151"/>
              <a:gd name="T2" fmla="*/ 0 60000 65536"/>
              <a:gd name="T3" fmla="*/ 0 w 621232"/>
              <a:gd name="T4" fmla="*/ 0 h 2527151"/>
              <a:gd name="T5" fmla="*/ 621232 w 621232"/>
              <a:gd name="T6" fmla="*/ 2527151 h 2527151"/>
            </a:gdLst>
            <a:ahLst/>
            <a:cxnLst>
              <a:cxn ang="T2">
                <a:pos x="T0" y="T1"/>
              </a:cxn>
            </a:cxnLst>
            <a:rect l="T3" t="T4" r="T5" b="T6"/>
            <a:pathLst>
              <a:path w="621232" h="2527151">
                <a:moveTo>
                  <a:pt x="621232" y="0"/>
                </a:moveTo>
                <a:lnTo>
                  <a:pt x="0" y="0"/>
                </a:lnTo>
                <a:lnTo>
                  <a:pt x="0" y="2527151"/>
                </a:lnTo>
                <a:lnTo>
                  <a:pt x="621232" y="2527151"/>
                </a:lnTo>
                <a:close/>
              </a:path>
            </a:pathLst>
          </a:custGeom>
          <a:solidFill>
            <a:srgbClr val="FF6600"/>
          </a:solidFill>
          <a:ln w="9525" cmpd="sng">
            <a:noFill/>
            <a:bevel/>
            <a:headEnd/>
            <a:tailEnd/>
          </a:ln>
        </p:spPr>
        <p:txBody>
          <a:bodyPr lIns="90170" tIns="46990" rIns="90170" bIns="46990"/>
          <a:lstStyle/>
          <a:p>
            <a:endParaRPr lang="zh-CN" altLang="zh-CN">
              <a:solidFill>
                <a:srgbClr val="C4261D"/>
              </a:solidFill>
              <a:sym typeface="Arial" pitchFamily="34" charset="0"/>
            </a:endParaRPr>
          </a:p>
        </p:txBody>
      </p:sp>
      <p:grpSp>
        <p:nvGrpSpPr>
          <p:cNvPr id="27" name="组合 119"/>
          <p:cNvGrpSpPr>
            <a:grpSpLocks/>
          </p:cNvGrpSpPr>
          <p:nvPr/>
        </p:nvGrpSpPr>
        <p:grpSpPr bwMode="auto">
          <a:xfrm>
            <a:off x="3897084" y="4761322"/>
            <a:ext cx="3518796" cy="472640"/>
            <a:chOff x="0" y="0"/>
            <a:chExt cx="4833680" cy="648258"/>
          </a:xfrm>
        </p:grpSpPr>
        <p:sp>
          <p:nvSpPr>
            <p:cNvPr id="28" name="Freeform 13"/>
            <p:cNvSpPr>
              <a:spLocks noChangeArrowheads="1"/>
            </p:cNvSpPr>
            <p:nvPr/>
          </p:nvSpPr>
          <p:spPr bwMode="auto">
            <a:xfrm>
              <a:off x="0" y="0"/>
              <a:ext cx="4833680" cy="648258"/>
            </a:xfrm>
            <a:custGeom>
              <a:avLst/>
              <a:gdLst>
                <a:gd name="T0" fmla="*/ 10 w 7091"/>
                <a:gd name="T1" fmla="*/ 0 h 933"/>
                <a:gd name="T2" fmla="*/ 6624 w 7091"/>
                <a:gd name="T3" fmla="*/ 0 h 933"/>
                <a:gd name="T4" fmla="*/ 7091 w 7091"/>
                <a:gd name="T5" fmla="*/ 466 h 933"/>
                <a:gd name="T6" fmla="*/ 7091 w 7091"/>
                <a:gd name="T7" fmla="*/ 466 h 933"/>
                <a:gd name="T8" fmla="*/ 6624 w 7091"/>
                <a:gd name="T9" fmla="*/ 933 h 933"/>
                <a:gd name="T10" fmla="*/ 10 w 7091"/>
                <a:gd name="T11" fmla="*/ 933 h 933"/>
                <a:gd name="T12" fmla="*/ 0 w 7091"/>
                <a:gd name="T13" fmla="*/ 933 h 933"/>
                <a:gd name="T14" fmla="*/ 192 w 7091"/>
                <a:gd name="T15" fmla="*/ 466 h 933"/>
                <a:gd name="T16" fmla="*/ 0 w 7091"/>
                <a:gd name="T17" fmla="*/ 0 h 933"/>
                <a:gd name="T18" fmla="*/ 10 w 7091"/>
                <a:gd name="T19" fmla="*/ 0 h 93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091"/>
                <a:gd name="T31" fmla="*/ 0 h 933"/>
                <a:gd name="T32" fmla="*/ 7091 w 7091"/>
                <a:gd name="T33" fmla="*/ 933 h 93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091" h="933">
                  <a:moveTo>
                    <a:pt x="10" y="0"/>
                  </a:moveTo>
                  <a:lnTo>
                    <a:pt x="6624" y="0"/>
                  </a:lnTo>
                  <a:cubicBezTo>
                    <a:pt x="6881" y="0"/>
                    <a:pt x="7091" y="210"/>
                    <a:pt x="7091" y="466"/>
                  </a:cubicBezTo>
                  <a:lnTo>
                    <a:pt x="7091" y="466"/>
                  </a:lnTo>
                  <a:cubicBezTo>
                    <a:pt x="7091" y="723"/>
                    <a:pt x="6881" y="933"/>
                    <a:pt x="6624" y="933"/>
                  </a:cubicBezTo>
                  <a:lnTo>
                    <a:pt x="10" y="933"/>
                  </a:lnTo>
                  <a:cubicBezTo>
                    <a:pt x="7" y="933"/>
                    <a:pt x="4" y="933"/>
                    <a:pt x="0" y="933"/>
                  </a:cubicBezTo>
                  <a:cubicBezTo>
                    <a:pt x="119" y="813"/>
                    <a:pt x="192" y="648"/>
                    <a:pt x="192" y="466"/>
                  </a:cubicBezTo>
                  <a:cubicBezTo>
                    <a:pt x="192" y="284"/>
                    <a:pt x="119" y="120"/>
                    <a:pt x="0" y="0"/>
                  </a:cubicBezTo>
                  <a:cubicBezTo>
                    <a:pt x="4" y="0"/>
                    <a:pt x="7" y="0"/>
                    <a:pt x="10" y="0"/>
                  </a:cubicBezTo>
                  <a:close/>
                </a:path>
              </a:pathLst>
            </a:custGeom>
            <a:solidFill>
              <a:srgbClr val="8BB923"/>
            </a:solidFill>
            <a:ln w="9525" cmpd="sng">
              <a:noFill/>
              <a:bevel/>
              <a:headEnd/>
              <a:tailEnd/>
            </a:ln>
          </p:spPr>
          <p:txBody>
            <a:bodyPr lIns="90170" tIns="46990" rIns="90170" bIns="46990"/>
            <a:lstStyle/>
            <a:p>
              <a:endParaRPr lang="zh-CN" altLang="zh-CN">
                <a:solidFill>
                  <a:srgbClr val="C4261D"/>
                </a:solidFill>
                <a:sym typeface="Arial" pitchFamily="34" charset="0"/>
              </a:endParaRPr>
            </a:p>
          </p:txBody>
        </p:sp>
        <p:sp>
          <p:nvSpPr>
            <p:cNvPr id="29" name="Freeform 15"/>
            <p:cNvSpPr>
              <a:spLocks noEditPoints="1" noChangeArrowheads="1"/>
            </p:cNvSpPr>
            <p:nvPr/>
          </p:nvSpPr>
          <p:spPr bwMode="auto">
            <a:xfrm>
              <a:off x="4326709" y="182842"/>
              <a:ext cx="279250" cy="285899"/>
            </a:xfrm>
            <a:custGeom>
              <a:avLst/>
              <a:gdLst>
                <a:gd name="T0" fmla="*/ 224 w 411"/>
                <a:gd name="T1" fmla="*/ 346 h 411"/>
                <a:gd name="T2" fmla="*/ 193 w 411"/>
                <a:gd name="T3" fmla="*/ 320 h 411"/>
                <a:gd name="T4" fmla="*/ 272 w 411"/>
                <a:gd name="T5" fmla="*/ 227 h 411"/>
                <a:gd name="T6" fmla="*/ 67 w 411"/>
                <a:gd name="T7" fmla="*/ 227 h 411"/>
                <a:gd name="T8" fmla="*/ 67 w 411"/>
                <a:gd name="T9" fmla="*/ 183 h 411"/>
                <a:gd name="T10" fmla="*/ 272 w 411"/>
                <a:gd name="T11" fmla="*/ 183 h 411"/>
                <a:gd name="T12" fmla="*/ 193 w 411"/>
                <a:gd name="T13" fmla="*/ 91 h 411"/>
                <a:gd name="T14" fmla="*/ 224 w 411"/>
                <a:gd name="T15" fmla="*/ 64 h 411"/>
                <a:gd name="T16" fmla="*/ 345 w 411"/>
                <a:gd name="T17" fmla="*/ 205 h 411"/>
                <a:gd name="T18" fmla="*/ 224 w 411"/>
                <a:gd name="T19" fmla="*/ 346 h 411"/>
                <a:gd name="T20" fmla="*/ 206 w 411"/>
                <a:gd name="T21" fmla="*/ 0 h 411"/>
                <a:gd name="T22" fmla="*/ 411 w 411"/>
                <a:gd name="T23" fmla="*/ 205 h 411"/>
                <a:gd name="T24" fmla="*/ 206 w 411"/>
                <a:gd name="T25" fmla="*/ 411 h 411"/>
                <a:gd name="T26" fmla="*/ 0 w 411"/>
                <a:gd name="T27" fmla="*/ 205 h 411"/>
                <a:gd name="T28" fmla="*/ 206 w 411"/>
                <a:gd name="T29" fmla="*/ 0 h 411"/>
                <a:gd name="T30" fmla="*/ 206 w 411"/>
                <a:gd name="T31" fmla="*/ 26 h 411"/>
                <a:gd name="T32" fmla="*/ 385 w 411"/>
                <a:gd name="T33" fmla="*/ 205 h 411"/>
                <a:gd name="T34" fmla="*/ 206 w 411"/>
                <a:gd name="T35" fmla="*/ 385 h 411"/>
                <a:gd name="T36" fmla="*/ 27 w 411"/>
                <a:gd name="T37" fmla="*/ 205 h 411"/>
                <a:gd name="T38" fmla="*/ 206 w 411"/>
                <a:gd name="T39" fmla="*/ 26 h 41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11"/>
                <a:gd name="T61" fmla="*/ 0 h 411"/>
                <a:gd name="T62" fmla="*/ 411 w 411"/>
                <a:gd name="T63" fmla="*/ 411 h 411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11" h="411">
                  <a:moveTo>
                    <a:pt x="224" y="346"/>
                  </a:moveTo>
                  <a:lnTo>
                    <a:pt x="193" y="320"/>
                  </a:lnTo>
                  <a:lnTo>
                    <a:pt x="272" y="227"/>
                  </a:lnTo>
                  <a:lnTo>
                    <a:pt x="67" y="227"/>
                  </a:lnTo>
                  <a:lnTo>
                    <a:pt x="67" y="183"/>
                  </a:lnTo>
                  <a:lnTo>
                    <a:pt x="272" y="183"/>
                  </a:lnTo>
                  <a:lnTo>
                    <a:pt x="193" y="91"/>
                  </a:lnTo>
                  <a:lnTo>
                    <a:pt x="224" y="64"/>
                  </a:lnTo>
                  <a:lnTo>
                    <a:pt x="345" y="205"/>
                  </a:lnTo>
                  <a:lnTo>
                    <a:pt x="224" y="346"/>
                  </a:lnTo>
                  <a:close/>
                  <a:moveTo>
                    <a:pt x="206" y="0"/>
                  </a:moveTo>
                  <a:cubicBezTo>
                    <a:pt x="319" y="0"/>
                    <a:pt x="411" y="92"/>
                    <a:pt x="411" y="205"/>
                  </a:cubicBezTo>
                  <a:cubicBezTo>
                    <a:pt x="411" y="319"/>
                    <a:pt x="319" y="411"/>
                    <a:pt x="206" y="411"/>
                  </a:cubicBezTo>
                  <a:cubicBezTo>
                    <a:pt x="92" y="411"/>
                    <a:pt x="0" y="319"/>
                    <a:pt x="0" y="205"/>
                  </a:cubicBezTo>
                  <a:cubicBezTo>
                    <a:pt x="0" y="92"/>
                    <a:pt x="92" y="0"/>
                    <a:pt x="206" y="0"/>
                  </a:cubicBezTo>
                  <a:close/>
                  <a:moveTo>
                    <a:pt x="206" y="26"/>
                  </a:moveTo>
                  <a:cubicBezTo>
                    <a:pt x="305" y="26"/>
                    <a:pt x="385" y="106"/>
                    <a:pt x="385" y="205"/>
                  </a:cubicBezTo>
                  <a:cubicBezTo>
                    <a:pt x="385" y="304"/>
                    <a:pt x="305" y="385"/>
                    <a:pt x="206" y="385"/>
                  </a:cubicBezTo>
                  <a:cubicBezTo>
                    <a:pt x="107" y="385"/>
                    <a:pt x="27" y="304"/>
                    <a:pt x="27" y="205"/>
                  </a:cubicBezTo>
                  <a:cubicBezTo>
                    <a:pt x="27" y="106"/>
                    <a:pt x="107" y="26"/>
                    <a:pt x="206" y="26"/>
                  </a:cubicBezTo>
                  <a:close/>
                </a:path>
              </a:pathLst>
            </a:custGeom>
            <a:solidFill>
              <a:srgbClr val="8BB923"/>
            </a:solidFill>
            <a:ln w="9525" cmpd="sng">
              <a:noFill/>
              <a:bevel/>
              <a:headEnd/>
              <a:tailEnd/>
            </a:ln>
          </p:spPr>
          <p:txBody>
            <a:bodyPr lIns="90170" tIns="46990" rIns="90170" bIns="46990"/>
            <a:lstStyle/>
            <a:p>
              <a:endParaRPr lang="zh-CN" altLang="zh-CN">
                <a:solidFill>
                  <a:srgbClr val="C4261D"/>
                </a:solidFill>
                <a:sym typeface="Arial" pitchFamily="34" charset="0"/>
              </a:endParaRPr>
            </a:p>
          </p:txBody>
        </p:sp>
      </p:grpSp>
      <p:sp>
        <p:nvSpPr>
          <p:cNvPr id="30" name="Oval 12"/>
          <p:cNvSpPr>
            <a:spLocks noChangeArrowheads="1"/>
          </p:cNvSpPr>
          <p:nvPr/>
        </p:nvSpPr>
        <p:spPr bwMode="auto">
          <a:xfrm>
            <a:off x="3393028" y="4761322"/>
            <a:ext cx="513086" cy="522331"/>
          </a:xfrm>
          <a:prstGeom prst="ellipse">
            <a:avLst/>
          </a:prstGeom>
          <a:solidFill>
            <a:srgbClr val="8BB923"/>
          </a:solidFill>
          <a:ln w="9525" cmpd="sng">
            <a:noFill/>
            <a:bevel/>
            <a:headEnd/>
            <a:tailEnd/>
          </a:ln>
        </p:spPr>
        <p:txBody>
          <a:bodyPr lIns="90170" tIns="46990" rIns="90170" bIns="46990"/>
          <a:lstStyle/>
          <a:p>
            <a:endParaRPr lang="zh-CN" altLang="zh-CN">
              <a:solidFill>
                <a:srgbClr val="C4261D"/>
              </a:solidFill>
              <a:sym typeface="Arial" pitchFamily="34" charset="0"/>
            </a:endParaRPr>
          </a:p>
        </p:txBody>
      </p:sp>
      <p:sp>
        <p:nvSpPr>
          <p:cNvPr id="31" name="TextBox 125"/>
          <p:cNvSpPr>
            <a:spLocks noChangeArrowheads="1"/>
          </p:cNvSpPr>
          <p:nvPr/>
        </p:nvSpPr>
        <p:spPr bwMode="auto">
          <a:xfrm>
            <a:off x="3417463" y="4772154"/>
            <a:ext cx="33859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8F8F8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4</a:t>
            </a:r>
            <a:endParaRPr lang="zh-CN" altLang="en-US" sz="2800" b="1" dirty="0">
              <a:solidFill>
                <a:srgbClr val="F8F8F8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32" name="TextBox 50"/>
          <p:cNvSpPr txBox="1"/>
          <p:nvPr/>
        </p:nvSpPr>
        <p:spPr>
          <a:xfrm>
            <a:off x="3938888" y="1803915"/>
            <a:ext cx="62068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背景</a:t>
            </a:r>
            <a:endParaRPr lang="zh-CN" altLang="en-US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TextBox 61"/>
          <p:cNvSpPr txBox="1"/>
          <p:nvPr/>
        </p:nvSpPr>
        <p:spPr>
          <a:xfrm>
            <a:off x="4118101" y="2800664"/>
            <a:ext cx="104227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RPC</a:t>
            </a:r>
            <a:r>
              <a:rPr lang="zh-CN" altLang="en-US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原理</a:t>
            </a:r>
            <a:endParaRPr lang="zh-CN" altLang="en-US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TextBox 62"/>
          <p:cNvSpPr txBox="1"/>
          <p:nvPr/>
        </p:nvSpPr>
        <p:spPr>
          <a:xfrm>
            <a:off x="4206944" y="3829186"/>
            <a:ext cx="385805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Apache </a:t>
            </a:r>
            <a:r>
              <a:rPr lang="en-US" altLang="zh-CN" dirty="0" err="1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Dubbo</a:t>
            </a:r>
            <a:r>
              <a:rPr lang="zh-CN" altLang="en-US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总体架构</a:t>
            </a:r>
            <a:endParaRPr lang="zh-CN" altLang="en-US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TextBox 63"/>
          <p:cNvSpPr txBox="1"/>
          <p:nvPr/>
        </p:nvSpPr>
        <p:spPr>
          <a:xfrm>
            <a:off x="4071959" y="4856792"/>
            <a:ext cx="305256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Apache </a:t>
            </a:r>
            <a:r>
              <a:rPr lang="en-US" altLang="zh-CN" dirty="0" err="1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Dubbo</a:t>
            </a:r>
            <a:r>
              <a:rPr lang="zh-CN" altLang="en-US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服务调用过程</a:t>
            </a:r>
            <a:endParaRPr lang="zh-CN" altLang="en-US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6275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00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23" dur="500" tmFilter="0,0; .5, 1; 1, 1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30" dur="500" tmFilter="0,0; .5, 1; 1, 1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45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6" presetClass="path" presetSubtype="0" accel="50000" decel="5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0.16467 0.1487 L -2.66337E-6 2.22942E-6 " pathEditMode="relative" rAng="0" ptsTypes="AA">
                                      <p:cBhvr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8227" y="-7447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6" presetClass="path" presetSubtype="0" accel="50000" decel="5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0.17053 -2.67345E-6 L -5.12887E-7 -2.67345E-6 " pathEditMode="relative" rAng="0" ptsTypes="AA">
                                      <p:cBhvr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8526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56" presetClass="path" presetSubtype="0" accel="50000" decel="5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0.16467 -0.1457 L -2.66337E-6 -1.10083E-6 " pathEditMode="relative" rAng="0" ptsTypes="AA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8227" y="72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50"/>
                            </p:stCondLst>
                            <p:childTnLst>
                              <p:par>
                                <p:cTn id="5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5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85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350"/>
                            </p:stCondLst>
                            <p:childTnLst>
                              <p:par>
                                <p:cTn id="6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6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65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150"/>
                            </p:stCondLst>
                            <p:childTnLst>
                              <p:par>
                                <p:cTn id="7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78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45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56" presetClass="path" presetSubtype="0" accel="50000" decel="5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0.16467 -0.1457 L -2.66337E-6 -1.10083E-6 " pathEditMode="relative" rAng="0" ptsTypes="AA">
                                      <p:cBhvr>
                                        <p:cTn id="8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8227" y="72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7550"/>
                            </p:stCondLst>
                            <p:childTnLst>
                              <p:par>
                                <p:cTn id="8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9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85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autoUpdateAnimBg="0"/>
      <p:bldP spid="6" grpId="0" bldLvl="0" animBg="1" autoUpdateAnimBg="0"/>
      <p:bldP spid="6" grpId="1" bldLvl="0" animBg="1" autoUpdateAnimBg="0"/>
      <p:bldP spid="7" grpId="0" bldLvl="0" autoUpdateAnimBg="0"/>
      <p:bldP spid="11" grpId="0" bldLvl="0" animBg="1" autoUpdateAnimBg="0"/>
      <p:bldP spid="11" grpId="1" bldLvl="0" animBg="1" autoUpdateAnimBg="0"/>
      <p:bldP spid="12" grpId="0" bldLvl="0" autoUpdateAnimBg="0"/>
      <p:bldP spid="16" grpId="0" bldLvl="0" animBg="1" autoUpdateAnimBg="0"/>
      <p:bldP spid="16" grpId="1" bldLvl="0" animBg="1" autoUpdateAnimBg="0"/>
      <p:bldP spid="17" grpId="0" bldLvl="0" autoUpdateAnimBg="0"/>
      <p:bldP spid="18" grpId="0" bldLvl="0" animBg="1" autoUpdateAnimBg="0"/>
      <p:bldP spid="19" grpId="0" bldLvl="0" animBg="1" autoUpdateAnimBg="0"/>
      <p:bldP spid="23" grpId="0" bldLvl="0" animBg="1" autoUpdateAnimBg="0"/>
      <p:bldP spid="24" grpId="0" bldLvl="0" autoUpdateAnimBg="0"/>
      <p:bldP spid="25" grpId="0" bldLvl="0" autoUpdateAnimBg="0"/>
      <p:bldP spid="30" grpId="0" bldLvl="0" animBg="1" autoUpdateAnimBg="0"/>
      <p:bldP spid="30" grpId="1" bldLvl="0" animBg="1" autoUpdateAnimBg="0"/>
      <p:bldP spid="31" grpId="0" bldLvl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8132" y="90066"/>
            <a:ext cx="7848972" cy="623998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lIns="94020" tIns="47011" rIns="94020" bIns="47011" rtlCol="0" anchor="ctr" anchorCtr="0">
            <a:no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一</a:t>
            </a:r>
            <a:r>
              <a:rPr lang="zh-CN" altLang="en-US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、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背景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64196" y="1602234"/>
            <a:ext cx="12025336" cy="1152128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rtlCol="0" anchor="ctr" anchorCtr="0">
            <a:noAutofit/>
          </a:bodyPr>
          <a:lstStyle/>
          <a:p>
            <a:pPr>
              <a:spcBef>
                <a:spcPts val="300"/>
              </a:spcBef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随着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互联网的发展，网站应用的规模不断扩大，常规的垂直应用架构已无法应对，分布式服务架构以及流动计算架构势在必行，亟需一个治理系统确保架构有条不紊的演进。 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AutoShape 2" descr="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280" y="3042394"/>
            <a:ext cx="10513168" cy="3153950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54455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8132" y="90066"/>
            <a:ext cx="7848972" cy="623998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lIns="94020" tIns="47011" rIns="94020" bIns="47011" rtlCol="0" anchor="ctr" anchorCtr="0">
            <a:no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一</a:t>
            </a:r>
            <a:r>
              <a:rPr lang="zh-CN" altLang="en-US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、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背景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64196" y="1602234"/>
            <a:ext cx="12673408" cy="5184576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大规模服务化之前，应用可能只是通过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RMI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Hessian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等工具，简单的暴露和引用远程服务，通过配置服务的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地址进行调用，通过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F5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等硬件进行负载均衡。</a:t>
            </a: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当服务越来越多时，服务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URL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配置管理变得非常困难，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F5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硬件负载均衡器的单点压力也越来越大。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此时需要一个服务注册中心，动态地注册和发现服务，使服务的位置透明。并通过在消费方获取服务提供方地址列表，实现软负载均衡和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Failover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，降低对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F5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硬件负载均衡器的依赖，也能减少部分成本。</a:t>
            </a: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当进一步发展，服务间依赖关系变得错踪复杂，甚至分不清哪个应用要在哪个应用之前启动，架构师都不能完整的描述应用的架构关系。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这时，需要自动画出应用间的依赖关系图，以帮助架构师理清理关系。</a:t>
            </a:r>
          </a:p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的调用量越来越大，服务的容量问题就暴露出来，这个服务需要多少机器支撑？什么时候该加机器？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为了解决这些问题，第一步，要将服务现在每天的调用量，响应时间，都统计出来，作为容量规划的参考指标。其次，要可以动态调整权重，在线上，将某台机器的权重一直加大，并在加大的过程中记录响应时间的变化，直到响应时间到达阈值，记录此时的访问量，再以此访问量乘以机器数反推总容量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/>
              <a:t>以上是 </a:t>
            </a:r>
            <a:r>
              <a:rPr lang="en-US" altLang="zh-CN" dirty="0" err="1"/>
              <a:t>Dubbo</a:t>
            </a:r>
            <a:r>
              <a:rPr lang="en-US" altLang="zh-CN" dirty="0"/>
              <a:t> </a:t>
            </a:r>
            <a:r>
              <a:rPr lang="zh-CN" altLang="en-US" dirty="0"/>
              <a:t>最基本的几个需求。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AutoShape 2" descr="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030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8132" y="90066"/>
            <a:ext cx="7848972" cy="623998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lIns="94020" tIns="47011" rIns="94020" bIns="47011" rtlCol="0" anchor="ctr" anchorCtr="0">
            <a:no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二</a:t>
            </a:r>
            <a:r>
              <a:rPr lang="zh-CN" altLang="en-US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、</a:t>
            </a:r>
            <a:r>
              <a:rPr lang="en-US" altLang="zh-CN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RPC</a:t>
            </a:r>
            <a:r>
              <a:rPr lang="zh-CN" altLang="en-US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原理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64196" y="1602234"/>
            <a:ext cx="12025336" cy="1152128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altLang="zh-CN" dirty="0" smtClean="0"/>
              <a:t>RPC</a:t>
            </a:r>
            <a:r>
              <a:rPr lang="zh-CN" altLang="en-US" dirty="0"/>
              <a:t>，全称为</a:t>
            </a:r>
            <a:r>
              <a:rPr lang="en-US" altLang="zh-CN" dirty="0"/>
              <a:t>Remote Procedure Call</a:t>
            </a:r>
            <a:r>
              <a:rPr lang="zh-CN" altLang="en-US" dirty="0"/>
              <a:t>，即远程</a:t>
            </a:r>
            <a:r>
              <a:rPr lang="zh-CN" altLang="en-US" dirty="0" smtClean="0"/>
              <a:t>过程调用（进程间通信一种），它</a:t>
            </a:r>
            <a:r>
              <a:rPr lang="zh-CN" altLang="en-US" dirty="0"/>
              <a:t>允许像调用本地服务一样调用远程</a:t>
            </a:r>
            <a:r>
              <a:rPr lang="zh-CN" altLang="en-US" dirty="0" smtClean="0"/>
              <a:t>服务，解耦服务。</a:t>
            </a:r>
            <a:r>
              <a:rPr lang="zh-CN" altLang="en-US" dirty="0"/>
              <a:t>它可以有不同的实现</a:t>
            </a:r>
            <a:r>
              <a:rPr lang="zh-CN" altLang="en-US" dirty="0" smtClean="0"/>
              <a:t>方式，如</a:t>
            </a:r>
            <a:r>
              <a:rPr lang="en-US" altLang="zh-CN" dirty="0"/>
              <a:t>RMI(</a:t>
            </a:r>
            <a:r>
              <a:rPr lang="zh-CN" altLang="en-US" dirty="0"/>
              <a:t>远程方法调用</a:t>
            </a:r>
            <a:r>
              <a:rPr lang="en-US" altLang="zh-CN" dirty="0"/>
              <a:t>)</a:t>
            </a:r>
            <a:r>
              <a:rPr lang="zh-CN" altLang="en-US" dirty="0"/>
              <a:t>、</a:t>
            </a:r>
            <a:r>
              <a:rPr lang="en-US" altLang="zh-CN" dirty="0"/>
              <a:t>Hessian</a:t>
            </a:r>
            <a:r>
              <a:rPr lang="zh-CN" altLang="en-US" dirty="0"/>
              <a:t>、</a:t>
            </a:r>
            <a:r>
              <a:rPr lang="en-US" altLang="zh-CN" dirty="0"/>
              <a:t>Http invoker</a:t>
            </a:r>
            <a:r>
              <a:rPr lang="zh-CN" altLang="en-US" dirty="0" smtClean="0"/>
              <a:t>等。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AutoShape 2" descr="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050" name="Picture 2" descr="https://images2015.cnblogs.com/blog/522490/201510/522490-20151003120412386-36333426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055" y="3114402"/>
            <a:ext cx="7140409" cy="426248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://images2015.cnblogs.com/blog/803118/201703/803118-20170314181622166-72198093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2988" y="3526383"/>
            <a:ext cx="6257925" cy="343852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708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8132" y="90066"/>
            <a:ext cx="7848972" cy="623998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lIns="94020" tIns="47011" rIns="94020" bIns="47011" rtlCol="0" anchor="ctr" anchorCtr="0">
            <a:no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二</a:t>
            </a:r>
            <a:r>
              <a:rPr lang="zh-CN" altLang="en-US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、</a:t>
            </a:r>
            <a:r>
              <a:rPr lang="en-US" altLang="zh-CN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RPC</a:t>
            </a:r>
            <a:r>
              <a:rPr lang="zh-CN" altLang="en-US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框架原理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64196" y="1602234"/>
            <a:ext cx="12025336" cy="1152128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zh-CN" altLang="en-US" dirty="0"/>
              <a:t>在一个典型 </a:t>
            </a:r>
            <a:r>
              <a:rPr lang="en-US" altLang="zh-CN" dirty="0"/>
              <a:t>RPC </a:t>
            </a:r>
            <a:r>
              <a:rPr lang="zh-CN" altLang="en-US" dirty="0"/>
              <a:t>的使用场景中，包含了服务发现、负载、容错、网络传输、序列化等组件，其中“</a:t>
            </a:r>
            <a:r>
              <a:rPr lang="en-US" altLang="zh-CN" dirty="0"/>
              <a:t>RPC </a:t>
            </a:r>
            <a:r>
              <a:rPr lang="zh-CN" altLang="en-US" dirty="0"/>
              <a:t>协议”就指明了程序如何进行网络传输和序列化。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AutoShape 2" descr="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4098" name="Picture 2" descr="http://5b0988e595225.cdn.sohucs.com/images/20190614/9117ca82c507452db11b380e45ef9a94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548" y="2466330"/>
            <a:ext cx="7848872" cy="523755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86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8132" y="90066"/>
            <a:ext cx="7848972" cy="623998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lIns="94020" tIns="47011" rIns="94020" bIns="47011" rtlCol="0" anchor="ctr" anchorCtr="0">
            <a:no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二</a:t>
            </a:r>
            <a:r>
              <a:rPr lang="zh-CN" altLang="en-US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、</a:t>
            </a:r>
            <a:r>
              <a:rPr lang="en-US" altLang="zh-CN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RPC</a:t>
            </a:r>
            <a:r>
              <a:rPr lang="zh-CN" altLang="en-US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框架原理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AutoShape 2" descr="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308" y="1674242"/>
            <a:ext cx="10441160" cy="513771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028" y="415594"/>
            <a:ext cx="4881720" cy="744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972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8132" y="90066"/>
            <a:ext cx="7848972" cy="623998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lIns="94020" tIns="47011" rIns="94020" bIns="47011" rtlCol="0" anchor="ctr" anchorCtr="0">
            <a:noAutofit/>
          </a:bodyPr>
          <a:lstStyle/>
          <a:p>
            <a:r>
              <a:rPr lang="zh-CN" altLang="en-US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三、</a:t>
            </a:r>
            <a:r>
              <a:rPr lang="en-US" altLang="zh-CN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Apache </a:t>
            </a:r>
            <a:r>
              <a:rPr lang="en-US" altLang="zh-CN" sz="2800" b="1" dirty="0" err="1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Dubbo</a:t>
            </a:r>
            <a:r>
              <a:rPr lang="zh-CN" altLang="en-US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总体架构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52228" y="714064"/>
            <a:ext cx="12313368" cy="3216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300"/>
              </a:spcBef>
            </a:pPr>
            <a:endParaRPr lang="en-US" altLang="zh-CN" sz="2400" dirty="0" smtClean="0"/>
          </a:p>
          <a:p>
            <a:r>
              <a:rPr lang="en-US" altLang="zh-CN" sz="2400" dirty="0" smtClean="0"/>
              <a:t>     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  <a:spcBef>
                <a:spcPts val="300"/>
              </a:spcBef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  <a:spcBef>
                <a:spcPts val="300"/>
              </a:spcBef>
            </a:pP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436" y="954162"/>
            <a:ext cx="8216602" cy="638724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63008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8132" y="90066"/>
            <a:ext cx="7848972" cy="623998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lIns="94020" tIns="47011" rIns="94020" bIns="47011" rtlCol="0" anchor="ctr" anchorCtr="0">
            <a:noAutofit/>
          </a:bodyPr>
          <a:lstStyle/>
          <a:p>
            <a:r>
              <a:rPr lang="zh-CN" altLang="en-US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三、</a:t>
            </a:r>
            <a:r>
              <a:rPr lang="en-US" altLang="zh-CN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Apache </a:t>
            </a:r>
            <a:r>
              <a:rPr lang="en-US" altLang="zh-CN" sz="2800" b="1" dirty="0" err="1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Dubbo</a:t>
            </a:r>
            <a:r>
              <a:rPr lang="zh-CN" altLang="en-US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总体架构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52228" y="714064"/>
            <a:ext cx="12313368" cy="3216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300"/>
              </a:spcBef>
            </a:pPr>
            <a:endParaRPr lang="en-US" altLang="zh-CN" sz="2400" dirty="0" smtClean="0"/>
          </a:p>
          <a:p>
            <a:r>
              <a:rPr lang="en-US" altLang="zh-CN" sz="2400" dirty="0" smtClean="0"/>
              <a:t>     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  <a:spcBef>
                <a:spcPts val="300"/>
              </a:spcBef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  <a:spcBef>
                <a:spcPts val="300"/>
              </a:spcBef>
            </a:pP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64196" y="1602234"/>
            <a:ext cx="12025336" cy="4680520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altLang="zh-CN" dirty="0" err="1" smtClean="0"/>
              <a:t>Dubbo</a:t>
            </a:r>
            <a:r>
              <a:rPr lang="zh-CN" altLang="en-US" dirty="0" smtClean="0"/>
              <a:t>分为</a:t>
            </a:r>
            <a:r>
              <a:rPr lang="zh-CN" altLang="en-US" dirty="0"/>
              <a:t>四个模块，分别为：注册中心（</a:t>
            </a:r>
            <a:r>
              <a:rPr lang="en-US" altLang="zh-CN" dirty="0"/>
              <a:t>Registry</a:t>
            </a:r>
            <a:r>
              <a:rPr lang="zh-CN" altLang="en-US" dirty="0"/>
              <a:t>）、提供者（</a:t>
            </a:r>
            <a:r>
              <a:rPr lang="en-US" altLang="zh-CN" dirty="0"/>
              <a:t>Provider</a:t>
            </a:r>
            <a:r>
              <a:rPr lang="zh-CN" altLang="en-US" dirty="0"/>
              <a:t>）、消费者（</a:t>
            </a:r>
            <a:r>
              <a:rPr lang="en-US" altLang="zh-CN" dirty="0"/>
              <a:t>Consumer</a:t>
            </a:r>
            <a:r>
              <a:rPr lang="zh-CN" altLang="en-US" dirty="0"/>
              <a:t>）和监控（</a:t>
            </a:r>
            <a:r>
              <a:rPr lang="en-US" altLang="zh-CN" dirty="0"/>
              <a:t>Monitor</a:t>
            </a:r>
            <a:r>
              <a:rPr lang="zh-CN" altLang="en-US" dirty="0"/>
              <a:t>）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zh-CN" altLang="en-US" b="1" dirty="0" smtClean="0"/>
              <a:t>注册</a:t>
            </a:r>
            <a:r>
              <a:rPr lang="zh-CN" altLang="en-US" b="1" dirty="0"/>
              <a:t>中心（</a:t>
            </a:r>
            <a:r>
              <a:rPr lang="en-US" altLang="zh-CN" b="1" dirty="0"/>
              <a:t>Registry</a:t>
            </a:r>
            <a:r>
              <a:rPr lang="zh-CN" altLang="en-US" b="1" dirty="0"/>
              <a:t>）</a:t>
            </a:r>
            <a:r>
              <a:rPr lang="zh-CN" altLang="en-US" dirty="0"/>
              <a:t>：可以是</a:t>
            </a:r>
            <a:r>
              <a:rPr lang="en-US" altLang="zh-CN" dirty="0"/>
              <a:t>zookeeper</a:t>
            </a:r>
            <a:r>
              <a:rPr lang="zh-CN" altLang="en-US" dirty="0"/>
              <a:t>、</a:t>
            </a:r>
            <a:r>
              <a:rPr lang="en-US" altLang="zh-CN" dirty="0" err="1"/>
              <a:t>redis</a:t>
            </a:r>
            <a:r>
              <a:rPr lang="zh-CN" altLang="en-US" dirty="0"/>
              <a:t>、</a:t>
            </a:r>
            <a:r>
              <a:rPr lang="en-US" altLang="zh-CN" dirty="0"/>
              <a:t>multicast</a:t>
            </a:r>
            <a:r>
              <a:rPr lang="zh-CN" altLang="en-US" dirty="0"/>
              <a:t>、</a:t>
            </a:r>
            <a:r>
              <a:rPr lang="en-US" altLang="zh-CN" dirty="0"/>
              <a:t>simple</a:t>
            </a:r>
            <a:r>
              <a:rPr lang="zh-CN" altLang="en-US" dirty="0"/>
              <a:t>（官方推荐使用</a:t>
            </a:r>
            <a:r>
              <a:rPr lang="en-US" altLang="zh-CN" dirty="0"/>
              <a:t>Zookeeper</a:t>
            </a:r>
            <a:r>
              <a:rPr lang="zh-CN" altLang="en-US" dirty="0"/>
              <a:t>）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zh-CN" altLang="en-US" b="1" dirty="0" smtClean="0"/>
              <a:t>提供</a:t>
            </a:r>
            <a:r>
              <a:rPr lang="zh-CN" altLang="en-US" b="1" dirty="0"/>
              <a:t>者（</a:t>
            </a:r>
            <a:r>
              <a:rPr lang="en-US" altLang="zh-CN" b="1" dirty="0"/>
              <a:t>Provider</a:t>
            </a:r>
            <a:r>
              <a:rPr lang="zh-CN" altLang="en-US" b="1" dirty="0"/>
              <a:t>）</a:t>
            </a:r>
            <a:r>
              <a:rPr lang="zh-CN" altLang="en-US" dirty="0"/>
              <a:t>：服务启动时，</a:t>
            </a:r>
            <a:r>
              <a:rPr lang="en-US" altLang="zh-CN" dirty="0"/>
              <a:t>Provider</a:t>
            </a:r>
            <a:r>
              <a:rPr lang="zh-CN" altLang="en-US" dirty="0"/>
              <a:t>引用容器中的服务，并向</a:t>
            </a:r>
            <a:r>
              <a:rPr lang="en-US" altLang="zh-CN" dirty="0"/>
              <a:t>Registry</a:t>
            </a:r>
            <a:r>
              <a:rPr lang="zh-CN" altLang="en-US" dirty="0"/>
              <a:t>注册服务，同时暴露服务（</a:t>
            </a:r>
            <a:r>
              <a:rPr lang="en-US" altLang="zh-CN" dirty="0"/>
              <a:t>Consumer</a:t>
            </a:r>
            <a:r>
              <a:rPr lang="zh-CN" altLang="en-US" dirty="0"/>
              <a:t>是直接和</a:t>
            </a:r>
            <a:r>
              <a:rPr lang="en-US" altLang="zh-CN" dirty="0"/>
              <a:t>Provider</a:t>
            </a:r>
            <a:r>
              <a:rPr lang="zh-CN" altLang="en-US" dirty="0"/>
              <a:t>通讯实现服务调用的）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zh-CN" altLang="en-US" b="1" dirty="0" smtClean="0"/>
              <a:t>消费者</a:t>
            </a:r>
            <a:r>
              <a:rPr lang="zh-CN" altLang="en-US" b="1" dirty="0"/>
              <a:t>（</a:t>
            </a:r>
            <a:r>
              <a:rPr lang="en-US" altLang="zh-CN" b="1" dirty="0"/>
              <a:t>Consumer</a:t>
            </a:r>
            <a:r>
              <a:rPr lang="zh-CN" altLang="en-US" b="1" dirty="0"/>
              <a:t>）</a:t>
            </a:r>
            <a:r>
              <a:rPr lang="zh-CN" altLang="en-US" dirty="0"/>
              <a:t>：服务启动时，</a:t>
            </a:r>
            <a:r>
              <a:rPr lang="en-US" altLang="zh-CN" dirty="0"/>
              <a:t>Consumer</a:t>
            </a:r>
            <a:r>
              <a:rPr lang="zh-CN" altLang="en-US" dirty="0"/>
              <a:t>向</a:t>
            </a:r>
            <a:r>
              <a:rPr lang="en-US" altLang="zh-CN" dirty="0"/>
              <a:t>Registry</a:t>
            </a:r>
            <a:r>
              <a:rPr lang="zh-CN" altLang="en-US" dirty="0"/>
              <a:t>订阅服务，如果没有订阅到自己想获得的服务，它会不断的尝试订阅。新的服务注册到注册中心以后，注册中心会将这些服务通过</a:t>
            </a:r>
            <a:r>
              <a:rPr lang="en-US" altLang="zh-CN" dirty="0"/>
              <a:t>notify</a:t>
            </a:r>
            <a:r>
              <a:rPr lang="zh-CN" altLang="en-US" dirty="0"/>
              <a:t>到消费者。</a:t>
            </a:r>
            <a:r>
              <a:rPr lang="en-US" altLang="zh-CN" dirty="0"/>
              <a:t>Consumer</a:t>
            </a:r>
            <a:r>
              <a:rPr lang="zh-CN" altLang="en-US" dirty="0"/>
              <a:t>直接调用</a:t>
            </a:r>
            <a:r>
              <a:rPr lang="en-US" altLang="zh-CN" dirty="0"/>
              <a:t>Provider</a:t>
            </a:r>
            <a:r>
              <a:rPr lang="zh-CN" altLang="en-US" dirty="0"/>
              <a:t>提供的服务。</a:t>
            </a:r>
            <a:r>
              <a:rPr lang="zh-CN" altLang="en-US" b="1" dirty="0"/>
              <a:t>监控（</a:t>
            </a:r>
            <a:r>
              <a:rPr lang="en-US" altLang="zh-CN" b="1" dirty="0"/>
              <a:t>Monitor</a:t>
            </a:r>
            <a:r>
              <a:rPr lang="zh-CN" altLang="en-US" b="1" dirty="0"/>
              <a:t>）</a:t>
            </a:r>
            <a:r>
              <a:rPr lang="zh-CN" altLang="en-US" dirty="0"/>
              <a:t>：</a:t>
            </a:r>
            <a:r>
              <a:rPr lang="en-US" altLang="zh-CN" dirty="0"/>
              <a:t>Consumer</a:t>
            </a:r>
            <a:r>
              <a:rPr lang="zh-CN" altLang="en-US" dirty="0"/>
              <a:t>和</a:t>
            </a:r>
            <a:r>
              <a:rPr lang="en-US" altLang="zh-CN" dirty="0"/>
              <a:t>Provider</a:t>
            </a:r>
            <a:r>
              <a:rPr lang="zh-CN" altLang="en-US" dirty="0"/>
              <a:t>会通过异步的方式定时向</a:t>
            </a:r>
            <a:r>
              <a:rPr lang="en-US" altLang="zh-CN" dirty="0"/>
              <a:t>Monitor</a:t>
            </a:r>
            <a:r>
              <a:rPr lang="zh-CN" altLang="en-US" dirty="0"/>
              <a:t>发送消息，报告服务的状态。</a:t>
            </a:r>
            <a:r>
              <a:rPr lang="en-US" altLang="zh-CN" dirty="0"/>
              <a:t>Monitor</a:t>
            </a:r>
            <a:r>
              <a:rPr lang="zh-CN" altLang="en-US" dirty="0"/>
              <a:t>在整个架构中是可选的，</a:t>
            </a:r>
            <a:r>
              <a:rPr lang="en-US" altLang="zh-CN" dirty="0"/>
              <a:t>Monitor</a:t>
            </a:r>
            <a:r>
              <a:rPr lang="zh-CN" altLang="en-US" dirty="0"/>
              <a:t>功能需要单独配置，不配置或者配置后挂掉并不会影响服务的调用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399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8132" y="90066"/>
            <a:ext cx="7848972" cy="623998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lIns="94020" tIns="47011" rIns="94020" bIns="47011" rtlCol="0" anchor="ctr" anchorCtr="0">
            <a:noAutofit/>
          </a:bodyPr>
          <a:lstStyle/>
          <a:p>
            <a:r>
              <a:rPr lang="zh-CN" altLang="en-US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三、</a:t>
            </a:r>
            <a:r>
              <a:rPr lang="en-US" altLang="zh-CN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Apache </a:t>
            </a:r>
            <a:r>
              <a:rPr lang="en-US" altLang="zh-CN" sz="2800" b="1" dirty="0" err="1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Dubbo</a:t>
            </a:r>
            <a:r>
              <a:rPr lang="zh-CN" altLang="en-US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总体架构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52228" y="714064"/>
            <a:ext cx="12313368" cy="3216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300"/>
              </a:spcBef>
            </a:pPr>
            <a:endParaRPr lang="en-US" altLang="zh-CN" sz="2400" dirty="0" smtClean="0"/>
          </a:p>
          <a:p>
            <a:r>
              <a:rPr lang="en-US" altLang="zh-CN" sz="2400" dirty="0" smtClean="0"/>
              <a:t>     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  <a:spcBef>
                <a:spcPts val="300"/>
              </a:spcBef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  <a:spcBef>
                <a:spcPts val="300"/>
              </a:spcBef>
            </a:pP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323" y="1170186"/>
            <a:ext cx="12914286" cy="581904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778" y="1436853"/>
            <a:ext cx="12933333" cy="528571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349" y="1797737"/>
            <a:ext cx="12904762" cy="564761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584456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8132" y="90066"/>
            <a:ext cx="7848972" cy="623998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lIns="94020" tIns="47011" rIns="94020" bIns="47011" rtlCol="0" anchor="ctr" anchorCtr="0">
            <a:noAutofit/>
          </a:bodyPr>
          <a:lstStyle/>
          <a:p>
            <a:r>
              <a:rPr lang="zh-CN" altLang="en-US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三、</a:t>
            </a:r>
            <a:r>
              <a:rPr lang="en-US" altLang="zh-CN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Apache </a:t>
            </a:r>
            <a:r>
              <a:rPr lang="en-US" altLang="zh-CN" sz="2800" b="1" dirty="0" err="1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Dubbo</a:t>
            </a:r>
            <a:r>
              <a:rPr lang="zh-CN" altLang="en-US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总体架构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52228" y="714064"/>
            <a:ext cx="12313368" cy="3216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300"/>
              </a:spcBef>
            </a:pPr>
            <a:endParaRPr lang="en-US" altLang="zh-CN" sz="2400" dirty="0" smtClean="0"/>
          </a:p>
          <a:p>
            <a:r>
              <a:rPr lang="en-US" altLang="zh-CN" sz="2400" dirty="0" smtClean="0"/>
              <a:t>     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  <a:spcBef>
                <a:spcPts val="300"/>
              </a:spcBef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  <a:spcBef>
                <a:spcPts val="300"/>
              </a:spcBef>
            </a:pP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64196" y="1602234"/>
            <a:ext cx="12025336" cy="4680520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</a:pP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001" y="1170186"/>
            <a:ext cx="8000876" cy="617181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9737" y="2139083"/>
            <a:ext cx="5213891" cy="4143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045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8132" y="90066"/>
            <a:ext cx="7848972" cy="623998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lIns="94020" tIns="47011" rIns="94020" bIns="47011" rtlCol="0" anchor="ctr" anchorCtr="0">
            <a:noAutofit/>
          </a:bodyPr>
          <a:lstStyle/>
          <a:p>
            <a:r>
              <a:rPr lang="zh-CN" altLang="en-US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三、</a:t>
            </a:r>
            <a:r>
              <a:rPr lang="en-US" altLang="zh-CN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Apache </a:t>
            </a:r>
            <a:r>
              <a:rPr lang="en-US" altLang="zh-CN" sz="2800" b="1" dirty="0" err="1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Dubbo</a:t>
            </a:r>
            <a:r>
              <a:rPr lang="zh-CN" altLang="en-US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总体架构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52228" y="714064"/>
            <a:ext cx="12313368" cy="3216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300"/>
              </a:spcBef>
            </a:pPr>
            <a:endParaRPr lang="en-US" altLang="zh-CN" sz="2400" dirty="0" smtClean="0"/>
          </a:p>
          <a:p>
            <a:r>
              <a:rPr lang="en-US" altLang="zh-CN" sz="2400" dirty="0" smtClean="0"/>
              <a:t>     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  <a:spcBef>
                <a:spcPts val="300"/>
              </a:spcBef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  <a:spcBef>
                <a:spcPts val="300"/>
              </a:spcBef>
            </a:pP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316" y="594122"/>
            <a:ext cx="10009112" cy="749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018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8132" y="90066"/>
            <a:ext cx="7848972" cy="623998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lIns="94020" tIns="47011" rIns="94020" bIns="47011" rtlCol="0" anchor="ctr" anchorCtr="0">
            <a:no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四</a:t>
            </a:r>
            <a:r>
              <a:rPr lang="zh-CN" altLang="en-US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、</a:t>
            </a:r>
            <a:r>
              <a:rPr lang="en-US" altLang="zh-CN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Apache </a:t>
            </a:r>
            <a:r>
              <a:rPr lang="en-US" altLang="zh-CN" sz="2800" b="1" dirty="0" err="1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Dubbo</a:t>
            </a:r>
            <a:r>
              <a:rPr lang="zh-CN" altLang="en-US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服务调用过程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52228" y="714064"/>
            <a:ext cx="12313368" cy="3216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300"/>
              </a:spcBef>
            </a:pPr>
            <a:endParaRPr lang="en-US" altLang="zh-CN" sz="2400" dirty="0" smtClean="0"/>
          </a:p>
          <a:p>
            <a:r>
              <a:rPr lang="en-US" altLang="zh-CN" sz="2400" dirty="0" smtClean="0"/>
              <a:t>     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  <a:spcBef>
                <a:spcPts val="300"/>
              </a:spcBef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  <a:spcBef>
                <a:spcPts val="300"/>
              </a:spcBef>
            </a:pP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170" name="Picture 2" descr="640?wx_fmt=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324" y="882154"/>
            <a:ext cx="9217024" cy="709198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/dev-guide/images/dubbo-extension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286" y="726342"/>
            <a:ext cx="7833100" cy="722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804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8132" y="90066"/>
            <a:ext cx="7848972" cy="623998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lIns="94020" tIns="47011" rIns="94020" bIns="47011" rtlCol="0" anchor="ctr" anchorCtr="0">
            <a:no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四</a:t>
            </a:r>
            <a:r>
              <a:rPr lang="zh-CN" altLang="en-US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、</a:t>
            </a:r>
            <a:r>
              <a:rPr lang="en-US" altLang="zh-CN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Apache </a:t>
            </a:r>
            <a:r>
              <a:rPr lang="en-US" altLang="zh-CN" sz="2800" b="1" dirty="0" err="1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Dubbo</a:t>
            </a:r>
            <a:r>
              <a:rPr lang="zh-CN" altLang="en-US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服务调用过程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52228" y="714064"/>
            <a:ext cx="12313368" cy="3216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300"/>
              </a:spcBef>
            </a:pPr>
            <a:endParaRPr lang="en-US" altLang="zh-CN" sz="2400" dirty="0" smtClean="0"/>
          </a:p>
          <a:p>
            <a:r>
              <a:rPr lang="en-US" altLang="zh-CN" sz="2400" dirty="0" smtClean="0"/>
              <a:t>     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  <a:spcBef>
                <a:spcPts val="300"/>
              </a:spcBef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  <a:spcBef>
                <a:spcPts val="300"/>
              </a:spcBef>
            </a:pP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AutoShape 2" descr="https://dubbo.apache.org/docs/zh-cn/source_code_guide/sources/images/send-request-process.jp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83" y="940655"/>
            <a:ext cx="13779123" cy="6119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463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8132" y="90066"/>
            <a:ext cx="7848972" cy="623998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lIns="94020" tIns="47011" rIns="94020" bIns="47011" rtlCol="0" anchor="ctr" anchorCtr="0">
            <a:no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四</a:t>
            </a:r>
            <a:r>
              <a:rPr lang="zh-CN" altLang="en-US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、</a:t>
            </a:r>
            <a:r>
              <a:rPr lang="en-US" altLang="zh-CN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Apache </a:t>
            </a:r>
            <a:r>
              <a:rPr lang="en-US" altLang="zh-CN" sz="2800" b="1" dirty="0" err="1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Dubbo</a:t>
            </a:r>
            <a:r>
              <a:rPr lang="zh-CN" altLang="en-US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服务调用过程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52228" y="714064"/>
            <a:ext cx="12313368" cy="3216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300"/>
              </a:spcBef>
            </a:pPr>
            <a:endParaRPr lang="en-US" altLang="zh-CN" sz="2400" dirty="0" smtClean="0"/>
          </a:p>
          <a:p>
            <a:r>
              <a:rPr lang="en-US" altLang="zh-CN" sz="2400" dirty="0" smtClean="0"/>
              <a:t>     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  <a:spcBef>
                <a:spcPts val="300"/>
              </a:spcBef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  <a:spcBef>
                <a:spcPts val="300"/>
              </a:spcBef>
            </a:pP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AutoShape 2" descr="https://dubbo.apache.org/docs/zh-cn/source_code_guide/sources/images/send-request-process.jp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4" y="553222"/>
            <a:ext cx="7560840" cy="757889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8828" y="1557521"/>
            <a:ext cx="7286625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05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8132" y="90066"/>
            <a:ext cx="7848972" cy="623998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lIns="94020" tIns="47011" rIns="94020" bIns="47011" rtlCol="0" anchor="ctr" anchorCtr="0">
            <a:no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四</a:t>
            </a:r>
            <a:r>
              <a:rPr lang="zh-CN" altLang="en-US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、</a:t>
            </a:r>
            <a:r>
              <a:rPr lang="en-US" altLang="zh-CN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Apache </a:t>
            </a:r>
            <a:r>
              <a:rPr lang="en-US" altLang="zh-CN" sz="2800" b="1" dirty="0" err="1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Dubbo</a:t>
            </a:r>
            <a:r>
              <a:rPr lang="zh-CN" altLang="en-US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服务调用过程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52228" y="714064"/>
            <a:ext cx="12313368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300"/>
              </a:spcBef>
            </a:pPr>
            <a:r>
              <a:rPr lang="en-US" altLang="zh-CN" b="1" dirty="0"/>
              <a:t>Consumer</a:t>
            </a:r>
            <a:r>
              <a:rPr lang="zh-CN" altLang="en-US" b="1" dirty="0"/>
              <a:t>之</a:t>
            </a:r>
            <a:r>
              <a:rPr lang="en-US" altLang="zh-CN" b="1" dirty="0" err="1" smtClean="0"/>
              <a:t>ReferenceBean</a:t>
            </a:r>
            <a:endParaRPr lang="en-US" altLang="zh-CN" sz="2400" dirty="0" smtClean="0"/>
          </a:p>
          <a:p>
            <a:r>
              <a:rPr lang="en-US" altLang="zh-CN" sz="2400" dirty="0" smtClean="0"/>
              <a:t>     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  <a:spcBef>
                <a:spcPts val="300"/>
              </a:spcBef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  <a:spcBef>
                <a:spcPts val="300"/>
              </a:spcBef>
            </a:pP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AutoShape 2" descr="https://dubbo.apache.org/docs/zh-cn/source_code_guide/sources/images/send-request-process.jp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604" y="594122"/>
            <a:ext cx="8067675" cy="73437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6149" y="1052758"/>
            <a:ext cx="4476750" cy="65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68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8132" y="90066"/>
            <a:ext cx="7848972" cy="623998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lIns="94020" tIns="47011" rIns="94020" bIns="47011" rtlCol="0" anchor="ctr" anchorCtr="0">
            <a:no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四</a:t>
            </a:r>
            <a:r>
              <a:rPr lang="zh-CN" altLang="en-US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、</a:t>
            </a:r>
            <a:r>
              <a:rPr lang="en-US" altLang="zh-CN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Apache </a:t>
            </a:r>
            <a:r>
              <a:rPr lang="en-US" altLang="zh-CN" sz="2800" b="1" dirty="0" err="1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Dubbo</a:t>
            </a:r>
            <a:r>
              <a:rPr lang="zh-CN" altLang="en-US" sz="2800" b="1" dirty="0" smtClean="0">
                <a:solidFill>
                  <a:prstClr val="black"/>
                </a:solidFill>
                <a:latin typeface="Arial"/>
                <a:ea typeface="等线" panose="02010600030101010101" pitchFamily="2" charset="-122"/>
                <a:sym typeface="微软雅黑" pitchFamily="34" charset="-122"/>
              </a:rPr>
              <a:t>服务调用过程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52228" y="714064"/>
            <a:ext cx="12313368" cy="2292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Provider</a:t>
            </a:r>
            <a:r>
              <a:rPr lang="zh-CN" altLang="en-US" b="1" dirty="0"/>
              <a:t>之</a:t>
            </a:r>
            <a:r>
              <a:rPr lang="en-US" altLang="zh-CN" b="1" dirty="0" err="1" smtClean="0"/>
              <a:t>ServiceBean</a:t>
            </a:r>
            <a:r>
              <a:rPr lang="en-US" altLang="zh-CN" sz="2400" dirty="0" smtClean="0"/>
              <a:t>     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  <a:spcBef>
                <a:spcPts val="300"/>
              </a:spcBef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  <a:spcBef>
                <a:spcPts val="300"/>
              </a:spcBef>
            </a:pP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AutoShape 2" descr="https://dubbo.apache.org/docs/zh-cn/source_code_guide/sources/images/send-request-process.jp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368" y="594122"/>
            <a:ext cx="6524625" cy="78771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7755" y="1218009"/>
            <a:ext cx="413385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646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2449289"/>
            <a:ext cx="14401800" cy="2091388"/>
          </a:xfrm>
          <a:prstGeom prst="rect">
            <a:avLst/>
          </a:prstGeom>
          <a:solidFill>
            <a:srgbClr val="EF8207"/>
          </a:solidFill>
          <a:ln w="3175">
            <a:noFill/>
          </a:ln>
        </p:spPr>
        <p:txBody>
          <a:bodyPr wrap="square" lIns="80560" tIns="0" rIns="40925" bIns="32225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832640" y="3134240"/>
            <a:ext cx="4512501" cy="749213"/>
          </a:xfrm>
          <a:prstGeom prst="rect">
            <a:avLst/>
          </a:prstGeom>
          <a:noFill/>
        </p:spPr>
        <p:txBody>
          <a:bodyPr wrap="square" lIns="40925" tIns="20464" rIns="40925" bIns="20464" rtlCol="0">
            <a:spAutoFit/>
          </a:bodyPr>
          <a:lstStyle/>
          <a:p>
            <a:pPr algn="ctr"/>
            <a:r>
              <a:rPr lang="zh-CN" altLang="en-US" sz="46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谢谢观赏</a:t>
            </a:r>
          </a:p>
        </p:txBody>
      </p:sp>
    </p:spTree>
    <p:extLst>
      <p:ext uri="{BB962C8B-B14F-4D97-AF65-F5344CB8AC3E}">
        <p14:creationId xmlns:p14="http://schemas.microsoft.com/office/powerpoint/2010/main" val="1019519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中国电信模板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中国电信模板2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28575">
          <a:solidFill>
            <a:srgbClr val="EF8207"/>
          </a:solidFill>
        </a:ln>
      </a:spPr>
      <a:bodyPr wrap="square" rtlCol="0" anchor="ctr">
        <a:noAutofit/>
      </a:bodyPr>
      <a:lstStyle>
        <a:defPPr algn="ctr">
          <a:defRPr sz="2000" dirty="0" smtClean="0">
            <a:latin typeface="微软雅黑" pitchFamily="34" charset="-122"/>
            <a:ea typeface="微软雅黑" pitchFamily="34" charset="-122"/>
          </a:defRPr>
        </a:defPPr>
      </a:lstStyle>
    </a:spDef>
    <a:lnDef>
      <a:spPr>
        <a:ln w="12700">
          <a:solidFill>
            <a:schemeClr val="tx1"/>
          </a:solidFill>
          <a:headEnd type="none" w="med" len="med"/>
          <a:tailEnd type="triangl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  <a:ln w="28575">
          <a:noFill/>
        </a:ln>
      </a:spPr>
      <a:bodyPr vert="horz" wrap="square" rtlCol="0" anchor="ctr" anchorCtr="0">
        <a:noAutofit/>
      </a:bodyPr>
      <a:lstStyle>
        <a:defPPr algn="ctr">
          <a:lnSpc>
            <a:spcPct val="150000"/>
          </a:lnSpc>
          <a:spcBef>
            <a:spcPts val="300"/>
          </a:spcBef>
          <a:defRPr sz="1800" dirty="0" smtClean="0">
            <a:latin typeface="微软雅黑" pitchFamily="34" charset="-122"/>
            <a:ea typeface="微软雅黑" pitchFamily="34" charset="-122"/>
          </a:defRPr>
        </a:defPPr>
      </a:lstStyle>
    </a:txDef>
  </a:objectDefaults>
  <a:extraClrSchemeLst>
    <a:extraClrScheme>
      <a:clrScheme name="中国电信模板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中国电信模板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中国电信模板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中国电信模板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中国电信模板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中国电信模板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中国电信模板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中国电信模板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中国电信模板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中国电信模板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中国电信模板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中国电信模板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116531</TotalTime>
  <Words>1582</Words>
  <Application>Microsoft Office PowerPoint</Application>
  <PresentationFormat>自定义</PresentationFormat>
  <Paragraphs>149</Paragraphs>
  <Slides>18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等线</vt:lpstr>
      <vt:lpstr>楷体_GB2312</vt:lpstr>
      <vt:lpstr>宋体</vt:lpstr>
      <vt:lpstr>微软雅黑</vt:lpstr>
      <vt:lpstr>Arial</vt:lpstr>
      <vt:lpstr>Wingdings</vt:lpstr>
      <vt:lpstr>中国电信模板2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xiaoxuan@hxdi.com</Manager>
  <Company>华信邮电咨询设计研究院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薪酬设计基础知识培训</dc:title>
  <dc:subject>薪酬设计</dc:subject>
  <dc:creator>xiaoxuan@hxdi.com</dc:creator>
  <cp:lastModifiedBy>同程网络-潘政05625</cp:lastModifiedBy>
  <cp:revision>15804</cp:revision>
  <dcterms:created xsi:type="dcterms:W3CDTF">2005-08-09T08:50:02Z</dcterms:created>
  <dcterms:modified xsi:type="dcterms:W3CDTF">2019-12-13T06:41:01Z</dcterms:modified>
  <cp:category>培训课件</cp:category>
</cp:coreProperties>
</file>