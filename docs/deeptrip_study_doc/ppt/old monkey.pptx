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257" r:id="rId3"/>
    <p:sldId id="258" r:id="rId4"/>
    <p:sldId id="259" r:id="rId5"/>
    <p:sldId id="260" r:id="rId6"/>
    <p:sldId id="263" r:id="rId7"/>
    <p:sldId id="264" r:id="rId8"/>
    <p:sldId id="265" r:id="rId9"/>
    <p:sldId id="261" r:id="rId10"/>
    <p:sldId id="262" r:id="rId11"/>
    <p:sldId id="266" r:id="rId12"/>
    <p:sldId id="296" r:id="rId13"/>
    <p:sldId id="267" r:id="rId14"/>
    <p:sldId id="268" r:id="rId15"/>
    <p:sldId id="269" r:id="rId16"/>
    <p:sldId id="270" r:id="rId17"/>
    <p:sldId id="271" r:id="rId18"/>
    <p:sldId id="272" r:id="rId19"/>
    <p:sldId id="278" r:id="rId20"/>
    <p:sldId id="277" r:id="rId21"/>
    <p:sldId id="281" r:id="rId22"/>
    <p:sldId id="273" r:id="rId23"/>
    <p:sldId id="274" r:id="rId24"/>
    <p:sldId id="275" r:id="rId25"/>
    <p:sldId id="276" r:id="rId26"/>
    <p:sldId id="279" r:id="rId27"/>
    <p:sldId id="280" r:id="rId28"/>
    <p:sldId id="282" r:id="rId29"/>
    <p:sldId id="283" r:id="rId30"/>
    <p:sldId id="287" r:id="rId31"/>
    <p:sldId id="284" r:id="rId32"/>
    <p:sldId id="285" r:id="rId33"/>
    <p:sldId id="286" r:id="rId34"/>
    <p:sldId id="288" r:id="rId35"/>
    <p:sldId id="289" r:id="rId36"/>
    <p:sldId id="290" r:id="rId37"/>
    <p:sldId id="291" r:id="rId38"/>
    <p:sldId id="292" r:id="rId39"/>
    <p:sldId id="293" r:id="rId40"/>
    <p:sldId id="294" r:id="rId41"/>
    <p:sldId id="295" r:id="rId42"/>
    <p:sldId id="297"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snapToGrid="0" snapToObjects="1">
      <p:cViewPr varScale="1">
        <p:scale>
          <a:sx n="121" d="100"/>
          <a:sy n="121" d="100"/>
        </p:scale>
        <p:origin x="1360"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AECB23-621C-1E4E-9719-FFD5AEE2AFCB}" type="datetimeFigureOut">
              <a:rPr kumimoji="1" lang="zh-CN" altLang="en-US" smtClean="0"/>
              <a:t>2021/3/31</a:t>
            </a:fld>
            <a:endParaRPr kumimoji="1"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CA7FD6-6A4A-B643-8AF2-8AEEA49031C5}" type="slidenum">
              <a:rPr kumimoji="1" lang="zh-CN" altLang="en-US" smtClean="0"/>
              <a:t>‹#›</a:t>
            </a:fld>
            <a:endParaRPr kumimoji="1" lang="zh-CN" altLang="en-US"/>
          </a:p>
        </p:txBody>
      </p:sp>
    </p:spTree>
    <p:extLst>
      <p:ext uri="{BB962C8B-B14F-4D97-AF65-F5344CB8AC3E}">
        <p14:creationId xmlns:p14="http://schemas.microsoft.com/office/powerpoint/2010/main" val="126688076"/>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C1CA7FD6-6A4A-B643-8AF2-8AEEA49031C5}" type="slidenum">
              <a:rPr kumimoji="1" lang="zh-CN" altLang="en-US" smtClean="0"/>
              <a:t>36</a:t>
            </a:fld>
            <a:endParaRPr kumimoji="1" lang="zh-CN" altLang="en-US"/>
          </a:p>
        </p:txBody>
      </p:sp>
    </p:spTree>
    <p:extLst>
      <p:ext uri="{BB962C8B-B14F-4D97-AF65-F5344CB8AC3E}">
        <p14:creationId xmlns:p14="http://schemas.microsoft.com/office/powerpoint/2010/main" val="1362814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2">
        <a:schemeClr val="bg2"/>
      </p:bgRef>
    </p:bg>
    <p:spTree>
      <p:nvGrpSpPr>
        <p:cNvPr id="1" name=""/>
        <p:cNvGrpSpPr/>
        <p:nvPr/>
      </p:nvGrpSpPr>
      <p:grpSpPr>
        <a:xfrm>
          <a:off x="0" y="0"/>
          <a:ext cx="0" cy="0"/>
          <a:chOff x="0" y="0"/>
          <a:chExt cx="0" cy="0"/>
        </a:xfrm>
      </p:grpSpPr>
      <p:sp>
        <p:nvSpPr>
          <p:cNvPr id="7" name="任意形状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任意形状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标题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zh-CN" altLang="en-US"/>
              <a:t>单击此处编辑母版标题样式</a:t>
            </a:r>
            <a:endParaRPr kumimoji="0" lang="en-US"/>
          </a:p>
        </p:txBody>
      </p:sp>
      <p:sp>
        <p:nvSpPr>
          <p:cNvPr id="17" name="副标题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30" name="日期占位符 29"/>
          <p:cNvSpPr>
            <a:spLocks noGrp="1"/>
          </p:cNvSpPr>
          <p:nvPr>
            <p:ph type="dt" sz="half" idx="10"/>
          </p:nvPr>
        </p:nvSpPr>
        <p:spPr/>
        <p:txBody>
          <a:bodyPr/>
          <a:lstStyle/>
          <a:p>
            <a:pPr eaLnBrk="1" latinLnBrk="0" hangingPunct="1"/>
            <a:fld id="{E637BB6B-EE1B-48FB-8575-0D55C373DE88}" type="datetimeFigureOut">
              <a:rPr lang="en-US" smtClean="0"/>
              <a:pPr eaLnBrk="1" latinLnBrk="0" hangingPunct="1"/>
              <a:t>3/31/21</a:t>
            </a:fld>
            <a:endParaRPr lang="en-US"/>
          </a:p>
        </p:txBody>
      </p:sp>
      <p:sp>
        <p:nvSpPr>
          <p:cNvPr id="19" name="页脚占位符 18"/>
          <p:cNvSpPr>
            <a:spLocks noGrp="1"/>
          </p:cNvSpPr>
          <p:nvPr>
            <p:ph type="ftr" sz="quarter" idx="11"/>
          </p:nvPr>
        </p:nvSpPr>
        <p:spPr/>
        <p:txBody>
          <a:bodyPr/>
          <a:lstStyle/>
          <a:p>
            <a:endParaRPr kumimoji="0" lang="en-US"/>
          </a:p>
        </p:txBody>
      </p:sp>
      <p:sp>
        <p:nvSpPr>
          <p:cNvPr id="27" name="幻灯片编号占位符 26"/>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l">
              <a:defRPr/>
            </a:lvl1p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4" name="日期占位符 3"/>
          <p:cNvSpPr>
            <a:spLocks noGrp="1"/>
          </p:cNvSpPr>
          <p:nvPr>
            <p:ph type="dt" sz="half" idx="10"/>
          </p:nvPr>
        </p:nvSpPr>
        <p:spPr/>
        <p:txBody>
          <a:bodyPr/>
          <a:lstStyle/>
          <a:p>
            <a:pPr eaLnBrk="1" latinLnBrk="0" hangingPunct="1"/>
            <a:fld id="{E637BB6B-EE1B-48FB-8575-0D55C373DE88}" type="datetimeFigureOut">
              <a:rPr lang="en-US" smtClean="0"/>
              <a:pPr eaLnBrk="1" latinLnBrk="0" hangingPunct="1"/>
              <a:t>3/31/21</a:t>
            </a:fld>
            <a:endParaRPr lang="en-US"/>
          </a:p>
        </p:txBody>
      </p:sp>
      <p:sp>
        <p:nvSpPr>
          <p:cNvPr id="5" name="页脚占位符 4"/>
          <p:cNvSpPr>
            <a:spLocks noGrp="1"/>
          </p:cNvSpPr>
          <p:nvPr>
            <p:ph type="ftr" sz="quarter" idx="11"/>
          </p:nvPr>
        </p:nvSpPr>
        <p:spPr/>
        <p:txBody>
          <a:bodyPr/>
          <a:lstStyle/>
          <a:p>
            <a:endParaRPr kumimoji="0" lang="en-US"/>
          </a:p>
        </p:txBody>
      </p:sp>
      <p:sp>
        <p:nvSpPr>
          <p:cNvPr id="6" name="幻灯片编号占位符 5"/>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2">
        <a:schemeClr val="bg2"/>
      </p:bgRef>
    </p:bg>
    <p:spTree>
      <p:nvGrpSpPr>
        <p:cNvPr id="1" name=""/>
        <p:cNvGrpSpPr/>
        <p:nvPr/>
      </p:nvGrpSpPr>
      <p:grpSpPr>
        <a:xfrm>
          <a:off x="0" y="0"/>
          <a:ext cx="0" cy="0"/>
          <a:chOff x="0" y="0"/>
          <a:chExt cx="0" cy="0"/>
        </a:xfrm>
      </p:grpSpPr>
      <p:sp>
        <p:nvSpPr>
          <p:cNvPr id="7" name="任意形状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任意形状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标题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p>
            <a:pPr eaLnBrk="1" latinLnBrk="0" hangingPunct="1"/>
            <a:fld id="{E637BB6B-EE1B-48FB-8575-0D55C373DE88}" type="datetimeFigureOut">
              <a:rPr lang="en-US" smtClean="0"/>
              <a:pPr eaLnBrk="1" latinLnBrk="0" hangingPunct="1"/>
              <a:t>3/31/21</a:t>
            </a:fld>
            <a:endParaRPr lang="en-US"/>
          </a:p>
        </p:txBody>
      </p:sp>
      <p:sp>
        <p:nvSpPr>
          <p:cNvPr id="5" name="页脚占位符 4"/>
          <p:cNvSpPr>
            <a:spLocks noGrp="1"/>
          </p:cNvSpPr>
          <p:nvPr>
            <p:ph type="ftr" sz="quarter" idx="11"/>
          </p:nvPr>
        </p:nvSpPr>
        <p:spPr/>
        <p:txBody>
          <a:bodyPr/>
          <a:lstStyle/>
          <a:p>
            <a:endParaRPr kumimoji="0" lang="en-US"/>
          </a:p>
        </p:txBody>
      </p:sp>
      <p:sp>
        <p:nvSpPr>
          <p:cNvPr id="6" name="幻灯片编号占位符 5"/>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7467600"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4" name="内容占位符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5" name="日期占位符 4"/>
          <p:cNvSpPr>
            <a:spLocks noGrp="1"/>
          </p:cNvSpPr>
          <p:nvPr>
            <p:ph type="dt" sz="half" idx="10"/>
          </p:nvPr>
        </p:nvSpPr>
        <p:spPr/>
        <p:txBody>
          <a:bodyPr/>
          <a:lstStyle/>
          <a:p>
            <a:pPr eaLnBrk="1" latinLnBrk="0" hangingPunct="1"/>
            <a:fld id="{E637BB6B-EE1B-48FB-8575-0D55C373DE88}" type="datetimeFigureOut">
              <a:rPr lang="en-US" smtClean="0"/>
              <a:pPr eaLnBrk="1" latinLnBrk="0" hangingPunct="1"/>
              <a:t>3/31/21</a:t>
            </a:fld>
            <a:endParaRPr lang="en-US"/>
          </a:p>
        </p:txBody>
      </p:sp>
      <p:sp>
        <p:nvSpPr>
          <p:cNvPr id="6" name="页脚占位符 5"/>
          <p:cNvSpPr>
            <a:spLocks noGrp="1"/>
          </p:cNvSpPr>
          <p:nvPr>
            <p:ph type="ftr" sz="quarter" idx="11"/>
          </p:nvPr>
        </p:nvSpPr>
        <p:spPr/>
        <p:txBody>
          <a:bodyPr/>
          <a:lstStyle/>
          <a:p>
            <a:endParaRPr kumimoji="0" lang="en-US"/>
          </a:p>
        </p:txBody>
      </p:sp>
      <p:sp>
        <p:nvSpPr>
          <p:cNvPr id="7" name="幻灯片编号占位符 6"/>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6" name="内容占位符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7" name="日期占位符 6"/>
          <p:cNvSpPr>
            <a:spLocks noGrp="1"/>
          </p:cNvSpPr>
          <p:nvPr>
            <p:ph type="dt" sz="half" idx="10"/>
          </p:nvPr>
        </p:nvSpPr>
        <p:spPr/>
        <p:txBody>
          <a:bodyPr/>
          <a:lstStyle/>
          <a:p>
            <a:pPr eaLnBrk="1" latinLnBrk="0" hangingPunct="1"/>
            <a:fld id="{E637BB6B-EE1B-48FB-8575-0D55C373DE88}" type="datetimeFigureOut">
              <a:rPr lang="en-US" smtClean="0"/>
              <a:pPr eaLnBrk="1" latinLnBrk="0" hangingPunct="1"/>
              <a:t>3/31/21</a:t>
            </a:fld>
            <a:endParaRPr lang="en-US"/>
          </a:p>
        </p:txBody>
      </p:sp>
      <p:sp>
        <p:nvSpPr>
          <p:cNvPr id="8" name="页脚占位符 7"/>
          <p:cNvSpPr>
            <a:spLocks noGrp="1"/>
          </p:cNvSpPr>
          <p:nvPr>
            <p:ph type="ftr" sz="quarter" idx="11"/>
          </p:nvPr>
        </p:nvSpPr>
        <p:spPr/>
        <p:txBody>
          <a:bodyPr/>
          <a:lstStyle/>
          <a:p>
            <a:endParaRPr kumimoji="0" lang="en-US"/>
          </a:p>
        </p:txBody>
      </p:sp>
      <p:sp>
        <p:nvSpPr>
          <p:cNvPr id="9" name="幻灯片编号占位符 8"/>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320"/>
            <a:ext cx="7470648" cy="1143000"/>
          </a:xfrm>
        </p:spPr>
        <p:txBody>
          <a:bodyPr anchor="ctr"/>
          <a:lstStyle>
            <a:lvl1pPr algn="l">
              <a:defRPr sz="4600"/>
            </a:lvl1pPr>
          </a:lstStyle>
          <a:p>
            <a:r>
              <a:rPr kumimoji="0" lang="zh-CN" altLang="en-US"/>
              <a:t>单击此处编辑母版标题样式</a:t>
            </a:r>
            <a:endParaRPr kumimoji="0" lang="en-US"/>
          </a:p>
        </p:txBody>
      </p:sp>
      <p:sp>
        <p:nvSpPr>
          <p:cNvPr id="7" name="日期占位符 6"/>
          <p:cNvSpPr>
            <a:spLocks noGrp="1"/>
          </p:cNvSpPr>
          <p:nvPr>
            <p:ph type="dt" sz="half" idx="10"/>
          </p:nvPr>
        </p:nvSpPr>
        <p:spPr/>
        <p:txBody>
          <a:bodyPr/>
          <a:lstStyle/>
          <a:p>
            <a:pPr eaLnBrk="1" latinLnBrk="0" hangingPunct="1"/>
            <a:fld id="{E637BB6B-EE1B-48FB-8575-0D55C373DE88}" type="datetimeFigureOut">
              <a:rPr lang="en-US" smtClean="0"/>
              <a:pPr eaLnBrk="1" latinLnBrk="0" hangingPunct="1"/>
              <a:t>3/31/21</a:t>
            </a:fld>
            <a:endParaRPr lang="en-US"/>
          </a:p>
        </p:txBody>
      </p:sp>
      <p:sp>
        <p:nvSpPr>
          <p:cNvPr id="8" name="幻灯片编号占位符 7"/>
          <p:cNvSpPr>
            <a:spLocks noGrp="1"/>
          </p:cNvSpPr>
          <p:nvPr>
            <p:ph type="sldNum" sz="quarter" idx="11"/>
          </p:nvPr>
        </p:nvSpPr>
        <p:spPr/>
        <p:txBody>
          <a:bodyPr/>
          <a:lstStyle/>
          <a:p>
            <a:fld id="{2AA957AF-53C0-420B-9C2D-77DB1416566C}" type="slidenum">
              <a:rPr kumimoji="0" lang="en-US" smtClean="0"/>
              <a:pPr eaLnBrk="1" latinLnBrk="0" hangingPunct="1"/>
              <a:t>‹#›</a:t>
            </a:fld>
            <a:endParaRPr kumimoji="0" lang="en-US"/>
          </a:p>
        </p:txBody>
      </p:sp>
      <p:sp>
        <p:nvSpPr>
          <p:cNvPr id="9" name="页脚占位符 8"/>
          <p:cNvSpPr>
            <a:spLocks noGrp="1"/>
          </p:cNvSpPr>
          <p:nvPr>
            <p:ph type="ftr" sz="quarter" idx="12"/>
          </p:nvPr>
        </p:nvSpPr>
        <p:spPr/>
        <p:txBody>
          <a:bodyPr/>
          <a:lstStyle/>
          <a:p>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eaLnBrk="1" latinLnBrk="0" hangingPunct="1"/>
            <a:fld id="{E637BB6B-EE1B-48FB-8575-0D55C373DE88}" type="datetimeFigureOut">
              <a:rPr lang="en-US" smtClean="0"/>
              <a:pPr eaLnBrk="1" latinLnBrk="0" hangingPunct="1"/>
              <a:t>3/31/21</a:t>
            </a:fld>
            <a:endParaRPr lang="en-US"/>
          </a:p>
        </p:txBody>
      </p:sp>
      <p:sp>
        <p:nvSpPr>
          <p:cNvPr id="3" name="页脚占位符 2"/>
          <p:cNvSpPr>
            <a:spLocks noGrp="1"/>
          </p:cNvSpPr>
          <p:nvPr>
            <p:ph type="ftr" sz="quarter" idx="11"/>
          </p:nvPr>
        </p:nvSpPr>
        <p:spPr/>
        <p:txBody>
          <a:bodyPr/>
          <a:lstStyle/>
          <a:p>
            <a:endParaRPr kumimoji="0" lang="en-US"/>
          </a:p>
        </p:txBody>
      </p:sp>
      <p:sp>
        <p:nvSpPr>
          <p:cNvPr id="4" name="幻灯片编号占位符 3"/>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5" name="日期占位符 4"/>
          <p:cNvSpPr>
            <a:spLocks noGrp="1"/>
          </p:cNvSpPr>
          <p:nvPr>
            <p:ph type="dt" sz="half" idx="10"/>
          </p:nvPr>
        </p:nvSpPr>
        <p:spPr/>
        <p:txBody>
          <a:bodyPr/>
          <a:lstStyle/>
          <a:p>
            <a:pPr eaLnBrk="1" latinLnBrk="0" hangingPunct="1"/>
            <a:fld id="{E637BB6B-EE1B-48FB-8575-0D55C373DE88}" type="datetimeFigureOut">
              <a:rPr lang="en-US" smtClean="0"/>
              <a:pPr eaLnBrk="1" latinLnBrk="0" hangingPunct="1"/>
              <a:t>3/31/21</a:t>
            </a:fld>
            <a:endParaRPr lang="en-US"/>
          </a:p>
        </p:txBody>
      </p:sp>
      <p:sp>
        <p:nvSpPr>
          <p:cNvPr id="6" name="页脚占位符 5"/>
          <p:cNvSpPr>
            <a:spLocks noGrp="1"/>
          </p:cNvSpPr>
          <p:nvPr>
            <p:ph type="ftr" sz="quarter" idx="11"/>
          </p:nvPr>
        </p:nvSpPr>
        <p:spPr/>
        <p:txBody>
          <a:bodyPr/>
          <a:lstStyle/>
          <a:p>
            <a:endParaRPr kumimoji="0" lang="en-US"/>
          </a:p>
        </p:txBody>
      </p:sp>
      <p:sp>
        <p:nvSpPr>
          <p:cNvPr id="7" name="幻灯片编号占位符 6"/>
          <p:cNvSpPr>
            <a:spLocks noGrp="1"/>
          </p:cNvSpPr>
          <p:nvPr>
            <p:ph type="sldNum" sz="quarter" idx="12"/>
          </p:nvPr>
        </p:nvSpPr>
        <p:spPr>
          <a:xfrm>
            <a:off x="8156448" y="6422064"/>
            <a:ext cx="762000" cy="365125"/>
          </a:xfrm>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zh-CN" altLang="en-US"/>
              <a:t>将图片拖动到占位符，或单击添加图标</a:t>
            </a:r>
            <a:endParaRPr kumimoji="0" lang="en-US" dirty="0"/>
          </a:p>
        </p:txBody>
      </p:sp>
      <p:sp>
        <p:nvSpPr>
          <p:cNvPr id="4" name="文本占位符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a:xfrm>
            <a:off x="457200" y="6422064"/>
            <a:ext cx="2133600" cy="365125"/>
          </a:xfrm>
        </p:spPr>
        <p:txBody>
          <a:bodyPr/>
          <a:lstStyle/>
          <a:p>
            <a:pPr eaLnBrk="1" latinLnBrk="0" hangingPunct="1"/>
            <a:fld id="{E637BB6B-EE1B-48FB-8575-0D55C373DE88}" type="datetimeFigureOut">
              <a:rPr lang="en-US" smtClean="0"/>
              <a:pPr eaLnBrk="1" latinLnBrk="0" hangingPunct="1"/>
              <a:t>3/31/21</a:t>
            </a:fld>
            <a:endParaRPr lang="en-US"/>
          </a:p>
        </p:txBody>
      </p:sp>
      <p:sp>
        <p:nvSpPr>
          <p:cNvPr id="6" name="页脚占位符 5"/>
          <p:cNvSpPr>
            <a:spLocks noGrp="1"/>
          </p:cNvSpPr>
          <p:nvPr>
            <p:ph type="ftr" sz="quarter" idx="11"/>
          </p:nvPr>
        </p:nvSpPr>
        <p:spPr/>
        <p:txBody>
          <a:bodyPr/>
          <a:lstStyle/>
          <a:p>
            <a:endParaRPr kumimoji="0" lang="en-US"/>
          </a:p>
        </p:txBody>
      </p:sp>
      <p:sp>
        <p:nvSpPr>
          <p:cNvPr id="7" name="幻灯片编号占位符 6"/>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本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4" name="日期占位符 3"/>
          <p:cNvSpPr>
            <a:spLocks noGrp="1"/>
          </p:cNvSpPr>
          <p:nvPr>
            <p:ph type="dt" sz="half" idx="10"/>
          </p:nvPr>
        </p:nvSpPr>
        <p:spPr/>
        <p:txBody>
          <a:bodyPr/>
          <a:lstStyle/>
          <a:p>
            <a:pPr eaLnBrk="1" latinLnBrk="0" hangingPunct="1"/>
            <a:fld id="{E637BB6B-EE1B-48FB-8575-0D55C373DE88}" type="datetimeFigureOut">
              <a:rPr lang="en-US" smtClean="0"/>
              <a:pPr eaLnBrk="1" latinLnBrk="0" hangingPunct="1"/>
              <a:t>3/31/21</a:t>
            </a:fld>
            <a:endParaRPr lang="en-US" dirty="0"/>
          </a:p>
        </p:txBody>
      </p:sp>
      <p:sp>
        <p:nvSpPr>
          <p:cNvPr id="5" name="页脚占位符 4"/>
          <p:cNvSpPr>
            <a:spLocks noGrp="1"/>
          </p:cNvSpPr>
          <p:nvPr>
            <p:ph type="ftr" sz="quarter" idx="11"/>
          </p:nvPr>
        </p:nvSpPr>
        <p:spPr/>
        <p:txBody>
          <a:bodyPr/>
          <a:lstStyle/>
          <a:p>
            <a:endParaRPr kumimoji="0" lang="en-US"/>
          </a:p>
        </p:txBody>
      </p:sp>
      <p:sp>
        <p:nvSpPr>
          <p:cNvPr id="6" name="幻灯片编号占位符 5"/>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kumimoji="0" lang="zh-CN" altLang="en-US"/>
              <a:t>单击此处编辑母版标题样式</a:t>
            </a:r>
            <a:endParaRPr kumimoji="0" lang="en-US"/>
          </a:p>
        </p:txBody>
      </p:sp>
      <p:sp>
        <p:nvSpPr>
          <p:cNvPr id="3" name="竖排文本占位符 2"/>
          <p:cNvSpPr>
            <a:spLocks noGrp="1"/>
          </p:cNvSpPr>
          <p:nvPr>
            <p:ph type="body" orient="vert" idx="1"/>
          </p:nvPr>
        </p:nvSpPr>
        <p:spPr>
          <a:xfrm>
            <a:off x="457200" y="274638"/>
            <a:ext cx="6019800" cy="5851525"/>
          </a:xfrm>
        </p:spPr>
        <p:txBody>
          <a:bodyPr vert="eaVert"/>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4" name="日期占位符 3"/>
          <p:cNvSpPr>
            <a:spLocks noGrp="1"/>
          </p:cNvSpPr>
          <p:nvPr>
            <p:ph type="dt" sz="half" idx="10"/>
          </p:nvPr>
        </p:nvSpPr>
        <p:spPr/>
        <p:txBody>
          <a:bodyPr/>
          <a:lstStyle/>
          <a:p>
            <a:pPr eaLnBrk="1" latinLnBrk="0" hangingPunct="1"/>
            <a:fld id="{E637BB6B-EE1B-48FB-8575-0D55C373DE88}" type="datetimeFigureOut">
              <a:rPr lang="en-US" smtClean="0"/>
              <a:pPr eaLnBrk="1" latinLnBrk="0" hangingPunct="1"/>
              <a:t>3/31/21</a:t>
            </a:fld>
            <a:endParaRPr lang="en-US"/>
          </a:p>
        </p:txBody>
      </p:sp>
      <p:sp>
        <p:nvSpPr>
          <p:cNvPr id="5" name="页脚占位符 4"/>
          <p:cNvSpPr>
            <a:spLocks noGrp="1"/>
          </p:cNvSpPr>
          <p:nvPr>
            <p:ph type="ftr" sz="quarter" idx="11"/>
          </p:nvPr>
        </p:nvSpPr>
        <p:spPr/>
        <p:txBody>
          <a:bodyPr/>
          <a:lstStyle/>
          <a:p>
            <a:endParaRPr kumimoji="0" lang="en-US"/>
          </a:p>
        </p:txBody>
      </p:sp>
      <p:sp>
        <p:nvSpPr>
          <p:cNvPr id="6" name="幻灯片编号占位符 5"/>
          <p:cNvSpPr>
            <a:spLocks noGrp="1"/>
          </p:cNvSpPr>
          <p:nvPr>
            <p:ph type="sldNum" sz="quarter" idx="12"/>
          </p:nvPr>
        </p:nvSpPr>
        <p:spPr/>
        <p:txBody>
          <a:bodyPr/>
          <a:lstStyle/>
          <a:p>
            <a:fld id="{2AA957AF-53C0-420B-9C2D-77DB1416566C}" type="slidenum">
              <a:rPr kumimoji="0" lang="en-US" smtClean="0"/>
              <a:pPr eaLnBrk="1" latinLnBrk="0" hangingPunct="1"/>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任意形状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任意形状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标题占位符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zh-CN" altLang="en-US"/>
              <a:t>单击此处编辑母版标题样式</a:t>
            </a:r>
            <a:endParaRPr kumimoji="0" lang="en-US"/>
          </a:p>
        </p:txBody>
      </p:sp>
      <p:sp>
        <p:nvSpPr>
          <p:cNvPr id="30" name="文本占位符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二级</a:t>
            </a:r>
          </a:p>
          <a:p>
            <a:pPr lvl="2" eaLnBrk="1" latinLnBrk="0" hangingPunct="1"/>
            <a:r>
              <a:rPr kumimoji="0" lang="zh-CN" altLang="en-US"/>
              <a:t>三级</a:t>
            </a:r>
          </a:p>
          <a:p>
            <a:pPr lvl="3" eaLnBrk="1" latinLnBrk="0" hangingPunct="1"/>
            <a:r>
              <a:rPr kumimoji="0" lang="zh-CN" altLang="en-US"/>
              <a:t>四级</a:t>
            </a:r>
          </a:p>
          <a:p>
            <a:pPr lvl="4" eaLnBrk="1" latinLnBrk="0" hangingPunct="1"/>
            <a:r>
              <a:rPr kumimoji="0" lang="zh-CN" altLang="en-US"/>
              <a:t>五级</a:t>
            </a:r>
            <a:endParaRPr kumimoji="0" lang="en-US"/>
          </a:p>
        </p:txBody>
      </p:sp>
      <p:sp>
        <p:nvSpPr>
          <p:cNvPr id="10" name="日期占位符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pPr eaLnBrk="1" latinLnBrk="0" hangingPunct="1"/>
            <a:fld id="{E637BB6B-EE1B-48FB-8575-0D55C373DE88}" type="datetimeFigureOut">
              <a:rPr lang="en-US" smtClean="0"/>
              <a:pPr eaLnBrk="1" latinLnBrk="0" hangingPunct="1"/>
              <a:t>3/31/21</a:t>
            </a:fld>
            <a:endParaRPr lang="en-US" sz="1000">
              <a:solidFill>
                <a:schemeClr val="tx2">
                  <a:shade val="50000"/>
                </a:schemeClr>
              </a:solidFill>
            </a:endParaRPr>
          </a:p>
        </p:txBody>
      </p:sp>
      <p:sp>
        <p:nvSpPr>
          <p:cNvPr id="22" name="页脚占位符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pPr algn="ctr" eaLnBrk="1" latinLnBrk="0" hangingPunct="1"/>
            <a:endParaRPr kumimoji="0" lang="en-US" sz="1000" dirty="0">
              <a:solidFill>
                <a:schemeClr val="tx2">
                  <a:shade val="50000"/>
                </a:schemeClr>
              </a:solidFill>
            </a:endParaRPr>
          </a:p>
        </p:txBody>
      </p:sp>
      <p:sp>
        <p:nvSpPr>
          <p:cNvPr id="18" name="幻灯片编号占位符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2AA957AF-53C0-420B-9C2D-77DB1416566C}" type="slidenum">
              <a:rPr kumimoji="0" lang="en-US" smtClean="0"/>
              <a:pPr eaLnBrk="1" latinLnBrk="0" hangingPunct="1"/>
              <a:t>‹#›</a:t>
            </a:fld>
            <a:endParaRPr kumimoji="0" lang="en-US" sz="1000" dirty="0">
              <a:solidFill>
                <a:schemeClr val="tx2">
                  <a:shade val="50000"/>
                </a:schemeClr>
              </a:solidFill>
            </a:endParaRP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baike.baidu.com/item/%E6%94%B9%E9%80%A0%E4%B8%96%E7%95%8C" TargetMode="External"/><Relationship Id="rId2" Type="http://schemas.openxmlformats.org/officeDocument/2006/relationships/hyperlink" Target="https://baike.baidu.com/item/%E8%AE%A4%E8%AF%86%E4%B8%96%E7%95%8C" TargetMode="External"/><Relationship Id="rId1" Type="http://schemas.openxmlformats.org/officeDocument/2006/relationships/slideLayout" Target="../slideLayouts/slideLayout2.xml"/><Relationship Id="rId4" Type="http://schemas.openxmlformats.org/officeDocument/2006/relationships/hyperlink" Target="https://baike.baidu.com/item/%E4%B8%96%E7%95%8C%E8%A7%82/284683"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zh-CN" altLang="en-US" dirty="0"/>
              <a:t>老猿养成之道</a:t>
            </a:r>
          </a:p>
        </p:txBody>
      </p:sp>
      <p:sp>
        <p:nvSpPr>
          <p:cNvPr id="3" name="副标题 2"/>
          <p:cNvSpPr>
            <a:spLocks noGrp="1"/>
          </p:cNvSpPr>
          <p:nvPr>
            <p:ph type="subTitle" idx="1"/>
          </p:nvPr>
        </p:nvSpPr>
        <p:spPr/>
        <p:txBody>
          <a:bodyPr/>
          <a:lstStyle/>
          <a:p>
            <a:r>
              <a:rPr kumimoji="1" lang="zh-CN" altLang="en-US" sz="2800" dirty="0"/>
              <a:t>老猿说系列</a:t>
            </a:r>
          </a:p>
        </p:txBody>
      </p:sp>
    </p:spTree>
    <p:extLst>
      <p:ext uri="{BB962C8B-B14F-4D97-AF65-F5344CB8AC3E}">
        <p14:creationId xmlns:p14="http://schemas.microsoft.com/office/powerpoint/2010/main" val="3370425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目录</a:t>
            </a:r>
          </a:p>
        </p:txBody>
      </p:sp>
      <p:sp>
        <p:nvSpPr>
          <p:cNvPr id="3" name="内容占位符 2"/>
          <p:cNvSpPr>
            <a:spLocks noGrp="1"/>
          </p:cNvSpPr>
          <p:nvPr>
            <p:ph idx="1"/>
          </p:nvPr>
        </p:nvSpPr>
        <p:spPr/>
        <p:txBody>
          <a:bodyPr/>
          <a:lstStyle/>
          <a:p>
            <a:r>
              <a:rPr kumimoji="1" lang="zh-CN" altLang="en-US" dirty="0"/>
              <a:t>引子</a:t>
            </a:r>
            <a:endParaRPr kumimoji="1" lang="en-US" altLang="zh-CN" dirty="0"/>
          </a:p>
          <a:p>
            <a:r>
              <a:rPr kumimoji="1" lang="zh-CN" altLang="en-US" dirty="0"/>
              <a:t>年龄大了只能转管理？</a:t>
            </a:r>
            <a:endParaRPr kumimoji="1" lang="en-US" altLang="zh-CN" dirty="0"/>
          </a:p>
          <a:p>
            <a:r>
              <a:rPr kumimoji="1" lang="zh-CN" altLang="en-US" dirty="0"/>
              <a:t>老猿的能力模型</a:t>
            </a:r>
            <a:endParaRPr kumimoji="1" lang="en-US" altLang="zh-CN" dirty="0"/>
          </a:p>
          <a:p>
            <a:r>
              <a:rPr kumimoji="1" lang="zh-CN" altLang="en-US" dirty="0"/>
              <a:t>老猿的术与道</a:t>
            </a:r>
            <a:endParaRPr kumimoji="1" lang="en-US" altLang="zh-CN" dirty="0"/>
          </a:p>
          <a:p>
            <a:r>
              <a:rPr kumimoji="1" lang="zh-CN" altLang="en-US" dirty="0"/>
              <a:t>解惑</a:t>
            </a:r>
            <a:endParaRPr kumimoji="1" lang="en-US" altLang="zh-CN" dirty="0"/>
          </a:p>
          <a:p>
            <a:r>
              <a:rPr kumimoji="1" lang="zh-CN" altLang="en-US" dirty="0"/>
              <a:t>共勉</a:t>
            </a:r>
          </a:p>
        </p:txBody>
      </p:sp>
    </p:spTree>
    <p:extLst>
      <p:ext uri="{BB962C8B-B14F-4D97-AF65-F5344CB8AC3E}">
        <p14:creationId xmlns:p14="http://schemas.microsoft.com/office/powerpoint/2010/main" val="2347355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引子</a:t>
            </a:r>
          </a:p>
        </p:txBody>
      </p:sp>
      <p:sp>
        <p:nvSpPr>
          <p:cNvPr id="3" name="内容占位符 2"/>
          <p:cNvSpPr>
            <a:spLocks noGrp="1"/>
          </p:cNvSpPr>
          <p:nvPr>
            <p:ph idx="1"/>
          </p:nvPr>
        </p:nvSpPr>
        <p:spPr/>
        <p:txBody>
          <a:bodyPr>
            <a:normAutofit/>
          </a:bodyPr>
          <a:lstStyle/>
          <a:p>
            <a:r>
              <a:rPr kumimoji="1" lang="zh-CN" altLang="en-US" sz="2800" dirty="0"/>
              <a:t>当我刚参加工作时，有人告诉我“</a:t>
            </a:r>
            <a:r>
              <a:rPr kumimoji="1" lang="en-US" altLang="zh-CN" sz="2800" dirty="0"/>
              <a:t>27</a:t>
            </a:r>
            <a:r>
              <a:rPr kumimoji="1" lang="zh-CN" altLang="en-US" sz="2800" dirty="0"/>
              <a:t>岁之前必须做到项目经理，不然就没前途”</a:t>
            </a:r>
            <a:endParaRPr kumimoji="1" lang="en-US" altLang="zh-CN" sz="2800" dirty="0"/>
          </a:p>
          <a:p>
            <a:r>
              <a:rPr kumimoji="1" lang="zh-CN" altLang="en-US" sz="2800" dirty="0"/>
              <a:t>当我</a:t>
            </a:r>
            <a:r>
              <a:rPr kumimoji="1" lang="en-US" altLang="zh-CN" sz="2800" dirty="0"/>
              <a:t>27</a:t>
            </a:r>
            <a:r>
              <a:rPr kumimoji="1" lang="zh-CN" altLang="en-US" sz="2800" dirty="0"/>
              <a:t>岁的时候，有人告诉我“</a:t>
            </a:r>
            <a:r>
              <a:rPr kumimoji="1" lang="en-US" altLang="zh-CN" sz="2800" dirty="0"/>
              <a:t>30</a:t>
            </a:r>
            <a:r>
              <a:rPr kumimoji="1" lang="zh-CN" altLang="en-US" sz="2800" dirty="0"/>
              <a:t>岁之前必须做到驾狗师，不然就没前途”</a:t>
            </a:r>
            <a:endParaRPr kumimoji="1" lang="en-US" altLang="zh-CN" sz="2800" dirty="0"/>
          </a:p>
          <a:p>
            <a:r>
              <a:rPr kumimoji="1" lang="zh-CN" altLang="en-US" sz="2800" dirty="0"/>
              <a:t>当我</a:t>
            </a:r>
            <a:r>
              <a:rPr kumimoji="1" lang="en-US" altLang="zh-CN" sz="2800" dirty="0"/>
              <a:t>30</a:t>
            </a:r>
            <a:r>
              <a:rPr kumimoji="1" lang="zh-CN" altLang="en-US" sz="2800" dirty="0"/>
              <a:t>岁的时候，有人告诉我“</a:t>
            </a:r>
            <a:r>
              <a:rPr kumimoji="1" lang="en-US" altLang="zh-CN" sz="2800" dirty="0"/>
              <a:t>33</a:t>
            </a:r>
            <a:r>
              <a:rPr kumimoji="1" lang="zh-CN" altLang="en-US" sz="2800" dirty="0"/>
              <a:t>岁之前必须做到技术总奸，</a:t>
            </a:r>
            <a:r>
              <a:rPr kumimoji="1" lang="en-US" altLang="zh-CN" sz="2800" dirty="0"/>
              <a:t>CXO</a:t>
            </a:r>
            <a:r>
              <a:rPr kumimoji="1" lang="zh-CN" altLang="en-US" sz="2800" dirty="0"/>
              <a:t>，不然就没前途”</a:t>
            </a:r>
            <a:endParaRPr kumimoji="1" lang="en-US" altLang="zh-CN" sz="2800" dirty="0"/>
          </a:p>
          <a:p>
            <a:r>
              <a:rPr kumimoji="1" lang="zh-CN" altLang="en-US" sz="2800" dirty="0"/>
              <a:t>当我</a:t>
            </a:r>
            <a:r>
              <a:rPr kumimoji="1" lang="en-US" altLang="zh-CN" sz="2800" dirty="0"/>
              <a:t>33</a:t>
            </a:r>
            <a:r>
              <a:rPr kumimoji="1" lang="zh-CN" altLang="en-US" sz="2800" dirty="0"/>
              <a:t>岁的时候，有人告诉我。。。。</a:t>
            </a:r>
          </a:p>
        </p:txBody>
      </p:sp>
    </p:spTree>
    <p:extLst>
      <p:ext uri="{BB962C8B-B14F-4D97-AF65-F5344CB8AC3E}">
        <p14:creationId xmlns:p14="http://schemas.microsoft.com/office/powerpoint/2010/main" val="351670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引子</a:t>
            </a:r>
          </a:p>
        </p:txBody>
      </p:sp>
      <p:sp>
        <p:nvSpPr>
          <p:cNvPr id="3" name="内容占位符 2"/>
          <p:cNvSpPr>
            <a:spLocks noGrp="1"/>
          </p:cNvSpPr>
          <p:nvPr>
            <p:ph idx="1"/>
          </p:nvPr>
        </p:nvSpPr>
        <p:spPr>
          <a:xfrm>
            <a:off x="590872" y="5595524"/>
            <a:ext cx="7467600" cy="788286"/>
          </a:xfrm>
        </p:spPr>
        <p:txBody>
          <a:bodyPr/>
          <a:lstStyle/>
          <a:p>
            <a:r>
              <a:rPr kumimoji="1" lang="zh-CN" altLang="en-US" dirty="0"/>
              <a:t>我</a:t>
            </a:r>
            <a:r>
              <a:rPr kumimoji="1" lang="en-US" altLang="zh-CN" dirty="0"/>
              <a:t>TM</a:t>
            </a:r>
            <a:r>
              <a:rPr kumimoji="1" lang="zh-CN" altLang="en-US" dirty="0"/>
              <a:t>只想安静地做一名老猿</a:t>
            </a:r>
          </a:p>
        </p:txBody>
      </p:sp>
      <p:pic>
        <p:nvPicPr>
          <p:cNvPr id="8" name="图片 7"/>
          <p:cNvPicPr>
            <a:picLocks noChangeAspect="1"/>
          </p:cNvPicPr>
          <p:nvPr/>
        </p:nvPicPr>
        <p:blipFill>
          <a:blip r:embed="rId2"/>
          <a:stretch>
            <a:fillRect/>
          </a:stretch>
        </p:blipFill>
        <p:spPr>
          <a:xfrm>
            <a:off x="1443234" y="1638300"/>
            <a:ext cx="3784600" cy="3568700"/>
          </a:xfrm>
          <a:prstGeom prst="rect">
            <a:avLst/>
          </a:prstGeom>
        </p:spPr>
      </p:pic>
    </p:spTree>
    <p:extLst>
      <p:ext uri="{BB962C8B-B14F-4D97-AF65-F5344CB8AC3E}">
        <p14:creationId xmlns:p14="http://schemas.microsoft.com/office/powerpoint/2010/main" val="2272078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什么是老猿？</a:t>
            </a:r>
          </a:p>
        </p:txBody>
      </p:sp>
      <p:sp>
        <p:nvSpPr>
          <p:cNvPr id="3" name="内容占位符 2"/>
          <p:cNvSpPr>
            <a:spLocks noGrp="1"/>
          </p:cNvSpPr>
          <p:nvPr>
            <p:ph idx="1"/>
          </p:nvPr>
        </p:nvSpPr>
        <p:spPr/>
        <p:txBody>
          <a:bodyPr/>
          <a:lstStyle/>
          <a:p>
            <a:endParaRPr kumimoji="1" lang="en-US" altLang="zh-CN" dirty="0"/>
          </a:p>
          <a:p>
            <a:endParaRPr kumimoji="1" lang="en-US" altLang="zh-CN" dirty="0"/>
          </a:p>
          <a:p>
            <a:r>
              <a:rPr kumimoji="1" lang="zh-CN" altLang="en-US" dirty="0"/>
              <a:t>不限行业，不限岗位，工作</a:t>
            </a:r>
            <a:r>
              <a:rPr kumimoji="1" lang="en-US" altLang="zh-CN" dirty="0"/>
              <a:t>&gt;8</a:t>
            </a:r>
            <a:r>
              <a:rPr kumimoji="1" lang="zh-CN" altLang="en-US" dirty="0"/>
              <a:t>年，仍然会进行</a:t>
            </a:r>
            <a:r>
              <a:rPr kumimoji="1" lang="en-US" altLang="zh-CN" dirty="0"/>
              <a:t>coding</a:t>
            </a:r>
            <a:r>
              <a:rPr kumimoji="1" lang="zh-CN" altLang="en-US" dirty="0"/>
              <a:t>的程序猿</a:t>
            </a:r>
          </a:p>
        </p:txBody>
      </p:sp>
    </p:spTree>
    <p:extLst>
      <p:ext uri="{BB962C8B-B14F-4D97-AF65-F5344CB8AC3E}">
        <p14:creationId xmlns:p14="http://schemas.microsoft.com/office/powerpoint/2010/main" val="151023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10</a:t>
            </a:r>
            <a:r>
              <a:rPr kumimoji="1" lang="zh-CN" altLang="en-US" dirty="0"/>
              <a:t>年前的我</a:t>
            </a:r>
          </a:p>
        </p:txBody>
      </p:sp>
      <p:pic>
        <p:nvPicPr>
          <p:cNvPr id="5" name="图片 4"/>
          <p:cNvPicPr>
            <a:picLocks noChangeAspect="1"/>
          </p:cNvPicPr>
          <p:nvPr/>
        </p:nvPicPr>
        <p:blipFill>
          <a:blip r:embed="rId2"/>
          <a:stretch>
            <a:fillRect/>
          </a:stretch>
        </p:blipFill>
        <p:spPr>
          <a:xfrm>
            <a:off x="1742592" y="1417638"/>
            <a:ext cx="5245100" cy="4673600"/>
          </a:xfrm>
          <a:prstGeom prst="rect">
            <a:avLst/>
          </a:prstGeom>
        </p:spPr>
      </p:pic>
    </p:spTree>
    <p:extLst>
      <p:ext uri="{BB962C8B-B14F-4D97-AF65-F5344CB8AC3E}">
        <p14:creationId xmlns:p14="http://schemas.microsoft.com/office/powerpoint/2010/main" val="2357246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现在的我</a:t>
            </a:r>
          </a:p>
        </p:txBody>
      </p:sp>
      <p:pic>
        <p:nvPicPr>
          <p:cNvPr id="4" name="图片 3"/>
          <p:cNvPicPr>
            <a:picLocks noChangeAspect="1"/>
          </p:cNvPicPr>
          <p:nvPr/>
        </p:nvPicPr>
        <p:blipFill>
          <a:blip r:embed="rId2"/>
          <a:stretch>
            <a:fillRect/>
          </a:stretch>
        </p:blipFill>
        <p:spPr>
          <a:xfrm>
            <a:off x="2421720" y="1417638"/>
            <a:ext cx="3632200" cy="4762500"/>
          </a:xfrm>
          <a:prstGeom prst="rect">
            <a:avLst/>
          </a:prstGeom>
        </p:spPr>
      </p:pic>
    </p:spTree>
    <p:extLst>
      <p:ext uri="{BB962C8B-B14F-4D97-AF65-F5344CB8AC3E}">
        <p14:creationId xmlns:p14="http://schemas.microsoft.com/office/powerpoint/2010/main" val="1358286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将来的我</a:t>
            </a:r>
          </a:p>
        </p:txBody>
      </p:sp>
      <p:pic>
        <p:nvPicPr>
          <p:cNvPr id="4" name="图片 3"/>
          <p:cNvPicPr>
            <a:picLocks noChangeAspect="1"/>
          </p:cNvPicPr>
          <p:nvPr/>
        </p:nvPicPr>
        <p:blipFill>
          <a:blip r:embed="rId2"/>
          <a:stretch>
            <a:fillRect/>
          </a:stretch>
        </p:blipFill>
        <p:spPr>
          <a:xfrm>
            <a:off x="1066800" y="1693796"/>
            <a:ext cx="6858000" cy="4038600"/>
          </a:xfrm>
          <a:prstGeom prst="rect">
            <a:avLst/>
          </a:prstGeom>
        </p:spPr>
      </p:pic>
    </p:spTree>
    <p:extLst>
      <p:ext uri="{BB962C8B-B14F-4D97-AF65-F5344CB8AC3E}">
        <p14:creationId xmlns:p14="http://schemas.microsoft.com/office/powerpoint/2010/main" val="2947535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年龄大了必须转管理？</a:t>
            </a:r>
          </a:p>
        </p:txBody>
      </p:sp>
      <p:pic>
        <p:nvPicPr>
          <p:cNvPr id="4" name="图片 3"/>
          <p:cNvPicPr>
            <a:picLocks noChangeAspect="1"/>
          </p:cNvPicPr>
          <p:nvPr/>
        </p:nvPicPr>
        <p:blipFill>
          <a:blip r:embed="rId2"/>
          <a:stretch>
            <a:fillRect/>
          </a:stretch>
        </p:blipFill>
        <p:spPr>
          <a:xfrm>
            <a:off x="0" y="1417638"/>
            <a:ext cx="9144000" cy="5280029"/>
          </a:xfrm>
          <a:prstGeom prst="rect">
            <a:avLst/>
          </a:prstGeom>
        </p:spPr>
      </p:pic>
    </p:spTree>
    <p:extLst>
      <p:ext uri="{BB962C8B-B14F-4D97-AF65-F5344CB8AC3E}">
        <p14:creationId xmlns:p14="http://schemas.microsoft.com/office/powerpoint/2010/main" val="3446318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年龄大了必须转管理？</a:t>
            </a:r>
          </a:p>
        </p:txBody>
      </p:sp>
      <p:pic>
        <p:nvPicPr>
          <p:cNvPr id="4" name="图片 3"/>
          <p:cNvPicPr>
            <a:picLocks noChangeAspect="1"/>
          </p:cNvPicPr>
          <p:nvPr/>
        </p:nvPicPr>
        <p:blipFill>
          <a:blip r:embed="rId2"/>
          <a:stretch>
            <a:fillRect/>
          </a:stretch>
        </p:blipFill>
        <p:spPr>
          <a:xfrm>
            <a:off x="964556" y="1199846"/>
            <a:ext cx="6680200" cy="5448300"/>
          </a:xfrm>
          <a:prstGeom prst="rect">
            <a:avLst/>
          </a:prstGeom>
        </p:spPr>
      </p:pic>
    </p:spTree>
    <p:extLst>
      <p:ext uri="{BB962C8B-B14F-4D97-AF65-F5344CB8AC3E}">
        <p14:creationId xmlns:p14="http://schemas.microsoft.com/office/powerpoint/2010/main" val="3682846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年龄大了必须转管理？</a:t>
            </a:r>
          </a:p>
        </p:txBody>
      </p:sp>
      <p:pic>
        <p:nvPicPr>
          <p:cNvPr id="4" name="图片 3"/>
          <p:cNvPicPr>
            <a:picLocks noChangeAspect="1"/>
          </p:cNvPicPr>
          <p:nvPr/>
        </p:nvPicPr>
        <p:blipFill>
          <a:blip r:embed="rId2"/>
          <a:stretch>
            <a:fillRect/>
          </a:stretch>
        </p:blipFill>
        <p:spPr>
          <a:xfrm>
            <a:off x="1048774" y="1170435"/>
            <a:ext cx="6578600" cy="5486400"/>
          </a:xfrm>
          <a:prstGeom prst="rect">
            <a:avLst/>
          </a:prstGeom>
        </p:spPr>
      </p:pic>
    </p:spTree>
    <p:extLst>
      <p:ext uri="{BB962C8B-B14F-4D97-AF65-F5344CB8AC3E}">
        <p14:creationId xmlns:p14="http://schemas.microsoft.com/office/powerpoint/2010/main" val="788745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年龄大了必须转管理？</a:t>
            </a:r>
          </a:p>
        </p:txBody>
      </p:sp>
      <p:sp>
        <p:nvSpPr>
          <p:cNvPr id="3" name="内容占位符 2"/>
          <p:cNvSpPr>
            <a:spLocks noGrp="1"/>
          </p:cNvSpPr>
          <p:nvPr>
            <p:ph idx="1"/>
          </p:nvPr>
        </p:nvSpPr>
        <p:spPr/>
        <p:txBody>
          <a:bodyPr/>
          <a:lstStyle/>
          <a:p>
            <a:r>
              <a:rPr kumimoji="1" lang="zh-CN" altLang="en-US" dirty="0"/>
              <a:t>不要去项目型、外包型公司（有理想的除外</a:t>
            </a:r>
            <a:r>
              <a:rPr kumimoji="1" lang="en-US" altLang="zh-CN" dirty="0"/>
              <a:t> </a:t>
            </a:r>
            <a:r>
              <a:rPr kumimoji="1" lang="zh-CN" altLang="en-US" dirty="0"/>
              <a:t>如</a:t>
            </a:r>
            <a:r>
              <a:rPr kumimoji="1" lang="en-US" altLang="zh-CN" dirty="0"/>
              <a:t>TW</a:t>
            </a:r>
            <a:r>
              <a:rPr kumimoji="1" lang="zh-CN" altLang="en-US" dirty="0"/>
              <a:t>）</a:t>
            </a:r>
            <a:r>
              <a:rPr kumimoji="1" lang="en-US" altLang="zh-CN" dirty="0"/>
              <a:t>，</a:t>
            </a:r>
            <a:r>
              <a:rPr kumimoji="1" lang="zh-CN" altLang="en-US" dirty="0"/>
              <a:t>尽量去产品型公司</a:t>
            </a:r>
            <a:endParaRPr kumimoji="1" lang="en-US" altLang="zh-CN" dirty="0"/>
          </a:p>
          <a:p>
            <a:endParaRPr kumimoji="1" lang="en-US" altLang="zh-CN" dirty="0"/>
          </a:p>
          <a:p>
            <a:r>
              <a:rPr kumimoji="1" lang="zh-CN" altLang="en-US" dirty="0"/>
              <a:t>将一个或多个通常的技术应用、推进到极致，并且能给企业带来价值，那么不论你是多大年龄，均享有职场的主动权</a:t>
            </a:r>
          </a:p>
        </p:txBody>
      </p:sp>
    </p:spTree>
    <p:extLst>
      <p:ext uri="{BB962C8B-B14F-4D97-AF65-F5344CB8AC3E}">
        <p14:creationId xmlns:p14="http://schemas.microsoft.com/office/powerpoint/2010/main" val="2022582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zh-CN" altLang="en-US" dirty="0"/>
              <a:t>如何保持竞争力</a:t>
            </a:r>
            <a:r>
              <a:rPr kumimoji="1" lang="en-US" altLang="zh-CN" dirty="0"/>
              <a:t>-</a:t>
            </a:r>
            <a:r>
              <a:rPr kumimoji="1" lang="zh-CN" altLang="en-US" dirty="0"/>
              <a:t>老猿能力模型</a:t>
            </a:r>
          </a:p>
        </p:txBody>
      </p:sp>
      <p:sp>
        <p:nvSpPr>
          <p:cNvPr id="4" name="菱形 3"/>
          <p:cNvSpPr/>
          <p:nvPr/>
        </p:nvSpPr>
        <p:spPr>
          <a:xfrm>
            <a:off x="1152921" y="1584754"/>
            <a:ext cx="6382838" cy="4932748"/>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圆角矩形 4"/>
          <p:cNvSpPr/>
          <p:nvPr/>
        </p:nvSpPr>
        <p:spPr>
          <a:xfrm>
            <a:off x="2157480" y="1584754"/>
            <a:ext cx="1303302" cy="53761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kumimoji="1" lang="zh-CN" altLang="en-US" dirty="0"/>
              <a:t>上层</a:t>
            </a:r>
          </a:p>
        </p:txBody>
      </p:sp>
      <p:sp>
        <p:nvSpPr>
          <p:cNvPr id="6" name="圆角矩形 5"/>
          <p:cNvSpPr/>
          <p:nvPr/>
        </p:nvSpPr>
        <p:spPr>
          <a:xfrm>
            <a:off x="4964592" y="3608846"/>
            <a:ext cx="1303302" cy="537613"/>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zh-CN" altLang="en-US" dirty="0"/>
              <a:t>中间层</a:t>
            </a:r>
          </a:p>
        </p:txBody>
      </p:sp>
      <p:sp>
        <p:nvSpPr>
          <p:cNvPr id="7" name="圆角矩形 6"/>
          <p:cNvSpPr/>
          <p:nvPr/>
        </p:nvSpPr>
        <p:spPr>
          <a:xfrm>
            <a:off x="5768643" y="5979889"/>
            <a:ext cx="1303302" cy="537613"/>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kumimoji="1" lang="zh-CN" altLang="en-US" dirty="0"/>
              <a:t>底层</a:t>
            </a:r>
          </a:p>
        </p:txBody>
      </p:sp>
    </p:spTree>
    <p:extLst>
      <p:ext uri="{BB962C8B-B14F-4D97-AF65-F5344CB8AC3E}">
        <p14:creationId xmlns:p14="http://schemas.microsoft.com/office/powerpoint/2010/main" val="2163947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老猿的能力模型</a:t>
            </a:r>
          </a:p>
        </p:txBody>
      </p:sp>
      <p:sp>
        <p:nvSpPr>
          <p:cNvPr id="3" name="内容占位符 2"/>
          <p:cNvSpPr>
            <a:spLocks noGrp="1"/>
          </p:cNvSpPr>
          <p:nvPr>
            <p:ph idx="1"/>
          </p:nvPr>
        </p:nvSpPr>
        <p:spPr/>
        <p:txBody>
          <a:bodyPr/>
          <a:lstStyle/>
          <a:p>
            <a:r>
              <a:rPr kumimoji="1" lang="zh-CN" altLang="en-US" dirty="0"/>
              <a:t>底层：基础（计算机、操作系统、网络通信、</a:t>
            </a:r>
            <a:r>
              <a:rPr kumimoji="1" lang="en-US" altLang="zh-CN" dirty="0"/>
              <a:t>JVM</a:t>
            </a:r>
            <a:r>
              <a:rPr kumimoji="1" lang="zh-CN" altLang="en-US" dirty="0"/>
              <a:t>、多线程、</a:t>
            </a:r>
            <a:r>
              <a:rPr kumimoji="1" lang="en-US" altLang="zh-CN" dirty="0"/>
              <a:t>IO….</a:t>
            </a:r>
            <a:r>
              <a:rPr kumimoji="1" lang="zh-CN" altLang="en-US" dirty="0"/>
              <a:t>）</a:t>
            </a:r>
            <a:endParaRPr kumimoji="1" lang="en-US" altLang="zh-CN" dirty="0"/>
          </a:p>
          <a:p>
            <a:r>
              <a:rPr kumimoji="1" lang="zh-CN" altLang="en-US" dirty="0"/>
              <a:t>中间：中间件、框架、类库</a:t>
            </a:r>
            <a:r>
              <a:rPr kumimoji="1" lang="en-US" altLang="zh-CN" dirty="0"/>
              <a:t>、</a:t>
            </a:r>
            <a:r>
              <a:rPr kumimoji="1" lang="zh-CN" altLang="en-US" dirty="0"/>
              <a:t>轮子</a:t>
            </a:r>
            <a:endParaRPr kumimoji="1" lang="en-US" altLang="zh-CN" dirty="0"/>
          </a:p>
          <a:p>
            <a:r>
              <a:rPr kumimoji="1" lang="zh-CN" altLang="en-US" dirty="0"/>
              <a:t>上层：模式</a:t>
            </a:r>
            <a:r>
              <a:rPr kumimoji="1" lang="en-US" altLang="zh-CN" dirty="0"/>
              <a:t>&amp;</a:t>
            </a:r>
            <a:r>
              <a:rPr kumimoji="1" lang="zh-CN" altLang="en-US" dirty="0"/>
              <a:t>方法论（</a:t>
            </a:r>
            <a:r>
              <a:rPr kumimoji="1" lang="en-US" altLang="zh-CN" dirty="0"/>
              <a:t>DDD</a:t>
            </a:r>
            <a:r>
              <a:rPr kumimoji="1" lang="zh-CN" altLang="en-US" dirty="0"/>
              <a:t>、</a:t>
            </a:r>
            <a:r>
              <a:rPr kumimoji="1" lang="en-US" altLang="zh-CN" dirty="0" err="1"/>
              <a:t>CAP</a:t>
            </a:r>
            <a:r>
              <a:rPr kumimoji="1" lang="en-US" altLang="en-US" dirty="0" err="1"/>
              <a:t>、敏捷</a:t>
            </a:r>
            <a:r>
              <a:rPr kumimoji="1" lang="en-US" altLang="en-US" dirty="0"/>
              <a:t>….</a:t>
            </a:r>
            <a:r>
              <a:rPr kumimoji="1" lang="zh-CN" altLang="en-US" dirty="0"/>
              <a:t>）</a:t>
            </a:r>
            <a:endParaRPr kumimoji="1" lang="en-US" altLang="zh-CN" dirty="0"/>
          </a:p>
          <a:p>
            <a:endParaRPr kumimoji="1" lang="en-US" altLang="zh-CN" dirty="0"/>
          </a:p>
          <a:p>
            <a:r>
              <a:rPr kumimoji="1" lang="zh-CN" altLang="en-US" dirty="0"/>
              <a:t>两头的内容相对固定，中间的内容繁多而且不断增长</a:t>
            </a:r>
            <a:endParaRPr kumimoji="1" lang="en-US" altLang="zh-CN" dirty="0"/>
          </a:p>
        </p:txBody>
      </p:sp>
    </p:spTree>
    <p:extLst>
      <p:ext uri="{BB962C8B-B14F-4D97-AF65-F5344CB8AC3E}">
        <p14:creationId xmlns:p14="http://schemas.microsoft.com/office/powerpoint/2010/main" val="67064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en-US" dirty="0"/>
              <a:t>哪一层</a:t>
            </a:r>
            <a:r>
              <a:rPr kumimoji="1" lang="zh-CN" altLang="en-US" dirty="0"/>
              <a:t>最重要？</a:t>
            </a:r>
          </a:p>
        </p:txBody>
      </p:sp>
      <p:pic>
        <p:nvPicPr>
          <p:cNvPr id="4" name="图片 3"/>
          <p:cNvPicPr>
            <a:picLocks noChangeAspect="1"/>
          </p:cNvPicPr>
          <p:nvPr/>
        </p:nvPicPr>
        <p:blipFill>
          <a:blip r:embed="rId2"/>
          <a:stretch>
            <a:fillRect/>
          </a:stretch>
        </p:blipFill>
        <p:spPr>
          <a:xfrm>
            <a:off x="277132" y="1754712"/>
            <a:ext cx="8578638" cy="3910502"/>
          </a:xfrm>
          <a:prstGeom prst="rect">
            <a:avLst/>
          </a:prstGeom>
        </p:spPr>
      </p:pic>
    </p:spTree>
    <p:extLst>
      <p:ext uri="{BB962C8B-B14F-4D97-AF65-F5344CB8AC3E}">
        <p14:creationId xmlns:p14="http://schemas.microsoft.com/office/powerpoint/2010/main" val="1785407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1108"/>
            <a:ext cx="7467600" cy="1143000"/>
          </a:xfrm>
        </p:spPr>
        <p:txBody>
          <a:bodyPr/>
          <a:lstStyle/>
          <a:p>
            <a:r>
              <a:rPr kumimoji="1" lang="zh-CN" altLang="en-US" dirty="0"/>
              <a:t>例子：如何算掌握</a:t>
            </a:r>
            <a:r>
              <a:rPr kumimoji="1" lang="en-US" altLang="zh-CN" dirty="0"/>
              <a:t>AOP</a:t>
            </a:r>
            <a:r>
              <a:rPr kumimoji="1" lang="zh-CN" altLang="en-US" dirty="0"/>
              <a:t>？</a:t>
            </a:r>
          </a:p>
        </p:txBody>
      </p:sp>
      <p:sp>
        <p:nvSpPr>
          <p:cNvPr id="3" name="内容占位符 2"/>
          <p:cNvSpPr>
            <a:spLocks noGrp="1"/>
          </p:cNvSpPr>
          <p:nvPr>
            <p:ph idx="1"/>
          </p:nvPr>
        </p:nvSpPr>
        <p:spPr>
          <a:xfrm>
            <a:off x="457200" y="1174108"/>
            <a:ext cx="8431988" cy="5683892"/>
          </a:xfrm>
        </p:spPr>
        <p:txBody>
          <a:bodyPr>
            <a:normAutofit/>
          </a:bodyPr>
          <a:lstStyle/>
          <a:p>
            <a:r>
              <a:rPr kumimoji="1" lang="zh-CN" altLang="en-US" sz="3200" dirty="0"/>
              <a:t>熟练使用</a:t>
            </a:r>
            <a:r>
              <a:rPr kumimoji="1" lang="en-US" altLang="zh-CN" sz="3200" dirty="0"/>
              <a:t>spring</a:t>
            </a:r>
            <a:r>
              <a:rPr kumimoji="1" lang="zh-CN" altLang="en-US" sz="3200" dirty="0"/>
              <a:t>实现</a:t>
            </a:r>
            <a:r>
              <a:rPr kumimoji="1" lang="en-US" altLang="zh-CN" sz="3200" dirty="0"/>
              <a:t>AOP</a:t>
            </a:r>
          </a:p>
          <a:p>
            <a:r>
              <a:rPr kumimoji="1" lang="zh-CN" altLang="en-US" sz="3200" dirty="0"/>
              <a:t>不依赖</a:t>
            </a:r>
            <a:r>
              <a:rPr kumimoji="1" lang="en-US" altLang="zh-CN" sz="3200" dirty="0"/>
              <a:t>spring</a:t>
            </a:r>
            <a:r>
              <a:rPr kumimoji="1" lang="zh-CN" altLang="en-US" sz="3200" dirty="0"/>
              <a:t>，分别使用</a:t>
            </a:r>
            <a:r>
              <a:rPr kumimoji="1" lang="en-US" altLang="zh-CN" sz="3200" dirty="0" err="1"/>
              <a:t>jdk</a:t>
            </a:r>
            <a:r>
              <a:rPr kumimoji="1" lang="zh-CN" altLang="en-US" sz="3200" dirty="0"/>
              <a:t>动态代理和</a:t>
            </a:r>
            <a:r>
              <a:rPr kumimoji="1" lang="en-US" altLang="zh-CN" sz="3200" dirty="0"/>
              <a:t>cglib</a:t>
            </a:r>
            <a:r>
              <a:rPr kumimoji="1" lang="zh-CN" altLang="en-US" sz="3200" dirty="0"/>
              <a:t>实现</a:t>
            </a:r>
            <a:r>
              <a:rPr kumimoji="1" lang="en-US" altLang="zh-CN" sz="3200" dirty="0"/>
              <a:t>AOP</a:t>
            </a:r>
          </a:p>
          <a:p>
            <a:r>
              <a:rPr kumimoji="1" lang="zh-CN" altLang="en-US" sz="3200" dirty="0"/>
              <a:t>编写自定义</a:t>
            </a:r>
            <a:r>
              <a:rPr kumimoji="1" lang="en-US" altLang="zh-CN" sz="3200" dirty="0"/>
              <a:t>ClassLoader</a:t>
            </a:r>
            <a:r>
              <a:rPr kumimoji="1" lang="zh-CN" altLang="en-US" sz="3200" dirty="0"/>
              <a:t>，直接使用字节码类库（</a:t>
            </a:r>
            <a:r>
              <a:rPr kumimoji="1" lang="en-US" altLang="zh-CN" sz="3200" dirty="0"/>
              <a:t>ASM/Javassist</a:t>
            </a:r>
            <a:r>
              <a:rPr kumimoji="1" lang="zh-CN" altLang="en-US" sz="3200" dirty="0"/>
              <a:t>）实现</a:t>
            </a:r>
            <a:r>
              <a:rPr kumimoji="1" lang="en-US" altLang="zh-CN" sz="3200" dirty="0"/>
              <a:t>AOP</a:t>
            </a:r>
          </a:p>
          <a:p>
            <a:r>
              <a:rPr kumimoji="1" lang="en-US" altLang="en-US" sz="3200" dirty="0"/>
              <a:t>通过</a:t>
            </a:r>
            <a:r>
              <a:rPr kumimoji="1" lang="en-US" altLang="zh-CN" sz="3200" dirty="0"/>
              <a:t>javap</a:t>
            </a:r>
            <a:r>
              <a:rPr kumimoji="1" lang="en-US" altLang="en-US" sz="3200" dirty="0"/>
              <a:t>观察</a:t>
            </a:r>
            <a:r>
              <a:rPr kumimoji="1" lang="zh-CN" altLang="en-US" sz="3200" dirty="0"/>
              <a:t>字节码文件内容地变化</a:t>
            </a:r>
            <a:endParaRPr kumimoji="1" lang="en-US" altLang="zh-CN" sz="3200" dirty="0"/>
          </a:p>
          <a:p>
            <a:r>
              <a:rPr kumimoji="1" lang="zh-CN" altLang="en-US" sz="3200" dirty="0"/>
              <a:t>通过</a:t>
            </a:r>
            <a:r>
              <a:rPr kumimoji="1" lang="en-US" altLang="zh-CN" sz="3200" dirty="0"/>
              <a:t>Instrumentation</a:t>
            </a:r>
            <a:r>
              <a:rPr kumimoji="1" lang="zh-CN" altLang="en-US" sz="3200" dirty="0"/>
              <a:t>实现</a:t>
            </a:r>
            <a:r>
              <a:rPr kumimoji="1" lang="en-US" altLang="zh-CN" sz="3200" dirty="0"/>
              <a:t>AOP</a:t>
            </a:r>
          </a:p>
          <a:p>
            <a:r>
              <a:rPr kumimoji="1" lang="zh-CN" altLang="en-US" sz="3200" dirty="0"/>
              <a:t>通过实践</a:t>
            </a:r>
            <a:r>
              <a:rPr kumimoji="1" lang="en-US" altLang="zh-CN" sz="3200" dirty="0"/>
              <a:t>Instrumentation</a:t>
            </a:r>
            <a:r>
              <a:rPr kumimoji="1" lang="zh-CN" altLang="en-US" sz="3200" dirty="0"/>
              <a:t>，猜想</a:t>
            </a:r>
            <a:r>
              <a:rPr kumimoji="1" lang="en-US" altLang="zh-CN" sz="3200" dirty="0"/>
              <a:t>--</a:t>
            </a:r>
            <a:r>
              <a:rPr kumimoji="1" lang="zh-CN" altLang="en-US" sz="3200" dirty="0"/>
              <a:t>模拟</a:t>
            </a:r>
            <a:r>
              <a:rPr kumimoji="1" lang="en-US" altLang="zh-CN" sz="3200" dirty="0"/>
              <a:t>--</a:t>
            </a:r>
            <a:r>
              <a:rPr kumimoji="1" lang="zh-CN" altLang="en-US" sz="3200" dirty="0"/>
              <a:t>印证，理解</a:t>
            </a:r>
            <a:r>
              <a:rPr kumimoji="1" lang="en-US" altLang="zh-CN" sz="3200" dirty="0" err="1"/>
              <a:t>oneapm</a:t>
            </a:r>
            <a:r>
              <a:rPr kumimoji="1" lang="zh-CN" altLang="en-US" sz="3200" dirty="0"/>
              <a:t>和</a:t>
            </a:r>
            <a:r>
              <a:rPr kumimoji="1" lang="en-US" altLang="zh-CN" sz="3200" dirty="0"/>
              <a:t>lombok</a:t>
            </a:r>
            <a:r>
              <a:rPr kumimoji="1" lang="zh-CN" altLang="en-US" sz="3200" dirty="0"/>
              <a:t>的实现原理</a:t>
            </a:r>
            <a:endParaRPr kumimoji="1" lang="en-US" altLang="zh-CN" sz="3200" dirty="0"/>
          </a:p>
          <a:p>
            <a:r>
              <a:rPr kumimoji="1" lang="zh-CN" altLang="en-US" sz="3200" dirty="0"/>
              <a:t>比较</a:t>
            </a:r>
            <a:r>
              <a:rPr kumimoji="1" lang="en-US" altLang="zh-CN" sz="3200" dirty="0"/>
              <a:t>&amp;</a:t>
            </a:r>
            <a:r>
              <a:rPr kumimoji="1" lang="zh-CN" altLang="en-US" sz="3200" dirty="0"/>
              <a:t>总结上述所有</a:t>
            </a:r>
            <a:r>
              <a:rPr kumimoji="1" lang="en-US" altLang="zh-CN" sz="3200" dirty="0"/>
              <a:t>AOP</a:t>
            </a:r>
            <a:r>
              <a:rPr kumimoji="1" lang="zh-CN" altLang="en-US" sz="3200" dirty="0"/>
              <a:t>实现方式的差异</a:t>
            </a:r>
            <a:endParaRPr kumimoji="1" lang="en-US" altLang="zh-CN" sz="3200" dirty="0"/>
          </a:p>
          <a:p>
            <a:pPr marL="36576" indent="0">
              <a:buNone/>
            </a:pPr>
            <a:endParaRPr kumimoji="1" lang="zh-CN" altLang="en-US" dirty="0"/>
          </a:p>
        </p:txBody>
      </p:sp>
    </p:spTree>
    <p:extLst>
      <p:ext uri="{BB962C8B-B14F-4D97-AF65-F5344CB8AC3E}">
        <p14:creationId xmlns:p14="http://schemas.microsoft.com/office/powerpoint/2010/main" val="1568834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4094"/>
            <a:ext cx="7467600" cy="1143000"/>
          </a:xfrm>
        </p:spPr>
        <p:txBody>
          <a:bodyPr/>
          <a:lstStyle/>
          <a:p>
            <a:r>
              <a:rPr kumimoji="1" lang="zh-CN" altLang="en-US" dirty="0"/>
              <a:t>例子：如何学习</a:t>
            </a:r>
            <a:r>
              <a:rPr kumimoji="1" lang="en-US" altLang="zh-CN" dirty="0"/>
              <a:t>RPC</a:t>
            </a:r>
            <a:r>
              <a:rPr kumimoji="1" lang="zh-CN" altLang="en-US" dirty="0"/>
              <a:t>？</a:t>
            </a:r>
          </a:p>
        </p:txBody>
      </p:sp>
      <p:sp>
        <p:nvSpPr>
          <p:cNvPr id="3" name="内容占位符 2"/>
          <p:cNvSpPr>
            <a:spLocks noGrp="1"/>
          </p:cNvSpPr>
          <p:nvPr>
            <p:ph idx="1"/>
          </p:nvPr>
        </p:nvSpPr>
        <p:spPr>
          <a:xfrm>
            <a:off x="457200" y="1349520"/>
            <a:ext cx="8273496" cy="5257800"/>
          </a:xfrm>
        </p:spPr>
        <p:txBody>
          <a:bodyPr>
            <a:normAutofit lnSpcReduction="10000"/>
          </a:bodyPr>
          <a:lstStyle/>
          <a:p>
            <a:r>
              <a:rPr kumimoji="1" lang="en-US" altLang="zh-CN" dirty="0"/>
              <a:t>dubbo</a:t>
            </a:r>
            <a:r>
              <a:rPr kumimoji="1" lang="zh-CN" altLang="en-US" dirty="0"/>
              <a:t>、</a:t>
            </a:r>
            <a:r>
              <a:rPr kumimoji="1" lang="en-US" altLang="zh-CN" dirty="0"/>
              <a:t>brpc</a:t>
            </a:r>
            <a:r>
              <a:rPr kumimoji="1" lang="zh-CN" altLang="en-US" dirty="0"/>
              <a:t>、</a:t>
            </a:r>
            <a:r>
              <a:rPr kumimoji="1" lang="en-US" altLang="zh-CN" dirty="0"/>
              <a:t>grpc</a:t>
            </a:r>
            <a:r>
              <a:rPr kumimoji="1" lang="zh-CN" altLang="en-US" dirty="0"/>
              <a:t>、</a:t>
            </a:r>
            <a:r>
              <a:rPr kumimoji="1" lang="en-US" altLang="zh-CN" dirty="0"/>
              <a:t>thrift…..</a:t>
            </a:r>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自己实现一个最简单的</a:t>
            </a:r>
            <a:r>
              <a:rPr kumimoji="1" lang="en-US" altLang="zh-CN" dirty="0" err="1"/>
              <a:t>rpc</a:t>
            </a:r>
            <a:r>
              <a:rPr kumimoji="1" lang="zh-CN" altLang="en-US" dirty="0"/>
              <a:t>框架：</a:t>
            </a:r>
            <a:r>
              <a:rPr kumimoji="1" lang="en-US" altLang="zh-CN" dirty="0"/>
              <a:t>socket</a:t>
            </a:r>
            <a:r>
              <a:rPr kumimoji="1" lang="zh-CN" altLang="en-US" dirty="0"/>
              <a:t>、</a:t>
            </a:r>
            <a:r>
              <a:rPr kumimoji="1" lang="en-US" altLang="zh-CN" dirty="0"/>
              <a:t>reflect</a:t>
            </a:r>
            <a:r>
              <a:rPr kumimoji="1" lang="zh-CN" altLang="en-US" dirty="0"/>
              <a:t>、多线程、对象序列化</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pPr marL="36576" indent="0">
              <a:buNone/>
            </a:pPr>
            <a:endParaRPr kumimoji="1" lang="zh-CN" altLang="en-US" dirty="0"/>
          </a:p>
        </p:txBody>
      </p:sp>
      <p:pic>
        <p:nvPicPr>
          <p:cNvPr id="4" name="图片 3"/>
          <p:cNvPicPr>
            <a:picLocks noChangeAspect="1"/>
          </p:cNvPicPr>
          <p:nvPr/>
        </p:nvPicPr>
        <p:blipFill>
          <a:blip r:embed="rId2"/>
          <a:stretch>
            <a:fillRect/>
          </a:stretch>
        </p:blipFill>
        <p:spPr>
          <a:xfrm>
            <a:off x="5212796" y="1948458"/>
            <a:ext cx="3517900" cy="3429000"/>
          </a:xfrm>
          <a:prstGeom prst="rect">
            <a:avLst/>
          </a:prstGeom>
        </p:spPr>
      </p:pic>
      <p:pic>
        <p:nvPicPr>
          <p:cNvPr id="5" name="图片 4"/>
          <p:cNvPicPr>
            <a:picLocks noChangeAspect="1"/>
          </p:cNvPicPr>
          <p:nvPr/>
        </p:nvPicPr>
        <p:blipFill>
          <a:blip r:embed="rId3"/>
          <a:stretch>
            <a:fillRect/>
          </a:stretch>
        </p:blipFill>
        <p:spPr>
          <a:xfrm>
            <a:off x="457200" y="1783358"/>
            <a:ext cx="4229100" cy="3594100"/>
          </a:xfrm>
          <a:prstGeom prst="rect">
            <a:avLst/>
          </a:prstGeom>
        </p:spPr>
      </p:pic>
    </p:spTree>
    <p:extLst>
      <p:ext uri="{BB962C8B-B14F-4D97-AF65-F5344CB8AC3E}">
        <p14:creationId xmlns:p14="http://schemas.microsoft.com/office/powerpoint/2010/main" val="2052102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blinds(horizontal)">
                                      <p:cBhvr>
                                        <p:cTn id="13" dur="500"/>
                                        <p:tgtEl>
                                          <p:spTgt spid="3">
                                            <p:txEl>
                                              <p:pRg st="8" end="8"/>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xit" presetSubtype="0" fill="hold" nodeType="clickEffect">
                                  <p:stCondLst>
                                    <p:cond delay="0"/>
                                  </p:stCondLst>
                                  <p:childTnLst>
                                    <p:animEffect transition="out" filter="dissolve">
                                      <p:cBhvr>
                                        <p:cTn id="17" dur="500"/>
                                        <p:tgtEl>
                                          <p:spTgt spid="4"/>
                                        </p:tgtEl>
                                      </p:cBhvr>
                                    </p:animEffect>
                                    <p:set>
                                      <p:cBhvr>
                                        <p:cTn id="18" dur="1" fill="hold">
                                          <p:stCondLst>
                                            <p:cond delay="499"/>
                                          </p:stCondLst>
                                        </p:cTn>
                                        <p:tgtEl>
                                          <p:spTgt spid="4"/>
                                        </p:tgtEl>
                                        <p:attrNameLst>
                                          <p:attrName>style.visibility</p:attrName>
                                        </p:attrNameLst>
                                      </p:cBhvr>
                                      <p:to>
                                        <p:strVal val="hidden"/>
                                      </p:to>
                                    </p:set>
                                  </p:childTnLst>
                                </p:cTn>
                              </p:par>
                            </p:childTnLst>
                          </p:cTn>
                        </p:par>
                        <p:par>
                          <p:cTn id="19" fill="hold">
                            <p:stCondLst>
                              <p:cond delay="500"/>
                            </p:stCondLst>
                            <p:childTnLst>
                              <p:par>
                                <p:cTn id="20" presetID="2" presetClass="entr" presetSubtype="4"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30"/>
            <a:ext cx="7467600" cy="1143000"/>
          </a:xfrm>
        </p:spPr>
        <p:txBody>
          <a:bodyPr/>
          <a:lstStyle/>
          <a:p>
            <a:r>
              <a:rPr kumimoji="1" lang="zh-CN" altLang="en-US" dirty="0"/>
              <a:t>底层</a:t>
            </a:r>
          </a:p>
        </p:txBody>
      </p:sp>
      <p:sp>
        <p:nvSpPr>
          <p:cNvPr id="3" name="内容占位符 2"/>
          <p:cNvSpPr>
            <a:spLocks noGrp="1"/>
          </p:cNvSpPr>
          <p:nvPr>
            <p:ph idx="1"/>
          </p:nvPr>
        </p:nvSpPr>
        <p:spPr>
          <a:xfrm>
            <a:off x="457199" y="1232536"/>
            <a:ext cx="8315025" cy="5368524"/>
          </a:xfrm>
        </p:spPr>
        <p:txBody>
          <a:bodyPr>
            <a:normAutofit/>
          </a:bodyPr>
          <a:lstStyle/>
          <a:p>
            <a:r>
              <a:rPr kumimoji="1" lang="zh-CN" altLang="en-US" dirty="0"/>
              <a:t>底层基础是地基，是学习各种轮子的前提</a:t>
            </a:r>
            <a:endParaRPr kumimoji="1" lang="en-US" altLang="zh-CN" dirty="0"/>
          </a:p>
          <a:p>
            <a:r>
              <a:rPr kumimoji="1" lang="zh-CN" altLang="en-US" dirty="0"/>
              <a:t>没有理解到一定深度原理的技术，使用起来如同建造空中楼阁</a:t>
            </a:r>
            <a:endParaRPr kumimoji="1" lang="en-US" altLang="zh-CN" dirty="0"/>
          </a:p>
          <a:p>
            <a:r>
              <a:rPr kumimoji="1" lang="zh-CN" altLang="en-US" dirty="0"/>
              <a:t>扎实的基础能够让你专注于问题本质，在各种新轮子面前举一反三，触类旁通</a:t>
            </a:r>
            <a:endParaRPr kumimoji="1" lang="en-US" altLang="zh-CN" dirty="0"/>
          </a:p>
          <a:p>
            <a:endParaRPr kumimoji="1" lang="en-US" altLang="zh-CN" dirty="0"/>
          </a:p>
          <a:p>
            <a:r>
              <a:rPr kumimoji="1" lang="zh-CN" altLang="en-US" dirty="0"/>
              <a:t>如何提升基础？</a:t>
            </a:r>
            <a:endParaRPr kumimoji="1" lang="en-US" altLang="zh-CN" dirty="0"/>
          </a:p>
          <a:p>
            <a:pPr lvl="1"/>
            <a:r>
              <a:rPr kumimoji="1" lang="zh-CN" altLang="en-US" dirty="0"/>
              <a:t>对所有结论保持好奇心</a:t>
            </a:r>
            <a:endParaRPr kumimoji="1" lang="en-US" altLang="zh-CN" dirty="0"/>
          </a:p>
          <a:p>
            <a:pPr lvl="1"/>
            <a:r>
              <a:rPr kumimoji="1" lang="zh-CN" altLang="en-US" dirty="0"/>
              <a:t>猜想</a:t>
            </a:r>
            <a:r>
              <a:rPr kumimoji="1" lang="en-US" altLang="zh-CN" dirty="0"/>
              <a:t>--</a:t>
            </a:r>
            <a:r>
              <a:rPr kumimoji="1" lang="zh-CN" altLang="en-US" dirty="0"/>
              <a:t>实践</a:t>
            </a:r>
            <a:r>
              <a:rPr kumimoji="1" lang="en-US" altLang="zh-CN" dirty="0"/>
              <a:t>--</a:t>
            </a:r>
            <a:r>
              <a:rPr kumimoji="1" lang="zh-CN" altLang="en-US" dirty="0"/>
              <a:t>印证</a:t>
            </a:r>
            <a:endParaRPr kumimoji="1" lang="en-US" altLang="zh-CN" dirty="0"/>
          </a:p>
          <a:p>
            <a:pPr lvl="1"/>
            <a:r>
              <a:rPr kumimoji="1" lang="zh-CN" altLang="en-US" dirty="0"/>
              <a:t>实践是检验真理的唯一标准</a:t>
            </a:r>
            <a:endParaRPr kumimoji="1" lang="en-US" altLang="zh-CN" dirty="0"/>
          </a:p>
          <a:p>
            <a:endParaRPr kumimoji="1" lang="en-US" altLang="zh-CN" dirty="0"/>
          </a:p>
          <a:p>
            <a:pPr marL="36576" indent="0">
              <a:buNone/>
            </a:pPr>
            <a:endParaRPr kumimoji="1" lang="en-US" altLang="zh-CN" dirty="0"/>
          </a:p>
          <a:p>
            <a:endParaRPr kumimoji="1" lang="en-US" altLang="zh-CN" dirty="0"/>
          </a:p>
          <a:p>
            <a:endParaRPr kumimoji="1" lang="zh-CN" altLang="en-US" dirty="0"/>
          </a:p>
        </p:txBody>
      </p:sp>
      <p:pic>
        <p:nvPicPr>
          <p:cNvPr id="5" name="图片 4"/>
          <p:cNvPicPr>
            <a:picLocks noChangeAspect="1"/>
          </p:cNvPicPr>
          <p:nvPr/>
        </p:nvPicPr>
        <p:blipFill>
          <a:blip r:embed="rId2"/>
          <a:stretch>
            <a:fillRect/>
          </a:stretch>
        </p:blipFill>
        <p:spPr>
          <a:xfrm>
            <a:off x="5754954" y="3730745"/>
            <a:ext cx="5194300" cy="3289300"/>
          </a:xfrm>
          <a:prstGeom prst="rect">
            <a:avLst/>
          </a:prstGeom>
        </p:spPr>
      </p:pic>
    </p:spTree>
    <p:extLst>
      <p:ext uri="{BB962C8B-B14F-4D97-AF65-F5344CB8AC3E}">
        <p14:creationId xmlns:p14="http://schemas.microsoft.com/office/powerpoint/2010/main" val="129511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linds(horizontal)">
                                      <p:cBhvr>
                                        <p:cTn id="10" dur="500"/>
                                        <p:tgtEl>
                                          <p:spTgt spid="3">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linds(horizontal)">
                                      <p:cBhvr>
                                        <p:cTn id="13" dur="500"/>
                                        <p:tgtEl>
                                          <p:spTgt spid="3">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blinds(horizontal)">
                                      <p:cBhvr>
                                        <p:cTn id="16" dur="500"/>
                                        <p:tgtEl>
                                          <p:spTgt spid="3">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推荐书籍</a:t>
            </a:r>
          </a:p>
        </p:txBody>
      </p:sp>
      <p:pic>
        <p:nvPicPr>
          <p:cNvPr id="5" name="图片 4"/>
          <p:cNvPicPr>
            <a:picLocks noChangeAspect="1"/>
          </p:cNvPicPr>
          <p:nvPr/>
        </p:nvPicPr>
        <p:blipFill>
          <a:blip r:embed="rId2"/>
          <a:stretch>
            <a:fillRect/>
          </a:stretch>
        </p:blipFill>
        <p:spPr>
          <a:xfrm>
            <a:off x="424658" y="1587519"/>
            <a:ext cx="3683000" cy="4318000"/>
          </a:xfrm>
          <a:prstGeom prst="rect">
            <a:avLst/>
          </a:prstGeom>
        </p:spPr>
      </p:pic>
      <p:pic>
        <p:nvPicPr>
          <p:cNvPr id="6" name="图片 5"/>
          <p:cNvPicPr>
            <a:picLocks noChangeAspect="1"/>
          </p:cNvPicPr>
          <p:nvPr/>
        </p:nvPicPr>
        <p:blipFill>
          <a:blip r:embed="rId3"/>
          <a:stretch>
            <a:fillRect/>
          </a:stretch>
        </p:blipFill>
        <p:spPr>
          <a:xfrm>
            <a:off x="4719573" y="1567468"/>
            <a:ext cx="2933700" cy="4178300"/>
          </a:xfrm>
          <a:prstGeom prst="rect">
            <a:avLst/>
          </a:prstGeom>
        </p:spPr>
      </p:pic>
    </p:spTree>
    <p:extLst>
      <p:ext uri="{BB962C8B-B14F-4D97-AF65-F5344CB8AC3E}">
        <p14:creationId xmlns:p14="http://schemas.microsoft.com/office/powerpoint/2010/main" val="1320744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4094"/>
            <a:ext cx="7467600" cy="594368"/>
          </a:xfrm>
        </p:spPr>
        <p:txBody>
          <a:bodyPr>
            <a:normAutofit fontScale="90000"/>
          </a:bodyPr>
          <a:lstStyle/>
          <a:p>
            <a:r>
              <a:rPr kumimoji="1" lang="zh-CN" altLang="en-US" dirty="0"/>
              <a:t>中层</a:t>
            </a:r>
          </a:p>
        </p:txBody>
      </p:sp>
      <p:sp>
        <p:nvSpPr>
          <p:cNvPr id="3" name="内容占位符 2"/>
          <p:cNvSpPr>
            <a:spLocks noGrp="1"/>
          </p:cNvSpPr>
          <p:nvPr>
            <p:ph idx="1"/>
          </p:nvPr>
        </p:nvSpPr>
        <p:spPr>
          <a:xfrm>
            <a:off x="457200" y="1115552"/>
            <a:ext cx="8131226" cy="5385239"/>
          </a:xfrm>
        </p:spPr>
        <p:txBody>
          <a:bodyPr>
            <a:normAutofit/>
          </a:bodyPr>
          <a:lstStyle/>
          <a:p>
            <a:r>
              <a:rPr kumimoji="1" lang="zh-CN" altLang="en-US" sz="3200" dirty="0"/>
              <a:t>拒绝松鼠症</a:t>
            </a:r>
            <a:endParaRPr kumimoji="1" lang="en-US" altLang="zh-CN" sz="3200" dirty="0"/>
          </a:p>
          <a:p>
            <a:endParaRPr kumimoji="1" lang="en-US" altLang="zh-CN" sz="3200" dirty="0"/>
          </a:p>
          <a:p>
            <a:r>
              <a:rPr kumimoji="1" lang="zh-CN" altLang="en-US" sz="3200" dirty="0"/>
              <a:t>今天学习这个，明天学习那个，微信里关注了数不清的公众号，手机里存放着一长串来不及看的视频，但时间长了，你可能会发现自己并没有进步多少。</a:t>
            </a:r>
          </a:p>
          <a:p>
            <a:endParaRPr kumimoji="1" lang="zh-CN" altLang="en-US" sz="3200" dirty="0"/>
          </a:p>
          <a:p>
            <a:r>
              <a:rPr kumimoji="1" lang="zh-CN" altLang="en-US" sz="3200" dirty="0"/>
              <a:t>这种行为被称为“松鼠症”，每天不停的囤积，坚信某天会用到。但实际上，让你上瘾的只是囤积时的安全感</a:t>
            </a:r>
            <a:endParaRPr kumimoji="1" lang="en-US" altLang="zh-CN" sz="3200" dirty="0"/>
          </a:p>
          <a:p>
            <a:endParaRPr kumimoji="1" lang="en-US" altLang="zh-CN" sz="3200" dirty="0"/>
          </a:p>
          <a:p>
            <a:endParaRPr kumimoji="1" lang="zh-CN" altLang="en-US" sz="2800" dirty="0"/>
          </a:p>
        </p:txBody>
      </p:sp>
    </p:spTree>
    <p:extLst>
      <p:ext uri="{BB962C8B-B14F-4D97-AF65-F5344CB8AC3E}">
        <p14:creationId xmlns:p14="http://schemas.microsoft.com/office/powerpoint/2010/main" val="93701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中层</a:t>
            </a:r>
          </a:p>
        </p:txBody>
      </p:sp>
      <p:sp>
        <p:nvSpPr>
          <p:cNvPr id="3" name="内容占位符 2"/>
          <p:cNvSpPr>
            <a:spLocks noGrp="1"/>
          </p:cNvSpPr>
          <p:nvPr>
            <p:ph idx="1"/>
          </p:nvPr>
        </p:nvSpPr>
        <p:spPr/>
        <p:txBody>
          <a:bodyPr/>
          <a:lstStyle/>
          <a:p>
            <a:r>
              <a:rPr kumimoji="1" lang="zh-CN" altLang="en-US" sz="3200" dirty="0"/>
              <a:t>学习</a:t>
            </a:r>
            <a:r>
              <a:rPr kumimoji="1" lang="en-US" altLang="zh-CN" sz="3200" dirty="0"/>
              <a:t>/</a:t>
            </a:r>
            <a:r>
              <a:rPr kumimoji="1" lang="zh-CN" altLang="en-US" sz="3200" dirty="0"/>
              <a:t>引入新技术的正确方式</a:t>
            </a:r>
            <a:endParaRPr kumimoji="1" lang="en-US" altLang="zh-CN" sz="3200" dirty="0"/>
          </a:p>
          <a:p>
            <a:pPr lvl="1"/>
            <a:r>
              <a:rPr kumimoji="1" lang="zh-CN" altLang="en-US" sz="2800" dirty="0"/>
              <a:t>严禁</a:t>
            </a:r>
            <a:r>
              <a:rPr kumimoji="1" lang="en-US" altLang="zh-CN" sz="2800" dirty="0"/>
              <a:t>DEMO</a:t>
            </a:r>
            <a:r>
              <a:rPr kumimoji="1" lang="zh-CN" altLang="en-US" sz="2800" dirty="0"/>
              <a:t>式地引入，而是需要最佳实践</a:t>
            </a:r>
            <a:endParaRPr kumimoji="1" lang="en-US" altLang="zh-CN" sz="2800" dirty="0"/>
          </a:p>
          <a:p>
            <a:pPr lvl="1"/>
            <a:r>
              <a:rPr kumimoji="1" lang="zh-CN" altLang="en-US" sz="2800" dirty="0"/>
              <a:t>能够对其造成的问题、带来的坑负全责</a:t>
            </a:r>
            <a:endParaRPr kumimoji="1" lang="en-US" altLang="zh-CN" sz="2800" dirty="0"/>
          </a:p>
          <a:p>
            <a:pPr lvl="1"/>
            <a:r>
              <a:rPr kumimoji="1" lang="zh-CN" altLang="en-US" sz="2800" dirty="0"/>
              <a:t>不要长久停留舒适区，也不能盲目乐观</a:t>
            </a:r>
            <a:endParaRPr kumimoji="1" lang="zh-CN" altLang="en-US" dirty="0"/>
          </a:p>
        </p:txBody>
      </p:sp>
    </p:spTree>
    <p:extLst>
      <p:ext uri="{BB962C8B-B14F-4D97-AF65-F5344CB8AC3E}">
        <p14:creationId xmlns:p14="http://schemas.microsoft.com/office/powerpoint/2010/main" val="2784019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90806"/>
            <a:ext cx="7467600" cy="945305"/>
          </a:xfrm>
        </p:spPr>
        <p:txBody>
          <a:bodyPr/>
          <a:lstStyle/>
          <a:p>
            <a:r>
              <a:rPr kumimoji="1" lang="zh-CN" altLang="en-US" dirty="0"/>
              <a:t>上层</a:t>
            </a:r>
          </a:p>
        </p:txBody>
      </p:sp>
      <p:pic>
        <p:nvPicPr>
          <p:cNvPr id="4" name="图片 3"/>
          <p:cNvPicPr>
            <a:picLocks noChangeAspect="1"/>
          </p:cNvPicPr>
          <p:nvPr/>
        </p:nvPicPr>
        <p:blipFill>
          <a:blip r:embed="rId2"/>
          <a:stretch>
            <a:fillRect/>
          </a:stretch>
        </p:blipFill>
        <p:spPr>
          <a:xfrm>
            <a:off x="634385" y="2236526"/>
            <a:ext cx="8106814" cy="4314422"/>
          </a:xfrm>
          <a:prstGeom prst="rect">
            <a:avLst/>
          </a:prstGeom>
        </p:spPr>
      </p:pic>
      <p:sp>
        <p:nvSpPr>
          <p:cNvPr id="7" name="文本框 6"/>
          <p:cNvSpPr txBox="1"/>
          <p:nvPr/>
        </p:nvSpPr>
        <p:spPr>
          <a:xfrm>
            <a:off x="634385" y="1270077"/>
            <a:ext cx="3191975" cy="584776"/>
          </a:xfrm>
          <a:prstGeom prst="rect">
            <a:avLst/>
          </a:prstGeom>
          <a:noFill/>
        </p:spPr>
        <p:txBody>
          <a:bodyPr wrap="square" rtlCol="0">
            <a:spAutoFit/>
          </a:bodyPr>
          <a:lstStyle/>
          <a:p>
            <a:r>
              <a:rPr kumimoji="1" lang="zh-CN" altLang="en-US" sz="3200" dirty="0"/>
              <a:t>模式</a:t>
            </a:r>
            <a:r>
              <a:rPr kumimoji="1" lang="en-US" altLang="zh-CN" sz="3200" dirty="0"/>
              <a:t>&amp;</a:t>
            </a:r>
            <a:r>
              <a:rPr kumimoji="1" lang="zh-CN" altLang="en-US" sz="3200" dirty="0"/>
              <a:t>方法论</a:t>
            </a:r>
          </a:p>
        </p:txBody>
      </p:sp>
    </p:spTree>
    <p:extLst>
      <p:ext uri="{BB962C8B-B14F-4D97-AF65-F5344CB8AC3E}">
        <p14:creationId xmlns:p14="http://schemas.microsoft.com/office/powerpoint/2010/main" val="95852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上层</a:t>
            </a:r>
          </a:p>
        </p:txBody>
      </p:sp>
      <p:sp>
        <p:nvSpPr>
          <p:cNvPr id="3" name="内容占位符 2"/>
          <p:cNvSpPr>
            <a:spLocks noGrp="1"/>
          </p:cNvSpPr>
          <p:nvPr>
            <p:ph idx="1"/>
          </p:nvPr>
        </p:nvSpPr>
        <p:spPr/>
        <p:txBody>
          <a:bodyPr>
            <a:noAutofit/>
          </a:bodyPr>
          <a:lstStyle/>
          <a:p>
            <a:r>
              <a:rPr kumimoji="1" lang="zh-CN" altLang="en-US" sz="3200" dirty="0"/>
              <a:t>每个模式都描述了一个在我们身边不断重复发生的问题以及该问题的解决方案核心。这样，当我们遇到问题时就能直接使用该方案而不是重复思考劳动</a:t>
            </a:r>
            <a:endParaRPr kumimoji="1" lang="en-US" altLang="zh-CN" sz="3200" dirty="0"/>
          </a:p>
          <a:p>
            <a:endParaRPr kumimoji="1" lang="en-US" altLang="zh-CN" sz="3200" dirty="0"/>
          </a:p>
          <a:p>
            <a:endParaRPr kumimoji="1" lang="en-US" altLang="zh-CN" sz="3200" dirty="0"/>
          </a:p>
          <a:p>
            <a:pPr marL="36576" indent="0">
              <a:buNone/>
            </a:pPr>
            <a:r>
              <a:rPr kumimoji="1" lang="zh-CN" altLang="zh-CN" sz="3200" dirty="0"/>
              <a:t> </a:t>
            </a:r>
            <a:r>
              <a:rPr kumimoji="1" lang="zh-CN" altLang="en-US" sz="3200" dirty="0"/>
              <a:t>    </a:t>
            </a:r>
            <a:r>
              <a:rPr kumimoji="1" lang="en-US" altLang="zh-CN" sz="2800" dirty="0"/>
              <a:t>--</a:t>
            </a:r>
            <a:r>
              <a:rPr kumimoji="1" lang="zh-CN" altLang="en-US" sz="2800" dirty="0"/>
              <a:t>  </a:t>
            </a:r>
            <a:r>
              <a:rPr lang="en-US" altLang="zh-CN" sz="2800" dirty="0"/>
              <a:t>Martin Fowler</a:t>
            </a:r>
            <a:r>
              <a:rPr kumimoji="1" lang="en-US" altLang="zh-CN" sz="2800" dirty="0"/>
              <a:t>《</a:t>
            </a:r>
            <a:r>
              <a:rPr kumimoji="1" lang="zh-CN" altLang="en-US" sz="2800" dirty="0"/>
              <a:t>企业应用架构模式</a:t>
            </a:r>
            <a:r>
              <a:rPr kumimoji="1" lang="en-US" altLang="zh-CN" sz="2800" dirty="0"/>
              <a:t>》</a:t>
            </a:r>
          </a:p>
        </p:txBody>
      </p:sp>
    </p:spTree>
    <p:extLst>
      <p:ext uri="{BB962C8B-B14F-4D97-AF65-F5344CB8AC3E}">
        <p14:creationId xmlns:p14="http://schemas.microsoft.com/office/powerpoint/2010/main" val="990493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上层</a:t>
            </a:r>
          </a:p>
        </p:txBody>
      </p:sp>
      <p:sp>
        <p:nvSpPr>
          <p:cNvPr id="3" name="内容占位符 2"/>
          <p:cNvSpPr>
            <a:spLocks noGrp="1"/>
          </p:cNvSpPr>
          <p:nvPr>
            <p:ph idx="1"/>
          </p:nvPr>
        </p:nvSpPr>
        <p:spPr/>
        <p:txBody>
          <a:bodyPr/>
          <a:lstStyle/>
          <a:p>
            <a:r>
              <a:rPr lang="zh-CN" altLang="en-US" dirty="0"/>
              <a:t>方法论，就是关于人们</a:t>
            </a:r>
            <a:r>
              <a:rPr lang="zh-CN" altLang="en-US" dirty="0">
                <a:hlinkClick r:id="rId2"/>
              </a:rPr>
              <a:t>认识世界</a:t>
            </a:r>
            <a:r>
              <a:rPr lang="zh-CN" altLang="en-US" dirty="0"/>
              <a:t>、</a:t>
            </a:r>
            <a:r>
              <a:rPr lang="zh-CN" altLang="en-US" dirty="0">
                <a:hlinkClick r:id="rId3"/>
              </a:rPr>
              <a:t>改造世界</a:t>
            </a:r>
            <a:r>
              <a:rPr lang="zh-CN" altLang="en-US" dirty="0"/>
              <a:t>的方法的理论。</a:t>
            </a:r>
          </a:p>
          <a:p>
            <a:r>
              <a:rPr lang="zh-CN" altLang="en-US" dirty="0"/>
              <a:t>它是人们用什么样的方式、方法来观察事物和处理问题。概括地说，</a:t>
            </a:r>
            <a:r>
              <a:rPr lang="zh-CN" altLang="en-US" dirty="0">
                <a:hlinkClick r:id="rId4"/>
              </a:rPr>
              <a:t>世界观</a:t>
            </a:r>
            <a:r>
              <a:rPr lang="zh-CN" altLang="en-US" dirty="0"/>
              <a:t>主要解决世界“是什么”的问题，方法论主要解决“怎么办”的问题。</a:t>
            </a:r>
            <a:endParaRPr lang="en-US" altLang="zh-CN" dirty="0"/>
          </a:p>
          <a:p>
            <a:endParaRPr lang="en-US" altLang="zh-CN" dirty="0"/>
          </a:p>
          <a:p>
            <a:pPr marL="36576" indent="0">
              <a:buNone/>
            </a:pPr>
            <a:r>
              <a:rPr lang="en-US" altLang="zh-CN" dirty="0"/>
              <a:t>	</a:t>
            </a:r>
            <a:r>
              <a:rPr lang="zh-CN" altLang="en-US" dirty="0"/>
              <a:t>              </a:t>
            </a:r>
            <a:r>
              <a:rPr lang="en-US" altLang="zh-CN" dirty="0"/>
              <a:t>--</a:t>
            </a:r>
            <a:r>
              <a:rPr lang="zh-CN" altLang="en-US" dirty="0"/>
              <a:t> 百度百科</a:t>
            </a:r>
          </a:p>
          <a:p>
            <a:endParaRPr kumimoji="1" lang="zh-CN" altLang="en-US" dirty="0"/>
          </a:p>
        </p:txBody>
      </p:sp>
    </p:spTree>
    <p:extLst>
      <p:ext uri="{BB962C8B-B14F-4D97-AF65-F5344CB8AC3E}">
        <p14:creationId xmlns:p14="http://schemas.microsoft.com/office/powerpoint/2010/main" val="1788776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上层</a:t>
            </a:r>
          </a:p>
        </p:txBody>
      </p:sp>
      <p:sp>
        <p:nvSpPr>
          <p:cNvPr id="3" name="内容占位符 2"/>
          <p:cNvSpPr>
            <a:spLocks noGrp="1"/>
          </p:cNvSpPr>
          <p:nvPr>
            <p:ph idx="1"/>
          </p:nvPr>
        </p:nvSpPr>
        <p:spPr/>
        <p:txBody>
          <a:bodyPr/>
          <a:lstStyle/>
          <a:p>
            <a:r>
              <a:rPr kumimoji="1" lang="zh-CN" altLang="en-US" dirty="0"/>
              <a:t>无法说服别人？</a:t>
            </a:r>
            <a:endParaRPr kumimoji="1" lang="en-US" altLang="zh-CN" dirty="0"/>
          </a:p>
          <a:p>
            <a:r>
              <a:rPr kumimoji="1" lang="zh-CN" altLang="en-US" dirty="0"/>
              <a:t>写得出来？说不出来？</a:t>
            </a:r>
            <a:endParaRPr kumimoji="1" lang="en-US" altLang="zh-CN" dirty="0"/>
          </a:p>
          <a:p>
            <a:endParaRPr kumimoji="1" lang="en-US" altLang="zh-CN" dirty="0"/>
          </a:p>
          <a:p>
            <a:r>
              <a:rPr kumimoji="1" lang="zh-CN" altLang="en-US" dirty="0"/>
              <a:t>你和大师相比，可能只是差了一些概念词</a:t>
            </a:r>
            <a:endParaRPr kumimoji="1" lang="en-US" altLang="zh-CN" dirty="0"/>
          </a:p>
          <a:p>
            <a:endParaRPr kumimoji="1" lang="en-US" altLang="zh-CN" dirty="0"/>
          </a:p>
          <a:p>
            <a:r>
              <a:rPr kumimoji="1" lang="zh-CN" altLang="en-US" dirty="0"/>
              <a:t>抽象</a:t>
            </a:r>
            <a:r>
              <a:rPr kumimoji="1" lang="en-US" altLang="zh-CN" dirty="0"/>
              <a:t>--&gt;</a:t>
            </a:r>
            <a:r>
              <a:rPr kumimoji="1" lang="zh-CN" altLang="en-US" dirty="0"/>
              <a:t>提炼</a:t>
            </a:r>
            <a:r>
              <a:rPr kumimoji="1" lang="en-US" altLang="zh-CN" dirty="0"/>
              <a:t>--&gt;</a:t>
            </a:r>
            <a:r>
              <a:rPr kumimoji="1" lang="zh-CN" altLang="en-US" dirty="0"/>
              <a:t>总结</a:t>
            </a:r>
          </a:p>
        </p:txBody>
      </p:sp>
    </p:spTree>
    <p:extLst>
      <p:ext uri="{BB962C8B-B14F-4D97-AF65-F5344CB8AC3E}">
        <p14:creationId xmlns:p14="http://schemas.microsoft.com/office/powerpoint/2010/main" val="2183303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0258"/>
            <a:ext cx="7467600" cy="949715"/>
          </a:xfrm>
        </p:spPr>
        <p:txBody>
          <a:bodyPr/>
          <a:lstStyle/>
          <a:p>
            <a:r>
              <a:rPr kumimoji="1" lang="zh-CN" altLang="en-US" dirty="0"/>
              <a:t>抽象 提炼 总结 示例</a:t>
            </a:r>
          </a:p>
        </p:txBody>
      </p:sp>
      <p:sp>
        <p:nvSpPr>
          <p:cNvPr id="3" name="内容占位符 2"/>
          <p:cNvSpPr>
            <a:spLocks noGrp="1"/>
          </p:cNvSpPr>
          <p:nvPr>
            <p:ph idx="1"/>
          </p:nvPr>
        </p:nvSpPr>
        <p:spPr>
          <a:xfrm>
            <a:off x="457200" y="1169808"/>
            <a:ext cx="7467600" cy="4956355"/>
          </a:xfrm>
        </p:spPr>
        <p:txBody>
          <a:bodyPr>
            <a:normAutofit fontScale="92500" lnSpcReduction="10000"/>
          </a:bodyPr>
          <a:lstStyle/>
          <a:p>
            <a:r>
              <a:rPr kumimoji="1" lang="zh-CN" altLang="en-US" dirty="0"/>
              <a:t>对游戏技能系统的简单描述</a:t>
            </a:r>
            <a:endParaRPr kumimoji="1" lang="en-US" altLang="zh-CN" dirty="0"/>
          </a:p>
          <a:p>
            <a:endParaRPr kumimoji="1" lang="en-US" altLang="zh-CN" dirty="0"/>
          </a:p>
          <a:p>
            <a:r>
              <a:rPr kumimoji="1" lang="en-US" altLang="zh-CN" dirty="0"/>
              <a:t>2B</a:t>
            </a:r>
            <a:r>
              <a:rPr kumimoji="1" lang="zh-CN" altLang="en-US" dirty="0"/>
              <a:t>策划：我们有</a:t>
            </a:r>
            <a:r>
              <a:rPr kumimoji="1" lang="en-US" altLang="zh-CN" dirty="0"/>
              <a:t>A</a:t>
            </a:r>
            <a:r>
              <a:rPr kumimoji="1" lang="zh-CN" altLang="en-US" dirty="0"/>
              <a:t>技能</a:t>
            </a:r>
            <a:r>
              <a:rPr kumimoji="1" lang="en-US" altLang="zh-CN" dirty="0"/>
              <a:t>OO</a:t>
            </a:r>
            <a:r>
              <a:rPr kumimoji="1" lang="zh-CN" altLang="en-US" dirty="0"/>
              <a:t>，可以对敌方造成</a:t>
            </a:r>
            <a:r>
              <a:rPr kumimoji="1" lang="en-US" altLang="zh-CN" dirty="0"/>
              <a:t>XX</a:t>
            </a:r>
            <a:r>
              <a:rPr kumimoji="1" lang="zh-CN" altLang="en-US" dirty="0"/>
              <a:t>点伤害；我们有</a:t>
            </a:r>
            <a:r>
              <a:rPr kumimoji="1" lang="en-US" altLang="zh-CN" dirty="0"/>
              <a:t>B</a:t>
            </a:r>
            <a:r>
              <a:rPr kumimoji="1" lang="zh-CN" altLang="en-US" dirty="0"/>
              <a:t>技能</a:t>
            </a:r>
            <a:r>
              <a:rPr kumimoji="1" lang="en-US" altLang="zh-CN" dirty="0"/>
              <a:t>XX</a:t>
            </a:r>
            <a:r>
              <a:rPr kumimoji="1" lang="zh-CN" altLang="en-US" dirty="0"/>
              <a:t>，可以给自己加血</a:t>
            </a:r>
            <a:r>
              <a:rPr kumimoji="1" lang="en-US" altLang="zh-CN" dirty="0"/>
              <a:t>OO</a:t>
            </a:r>
            <a:r>
              <a:rPr kumimoji="1" lang="zh-CN" altLang="en-US" dirty="0"/>
              <a:t>点，我们还有</a:t>
            </a:r>
            <a:r>
              <a:rPr kumimoji="1" lang="en-US" altLang="zh-CN" dirty="0"/>
              <a:t>C</a:t>
            </a:r>
            <a:r>
              <a:rPr kumimoji="1" lang="zh-CN" altLang="en-US" dirty="0"/>
              <a:t>技能</a:t>
            </a:r>
            <a:r>
              <a:rPr kumimoji="1" lang="en-US" altLang="zh-CN" dirty="0"/>
              <a:t>OOXX</a:t>
            </a:r>
            <a:r>
              <a:rPr kumimoji="1" lang="zh-CN" altLang="en-US" dirty="0"/>
              <a:t>，可以总成伤害的同时吸血，还有</a:t>
            </a:r>
            <a:r>
              <a:rPr kumimoji="1" lang="en-US" altLang="zh-CN" dirty="0"/>
              <a:t>…..</a:t>
            </a:r>
          </a:p>
          <a:p>
            <a:endParaRPr kumimoji="1" lang="en-US" altLang="zh-CN" dirty="0"/>
          </a:p>
          <a:p>
            <a:r>
              <a:rPr kumimoji="1" lang="zh-CN" altLang="en-US" dirty="0"/>
              <a:t>合格的策划：我们一共有</a:t>
            </a:r>
            <a:r>
              <a:rPr kumimoji="1" lang="en-US" altLang="zh-CN" dirty="0"/>
              <a:t>3</a:t>
            </a:r>
            <a:r>
              <a:rPr kumimoji="1" lang="zh-CN" altLang="en-US" dirty="0"/>
              <a:t>种类型的技能</a:t>
            </a:r>
            <a:endParaRPr kumimoji="1" lang="en-US" altLang="zh-CN" dirty="0"/>
          </a:p>
          <a:p>
            <a:pPr lvl="1"/>
            <a:r>
              <a:rPr kumimoji="1" lang="zh-CN" altLang="en-US" dirty="0"/>
              <a:t>对敌伤害性</a:t>
            </a:r>
            <a:endParaRPr kumimoji="1" lang="en-US" altLang="zh-CN" dirty="0"/>
          </a:p>
          <a:p>
            <a:pPr lvl="1"/>
            <a:r>
              <a:rPr kumimoji="1" lang="zh-CN" altLang="en-US" dirty="0"/>
              <a:t>对己回复性</a:t>
            </a:r>
            <a:endParaRPr kumimoji="1" lang="en-US" altLang="zh-CN" dirty="0"/>
          </a:p>
          <a:p>
            <a:pPr lvl="1"/>
            <a:r>
              <a:rPr kumimoji="1" lang="zh-CN" altLang="en-US" dirty="0"/>
              <a:t>对敌伤害</a:t>
            </a:r>
            <a:r>
              <a:rPr kumimoji="1" lang="en-US" altLang="zh-CN" dirty="0"/>
              <a:t>&amp;</a:t>
            </a:r>
            <a:r>
              <a:rPr kumimoji="1" lang="zh-CN" altLang="en-US" dirty="0"/>
              <a:t>对己回复</a:t>
            </a:r>
          </a:p>
        </p:txBody>
      </p:sp>
    </p:spTree>
    <p:extLst>
      <p:ext uri="{BB962C8B-B14F-4D97-AF65-F5344CB8AC3E}">
        <p14:creationId xmlns:p14="http://schemas.microsoft.com/office/powerpoint/2010/main" val="337609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blinds(horizontal)">
                                      <p:cBhvr>
                                        <p:cTn id="15" dur="500"/>
                                        <p:tgtEl>
                                          <p:spTgt spid="3">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blinds(horizontal)">
                                      <p:cBhvr>
                                        <p:cTn id="18" dur="500"/>
                                        <p:tgtEl>
                                          <p:spTgt spid="3">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blinds(horizontal)">
                                      <p:cBhvr>
                                        <p:cTn id="2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90806"/>
            <a:ext cx="7467600" cy="1143000"/>
          </a:xfrm>
        </p:spPr>
        <p:txBody>
          <a:bodyPr/>
          <a:lstStyle/>
          <a:p>
            <a:r>
              <a:rPr kumimoji="1" lang="zh-CN" altLang="en-US" dirty="0"/>
              <a:t>抽象 提炼 总结 示例</a:t>
            </a:r>
          </a:p>
        </p:txBody>
      </p:sp>
      <p:sp>
        <p:nvSpPr>
          <p:cNvPr id="3" name="内容占位符 2"/>
          <p:cNvSpPr>
            <a:spLocks noGrp="1"/>
          </p:cNvSpPr>
          <p:nvPr>
            <p:ph idx="1"/>
          </p:nvPr>
        </p:nvSpPr>
        <p:spPr>
          <a:xfrm>
            <a:off x="457200" y="1282672"/>
            <a:ext cx="8331734" cy="5234830"/>
          </a:xfrm>
        </p:spPr>
        <p:txBody>
          <a:bodyPr>
            <a:normAutofit lnSpcReduction="10000"/>
          </a:bodyPr>
          <a:lstStyle/>
          <a:p>
            <a:r>
              <a:rPr kumimoji="1" lang="zh-CN" altLang="en-US" dirty="0"/>
              <a:t>什么时候适合使用</a:t>
            </a:r>
            <a:r>
              <a:rPr kumimoji="1" lang="en-US" altLang="zh-CN" dirty="0"/>
              <a:t>MQ</a:t>
            </a:r>
            <a:r>
              <a:rPr kumimoji="1" lang="zh-CN" altLang="en-US" dirty="0"/>
              <a:t>？</a:t>
            </a:r>
            <a:endParaRPr kumimoji="1" lang="en-US" altLang="zh-CN" dirty="0"/>
          </a:p>
          <a:p>
            <a:endParaRPr kumimoji="1" lang="en-US" altLang="zh-CN" dirty="0"/>
          </a:p>
          <a:p>
            <a:r>
              <a:rPr kumimoji="1" lang="zh-CN" altLang="en-US" dirty="0"/>
              <a:t>普通程序猿：比如我有下单需要扣减库存，但是库存不是这个流程中的核心，所以不应该影响下单，而且下单成功后要保证扣减库存一定成功，还有</a:t>
            </a:r>
            <a:r>
              <a:rPr kumimoji="1" lang="en-US" altLang="zh-CN" dirty="0"/>
              <a:t>OOXX…..</a:t>
            </a:r>
          </a:p>
          <a:p>
            <a:endParaRPr kumimoji="1" lang="en-US" altLang="zh-CN" dirty="0"/>
          </a:p>
          <a:p>
            <a:r>
              <a:rPr kumimoji="1" lang="zh-CN" altLang="en-US" dirty="0"/>
              <a:t>掌握了洪荒之力的程序猿</a:t>
            </a:r>
            <a:endParaRPr kumimoji="1" lang="en-US" altLang="zh-CN" dirty="0"/>
          </a:p>
          <a:p>
            <a:pPr lvl="1"/>
            <a:r>
              <a:rPr kumimoji="1" lang="zh-CN" altLang="en-US" dirty="0"/>
              <a:t>需要以事件驱动地形式</a:t>
            </a:r>
            <a:r>
              <a:rPr kumimoji="1" lang="en-US" altLang="en-US" dirty="0"/>
              <a:t>解除服务间耦合</a:t>
            </a:r>
          </a:p>
          <a:p>
            <a:pPr lvl="1"/>
            <a:r>
              <a:rPr kumimoji="1" lang="zh-CN" altLang="en-US" dirty="0"/>
              <a:t>部分流程可异步化</a:t>
            </a:r>
            <a:endParaRPr kumimoji="1" lang="en-US" altLang="en-US" dirty="0"/>
          </a:p>
          <a:p>
            <a:pPr lvl="1"/>
            <a:r>
              <a:rPr kumimoji="1" lang="zh-CN" altLang="en-US" dirty="0"/>
              <a:t>保证异步流程的</a:t>
            </a:r>
            <a:r>
              <a:rPr kumimoji="1" lang="en-US" altLang="en-US" dirty="0"/>
              <a:t>可靠</a:t>
            </a:r>
            <a:r>
              <a:rPr kumimoji="1" lang="zh-CN" altLang="en-US" dirty="0"/>
              <a:t>性</a:t>
            </a:r>
            <a:endParaRPr kumimoji="1" lang="en-US" altLang="zh-CN" dirty="0"/>
          </a:p>
          <a:p>
            <a:endParaRPr kumimoji="1" lang="en-US" altLang="zh-CN" dirty="0"/>
          </a:p>
          <a:p>
            <a:endParaRPr kumimoji="1" lang="zh-CN" altLang="en-US" dirty="0"/>
          </a:p>
        </p:txBody>
      </p:sp>
    </p:spTree>
    <p:extLst>
      <p:ext uri="{BB962C8B-B14F-4D97-AF65-F5344CB8AC3E}">
        <p14:creationId xmlns:p14="http://schemas.microsoft.com/office/powerpoint/2010/main" val="118020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blinds(horizontal)">
                                      <p:cBhvr>
                                        <p:cTn id="15" dur="500"/>
                                        <p:tgtEl>
                                          <p:spTgt spid="3">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blinds(horizontal)">
                                      <p:cBhvr>
                                        <p:cTn id="18" dur="500"/>
                                        <p:tgtEl>
                                          <p:spTgt spid="3">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blinds(horizontal)">
                                      <p:cBhvr>
                                        <p:cTn id="2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上层</a:t>
            </a:r>
          </a:p>
        </p:txBody>
      </p:sp>
      <p:sp>
        <p:nvSpPr>
          <p:cNvPr id="3" name="内容占位符 2"/>
          <p:cNvSpPr>
            <a:spLocks noGrp="1"/>
          </p:cNvSpPr>
          <p:nvPr>
            <p:ph idx="1"/>
          </p:nvPr>
        </p:nvSpPr>
        <p:spPr>
          <a:xfrm>
            <a:off x="457199" y="1600200"/>
            <a:ext cx="8448697" cy="5084418"/>
          </a:xfrm>
        </p:spPr>
        <p:txBody>
          <a:bodyPr/>
          <a:lstStyle/>
          <a:p>
            <a:r>
              <a:rPr kumimoji="1" lang="zh-CN" altLang="en-US" dirty="0"/>
              <a:t>如何提升？</a:t>
            </a:r>
            <a:endParaRPr kumimoji="1" lang="en-US" altLang="zh-CN" dirty="0"/>
          </a:p>
          <a:p>
            <a:endParaRPr kumimoji="1" lang="en-US" altLang="zh-CN" dirty="0"/>
          </a:p>
          <a:p>
            <a:r>
              <a:rPr kumimoji="1" lang="zh-CN" altLang="en-US" dirty="0"/>
              <a:t>将自己想到的东西写下来，由点到面形成一个完整的知识体系</a:t>
            </a:r>
            <a:endParaRPr kumimoji="1" lang="en-US" altLang="zh-CN" dirty="0"/>
          </a:p>
          <a:p>
            <a:r>
              <a:rPr kumimoji="1" lang="zh-CN" altLang="en-US" dirty="0"/>
              <a:t>在与人沟通中练习用尽可能短的字句表达清楚自己的意思，如果不行，就先回去将自己想表达的东西写下来，反复修改到满意为止</a:t>
            </a:r>
            <a:endParaRPr kumimoji="1" lang="en-US" altLang="zh-CN" dirty="0"/>
          </a:p>
          <a:p>
            <a:r>
              <a:rPr kumimoji="1" lang="zh-CN" altLang="en-US" dirty="0"/>
              <a:t>尝试给非技术专业的人简单讲清楚一项专业技术</a:t>
            </a:r>
          </a:p>
        </p:txBody>
      </p:sp>
      <p:pic>
        <p:nvPicPr>
          <p:cNvPr id="4" name="图片 3"/>
          <p:cNvPicPr>
            <a:picLocks noChangeAspect="1"/>
          </p:cNvPicPr>
          <p:nvPr/>
        </p:nvPicPr>
        <p:blipFill>
          <a:blip r:embed="rId2"/>
          <a:stretch>
            <a:fillRect/>
          </a:stretch>
        </p:blipFill>
        <p:spPr>
          <a:xfrm>
            <a:off x="-1933294" y="711200"/>
            <a:ext cx="1727200" cy="6146800"/>
          </a:xfrm>
          <a:prstGeom prst="rect">
            <a:avLst/>
          </a:prstGeom>
        </p:spPr>
      </p:pic>
      <p:pic>
        <p:nvPicPr>
          <p:cNvPr id="5" name="图片 4"/>
          <p:cNvPicPr>
            <a:picLocks noChangeAspect="1"/>
          </p:cNvPicPr>
          <p:nvPr/>
        </p:nvPicPr>
        <p:blipFill>
          <a:blip r:embed="rId3"/>
          <a:stretch>
            <a:fillRect/>
          </a:stretch>
        </p:blipFill>
        <p:spPr>
          <a:xfrm>
            <a:off x="9451693" y="571500"/>
            <a:ext cx="1676400" cy="6426200"/>
          </a:xfrm>
          <a:prstGeom prst="rect">
            <a:avLst/>
          </a:prstGeom>
        </p:spPr>
      </p:pic>
    </p:spTree>
    <p:extLst>
      <p:ext uri="{BB962C8B-B14F-4D97-AF65-F5344CB8AC3E}">
        <p14:creationId xmlns:p14="http://schemas.microsoft.com/office/powerpoint/2010/main" val="1180740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xit" presetSubtype="4" fill="hold" nodeType="clickEffect">
                                  <p:stCondLst>
                                    <p:cond delay="0"/>
                                  </p:stCondLst>
                                  <p:childTnLst>
                                    <p:anim calcmode="lin" valueType="num">
                                      <p:cBhvr additive="base">
                                        <p:cTn id="19" dur="500"/>
                                        <p:tgtEl>
                                          <p:spTgt spid="4"/>
                                        </p:tgtEl>
                                        <p:attrNameLst>
                                          <p:attrName>ppt_y</p:attrName>
                                        </p:attrNameLst>
                                      </p:cBhvr>
                                      <p:tavLst>
                                        <p:tav tm="0">
                                          <p:val>
                                            <p:strVal val="#ppt_y"/>
                                          </p:val>
                                        </p:tav>
                                        <p:tav tm="100000">
                                          <p:val>
                                            <p:strVal val="#ppt_y+#ppt_h*1.125000"/>
                                          </p:val>
                                        </p:tav>
                                      </p:tavLst>
                                    </p:anim>
                                    <p:animEffect transition="out" filter="wipe(down)">
                                      <p:cBhvr>
                                        <p:cTn id="20" dur="500"/>
                                        <p:tgtEl>
                                          <p:spTgt spid="4"/>
                                        </p:tgtEl>
                                      </p:cBhvr>
                                    </p:animEffect>
                                    <p:set>
                                      <p:cBhvr>
                                        <p:cTn id="21" dur="1" fill="hold">
                                          <p:stCondLst>
                                            <p:cond delay="499"/>
                                          </p:stCondLst>
                                        </p:cTn>
                                        <p:tgtEl>
                                          <p:spTgt spid="4"/>
                                        </p:tgtEl>
                                        <p:attrNameLst>
                                          <p:attrName>style.visibility</p:attrName>
                                        </p:attrNameLst>
                                      </p:cBhvr>
                                      <p:to>
                                        <p:strVal val="hidden"/>
                                      </p:to>
                                    </p:set>
                                  </p:childTnLst>
                                </p:cTn>
                              </p:par>
                              <p:par>
                                <p:cTn id="22" presetID="12" presetClass="exit" presetSubtype="4" fill="hold" nodeType="withEffect">
                                  <p:stCondLst>
                                    <p:cond delay="0"/>
                                  </p:stCondLst>
                                  <p:childTnLst>
                                    <p:anim calcmode="lin" valueType="num">
                                      <p:cBhvr additive="base">
                                        <p:cTn id="23" dur="500"/>
                                        <p:tgtEl>
                                          <p:spTgt spid="5"/>
                                        </p:tgtEl>
                                        <p:attrNameLst>
                                          <p:attrName>ppt_y</p:attrName>
                                        </p:attrNameLst>
                                      </p:cBhvr>
                                      <p:tavLst>
                                        <p:tav tm="0">
                                          <p:val>
                                            <p:strVal val="#ppt_y"/>
                                          </p:val>
                                        </p:tav>
                                        <p:tav tm="100000">
                                          <p:val>
                                            <p:strVal val="#ppt_y+#ppt_h*1.125000"/>
                                          </p:val>
                                        </p:tav>
                                      </p:tavLst>
                                    </p:anim>
                                    <p:animEffect transition="out" filter="wipe(down)">
                                      <p:cBhvr>
                                        <p:cTn id="24" dur="500"/>
                                        <p:tgtEl>
                                          <p:spTgt spid="5"/>
                                        </p:tgtEl>
                                      </p:cBhvr>
                                    </p:animEffect>
                                    <p:set>
                                      <p:cBhvr>
                                        <p:cTn id="25" dur="1" fill="hold">
                                          <p:stCondLst>
                                            <p:cond delay="499"/>
                                          </p:stCondLst>
                                        </p:cTn>
                                        <p:tgtEl>
                                          <p:spTgt spid="5"/>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blinds(horizontal)">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blinds(horizontal)">
                                      <p:cBhvr>
                                        <p:cTn id="3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推荐书籍</a:t>
            </a:r>
          </a:p>
        </p:txBody>
      </p:sp>
      <p:pic>
        <p:nvPicPr>
          <p:cNvPr id="4" name="图片 3"/>
          <p:cNvPicPr>
            <a:picLocks noChangeAspect="1"/>
          </p:cNvPicPr>
          <p:nvPr/>
        </p:nvPicPr>
        <p:blipFill>
          <a:blip r:embed="rId2"/>
          <a:stretch>
            <a:fillRect/>
          </a:stretch>
        </p:blipFill>
        <p:spPr>
          <a:xfrm>
            <a:off x="1050442" y="1567462"/>
            <a:ext cx="3314700" cy="4191000"/>
          </a:xfrm>
          <a:prstGeom prst="rect">
            <a:avLst/>
          </a:prstGeom>
        </p:spPr>
      </p:pic>
      <p:pic>
        <p:nvPicPr>
          <p:cNvPr id="5" name="图片 4"/>
          <p:cNvPicPr>
            <a:picLocks noChangeAspect="1"/>
          </p:cNvPicPr>
          <p:nvPr/>
        </p:nvPicPr>
        <p:blipFill>
          <a:blip r:embed="rId3"/>
          <a:stretch>
            <a:fillRect/>
          </a:stretch>
        </p:blipFill>
        <p:spPr>
          <a:xfrm>
            <a:off x="4572000" y="1417638"/>
            <a:ext cx="3505200" cy="4381500"/>
          </a:xfrm>
          <a:prstGeom prst="rect">
            <a:avLst/>
          </a:prstGeom>
        </p:spPr>
      </p:pic>
    </p:spTree>
    <p:extLst>
      <p:ext uri="{BB962C8B-B14F-4D97-AF65-F5344CB8AC3E}">
        <p14:creationId xmlns:p14="http://schemas.microsoft.com/office/powerpoint/2010/main" val="39655326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为什么大部分人关注中层？</a:t>
            </a:r>
          </a:p>
        </p:txBody>
      </p:sp>
      <p:sp>
        <p:nvSpPr>
          <p:cNvPr id="3" name="内容占位符 2"/>
          <p:cNvSpPr>
            <a:spLocks noGrp="1"/>
          </p:cNvSpPr>
          <p:nvPr>
            <p:ph idx="1"/>
          </p:nvPr>
        </p:nvSpPr>
        <p:spPr>
          <a:xfrm>
            <a:off x="457200" y="1600200"/>
            <a:ext cx="8097808" cy="4850456"/>
          </a:xfrm>
        </p:spPr>
        <p:txBody>
          <a:bodyPr/>
          <a:lstStyle/>
          <a:p>
            <a:r>
              <a:rPr kumimoji="1" lang="zh-CN" altLang="en-US" dirty="0"/>
              <a:t>反馈周期</a:t>
            </a:r>
            <a:endParaRPr kumimoji="1" lang="en-US" altLang="zh-CN" dirty="0"/>
          </a:p>
          <a:p>
            <a:endParaRPr kumimoji="1" lang="en-US" altLang="zh-CN" dirty="0"/>
          </a:p>
          <a:p>
            <a:r>
              <a:rPr kumimoji="1" lang="zh-CN" altLang="en-US" dirty="0"/>
              <a:t>身边的人的影响</a:t>
            </a:r>
            <a:endParaRPr kumimoji="1" lang="en-US" altLang="zh-CN" dirty="0"/>
          </a:p>
          <a:p>
            <a:pPr marL="36576" indent="0">
              <a:buNone/>
            </a:pPr>
            <a:endParaRPr kumimoji="1" lang="en-US" altLang="zh-CN" dirty="0"/>
          </a:p>
          <a:p>
            <a:r>
              <a:rPr kumimoji="1" lang="zh-CN" altLang="en-US" dirty="0"/>
              <a:t>如何解决？</a:t>
            </a:r>
            <a:endParaRPr kumimoji="1" lang="en-US" altLang="zh-CN" dirty="0"/>
          </a:p>
          <a:p>
            <a:pPr lvl="1"/>
            <a:r>
              <a:rPr kumimoji="1" lang="zh-CN" altLang="en-US" dirty="0"/>
              <a:t>孤独地坚持</a:t>
            </a:r>
          </a:p>
        </p:txBody>
      </p:sp>
      <p:pic>
        <p:nvPicPr>
          <p:cNvPr id="4" name="图片 3"/>
          <p:cNvPicPr>
            <a:picLocks noChangeAspect="1"/>
          </p:cNvPicPr>
          <p:nvPr/>
        </p:nvPicPr>
        <p:blipFill>
          <a:blip r:embed="rId2"/>
          <a:stretch>
            <a:fillRect/>
          </a:stretch>
        </p:blipFill>
        <p:spPr>
          <a:xfrm>
            <a:off x="5320663" y="1223762"/>
            <a:ext cx="7226300" cy="6248400"/>
          </a:xfrm>
          <a:prstGeom prst="rect">
            <a:avLst/>
          </a:prstGeom>
        </p:spPr>
      </p:pic>
    </p:spTree>
    <p:extLst>
      <p:ext uri="{BB962C8B-B14F-4D97-AF65-F5344CB8AC3E}">
        <p14:creationId xmlns:p14="http://schemas.microsoft.com/office/powerpoint/2010/main" val="1514242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xit" presetSubtype="0" fill="hold" nodeType="clickEffect">
                                  <p:stCondLst>
                                    <p:cond delay="0"/>
                                  </p:stCondLst>
                                  <p:childTnLst>
                                    <p:animEffect transition="out" filter="dissolve">
                                      <p:cBhvr>
                                        <p:cTn id="17" dur="500"/>
                                        <p:tgtEl>
                                          <p:spTgt spid="4"/>
                                        </p:tgtEl>
                                      </p:cBhvr>
                                    </p:animEffect>
                                    <p:set>
                                      <p:cBhvr>
                                        <p:cTn id="18" dur="1" fill="hold">
                                          <p:stCondLst>
                                            <p:cond delay="499"/>
                                          </p:stCondLst>
                                        </p:cTn>
                                        <p:tgtEl>
                                          <p:spTgt spid="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blinds(horizontal)">
                                      <p:cBhvr>
                                        <p:cTn id="28" dur="500"/>
                                        <p:tgtEl>
                                          <p:spTgt spid="3">
                                            <p:txEl>
                                              <p:pRg st="4" end="4"/>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blinds(horizontal)">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老猿的术与道</a:t>
            </a:r>
          </a:p>
        </p:txBody>
      </p:sp>
      <p:sp>
        <p:nvSpPr>
          <p:cNvPr id="3" name="内容占位符 2"/>
          <p:cNvSpPr>
            <a:spLocks noGrp="1"/>
          </p:cNvSpPr>
          <p:nvPr>
            <p:ph idx="1"/>
          </p:nvPr>
        </p:nvSpPr>
        <p:spPr>
          <a:xfrm>
            <a:off x="457199" y="1600200"/>
            <a:ext cx="8381861" cy="4525963"/>
          </a:xfrm>
        </p:spPr>
        <p:txBody>
          <a:bodyPr>
            <a:normAutofit/>
          </a:bodyPr>
          <a:lstStyle/>
          <a:p>
            <a:r>
              <a:rPr lang="zh-CN" altLang="en-US" dirty="0"/>
              <a:t>道为术之灵，术为道之体；以道统术，以术得道；道为本，术为实用，相辅相成也</a:t>
            </a:r>
            <a:endParaRPr kumimoji="1" lang="en-US" altLang="zh-CN" dirty="0"/>
          </a:p>
          <a:p>
            <a:endParaRPr kumimoji="1" lang="en-US" altLang="zh-CN" dirty="0"/>
          </a:p>
          <a:p>
            <a:r>
              <a:rPr kumimoji="1" lang="zh-CN" altLang="en-US" dirty="0"/>
              <a:t>术是能力、知识、经验的集合体，解决实际问题的手段</a:t>
            </a:r>
            <a:endParaRPr kumimoji="1" lang="en-US" altLang="zh-CN" dirty="0"/>
          </a:p>
          <a:p>
            <a:r>
              <a:rPr kumimoji="1" lang="zh-CN" altLang="en-US" dirty="0"/>
              <a:t>道是一系列理念，衍生出各种术的理论知识框架集合，是个人</a:t>
            </a:r>
            <a:r>
              <a:rPr lang="zh-CN" altLang="en-US" dirty="0"/>
              <a:t>思维能力和思维习惯的修炼</a:t>
            </a:r>
            <a:endParaRPr kumimoji="1" lang="en-US" altLang="zh-CN" dirty="0"/>
          </a:p>
          <a:p>
            <a:endParaRPr kumimoji="1" lang="en-US" altLang="zh-CN" dirty="0"/>
          </a:p>
          <a:p>
            <a:endParaRPr kumimoji="1" lang="zh-CN" altLang="en-US" dirty="0"/>
          </a:p>
        </p:txBody>
      </p:sp>
      <p:pic>
        <p:nvPicPr>
          <p:cNvPr id="5" name="图片 4"/>
          <p:cNvPicPr>
            <a:picLocks noChangeAspect="1"/>
          </p:cNvPicPr>
          <p:nvPr/>
        </p:nvPicPr>
        <p:blipFill>
          <a:blip r:embed="rId2"/>
          <a:stretch>
            <a:fillRect/>
          </a:stretch>
        </p:blipFill>
        <p:spPr>
          <a:xfrm>
            <a:off x="8686801" y="2144933"/>
            <a:ext cx="4762500" cy="5600700"/>
          </a:xfrm>
          <a:prstGeom prst="rect">
            <a:avLst/>
          </a:prstGeom>
        </p:spPr>
      </p:pic>
    </p:spTree>
    <p:extLst>
      <p:ext uri="{BB962C8B-B14F-4D97-AF65-F5344CB8AC3E}">
        <p14:creationId xmlns:p14="http://schemas.microsoft.com/office/powerpoint/2010/main" val="406320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linds(horizontal)">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9" presetClass="exit" presetSubtype="0" fill="hold" nodeType="clickEffect">
                                  <p:stCondLst>
                                    <p:cond delay="0"/>
                                  </p:stCondLst>
                                  <p:childTnLst>
                                    <p:animEffect transition="out" filter="dissolve">
                                      <p:cBhvr>
                                        <p:cTn id="25" dur="500"/>
                                        <p:tgtEl>
                                          <p:spTgt spid="5"/>
                                        </p:tgtEl>
                                      </p:cBhvr>
                                    </p:animEffect>
                                    <p:set>
                                      <p:cBhvr>
                                        <p:cTn id="26"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90806"/>
            <a:ext cx="7467600" cy="911887"/>
          </a:xfrm>
        </p:spPr>
        <p:txBody>
          <a:bodyPr/>
          <a:lstStyle/>
          <a:p>
            <a:r>
              <a:rPr kumimoji="1" lang="zh-CN" altLang="en-US" dirty="0"/>
              <a:t>老猿的术与道</a:t>
            </a:r>
          </a:p>
        </p:txBody>
      </p:sp>
      <p:sp>
        <p:nvSpPr>
          <p:cNvPr id="3" name="内容占位符 2"/>
          <p:cNvSpPr>
            <a:spLocks noGrp="1"/>
          </p:cNvSpPr>
          <p:nvPr>
            <p:ph idx="1"/>
          </p:nvPr>
        </p:nvSpPr>
        <p:spPr>
          <a:xfrm>
            <a:off x="457200" y="1019398"/>
            <a:ext cx="8431988" cy="5838602"/>
          </a:xfrm>
        </p:spPr>
        <p:txBody>
          <a:bodyPr>
            <a:normAutofit lnSpcReduction="10000"/>
          </a:bodyPr>
          <a:lstStyle/>
          <a:p>
            <a:r>
              <a:rPr kumimoji="1" lang="zh-CN" altLang="en-US" dirty="0"/>
              <a:t>如何练贱？</a:t>
            </a:r>
            <a:endParaRPr kumimoji="1" lang="en-US" altLang="zh-CN" dirty="0"/>
          </a:p>
          <a:p>
            <a:endParaRPr kumimoji="1" lang="en-US" altLang="zh-CN" dirty="0"/>
          </a:p>
          <a:p>
            <a:r>
              <a:rPr kumimoji="1" lang="zh-CN" altLang="en-US" dirty="0"/>
              <a:t>绝世宝剑，点击就送，无坚不摧：仅仅只是依赖“器”</a:t>
            </a:r>
            <a:endParaRPr kumimoji="1" lang="en-US" altLang="zh-CN" dirty="0"/>
          </a:p>
          <a:p>
            <a:endParaRPr kumimoji="1" lang="en-US" altLang="zh-CN" dirty="0"/>
          </a:p>
          <a:p>
            <a:r>
              <a:rPr kumimoji="1" lang="zh-CN" altLang="en-US" dirty="0"/>
              <a:t>熟悉了各种流派招式，换一把普通的剑也能爆炸输出：以人驭剑，掌握了“术”，不再依赖“器”</a:t>
            </a:r>
            <a:endParaRPr kumimoji="1" lang="en-US" altLang="zh-CN" dirty="0"/>
          </a:p>
          <a:p>
            <a:endParaRPr kumimoji="1" lang="en-US" altLang="zh-CN" dirty="0"/>
          </a:p>
          <a:p>
            <a:r>
              <a:rPr kumimoji="1" lang="zh-CN" altLang="en-US" dirty="0"/>
              <a:t>手中无剑，心中有剑，草木竹石甚至整个人本身就是剑（人贱合一），无招胜有招：达到了“道”的层次，不再受制于兵器和招式的限制</a:t>
            </a:r>
          </a:p>
        </p:txBody>
      </p:sp>
      <p:pic>
        <p:nvPicPr>
          <p:cNvPr id="6" name="图片 5" descr="zx.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0" y="333874"/>
            <a:ext cx="4393505" cy="6807519"/>
          </a:xfrm>
          <a:prstGeom prst="rect">
            <a:avLst/>
          </a:prstGeom>
        </p:spPr>
      </p:pic>
    </p:spTree>
    <p:extLst>
      <p:ext uri="{BB962C8B-B14F-4D97-AF65-F5344CB8AC3E}">
        <p14:creationId xmlns:p14="http://schemas.microsoft.com/office/powerpoint/2010/main" val="655511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blinds(horizontal)">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par>
                          <p:cTn id="24" fill="hold">
                            <p:stCondLst>
                              <p:cond delay="500"/>
                            </p:stCondLst>
                            <p:childTnLst>
                              <p:par>
                                <p:cTn id="25" presetID="8" presetClass="emph" presetSubtype="0" fill="hold" nodeType="afterEffect">
                                  <p:stCondLst>
                                    <p:cond delay="0"/>
                                  </p:stCondLst>
                                  <p:childTnLst>
                                    <p:animRot by="43200000">
                                      <p:cBhvr>
                                        <p:cTn id="26" dur="2000" fill="hold"/>
                                        <p:tgtEl>
                                          <p:spTgt spid="6"/>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3" presetClass="exit" presetSubtype="10" fill="hold" nodeType="clickEffect">
                                  <p:stCondLst>
                                    <p:cond delay="0"/>
                                  </p:stCondLst>
                                  <p:childTnLst>
                                    <p:animEffect transition="out" filter="blinds(horizontal)">
                                      <p:cBhvr>
                                        <p:cTn id="30" dur="500"/>
                                        <p:tgtEl>
                                          <p:spTgt spid="6"/>
                                        </p:tgtEl>
                                      </p:cBhvr>
                                    </p:animEffect>
                                    <p:set>
                                      <p:cBhvr>
                                        <p:cTn id="31"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670"/>
            <a:ext cx="7467600" cy="1143000"/>
          </a:xfrm>
        </p:spPr>
        <p:txBody>
          <a:bodyPr/>
          <a:lstStyle/>
          <a:p>
            <a:r>
              <a:rPr kumimoji="1" lang="zh-CN" altLang="en-US" dirty="0"/>
              <a:t>老猿的术与道</a:t>
            </a:r>
          </a:p>
        </p:txBody>
      </p:sp>
      <p:sp>
        <p:nvSpPr>
          <p:cNvPr id="3" name="内容占位符 2"/>
          <p:cNvSpPr>
            <a:spLocks noGrp="1"/>
          </p:cNvSpPr>
          <p:nvPr>
            <p:ph idx="1"/>
          </p:nvPr>
        </p:nvSpPr>
        <p:spPr>
          <a:xfrm>
            <a:off x="267344" y="1265960"/>
            <a:ext cx="8588426" cy="5592040"/>
          </a:xfrm>
        </p:spPr>
        <p:txBody>
          <a:bodyPr/>
          <a:lstStyle/>
          <a:p>
            <a:r>
              <a:rPr kumimoji="1" lang="zh-CN" altLang="en-US" dirty="0"/>
              <a:t>如何学习</a:t>
            </a:r>
            <a:r>
              <a:rPr kumimoji="1" lang="en-US" altLang="zh-CN" dirty="0"/>
              <a:t>JVM</a:t>
            </a:r>
            <a:r>
              <a:rPr kumimoji="1" lang="zh-CN" altLang="en-US" dirty="0"/>
              <a:t>内存模型？</a:t>
            </a:r>
            <a:endParaRPr kumimoji="1" lang="en-US" altLang="zh-CN" dirty="0"/>
          </a:p>
          <a:p>
            <a:endParaRPr kumimoji="1" lang="en-US" altLang="zh-CN" dirty="0"/>
          </a:p>
          <a:p>
            <a:r>
              <a:rPr kumimoji="1" lang="zh-CN" altLang="en-US" dirty="0"/>
              <a:t>看书，死记硬背</a:t>
            </a:r>
            <a:endParaRPr kumimoji="1" lang="en-US" altLang="zh-CN" dirty="0"/>
          </a:p>
          <a:p>
            <a:r>
              <a:rPr kumimoji="1" lang="zh-CN" altLang="en-US" dirty="0"/>
              <a:t>编写示例程序，利用</a:t>
            </a:r>
            <a:r>
              <a:rPr kumimoji="1" lang="en-US" altLang="zh-CN" dirty="0" err="1"/>
              <a:t>jmap</a:t>
            </a:r>
            <a:r>
              <a:rPr kumimoji="1" lang="zh-CN" altLang="en-US" dirty="0"/>
              <a:t>、</a:t>
            </a:r>
            <a:r>
              <a:rPr kumimoji="1" lang="en-US" altLang="zh-CN" dirty="0" err="1"/>
              <a:t>jconsole</a:t>
            </a:r>
            <a:r>
              <a:rPr kumimoji="1" lang="zh-CN" altLang="en-US" dirty="0"/>
              <a:t>等工具印证分区模型：实践</a:t>
            </a:r>
            <a:endParaRPr kumimoji="1" lang="en-US" altLang="zh-CN" dirty="0"/>
          </a:p>
          <a:p>
            <a:r>
              <a:rPr kumimoji="1" lang="en-US" altLang="en-US" dirty="0" err="1"/>
              <a:t>阅读JVM源码：术的深度</a:t>
            </a:r>
            <a:endParaRPr kumimoji="1" lang="en-US" altLang="zh-CN" dirty="0"/>
          </a:p>
          <a:p>
            <a:r>
              <a:rPr kumimoji="1" lang="zh-CN" altLang="en-US" dirty="0"/>
              <a:t>问自己：为什么</a:t>
            </a:r>
            <a:r>
              <a:rPr kumimoji="1" lang="en-US" altLang="zh-CN" dirty="0"/>
              <a:t>JVM</a:t>
            </a:r>
            <a:r>
              <a:rPr kumimoji="1" lang="zh-CN" altLang="en-US" dirty="0"/>
              <a:t>的内存模型要这样设计？</a:t>
            </a:r>
            <a:endParaRPr kumimoji="1" lang="en-US" altLang="zh-CN" dirty="0"/>
          </a:p>
          <a:p>
            <a:r>
              <a:rPr kumimoji="1" lang="zh-CN" altLang="en-US" dirty="0"/>
              <a:t>找到答案：分而治之。形成自己的道，并将此理念运用到其他地方甚至是其他领域</a:t>
            </a:r>
          </a:p>
        </p:txBody>
      </p:sp>
    </p:spTree>
    <p:extLst>
      <p:ext uri="{BB962C8B-B14F-4D97-AF65-F5344CB8AC3E}">
        <p14:creationId xmlns:p14="http://schemas.microsoft.com/office/powerpoint/2010/main" val="1835055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blinds(horizontal)">
                                      <p:cBhvr>
                                        <p:cTn id="15" dur="500"/>
                                        <p:tgtEl>
                                          <p:spTgt spid="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blinds(horizontal)">
                                      <p:cBhvr>
                                        <p:cTn id="2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老猿的术与道</a:t>
            </a:r>
          </a:p>
        </p:txBody>
      </p:sp>
      <p:sp>
        <p:nvSpPr>
          <p:cNvPr id="3" name="内容占位符 2"/>
          <p:cNvSpPr>
            <a:spLocks noGrp="1"/>
          </p:cNvSpPr>
          <p:nvPr>
            <p:ph idx="1"/>
          </p:nvPr>
        </p:nvSpPr>
        <p:spPr>
          <a:xfrm>
            <a:off x="457199" y="1600200"/>
            <a:ext cx="8047681" cy="4525963"/>
          </a:xfrm>
        </p:spPr>
        <p:txBody>
          <a:bodyPr>
            <a:normAutofit lnSpcReduction="10000"/>
          </a:bodyPr>
          <a:lstStyle/>
          <a:p>
            <a:r>
              <a:rPr kumimoji="1" lang="zh-CN" altLang="en-US" dirty="0"/>
              <a:t>多问自己为什么</a:t>
            </a:r>
            <a:endParaRPr kumimoji="1" lang="en-US" altLang="zh-CN" dirty="0"/>
          </a:p>
          <a:p>
            <a:endParaRPr kumimoji="1" lang="en-US" altLang="zh-CN" dirty="0"/>
          </a:p>
          <a:p>
            <a:r>
              <a:rPr kumimoji="1" lang="zh-CN" altLang="en-US" dirty="0"/>
              <a:t>为了保证连接可靠，</a:t>
            </a:r>
            <a:r>
              <a:rPr kumimoji="1" lang="en-US" altLang="zh-CN" dirty="0"/>
              <a:t>TCP</a:t>
            </a:r>
            <a:r>
              <a:rPr kumimoji="1" lang="zh-CN" altLang="en-US" dirty="0"/>
              <a:t>建立连接和断开连接均被设计为需要经历几次握手的过程</a:t>
            </a:r>
            <a:endParaRPr kumimoji="1" lang="en-US" altLang="zh-CN" dirty="0"/>
          </a:p>
          <a:p>
            <a:r>
              <a:rPr kumimoji="1" lang="zh-CN" altLang="en-US" dirty="0"/>
              <a:t>问题：为什么这样设计就可以保证连接是可靠的？</a:t>
            </a:r>
            <a:endParaRPr kumimoji="1" lang="en-US" altLang="zh-CN" dirty="0"/>
          </a:p>
          <a:p>
            <a:r>
              <a:rPr kumimoji="1" lang="zh-CN" altLang="en-US" dirty="0"/>
              <a:t>问题：为什么建立连接的握手次数是</a:t>
            </a:r>
            <a:r>
              <a:rPr kumimoji="1" lang="en-US" altLang="zh-CN" dirty="0"/>
              <a:t>3</a:t>
            </a:r>
            <a:r>
              <a:rPr kumimoji="1" lang="zh-CN" altLang="en-US" dirty="0"/>
              <a:t>次，而不是</a:t>
            </a:r>
            <a:r>
              <a:rPr kumimoji="1" lang="en-US" altLang="zh-CN" dirty="0"/>
              <a:t>2</a:t>
            </a:r>
            <a:r>
              <a:rPr kumimoji="1" lang="zh-CN" altLang="en-US" dirty="0"/>
              <a:t>次，不是</a:t>
            </a:r>
            <a:r>
              <a:rPr kumimoji="1" lang="en-US" altLang="zh-CN" dirty="0"/>
              <a:t>6</a:t>
            </a:r>
            <a:r>
              <a:rPr kumimoji="1" lang="zh-CN" altLang="en-US" dirty="0"/>
              <a:t>次？</a:t>
            </a:r>
            <a:endParaRPr kumimoji="1" lang="en-US" altLang="zh-CN" dirty="0"/>
          </a:p>
          <a:p>
            <a:r>
              <a:rPr kumimoji="1" lang="zh-CN" altLang="en-US" dirty="0"/>
              <a:t>你能从中悟出什么道？</a:t>
            </a:r>
          </a:p>
        </p:txBody>
      </p:sp>
    </p:spTree>
    <p:extLst>
      <p:ext uri="{BB962C8B-B14F-4D97-AF65-F5344CB8AC3E}">
        <p14:creationId xmlns:p14="http://schemas.microsoft.com/office/powerpoint/2010/main" val="4187428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iterate type="lt">
                                    <p:tmPct val="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par>
                          <p:cTn id="8" fill="hold">
                            <p:stCondLst>
                              <p:cond delay="500"/>
                            </p:stCondLst>
                            <p:childTnLst>
                              <p:par>
                                <p:cTn id="9" presetID="26" presetClass="emph" presetSubtype="0" fill="hold" nodeType="afterEffect">
                                  <p:stCondLst>
                                    <p:cond delay="0"/>
                                  </p:stCondLst>
                                  <p:iterate type="lt">
                                    <p:tmPct val="0"/>
                                  </p:iterate>
                                  <p:childTnLst>
                                    <p:animEffect transition="out" filter="fade">
                                      <p:cBhvr>
                                        <p:cTn id="10" dur="2000" tmFilter="0, 0; .2, .5; .8, .5; 1, 0"/>
                                        <p:tgtEl>
                                          <p:spTgt spid="3">
                                            <p:txEl>
                                              <p:pRg st="0" end="0"/>
                                            </p:txEl>
                                          </p:spTgt>
                                        </p:tgtEl>
                                      </p:cBhvr>
                                    </p:animEffect>
                                    <p:animScale>
                                      <p:cBhvr>
                                        <p:cTn id="11" dur="1000" autoRev="1" fill="hold"/>
                                        <p:tgtEl>
                                          <p:spTgt spid="3">
                                            <p:txEl>
                                              <p:pRg st="0" end="0"/>
                                            </p:txEl>
                                          </p:spTgt>
                                        </p:tgtEl>
                                      </p:cBhvr>
                                      <p:by x="105000" y="105000"/>
                                    </p:animScale>
                                  </p:childTnLst>
                                </p:cTn>
                              </p:par>
                              <p:par>
                                <p:cTn id="12" presetID="32" presetClass="emph" presetSubtype="0" fill="hold" nodeType="withEffect">
                                  <p:stCondLst>
                                    <p:cond delay="0"/>
                                  </p:stCondLst>
                                  <p:iterate type="lt">
                                    <p:tmPct val="0"/>
                                  </p:iterate>
                                  <p:childTnLst>
                                    <p:animRot by="120000">
                                      <p:cBhvr>
                                        <p:cTn id="13" dur="200" fill="hold">
                                          <p:stCondLst>
                                            <p:cond delay="0"/>
                                          </p:stCondLst>
                                        </p:cTn>
                                        <p:tgtEl>
                                          <p:spTgt spid="3">
                                            <p:txEl>
                                              <p:pRg st="0" end="0"/>
                                            </p:txEl>
                                          </p:spTgt>
                                        </p:tgtEl>
                                        <p:attrNameLst>
                                          <p:attrName>r</p:attrName>
                                        </p:attrNameLst>
                                      </p:cBhvr>
                                    </p:animRot>
                                    <p:animRot by="-240000">
                                      <p:cBhvr>
                                        <p:cTn id="14" dur="400" fill="hold">
                                          <p:stCondLst>
                                            <p:cond delay="400"/>
                                          </p:stCondLst>
                                        </p:cTn>
                                        <p:tgtEl>
                                          <p:spTgt spid="3">
                                            <p:txEl>
                                              <p:pRg st="0" end="0"/>
                                            </p:txEl>
                                          </p:spTgt>
                                        </p:tgtEl>
                                        <p:attrNameLst>
                                          <p:attrName>r</p:attrName>
                                        </p:attrNameLst>
                                      </p:cBhvr>
                                    </p:animRot>
                                    <p:animRot by="240000">
                                      <p:cBhvr>
                                        <p:cTn id="15" dur="400" fill="hold">
                                          <p:stCondLst>
                                            <p:cond delay="800"/>
                                          </p:stCondLst>
                                        </p:cTn>
                                        <p:tgtEl>
                                          <p:spTgt spid="3">
                                            <p:txEl>
                                              <p:pRg st="0" end="0"/>
                                            </p:txEl>
                                          </p:spTgt>
                                        </p:tgtEl>
                                        <p:attrNameLst>
                                          <p:attrName>r</p:attrName>
                                        </p:attrNameLst>
                                      </p:cBhvr>
                                    </p:animRot>
                                    <p:animRot by="-240000">
                                      <p:cBhvr>
                                        <p:cTn id="16" dur="400" fill="hold">
                                          <p:stCondLst>
                                            <p:cond delay="1200"/>
                                          </p:stCondLst>
                                        </p:cTn>
                                        <p:tgtEl>
                                          <p:spTgt spid="3">
                                            <p:txEl>
                                              <p:pRg st="0" end="0"/>
                                            </p:txEl>
                                          </p:spTgt>
                                        </p:tgtEl>
                                        <p:attrNameLst>
                                          <p:attrName>r</p:attrName>
                                        </p:attrNameLst>
                                      </p:cBhvr>
                                    </p:animRot>
                                    <p:animRot by="120000">
                                      <p:cBhvr>
                                        <p:cTn id="17" dur="400" fill="hold">
                                          <p:stCondLst>
                                            <p:cond delay="1600"/>
                                          </p:stCondLst>
                                        </p:cTn>
                                        <p:tgtEl>
                                          <p:spTgt spid="3">
                                            <p:txEl>
                                              <p:pRg st="0" end="0"/>
                                            </p:txEl>
                                          </p:spTgt>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linds(horizontal)">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linds(horizontal)">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解惑</a:t>
            </a:r>
          </a:p>
        </p:txBody>
      </p:sp>
      <p:sp>
        <p:nvSpPr>
          <p:cNvPr id="3" name="内容占位符 2"/>
          <p:cNvSpPr>
            <a:spLocks noGrp="1"/>
          </p:cNvSpPr>
          <p:nvPr>
            <p:ph idx="1"/>
          </p:nvPr>
        </p:nvSpPr>
        <p:spPr/>
        <p:txBody>
          <a:bodyPr>
            <a:normAutofit/>
          </a:bodyPr>
          <a:lstStyle/>
          <a:p>
            <a:r>
              <a:rPr kumimoji="1" lang="zh-CN" altLang="en-US" dirty="0"/>
              <a:t>做业务系统不能提升技术？</a:t>
            </a:r>
            <a:endParaRPr kumimoji="1" lang="en-US" altLang="zh-CN" dirty="0"/>
          </a:p>
          <a:p>
            <a:pPr marL="36576" indent="0">
              <a:buNone/>
            </a:pPr>
            <a:endParaRPr kumimoji="1" lang="en-US" altLang="zh-CN" dirty="0"/>
          </a:p>
          <a:p>
            <a:r>
              <a:rPr kumimoji="1" lang="zh-CN" altLang="en-US" dirty="0"/>
              <a:t>在大部分行业领域，脱离业务场景的技术毫无价值</a:t>
            </a:r>
            <a:endParaRPr kumimoji="1" lang="en-US" altLang="zh-CN" dirty="0"/>
          </a:p>
          <a:p>
            <a:r>
              <a:rPr kumimoji="1" lang="zh-CN" altLang="en-US" dirty="0"/>
              <a:t>避免做重复的事情</a:t>
            </a:r>
            <a:endParaRPr kumimoji="1" lang="en-US" altLang="zh-CN" dirty="0"/>
          </a:p>
          <a:p>
            <a:r>
              <a:rPr kumimoji="1" lang="zh-CN" altLang="en-US" dirty="0"/>
              <a:t>工具化</a:t>
            </a:r>
            <a:endParaRPr kumimoji="1" lang="en-US" altLang="zh-CN" dirty="0"/>
          </a:p>
          <a:p>
            <a:r>
              <a:rPr kumimoji="1" lang="zh-CN" altLang="en-US" dirty="0"/>
              <a:t>配置化</a:t>
            </a:r>
            <a:endParaRPr kumimoji="1" lang="en-US" altLang="zh-CN" dirty="0"/>
          </a:p>
          <a:p>
            <a:r>
              <a:rPr kumimoji="1" lang="zh-CN" altLang="en-US" dirty="0"/>
              <a:t>注重重构</a:t>
            </a:r>
          </a:p>
        </p:txBody>
      </p:sp>
    </p:spTree>
    <p:extLst>
      <p:ext uri="{BB962C8B-B14F-4D97-AF65-F5344CB8AC3E}">
        <p14:creationId xmlns:p14="http://schemas.microsoft.com/office/powerpoint/2010/main" val="1397812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blinds(horizontal)">
                                      <p:cBhvr>
                                        <p:cTn id="20" dur="500"/>
                                        <p:tgtEl>
                                          <p:spTgt spid="3">
                                            <p:txEl>
                                              <p:pRg st="5" end="5"/>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blinds(horizontal)">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30"/>
            <a:ext cx="7467600" cy="1143000"/>
          </a:xfrm>
        </p:spPr>
        <p:txBody>
          <a:bodyPr/>
          <a:lstStyle/>
          <a:p>
            <a:r>
              <a:rPr kumimoji="1" lang="zh-CN" altLang="en-US" dirty="0"/>
              <a:t>解惑</a:t>
            </a:r>
          </a:p>
        </p:txBody>
      </p:sp>
      <p:sp>
        <p:nvSpPr>
          <p:cNvPr id="3" name="内容占位符 2"/>
          <p:cNvSpPr>
            <a:spLocks noGrp="1"/>
          </p:cNvSpPr>
          <p:nvPr>
            <p:ph idx="1"/>
          </p:nvPr>
        </p:nvSpPr>
        <p:spPr>
          <a:xfrm>
            <a:off x="457200" y="1232536"/>
            <a:ext cx="8398570" cy="5525192"/>
          </a:xfrm>
        </p:spPr>
        <p:txBody>
          <a:bodyPr>
            <a:normAutofit lnSpcReduction="10000"/>
          </a:bodyPr>
          <a:lstStyle/>
          <a:p>
            <a:r>
              <a:rPr kumimoji="1" lang="zh-CN" altLang="en-US" dirty="0"/>
              <a:t>面试造火箭，入职拧螺丝？</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工作经验差不多，年龄差不多，为什么选你？</a:t>
            </a:r>
            <a:endParaRPr kumimoji="1" lang="en-US" altLang="zh-CN" dirty="0"/>
          </a:p>
          <a:p>
            <a:r>
              <a:rPr kumimoji="1" lang="zh-CN" altLang="en-US" dirty="0"/>
              <a:t>为什么不选一个年轻几岁的工资低一点的鸡血骚年？</a:t>
            </a:r>
            <a:endParaRPr kumimoji="1" lang="en-US" altLang="zh-CN" dirty="0"/>
          </a:p>
          <a:p>
            <a:r>
              <a:rPr kumimoji="1" lang="zh-CN" altLang="en-US" dirty="0"/>
              <a:t>虽然造火箭的场景不多，但是造飞机还是有机会的，可是大部分人实际上连螺丝都拧不好</a:t>
            </a:r>
            <a:r>
              <a:rPr kumimoji="1" lang="en-US" altLang="zh-CN" dirty="0"/>
              <a:t>-</a:t>
            </a:r>
            <a:r>
              <a:rPr kumimoji="1" lang="zh-CN" altLang="en-US" dirty="0"/>
              <a:t>浮躁</a:t>
            </a:r>
          </a:p>
        </p:txBody>
      </p:sp>
      <p:pic>
        <p:nvPicPr>
          <p:cNvPr id="4" name="图片 3"/>
          <p:cNvPicPr>
            <a:picLocks noChangeAspect="1"/>
          </p:cNvPicPr>
          <p:nvPr/>
        </p:nvPicPr>
        <p:blipFill>
          <a:blip r:embed="rId3"/>
          <a:stretch>
            <a:fillRect/>
          </a:stretch>
        </p:blipFill>
        <p:spPr>
          <a:xfrm>
            <a:off x="5503550" y="721161"/>
            <a:ext cx="3149600" cy="3263900"/>
          </a:xfrm>
          <a:prstGeom prst="rect">
            <a:avLst/>
          </a:prstGeom>
        </p:spPr>
      </p:pic>
    </p:spTree>
    <p:extLst>
      <p:ext uri="{BB962C8B-B14F-4D97-AF65-F5344CB8AC3E}">
        <p14:creationId xmlns:p14="http://schemas.microsoft.com/office/powerpoint/2010/main" val="3599597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6" presetClass="emph" presetSubtype="0" fill="hold" nodeType="afterEffect">
                                  <p:stCondLst>
                                    <p:cond delay="0"/>
                                  </p:stCondLst>
                                  <p:childTnLst>
                                    <p:animScale>
                                      <p:cBhvr>
                                        <p:cTn id="11" dur="2100" fill="hold"/>
                                        <p:tgtEl>
                                          <p:spTgt spid="4"/>
                                        </p:tgtEl>
                                      </p:cBhvr>
                                      <p:by x="150000" y="150000"/>
                                    </p:animScale>
                                  </p:childTnLst>
                                </p:cTn>
                              </p:par>
                            </p:childTnLst>
                          </p:cTn>
                        </p:par>
                        <p:par>
                          <p:cTn id="12" fill="hold">
                            <p:stCondLst>
                              <p:cond delay="2600"/>
                            </p:stCondLst>
                            <p:childTnLst>
                              <p:par>
                                <p:cTn id="13" presetID="2" presetClass="exit" presetSubtype="4" fill="hold" nodeType="afterEffect">
                                  <p:stCondLst>
                                    <p:cond delay="0"/>
                                  </p:stCondLst>
                                  <p:childTnLst>
                                    <p:anim calcmode="lin" valueType="num">
                                      <p:cBhvr additive="base">
                                        <p:cTn id="14" dur="2000"/>
                                        <p:tgtEl>
                                          <p:spTgt spid="4"/>
                                        </p:tgtEl>
                                        <p:attrNameLst>
                                          <p:attrName>ppt_x</p:attrName>
                                        </p:attrNameLst>
                                      </p:cBhvr>
                                      <p:tavLst>
                                        <p:tav tm="0">
                                          <p:val>
                                            <p:strVal val="ppt_x"/>
                                          </p:val>
                                        </p:tav>
                                        <p:tav tm="100000">
                                          <p:val>
                                            <p:strVal val="ppt_x"/>
                                          </p:val>
                                        </p:tav>
                                      </p:tavLst>
                                    </p:anim>
                                    <p:anim calcmode="lin" valueType="num">
                                      <p:cBhvr additive="base">
                                        <p:cTn id="15" dur="2000"/>
                                        <p:tgtEl>
                                          <p:spTgt spid="4"/>
                                        </p:tgtEl>
                                        <p:attrNameLst>
                                          <p:attrName>ppt_y</p:attrName>
                                        </p:attrNameLst>
                                      </p:cBhvr>
                                      <p:tavLst>
                                        <p:tav tm="0">
                                          <p:val>
                                            <p:strVal val="ppt_y"/>
                                          </p:val>
                                        </p:tav>
                                        <p:tav tm="100000">
                                          <p:val>
                                            <p:strVal val="1+ppt_h/2"/>
                                          </p:val>
                                        </p:tav>
                                      </p:tavLst>
                                    </p:anim>
                                    <p:set>
                                      <p:cBhvr>
                                        <p:cTn id="16" dur="1" fill="hold">
                                          <p:stCondLst>
                                            <p:cond delay="1999"/>
                                          </p:stCondLst>
                                        </p:cTn>
                                        <p:tgtEl>
                                          <p:spTgt spid="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blinds(horizontal)">
                                      <p:cBhvr>
                                        <p:cTn id="21" dur="500"/>
                                        <p:tgtEl>
                                          <p:spTgt spid="3">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blinds(horizontal)">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blinds(horizontal)">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解惑</a:t>
            </a:r>
          </a:p>
        </p:txBody>
      </p:sp>
      <p:sp>
        <p:nvSpPr>
          <p:cNvPr id="3" name="内容占位符 2"/>
          <p:cNvSpPr>
            <a:spLocks noGrp="1"/>
          </p:cNvSpPr>
          <p:nvPr>
            <p:ph idx="1"/>
          </p:nvPr>
        </p:nvSpPr>
        <p:spPr/>
        <p:txBody>
          <a:bodyPr/>
          <a:lstStyle/>
          <a:p>
            <a:r>
              <a:rPr kumimoji="1" lang="zh-CN" altLang="en-US" dirty="0"/>
              <a:t>浮躁的原因：没有时间沉淀学习？</a:t>
            </a:r>
            <a:endParaRPr kumimoji="1" lang="en-US" altLang="zh-CN" dirty="0"/>
          </a:p>
          <a:p>
            <a:endParaRPr kumimoji="1" lang="en-US" altLang="zh-CN" dirty="0"/>
          </a:p>
          <a:p>
            <a:r>
              <a:rPr kumimoji="1" lang="zh-CN" altLang="en-US" dirty="0"/>
              <a:t>以我们大部分人的努力程度来说，还远远轮不到拼天赋的时候</a:t>
            </a:r>
            <a:endParaRPr kumimoji="1" lang="en-US" altLang="zh-CN" dirty="0"/>
          </a:p>
          <a:p>
            <a:endParaRPr kumimoji="1" lang="en-US" altLang="zh-CN" dirty="0"/>
          </a:p>
          <a:p>
            <a:r>
              <a:rPr kumimoji="1" lang="zh-CN" altLang="en-US" dirty="0"/>
              <a:t>天天加班，周末加班，重复的事情没有改良计划支持</a:t>
            </a:r>
            <a:r>
              <a:rPr kumimoji="1" lang="en-US" altLang="zh-CN" dirty="0"/>
              <a:t>--</a:t>
            </a:r>
            <a:r>
              <a:rPr kumimoji="1" lang="zh-CN" altLang="en-US" dirty="0"/>
              <a:t>跳槽</a:t>
            </a:r>
          </a:p>
        </p:txBody>
      </p:sp>
    </p:spTree>
    <p:extLst>
      <p:ext uri="{BB962C8B-B14F-4D97-AF65-F5344CB8AC3E}">
        <p14:creationId xmlns:p14="http://schemas.microsoft.com/office/powerpoint/2010/main" val="190211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解惑</a:t>
            </a:r>
          </a:p>
        </p:txBody>
      </p:sp>
      <p:sp>
        <p:nvSpPr>
          <p:cNvPr id="3" name="内容占位符 2"/>
          <p:cNvSpPr>
            <a:spLocks noGrp="1"/>
          </p:cNvSpPr>
          <p:nvPr>
            <p:ph idx="1"/>
          </p:nvPr>
        </p:nvSpPr>
        <p:spPr/>
        <p:txBody>
          <a:bodyPr/>
          <a:lstStyle/>
          <a:p>
            <a:r>
              <a:rPr kumimoji="1" lang="zh-CN" altLang="en-US" dirty="0"/>
              <a:t>如何学以致用？</a:t>
            </a:r>
            <a:endParaRPr kumimoji="1" lang="en-US" altLang="zh-CN" dirty="0"/>
          </a:p>
          <a:p>
            <a:endParaRPr kumimoji="1" lang="en-US" altLang="zh-CN" dirty="0"/>
          </a:p>
          <a:p>
            <a:r>
              <a:rPr kumimoji="1" lang="zh-CN" altLang="en-US" dirty="0"/>
              <a:t>自己搭建环境实践</a:t>
            </a:r>
            <a:endParaRPr kumimoji="1" lang="en-US" altLang="zh-CN" dirty="0"/>
          </a:p>
          <a:p>
            <a:r>
              <a:rPr kumimoji="1" lang="zh-CN" altLang="en-US" dirty="0"/>
              <a:t>积极找到工作中的切入点，并主动站出来</a:t>
            </a:r>
            <a:endParaRPr kumimoji="1" lang="en-US" altLang="zh-CN" dirty="0"/>
          </a:p>
          <a:p>
            <a:r>
              <a:rPr kumimoji="1" lang="zh-CN" altLang="en-US" dirty="0"/>
              <a:t>小范围试点</a:t>
            </a:r>
            <a:endParaRPr kumimoji="1" lang="en-US" altLang="zh-CN" dirty="0"/>
          </a:p>
          <a:p>
            <a:r>
              <a:rPr kumimoji="1" lang="zh-CN" altLang="en-US" dirty="0"/>
              <a:t>反复宣导</a:t>
            </a:r>
            <a:r>
              <a:rPr kumimoji="1" lang="en-US" altLang="zh-CN" dirty="0"/>
              <a:t>--</a:t>
            </a:r>
            <a:r>
              <a:rPr kumimoji="1" lang="zh-CN" altLang="en-US" dirty="0"/>
              <a:t>答疑，逐渐建立影响力，最终成为该领域的砖家</a:t>
            </a:r>
          </a:p>
        </p:txBody>
      </p:sp>
    </p:spTree>
    <p:extLst>
      <p:ext uri="{BB962C8B-B14F-4D97-AF65-F5344CB8AC3E}">
        <p14:creationId xmlns:p14="http://schemas.microsoft.com/office/powerpoint/2010/main" val="1881444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总结</a:t>
            </a:r>
          </a:p>
        </p:txBody>
      </p:sp>
      <p:sp>
        <p:nvSpPr>
          <p:cNvPr id="3" name="内容占位符 2"/>
          <p:cNvSpPr>
            <a:spLocks noGrp="1"/>
          </p:cNvSpPr>
          <p:nvPr>
            <p:ph idx="1"/>
          </p:nvPr>
        </p:nvSpPr>
        <p:spPr/>
        <p:txBody>
          <a:bodyPr/>
          <a:lstStyle/>
          <a:p>
            <a:endParaRPr kumimoji="1" lang="en-US" altLang="zh-CN" dirty="0"/>
          </a:p>
          <a:p>
            <a:r>
              <a:rPr kumimoji="1" lang="zh-CN" altLang="en-US" sz="3600" dirty="0"/>
              <a:t>基础：逻辑、抽象、想象</a:t>
            </a:r>
            <a:endParaRPr kumimoji="1" lang="en-US" altLang="zh-CN" sz="3600" dirty="0"/>
          </a:p>
          <a:p>
            <a:r>
              <a:rPr kumimoji="1" lang="zh-CN" altLang="en-US" sz="3600" dirty="0"/>
              <a:t>心态：空杯、好奇、实践</a:t>
            </a:r>
            <a:endParaRPr kumimoji="1" lang="en-US" altLang="zh-CN" sz="3600" dirty="0"/>
          </a:p>
          <a:p>
            <a:r>
              <a:rPr kumimoji="1" lang="zh-CN" altLang="en-US" sz="3600" dirty="0"/>
              <a:t>尽量和优秀的人、优秀的团队一起共事</a:t>
            </a:r>
            <a:endParaRPr kumimoji="1" lang="en-US" altLang="zh-CN" sz="3600" dirty="0"/>
          </a:p>
          <a:p>
            <a:r>
              <a:rPr kumimoji="1" lang="zh-CN" altLang="en-US" sz="3600" dirty="0"/>
              <a:t>多总结，多思考</a:t>
            </a:r>
            <a:endParaRPr kumimoji="1" lang="en-US" altLang="zh-CN" sz="3600" dirty="0"/>
          </a:p>
        </p:txBody>
      </p:sp>
    </p:spTree>
    <p:extLst>
      <p:ext uri="{BB962C8B-B14F-4D97-AF65-F5344CB8AC3E}">
        <p14:creationId xmlns:p14="http://schemas.microsoft.com/office/powerpoint/2010/main" val="35314713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共勉</a:t>
            </a:r>
          </a:p>
        </p:txBody>
      </p:sp>
      <p:sp>
        <p:nvSpPr>
          <p:cNvPr id="3" name="内容占位符 2"/>
          <p:cNvSpPr>
            <a:spLocks noGrp="1"/>
          </p:cNvSpPr>
          <p:nvPr>
            <p:ph idx="1"/>
          </p:nvPr>
        </p:nvSpPr>
        <p:spPr/>
        <p:txBody>
          <a:bodyPr/>
          <a:lstStyle/>
          <a:p>
            <a:r>
              <a:rPr kumimoji="1" lang="zh-CN" altLang="en-US" dirty="0"/>
              <a:t>“如果有一天你不做程序猿了，你会干什么？”</a:t>
            </a:r>
            <a:endParaRPr kumimoji="1" lang="en-US" altLang="zh-CN" dirty="0"/>
          </a:p>
          <a:p>
            <a:r>
              <a:rPr kumimoji="1" lang="zh-CN" altLang="zh-CN" dirty="0"/>
              <a:t>“</a:t>
            </a:r>
            <a:r>
              <a:rPr kumimoji="1" lang="zh-CN" altLang="en-US" dirty="0"/>
              <a:t>我会开一个鱼塘”</a:t>
            </a:r>
            <a:endParaRPr kumimoji="1" lang="en-US" altLang="zh-CN" dirty="0"/>
          </a:p>
          <a:p>
            <a:r>
              <a:rPr kumimoji="1" lang="zh-CN" altLang="zh-CN" dirty="0"/>
              <a:t>“</a:t>
            </a:r>
            <a:r>
              <a:rPr kumimoji="1" lang="zh-CN" altLang="en-US" dirty="0"/>
              <a:t>开鱼塘干什么？”</a:t>
            </a:r>
            <a:endParaRPr kumimoji="1" lang="en-US" altLang="zh-CN" dirty="0"/>
          </a:p>
          <a:p>
            <a:r>
              <a:rPr kumimoji="1" lang="zh-CN" altLang="zh-CN" dirty="0"/>
              <a:t>“</a:t>
            </a:r>
            <a:r>
              <a:rPr kumimoji="1" lang="zh-CN" altLang="en-US" dirty="0"/>
              <a:t>在鱼塘旁边写代码”</a:t>
            </a:r>
          </a:p>
        </p:txBody>
      </p:sp>
      <p:pic>
        <p:nvPicPr>
          <p:cNvPr id="4" name="图片 3"/>
          <p:cNvPicPr>
            <a:picLocks noChangeAspect="1"/>
          </p:cNvPicPr>
          <p:nvPr/>
        </p:nvPicPr>
        <p:blipFill>
          <a:blip r:embed="rId2"/>
          <a:stretch>
            <a:fillRect/>
          </a:stretch>
        </p:blipFill>
        <p:spPr>
          <a:xfrm>
            <a:off x="4565650" y="4152900"/>
            <a:ext cx="4533900" cy="2705100"/>
          </a:xfrm>
          <a:prstGeom prst="rect">
            <a:avLst/>
          </a:prstGeom>
        </p:spPr>
      </p:pic>
    </p:spTree>
    <p:extLst>
      <p:ext uri="{BB962C8B-B14F-4D97-AF65-F5344CB8AC3E}">
        <p14:creationId xmlns:p14="http://schemas.microsoft.com/office/powerpoint/2010/main" val="97407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1000"/>
                                        <p:tgtEl>
                                          <p:spTgt spid="3">
                                            <p:txEl>
                                              <p:pRg st="0" end="0"/>
                                            </p:txEl>
                                          </p:spTgt>
                                        </p:tgtEl>
                                      </p:cBhvr>
                                    </p:animEffect>
                                  </p:childTnLst>
                                </p:cTn>
                              </p:par>
                            </p:childTnLst>
                          </p:cTn>
                        </p:par>
                        <p:par>
                          <p:cTn id="8" fill="hold">
                            <p:stCondLst>
                              <p:cond delay="1000"/>
                            </p:stCondLst>
                            <p:childTnLst>
                              <p:par>
                                <p:cTn id="9" presetID="3" presetClass="entr" presetSubtype="10" fill="hold" nodeType="afterEffect">
                                  <p:stCondLst>
                                    <p:cond delay="2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linds(horizontal)">
                                      <p:cBhvr>
                                        <p:cTn id="11" dur="1000"/>
                                        <p:tgtEl>
                                          <p:spTgt spid="3">
                                            <p:txEl>
                                              <p:pRg st="1" end="1"/>
                                            </p:txEl>
                                          </p:spTgt>
                                        </p:tgtEl>
                                      </p:cBhvr>
                                    </p:animEffect>
                                  </p:childTnLst>
                                </p:cTn>
                              </p:par>
                            </p:childTnLst>
                          </p:cTn>
                        </p:par>
                        <p:par>
                          <p:cTn id="12" fill="hold">
                            <p:stCondLst>
                              <p:cond delay="4000"/>
                            </p:stCondLst>
                            <p:childTnLst>
                              <p:par>
                                <p:cTn id="13" presetID="3" presetClass="entr" presetSubtype="10" fill="hold" nodeType="afterEffect">
                                  <p:stCondLst>
                                    <p:cond delay="200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2000"/>
                                        <p:tgtEl>
                                          <p:spTgt spid="3">
                                            <p:txEl>
                                              <p:pRg st="2" end="2"/>
                                            </p:txEl>
                                          </p:spTgt>
                                        </p:tgtEl>
                                      </p:cBhvr>
                                    </p:animEffect>
                                  </p:childTnLst>
                                </p:cTn>
                              </p:par>
                            </p:childTnLst>
                          </p:cTn>
                        </p:par>
                        <p:par>
                          <p:cTn id="16" fill="hold">
                            <p:stCondLst>
                              <p:cond delay="8000"/>
                            </p:stCondLst>
                            <p:childTnLst>
                              <p:par>
                                <p:cTn id="17" presetID="3" presetClass="entr" presetSubtype="10" fill="hold" nodeType="afterEffect">
                                  <p:stCondLst>
                                    <p:cond delay="200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blinds(horizontal)">
                                      <p:cBhvr>
                                        <p:cTn id="19" dur="1800"/>
                                        <p:tgtEl>
                                          <p:spTgt spid="3">
                                            <p:txEl>
                                              <p:pRg st="3" end="3"/>
                                            </p:txEl>
                                          </p:spTgt>
                                        </p:tgtEl>
                                      </p:cBhvr>
                                    </p:animEffect>
                                  </p:childTnLst>
                                </p:cTn>
                              </p:par>
                            </p:childTnLst>
                          </p:cTn>
                        </p:par>
                        <p:par>
                          <p:cTn id="20" fill="hold">
                            <p:stCondLst>
                              <p:cond delay="11800"/>
                            </p:stCondLst>
                            <p:childTnLst>
                              <p:par>
                                <p:cTn id="21" presetID="9" presetClass="entr" presetSubtype="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dissolve">
                                      <p:cBhvr>
                                        <p:cTn id="23" dur="12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36576" indent="0">
              <a:buNone/>
            </a:pPr>
            <a:endParaRPr kumimoji="1" lang="en-US" altLang="zh-CN" dirty="0"/>
          </a:p>
          <a:p>
            <a:pPr marL="36576" indent="0">
              <a:buNone/>
            </a:pPr>
            <a:endParaRPr kumimoji="1" lang="en-US" altLang="zh-CN" dirty="0"/>
          </a:p>
          <a:p>
            <a:pPr marL="36576" indent="0">
              <a:buNone/>
            </a:pPr>
            <a:r>
              <a:rPr kumimoji="1" lang="en-US" altLang="zh-CN" dirty="0"/>
              <a:t>			   </a:t>
            </a:r>
            <a:r>
              <a:rPr kumimoji="1" lang="zh-CN" altLang="en-US" sz="4800" dirty="0"/>
              <a:t>谢谢</a:t>
            </a:r>
            <a:r>
              <a:rPr kumimoji="1" lang="en-US" altLang="zh-CN" sz="4800" dirty="0"/>
              <a:t>!</a:t>
            </a:r>
          </a:p>
          <a:p>
            <a:pPr marL="36576" indent="0">
              <a:buNone/>
            </a:pPr>
            <a:endParaRPr kumimoji="1" lang="en-US" altLang="zh-CN" sz="4000" dirty="0"/>
          </a:p>
          <a:p>
            <a:pPr marL="36576" indent="0">
              <a:buNone/>
            </a:pPr>
            <a:r>
              <a:rPr kumimoji="1" lang="en-US" altLang="zh-CN" sz="4000" dirty="0"/>
              <a:t>							</a:t>
            </a:r>
            <a:r>
              <a:rPr kumimoji="1" lang="zh-CN" altLang="en-US" sz="2800" dirty="0"/>
              <a:t>冯文</a:t>
            </a:r>
            <a:endParaRPr kumimoji="1" lang="en-US" altLang="zh-CN" sz="2800" dirty="0"/>
          </a:p>
          <a:p>
            <a:pPr marL="36576" indent="0">
              <a:buNone/>
            </a:pPr>
            <a:r>
              <a:rPr kumimoji="1" lang="en-US" altLang="zh-CN" sz="2800" dirty="0"/>
              <a:t>				</a:t>
            </a:r>
            <a:r>
              <a:rPr kumimoji="1" lang="en-US" altLang="zh-CN" sz="2800" dirty="0" err="1"/>
              <a:t>fengw@keruyun.com</a:t>
            </a:r>
            <a:endParaRPr kumimoji="1" lang="zh-CN" altLang="en-US" sz="2800" dirty="0"/>
          </a:p>
        </p:txBody>
      </p:sp>
    </p:spTree>
    <p:extLst>
      <p:ext uri="{BB962C8B-B14F-4D97-AF65-F5344CB8AC3E}">
        <p14:creationId xmlns:p14="http://schemas.microsoft.com/office/powerpoint/2010/main" val="22824415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743200" y="1536700"/>
            <a:ext cx="3657600" cy="3784600"/>
          </a:xfrm>
          <a:prstGeom prst="rect">
            <a:avLst/>
          </a:prstGeom>
        </p:spPr>
      </p:pic>
    </p:spTree>
    <p:extLst>
      <p:ext uri="{BB962C8B-B14F-4D97-AF65-F5344CB8AC3E}">
        <p14:creationId xmlns:p14="http://schemas.microsoft.com/office/powerpoint/2010/main" val="735553720"/>
      </p:ext>
    </p:extLst>
  </p:cSld>
  <p:clrMapOvr>
    <a:masterClrMapping/>
  </p:clrMapOvr>
</p:sld>
</file>

<file path=ppt/theme/theme1.xml><?xml version="1.0" encoding="utf-8"?>
<a:theme xmlns:a="http://schemas.openxmlformats.org/drawingml/2006/main" name="技术">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技术.thmx</Template>
  <TotalTime>12477</TotalTime>
  <Words>1655</Words>
  <Application>Microsoft Macintosh PowerPoint</Application>
  <PresentationFormat>全屏显示(4:3)</PresentationFormat>
  <Paragraphs>214</Paragraphs>
  <Slides>42</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42</vt:i4>
      </vt:variant>
    </vt:vector>
  </HeadingPairs>
  <TitlesOfParts>
    <vt:vector size="47" baseType="lpstr">
      <vt:lpstr>Arial</vt:lpstr>
      <vt:lpstr>Calibri</vt:lpstr>
      <vt:lpstr>Franklin Gothic Book</vt:lpstr>
      <vt:lpstr>Wingdings 2</vt:lpstr>
      <vt:lpstr>技术</vt:lpstr>
      <vt:lpstr>老猿养成之道</vt:lpstr>
      <vt:lpstr>目录</vt:lpstr>
      <vt:lpstr>引子</vt:lpstr>
      <vt:lpstr>引子</vt:lpstr>
      <vt:lpstr>什么是老猿？</vt:lpstr>
      <vt:lpstr>10年前的我</vt:lpstr>
      <vt:lpstr>现在的我</vt:lpstr>
      <vt:lpstr>将来的我</vt:lpstr>
      <vt:lpstr>年龄大了必须转管理？</vt:lpstr>
      <vt:lpstr>年龄大了必须转管理？</vt:lpstr>
      <vt:lpstr>年龄大了必须转管理？</vt:lpstr>
      <vt:lpstr>年龄大了必须转管理？</vt:lpstr>
      <vt:lpstr>如何保持竞争力-老猿能力模型</vt:lpstr>
      <vt:lpstr>老猿的能力模型</vt:lpstr>
      <vt:lpstr>哪一层最重要？</vt:lpstr>
      <vt:lpstr>例子：如何算掌握AOP？</vt:lpstr>
      <vt:lpstr>例子：如何学习RPC？</vt:lpstr>
      <vt:lpstr>底层</vt:lpstr>
      <vt:lpstr>推荐书籍</vt:lpstr>
      <vt:lpstr>中层</vt:lpstr>
      <vt:lpstr>中层</vt:lpstr>
      <vt:lpstr>上层</vt:lpstr>
      <vt:lpstr>上层</vt:lpstr>
      <vt:lpstr>上层</vt:lpstr>
      <vt:lpstr>上层</vt:lpstr>
      <vt:lpstr>抽象 提炼 总结 示例</vt:lpstr>
      <vt:lpstr>抽象 提炼 总结 示例</vt:lpstr>
      <vt:lpstr>上层</vt:lpstr>
      <vt:lpstr>推荐书籍</vt:lpstr>
      <vt:lpstr>为什么大部分人关注中层？</vt:lpstr>
      <vt:lpstr>老猿的术与道</vt:lpstr>
      <vt:lpstr>老猿的术与道</vt:lpstr>
      <vt:lpstr>老猿的术与道</vt:lpstr>
      <vt:lpstr>老猿的术与道</vt:lpstr>
      <vt:lpstr>解惑</vt:lpstr>
      <vt:lpstr>解惑</vt:lpstr>
      <vt:lpstr>解惑</vt:lpstr>
      <vt:lpstr>解惑</vt:lpstr>
      <vt:lpstr>总结</vt:lpstr>
      <vt:lpstr>共勉</vt:lpstr>
      <vt:lpstr>PowerPoint 演示文稿</vt:lpstr>
      <vt:lpstr>PowerPoint 演示文稿</vt:lpstr>
    </vt:vector>
  </TitlesOfParts>
  <Company>kry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老猿养成之道</dc:title>
  <dc:creator>wen feng</dc:creator>
  <cp:lastModifiedBy>Microsoft Office User</cp:lastModifiedBy>
  <cp:revision>163</cp:revision>
  <dcterms:created xsi:type="dcterms:W3CDTF">2017-10-12T05:58:33Z</dcterms:created>
  <dcterms:modified xsi:type="dcterms:W3CDTF">2021-04-08T11:09:11Z</dcterms:modified>
</cp:coreProperties>
</file>