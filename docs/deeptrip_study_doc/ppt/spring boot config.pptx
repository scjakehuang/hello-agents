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4" r:id="rId1"/>
  </p:sldMasterIdLst>
  <p:notesMasterIdLst>
    <p:notesMasterId r:id="rId52"/>
  </p:notesMasterIdLst>
  <p:handoutMasterIdLst>
    <p:handoutMasterId r:id="rId53"/>
  </p:handoutMasterIdLst>
  <p:sldIdLst>
    <p:sldId id="688" r:id="rId2"/>
    <p:sldId id="779" r:id="rId3"/>
    <p:sldId id="691" r:id="rId4"/>
    <p:sldId id="771" r:id="rId5"/>
    <p:sldId id="772" r:id="rId6"/>
    <p:sldId id="683" r:id="rId7"/>
    <p:sldId id="773" r:id="rId8"/>
    <p:sldId id="747" r:id="rId9"/>
    <p:sldId id="746" r:id="rId10"/>
    <p:sldId id="720" r:id="rId11"/>
    <p:sldId id="768" r:id="rId12"/>
    <p:sldId id="767" r:id="rId13"/>
    <p:sldId id="748" r:id="rId14"/>
    <p:sldId id="751" r:id="rId15"/>
    <p:sldId id="687" r:id="rId16"/>
    <p:sldId id="774" r:id="rId17"/>
    <p:sldId id="769" r:id="rId18"/>
    <p:sldId id="728" r:id="rId19"/>
    <p:sldId id="749" r:id="rId20"/>
    <p:sldId id="750" r:id="rId21"/>
    <p:sldId id="752" r:id="rId22"/>
    <p:sldId id="753" r:id="rId23"/>
    <p:sldId id="757" r:id="rId24"/>
    <p:sldId id="755" r:id="rId25"/>
    <p:sldId id="754" r:id="rId26"/>
    <p:sldId id="756" r:id="rId27"/>
    <p:sldId id="686" r:id="rId28"/>
    <p:sldId id="775" r:id="rId29"/>
    <p:sldId id="758" r:id="rId30"/>
    <p:sldId id="759" r:id="rId31"/>
    <p:sldId id="760" r:id="rId32"/>
    <p:sldId id="764" r:id="rId33"/>
    <p:sldId id="692" r:id="rId34"/>
    <p:sldId id="776" r:id="rId35"/>
    <p:sldId id="762" r:id="rId36"/>
    <p:sldId id="763" r:id="rId37"/>
    <p:sldId id="765" r:id="rId38"/>
    <p:sldId id="685" r:id="rId39"/>
    <p:sldId id="782" r:id="rId40"/>
    <p:sldId id="780" r:id="rId41"/>
    <p:sldId id="770" r:id="rId42"/>
    <p:sldId id="744" r:id="rId43"/>
    <p:sldId id="745" r:id="rId44"/>
    <p:sldId id="766" r:id="rId45"/>
    <p:sldId id="777" r:id="rId46"/>
    <p:sldId id="741" r:id="rId47"/>
    <p:sldId id="716" r:id="rId48"/>
    <p:sldId id="781" r:id="rId49"/>
    <p:sldId id="783" r:id="rId50"/>
    <p:sldId id="689" r:id="rId5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9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A194"/>
    <a:srgbClr val="C0FAC1"/>
    <a:srgbClr val="FDFCF1"/>
    <a:srgbClr val="D6CD1A"/>
    <a:srgbClr val="0090FF"/>
    <a:srgbClr val="0083FF"/>
    <a:srgbClr val="00D8A4"/>
    <a:srgbClr val="B9B9B9"/>
    <a:srgbClr val="68E5C5"/>
    <a:srgbClr val="25D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2" autoAdjust="0"/>
    <p:restoredTop sz="91648"/>
  </p:normalViewPr>
  <p:slideViewPr>
    <p:cSldViewPr snapToGrid="0" snapToObjects="1">
      <p:cViewPr varScale="1">
        <p:scale>
          <a:sx n="146" d="100"/>
          <a:sy n="146" d="100"/>
        </p:scale>
        <p:origin x="296" y="176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85" d="100"/>
          <a:sy n="85" d="100"/>
        </p:scale>
        <p:origin x="394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handoutMaster" Target="handoutMasters/handoutMaster1.xml"/><Relationship Id="rId54" Type="http://schemas.openxmlformats.org/officeDocument/2006/relationships/commentAuthors" Target="commentAuthors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4FF7765A-AB56-4A84-B550-6CFD24860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BC2F0996-352B-43EF-85B7-1D6D61813E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84E98-B206-47F2-A669-429A1AA6B544}" type="datetimeFigureOut">
              <a:rPr lang="zh-CN" altLang="en-US" smtClean="0"/>
              <a:t>2019/12/25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22B9D799-645E-4D5B-86D3-5A64D28506C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4A5B90D3-D2EA-4103-BB92-FF57A2977D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DB6C53-92DA-4402-9D54-A026DB1E1C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0356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otham Regular" panose="02000604040000020004" pitchFamily="2" charset="0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otham Regular" panose="02000604040000020004" pitchFamily="2" charset="0"/>
              </a:defRPr>
            </a:lvl1pPr>
          </a:lstStyle>
          <a:p>
            <a:fld id="{788E6EDF-B6A1-2D42-BA65-C2DB831FFE11}" type="datetimeFigureOut">
              <a:rPr kumimoji="1" lang="zh-CN" altLang="en-US" smtClean="0"/>
              <a:pPr/>
              <a:t>2019/12/25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编辑母版文本样式</a:t>
            </a:r>
          </a:p>
          <a:p>
            <a:pPr lvl="1"/>
            <a:r>
              <a:rPr kumimoji="1" lang="zh-CN" altLang="en-US" dirty="0"/>
              <a:t>第二级</a:t>
            </a:r>
          </a:p>
          <a:p>
            <a:pPr lvl="2"/>
            <a:r>
              <a:rPr kumimoji="1" lang="zh-CN" altLang="en-US" dirty="0"/>
              <a:t>第三级</a:t>
            </a:r>
          </a:p>
          <a:p>
            <a:pPr lvl="3"/>
            <a:r>
              <a:rPr kumimoji="1" lang="zh-CN" altLang="en-US" dirty="0"/>
              <a:t>第四级</a:t>
            </a:r>
          </a:p>
          <a:p>
            <a:pPr lvl="4"/>
            <a:r>
              <a:rPr kumimoji="1"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otham Regular" panose="02000604040000020004" pitchFamily="2" charset="0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otham Regular" panose="02000604040000020004" pitchFamily="2" charset="0"/>
              </a:defRPr>
            </a:lvl1pPr>
          </a:lstStyle>
          <a:p>
            <a:fld id="{733B0160-DDCB-1B45-ABF9-35A57D999B4E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4558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Gotham Regular" panose="02000604040000020004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7899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1735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53259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3190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2214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3078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3504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9937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555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12329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5921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86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0440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6543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15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362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0137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609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0416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19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9873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1293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08314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731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33437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78388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2053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18150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EDE131-863B-4AAA-9B81-5CEEC0BE445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37651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6634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29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2516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5460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1441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56926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33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30955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749211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25002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07142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90139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pPr/>
              <a:t>38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553640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39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35064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942943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41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38670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42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11266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1069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44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2427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45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70572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5935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47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035006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48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084733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49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638082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3B0160-DDCB-1B45-ABF9-35A57D999B4E}" type="slidenum">
              <a:rPr kumimoji="1" lang="zh-CN" altLang="en-US" smtClean="0"/>
              <a:t>50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9785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="" xmlns:a16="http://schemas.microsoft.com/office/drawing/2014/main" id="{9CF86981-2A11-7444-83D3-88C300857D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0" r="422"/>
          <a:stretch/>
        </p:blipFill>
        <p:spPr>
          <a:xfrm>
            <a:off x="1" y="-140949"/>
            <a:ext cx="12192000" cy="690056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28789" y="347171"/>
            <a:ext cx="1308597" cy="36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3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460DC621-0A8C-EB4C-A7A2-C7AFF86080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225961" cy="6858000"/>
          </a:xfrm>
          <a:prstGeom prst="rect">
            <a:avLst/>
          </a:prstGeom>
        </p:spPr>
      </p:pic>
      <p:sp>
        <p:nvSpPr>
          <p:cNvPr id="3" name="矩形 33">
            <a:extLst>
              <a:ext uri="{FF2B5EF4-FFF2-40B4-BE49-F238E27FC236}">
                <a16:creationId xmlns="" xmlns:a16="http://schemas.microsoft.com/office/drawing/2014/main" id="{AB5271E6-ECC7-7B46-9B5C-2EB11D11C5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" y="412955"/>
            <a:ext cx="4736974" cy="6154993"/>
          </a:xfrm>
          <a:prstGeom prst="rect">
            <a:avLst/>
          </a:prstGeom>
          <a:solidFill>
            <a:srgbClr val="0C0C0C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42719B"/>
                </a:solidFill>
                <a:bevel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A9E530B7-A882-ED40-B6E3-698E35E494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70669" y="116822"/>
            <a:ext cx="1264814" cy="352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2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98987741-AAEC-4F49-9F78-40764692D7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300" y="-23151"/>
            <a:ext cx="12292314" cy="689521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1E262DC4-D8E4-D848-B4D8-5F1DBF363C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217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ACFA75A9-0AAB-8049-8169-473DBB25B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299" y="-23151"/>
            <a:ext cx="12292312" cy="6895219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7B5B4D97-E673-884F-8201-FB155392BDA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2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8E05A439-0EEF-3F41-A5DD-44FD082FA5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299" y="-23151"/>
            <a:ext cx="12292312" cy="68952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E12234C8-8E13-2245-8CDD-DA61455268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51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次标题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CF4793A5-621D-9E4F-A486-EAA421E7E9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24"/>
            <a:ext cx="12221818" cy="68556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8871" y="443423"/>
            <a:ext cx="1693762" cy="4725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4AA72815-5AF3-6749-9E6A-520719356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2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次标题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CF4793A5-621D-9E4F-A486-EAA421E7E9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24"/>
            <a:ext cx="12221817" cy="68556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8871" y="443423"/>
            <a:ext cx="1693762" cy="4725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4AA72815-5AF3-6749-9E6A-520719356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80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次标题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CF4793A5-621D-9E4F-A486-EAA421E7E9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2324"/>
            <a:ext cx="12221817" cy="685567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08F69936-2745-CD42-B79B-78BE237C07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08871" y="443423"/>
            <a:ext cx="1693762" cy="47256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4AA72815-5AF3-6749-9E6A-520719356AB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655166" y="149577"/>
            <a:ext cx="1361836" cy="37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73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96BD9F86-D4B8-5745-AD5D-90350B846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301" y="-36776"/>
            <a:ext cx="12280739" cy="68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92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/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B12D4F86-7134-7640-B066-CAD74C1436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70916" y="149577"/>
            <a:ext cx="1646086" cy="44854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8E05A439-0EEF-3F41-A5DD-44FD082FA5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6299" y="-23151"/>
            <a:ext cx="12292312" cy="689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1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底/内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96BD9F86-D4B8-5745-AD5D-90350B846C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6301" y="-36776"/>
            <a:ext cx="12280739" cy="688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57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CEF3447B-34C5-4CB4-BBEB-4D2278F0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CECB8974-7B02-471E-8662-E8E32853A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75AF834D-9C35-436B-8B56-7A65064750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13A7ADCE-3D28-4597-B278-E5DE50344F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C205C4FB-4880-4F32-AF84-B354D3A2B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1D420-BC84-304C-86CB-3D8BCC6234FF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1442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717" r:id="rId3"/>
    <p:sldLayoutId id="2147483721" r:id="rId4"/>
    <p:sldLayoutId id="2147483723" r:id="rId5"/>
    <p:sldLayoutId id="2147483724" r:id="rId6"/>
    <p:sldLayoutId id="2147483725" r:id="rId7"/>
    <p:sldLayoutId id="2147483726" r:id="rId8"/>
    <p:sldLayoutId id="2147483722" r:id="rId9"/>
    <p:sldLayoutId id="2147483727" r:id="rId10"/>
    <p:sldLayoutId id="214748372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4FEAECAD-BA44-40CB-ADCC-CD8EC3D7A8E0}"/>
              </a:ext>
            </a:extLst>
          </p:cNvPr>
          <p:cNvSpPr txBox="1"/>
          <p:nvPr/>
        </p:nvSpPr>
        <p:spPr>
          <a:xfrm>
            <a:off x="360283" y="2439340"/>
            <a:ext cx="113611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spc="800" dirty="0" smtClean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lang="zh-CN" altLang="en-US" sz="6600" b="1" spc="800" dirty="0" smtClean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6600" b="1" spc="800" dirty="0" smtClean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</a:t>
            </a:r>
            <a:r>
              <a:rPr lang="zh-CN" altLang="en-US" sz="6600" b="1" spc="800" dirty="0" smtClean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6600" b="1" spc="800" dirty="0" err="1" smtClean="0">
                <a:solidFill>
                  <a:srgbClr val="FDFCF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endParaRPr lang="zh-CN" altLang="en-US" sz="6600" b="1" spc="800" dirty="0">
              <a:solidFill>
                <a:srgbClr val="FDFCF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58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457200" y="68696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dirty="0" smtClean="0">
                <a:solidFill>
                  <a:schemeClr val="bg1"/>
                </a:solidFill>
              </a:rPr>
              <a:t>我是谁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416676" y="1867436"/>
            <a:ext cx="92458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zh-CN" altLang="en-US" sz="3200" dirty="0" smtClean="0">
                <a:solidFill>
                  <a:srgbClr val="FFFFFF"/>
                </a:solidFill>
                <a:latin typeface="位铪" charset="0"/>
              </a:rPr>
              <a:t>黄家楷</a:t>
            </a:r>
            <a:endParaRPr lang="en-US" altLang="zh-CN" sz="3200" dirty="0" smtClean="0">
              <a:solidFill>
                <a:srgbClr val="FFFFFF"/>
              </a:solidFill>
              <a:latin typeface="位铪" charset="0"/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sz="3200" dirty="0" smtClean="0">
              <a:solidFill>
                <a:srgbClr val="FFFFFF"/>
              </a:solidFill>
              <a:latin typeface="位铪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altLang="zh-CN" sz="3200" dirty="0" smtClean="0">
                <a:solidFill>
                  <a:srgbClr val="FFFFFF"/>
                </a:solidFill>
                <a:latin typeface="位铪" charset="0"/>
              </a:rPr>
              <a:t>88</a:t>
            </a:r>
            <a:r>
              <a:rPr lang="zh-CN" altLang="en-US" sz="3200" dirty="0" smtClean="0">
                <a:solidFill>
                  <a:srgbClr val="FFFFFF"/>
                </a:solidFill>
                <a:latin typeface="位铪" charset="0"/>
              </a:rPr>
              <a:t>年</a:t>
            </a:r>
            <a:endParaRPr lang="en-US" altLang="zh-CN" sz="3200" dirty="0" smtClean="0">
              <a:solidFill>
                <a:srgbClr val="FFFFFF"/>
              </a:solidFill>
              <a:latin typeface="位铪" charset="0"/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sz="3200" dirty="0" smtClean="0">
              <a:solidFill>
                <a:srgbClr val="FFFFFF"/>
              </a:solidFill>
              <a:latin typeface="位铪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zh-CN" altLang="en-US" sz="3200" dirty="0" smtClean="0">
                <a:solidFill>
                  <a:srgbClr val="FFFFFF"/>
                </a:solidFill>
                <a:latin typeface="位铪" charset="0"/>
              </a:rPr>
              <a:t>干过流水线、</a:t>
            </a:r>
            <a:r>
              <a:rPr lang="en-US" altLang="zh-CN" sz="3200" dirty="0" smtClean="0">
                <a:solidFill>
                  <a:srgbClr val="FFFFFF"/>
                </a:solidFill>
                <a:latin typeface="位铪" charset="0"/>
              </a:rPr>
              <a:t>CRM</a:t>
            </a:r>
            <a:r>
              <a:rPr lang="zh-CN" altLang="en-US" sz="3200" dirty="0" smtClean="0">
                <a:solidFill>
                  <a:srgbClr val="FFFFFF"/>
                </a:solidFill>
                <a:latin typeface="位铪" charset="0"/>
              </a:rPr>
              <a:t>、电商</a:t>
            </a:r>
            <a:endParaRPr lang="en-US" altLang="zh-CN" sz="3200" dirty="0" smtClean="0">
              <a:solidFill>
                <a:srgbClr val="FFFFFF"/>
              </a:solidFill>
              <a:latin typeface="位铪" charset="0"/>
            </a:endParaRPr>
          </a:p>
          <a:p>
            <a:pPr marL="285750" indent="-285750">
              <a:buFont typeface="Arial" charset="0"/>
              <a:buChar char="•"/>
            </a:pPr>
            <a:endParaRPr lang="en-US" altLang="zh-CN" sz="3200" dirty="0" smtClean="0">
              <a:solidFill>
                <a:srgbClr val="FFFFFF"/>
              </a:solidFill>
              <a:latin typeface="位铪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en-US" altLang="zh-CN" sz="3200" dirty="0" smtClean="0">
                <a:solidFill>
                  <a:srgbClr val="FFFFFF"/>
                </a:solidFill>
                <a:latin typeface="位铪" charset="0"/>
              </a:rPr>
              <a:t>2017.10</a:t>
            </a:r>
            <a:r>
              <a:rPr lang="zh-CN" altLang="en-US" sz="3200" dirty="0" smtClean="0">
                <a:solidFill>
                  <a:srgbClr val="FFFFFF"/>
                </a:solidFill>
                <a:latin typeface="位铪" charset="0"/>
              </a:rPr>
              <a:t>加入客如云，订单交易中心的一名小猿</a:t>
            </a:r>
            <a:endParaRPr lang="en-US" altLang="zh-CN" sz="3200" dirty="0" smtClean="0">
              <a:solidFill>
                <a:srgbClr val="FFFFFF"/>
              </a:solidFill>
              <a:latin typeface="位铪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0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088B67B-167A-434E-969B-A7104E738AD5}"/>
              </a:ext>
            </a:extLst>
          </p:cNvPr>
          <p:cNvSpPr/>
          <p:nvPr/>
        </p:nvSpPr>
        <p:spPr>
          <a:xfrm>
            <a:off x="371723" y="3317777"/>
            <a:ext cx="19506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348930" y="2394447"/>
            <a:ext cx="19962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</a:t>
            </a:r>
            <a:r>
              <a:rPr lang="en-US" altLang="zh-CN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54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3293182" y="992333"/>
            <a:ext cx="785353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4400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zk</a:t>
            </a:r>
            <a:r>
              <a:rPr lang="en-US" altLang="zh-CN" sz="4400" spc="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4400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endParaRPr lang="en-US" altLang="zh-CN" sz="4400" spc="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en-US" altLang="zh-CN" sz="4400" spc="2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configWacher</a:t>
            </a:r>
            <a:endParaRPr lang="en-US" altLang="zh-CN" sz="4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decrypt</a:t>
            </a:r>
          </a:p>
          <a:p>
            <a:pPr>
              <a:lnSpc>
                <a:spcPct val="150000"/>
              </a:lnSpc>
            </a:pPr>
            <a:r>
              <a:rPr lang="zh-CN" altLang="en-US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.local-</a:t>
            </a:r>
            <a:r>
              <a:rPr lang="en-US" altLang="zh-CN" sz="4400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</a:t>
            </a:r>
            <a:endParaRPr lang="en-US" altLang="zh-CN" sz="4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4400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.Spring</a:t>
            </a:r>
            <a:r>
              <a:rPr lang="zh-CN" altLang="en-US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</a:t>
            </a:r>
            <a:r>
              <a:rPr lang="zh-CN" altLang="en-US" sz="4400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初始化</a:t>
            </a:r>
            <a:endParaRPr lang="zh-CN" altLang="en-US" sz="4400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29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4800" y="1144421"/>
            <a:ext cx="11041487" cy="5269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457200" y="68696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s</a:t>
            </a:r>
            <a:r>
              <a:rPr lang="en-US" altLang="zh-CN" sz="5400" dirty="0" smtClean="0">
                <a:solidFill>
                  <a:schemeClr val="bg1"/>
                </a:solidFill>
              </a:rPr>
              <a:t>pring</a:t>
            </a:r>
            <a:r>
              <a:rPr lang="zh-CN" altLang="en-US" sz="5400" dirty="0" smtClean="0">
                <a:solidFill>
                  <a:schemeClr val="bg1"/>
                </a:solidFill>
              </a:rPr>
              <a:t> </a:t>
            </a:r>
            <a:r>
              <a:rPr lang="en-US" altLang="zh-CN" sz="5400" dirty="0" smtClean="0">
                <a:solidFill>
                  <a:schemeClr val="bg1"/>
                </a:solidFill>
              </a:rPr>
              <a:t>boot</a:t>
            </a:r>
            <a:r>
              <a:rPr lang="zh-CN" altLang="en-US" sz="5400" dirty="0" smtClean="0">
                <a:solidFill>
                  <a:schemeClr val="bg1"/>
                </a:solidFill>
              </a:rPr>
              <a:t> </a:t>
            </a:r>
            <a:r>
              <a:rPr lang="en-US" altLang="zh-CN" sz="5400" dirty="0" err="1" smtClean="0">
                <a:solidFill>
                  <a:schemeClr val="bg1"/>
                </a:solidFill>
              </a:rPr>
              <a:t>config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234800" y="1516779"/>
            <a:ext cx="2871989" cy="81136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>
                <a:solidFill>
                  <a:schemeClr val="tx1"/>
                </a:solidFill>
              </a:rPr>
              <a:t>配置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903713" y="2978727"/>
            <a:ext cx="4838163" cy="3374265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85175" y="2978728"/>
            <a:ext cx="4838163" cy="3374265"/>
          </a:xfrm>
          <a:prstGeom prst="roundRect">
            <a:avLst/>
          </a:prstGeom>
          <a:solidFill>
            <a:schemeClr val="accent4"/>
          </a:solidFill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089235" y="5241986"/>
            <a:ext cx="1653717" cy="8153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>
                <a:solidFill>
                  <a:schemeClr val="tx1"/>
                </a:solidFill>
              </a:rPr>
              <a:t>zk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894690" y="5234187"/>
            <a:ext cx="1746015" cy="8113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>
                <a:solidFill>
                  <a:schemeClr val="tx1"/>
                </a:solidFill>
              </a:rPr>
              <a:t>git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980307" y="5229251"/>
            <a:ext cx="1653717" cy="8153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b</a:t>
            </a:r>
            <a:r>
              <a:rPr kumimoji="1" lang="en-US" altLang="zh-CN" dirty="0" smtClean="0">
                <a:solidFill>
                  <a:schemeClr val="tx1"/>
                </a:solidFill>
              </a:rPr>
              <a:t>ootstrap-{xxx}.properties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534771" y="5211008"/>
            <a:ext cx="1653717" cy="81531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b</a:t>
            </a:r>
            <a:r>
              <a:rPr kumimoji="1" lang="en-US" altLang="zh-CN" dirty="0" err="1" smtClean="0">
                <a:solidFill>
                  <a:schemeClr val="tx1"/>
                </a:solidFill>
              </a:rPr>
              <a:t>ootstrap.properties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17013" y="3389580"/>
            <a:ext cx="2871989" cy="8113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>
                <a:solidFill>
                  <a:schemeClr val="tx1"/>
                </a:solidFill>
              </a:rPr>
              <a:t>本地配置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kumimoji="1" lang="zh-CN" altLang="en-US" dirty="0" smtClean="0">
                <a:solidFill>
                  <a:schemeClr val="tx1"/>
                </a:solidFill>
              </a:rPr>
              <a:t>（</a:t>
            </a:r>
            <a:r>
              <a:rPr lang="en-US" altLang="zh-CN" dirty="0" err="1">
                <a:solidFill>
                  <a:schemeClr val="tx1"/>
                </a:solidFill>
              </a:rPr>
              <a:t>ConfigFileApplicationListener</a:t>
            </a:r>
            <a:r>
              <a:rPr kumimoji="1" lang="zh-CN" altLang="en-US" dirty="0" smtClean="0">
                <a:solidFill>
                  <a:schemeClr val="tx1"/>
                </a:solidFill>
              </a:rPr>
              <a:t>）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62091" y="3389579"/>
            <a:ext cx="2871989" cy="8113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>
                <a:solidFill>
                  <a:schemeClr val="tx1"/>
                </a:solidFill>
              </a:rPr>
              <a:t>外部配置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pPr algn="ctr"/>
            <a:r>
              <a:rPr kumimoji="1" lang="en-US" altLang="zh-CN" dirty="0" smtClean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PropertySourceBootstrapConfiguration</a:t>
            </a:r>
            <a:r>
              <a:rPr kumimoji="1" lang="en-US" altLang="zh-CN" dirty="0" smtClean="0">
                <a:solidFill>
                  <a:schemeClr val="tx1"/>
                </a:solidFill>
              </a:rPr>
              <a:t>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6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/>
          <p:cNvSpPr/>
          <p:nvPr/>
        </p:nvSpPr>
        <p:spPr>
          <a:xfrm>
            <a:off x="914400" y="1287887"/>
            <a:ext cx="9798907" cy="5409127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可选流程 23"/>
          <p:cNvSpPr/>
          <p:nvPr/>
        </p:nvSpPr>
        <p:spPr>
          <a:xfrm>
            <a:off x="6473299" y="3933568"/>
            <a:ext cx="2279561" cy="2647536"/>
          </a:xfrm>
          <a:prstGeom prst="flowChartAlternateProcess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>
                <a:solidFill>
                  <a:schemeClr val="bg1"/>
                </a:solidFill>
              </a:rPr>
              <a:t>服务</a:t>
            </a:r>
            <a:r>
              <a:rPr kumimoji="1" lang="en-US" altLang="zh-CN" dirty="0" smtClean="0">
                <a:solidFill>
                  <a:schemeClr val="bg1"/>
                </a:solidFill>
              </a:rPr>
              <a:t>B</a:t>
            </a:r>
          </a:p>
          <a:p>
            <a:pPr algn="ctr"/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endParaRPr kumimoji="1" lang="en-US" altLang="zh-CN" dirty="0" smtClean="0">
              <a:solidFill>
                <a:schemeClr val="tx1"/>
              </a:solidFill>
            </a:endParaRPr>
          </a:p>
          <a:p>
            <a:pPr algn="ctr"/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endParaRPr kumimoji="1" lang="en-US" altLang="zh-CN" dirty="0" smtClean="0">
              <a:solidFill>
                <a:schemeClr val="tx1"/>
              </a:solidFill>
            </a:endParaRPr>
          </a:p>
          <a:p>
            <a:pPr algn="ctr"/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endParaRPr kumimoji="1" lang="en-US" altLang="zh-CN" dirty="0" smtClean="0">
              <a:solidFill>
                <a:schemeClr val="tx1"/>
              </a:solidFill>
            </a:endParaRPr>
          </a:p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可选流程 6"/>
          <p:cNvSpPr/>
          <p:nvPr/>
        </p:nvSpPr>
        <p:spPr>
          <a:xfrm>
            <a:off x="2356833" y="3933568"/>
            <a:ext cx="2279561" cy="2647536"/>
          </a:xfrm>
          <a:prstGeom prst="flowChartAlternateProcess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服务</a:t>
            </a:r>
            <a:r>
              <a:rPr kumimoji="1" lang="en-US" altLang="zh-CN" dirty="0" smtClean="0"/>
              <a:t>A</a:t>
            </a: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 smtClean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 smtClean="0"/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 smtClean="0"/>
          </a:p>
          <a:p>
            <a:pPr algn="ctr"/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>
                <a:solidFill>
                  <a:schemeClr val="bg1"/>
                </a:solidFill>
              </a:rPr>
              <a:t>s</a:t>
            </a:r>
            <a:r>
              <a:rPr lang="en-US" altLang="zh-CN" sz="5400" dirty="0" smtClean="0">
                <a:solidFill>
                  <a:schemeClr val="bg1"/>
                </a:solidFill>
              </a:rPr>
              <a:t>pring</a:t>
            </a:r>
            <a:r>
              <a:rPr lang="zh-CN" altLang="en-US" sz="5400" dirty="0" smtClean="0">
                <a:solidFill>
                  <a:schemeClr val="bg1"/>
                </a:solidFill>
              </a:rPr>
              <a:t> </a:t>
            </a:r>
            <a:r>
              <a:rPr lang="en-US" altLang="zh-CN" sz="5400" dirty="0" smtClean="0">
                <a:solidFill>
                  <a:schemeClr val="bg1"/>
                </a:solidFill>
              </a:rPr>
              <a:t>boot</a:t>
            </a:r>
            <a:r>
              <a:rPr lang="zh-CN" altLang="en-US" sz="5400" dirty="0" smtClean="0">
                <a:solidFill>
                  <a:schemeClr val="bg1"/>
                </a:solidFill>
              </a:rPr>
              <a:t> 外部配置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云形 1"/>
          <p:cNvSpPr/>
          <p:nvPr/>
        </p:nvSpPr>
        <p:spPr>
          <a:xfrm>
            <a:off x="4419336" y="1608322"/>
            <a:ext cx="2382592" cy="1326524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>
                <a:solidFill>
                  <a:schemeClr val="tx1"/>
                </a:solidFill>
              </a:rPr>
              <a:t>配置中心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终止符 3"/>
          <p:cNvSpPr/>
          <p:nvPr/>
        </p:nvSpPr>
        <p:spPr>
          <a:xfrm>
            <a:off x="2514251" y="4657651"/>
            <a:ext cx="1959471" cy="669701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服务</a:t>
            </a:r>
            <a:r>
              <a:rPr kumimoji="1" lang="en-US" altLang="zh-CN" dirty="0" smtClean="0"/>
              <a:t>A1</a:t>
            </a:r>
            <a:endParaRPr kumimoji="1" lang="zh-CN" altLang="en-US" dirty="0"/>
          </a:p>
        </p:txBody>
      </p:sp>
      <p:sp>
        <p:nvSpPr>
          <p:cNvPr id="19" name="终止符 18"/>
          <p:cNvSpPr/>
          <p:nvPr/>
        </p:nvSpPr>
        <p:spPr>
          <a:xfrm>
            <a:off x="2514251" y="5716584"/>
            <a:ext cx="1959471" cy="669701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服务</a:t>
            </a:r>
            <a:r>
              <a:rPr kumimoji="1" lang="en-US" altLang="zh-CN" dirty="0" smtClean="0"/>
              <a:t>A2</a:t>
            </a:r>
            <a:endParaRPr kumimoji="1" lang="zh-CN" altLang="en-US" dirty="0"/>
          </a:p>
        </p:txBody>
      </p:sp>
      <p:sp>
        <p:nvSpPr>
          <p:cNvPr id="22" name="终止符 21"/>
          <p:cNvSpPr/>
          <p:nvPr/>
        </p:nvSpPr>
        <p:spPr>
          <a:xfrm>
            <a:off x="6633343" y="4871358"/>
            <a:ext cx="1959471" cy="669701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服务</a:t>
            </a:r>
            <a:r>
              <a:rPr kumimoji="1" lang="en-US" altLang="zh-CN" dirty="0" smtClean="0"/>
              <a:t>B1</a:t>
            </a:r>
            <a:endParaRPr kumimoji="1" lang="zh-CN" altLang="en-US" dirty="0"/>
          </a:p>
        </p:txBody>
      </p:sp>
      <p:sp>
        <p:nvSpPr>
          <p:cNvPr id="23" name="终止符 22"/>
          <p:cNvSpPr/>
          <p:nvPr/>
        </p:nvSpPr>
        <p:spPr>
          <a:xfrm>
            <a:off x="6633343" y="5716583"/>
            <a:ext cx="1959471" cy="669701"/>
          </a:xfrm>
          <a:prstGeom prst="flowChartTerminator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/>
              <a:t>服务</a:t>
            </a:r>
            <a:r>
              <a:rPr kumimoji="1" lang="en-US" altLang="zh-CN" dirty="0" smtClean="0"/>
              <a:t>B2</a:t>
            </a:r>
            <a:endParaRPr kumimoji="1" lang="zh-CN" altLang="en-US" dirty="0"/>
          </a:p>
        </p:txBody>
      </p:sp>
      <p:cxnSp>
        <p:nvCxnSpPr>
          <p:cNvPr id="26" name="直线箭头连接符 25"/>
          <p:cNvCxnSpPr>
            <a:stCxn id="24" idx="0"/>
          </p:cNvCxnSpPr>
          <p:nvPr/>
        </p:nvCxnSpPr>
        <p:spPr>
          <a:xfrm flipH="1" flipV="1">
            <a:off x="6021817" y="2843810"/>
            <a:ext cx="1591263" cy="1089758"/>
          </a:xfrm>
          <a:prstGeom prst="straightConnector1">
            <a:avLst/>
          </a:prstGeom>
          <a:ln w="635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>
            <a:stCxn id="7" idx="0"/>
          </p:cNvCxnSpPr>
          <p:nvPr/>
        </p:nvCxnSpPr>
        <p:spPr>
          <a:xfrm flipV="1">
            <a:off x="3496614" y="2808350"/>
            <a:ext cx="1591262" cy="1125218"/>
          </a:xfrm>
          <a:prstGeom prst="straightConnector1">
            <a:avLst/>
          </a:prstGeom>
          <a:ln w="635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91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5E131C8-DA2B-A34B-A26D-DFB087B9B053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en-US" altLang="zh-CN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5400" b="1" spc="200" dirty="0" err="1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zk-config</a:t>
            </a:r>
            <a:endParaRPr lang="en-US" altLang="zh-CN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2166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 err="1" smtClean="0">
                <a:solidFill>
                  <a:schemeClr val="bg1"/>
                </a:solidFill>
              </a:rPr>
              <a:t>z</a:t>
            </a:r>
            <a:r>
              <a:rPr lang="en-US" altLang="zh-CN" sz="4400" b="1" dirty="0" err="1" smtClean="0">
                <a:solidFill>
                  <a:schemeClr val="bg1"/>
                </a:solidFill>
              </a:rPr>
              <a:t>k-config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流程图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7128" y="861743"/>
            <a:ext cx="9852338" cy="5757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58329" y="1091415"/>
            <a:ext cx="2421229" cy="688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SpringApplication.run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48872" y="2261888"/>
            <a:ext cx="8403466" cy="27947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 smtClean="0">
                <a:solidFill>
                  <a:schemeClr val="bg1"/>
                </a:solidFill>
              </a:rPr>
              <a:t>BootstrapConfiguration</a:t>
            </a:r>
            <a:r>
              <a:rPr lang="zh-CN" altLang="en-US" dirty="0" smtClean="0">
                <a:solidFill>
                  <a:schemeClr val="bg1"/>
                </a:solidFill>
              </a:rPr>
              <a:t>配置</a:t>
            </a:r>
            <a:endParaRPr kumimoji="1" lang="en-US" altLang="zh-CN" dirty="0" smtClean="0">
              <a:solidFill>
                <a:schemeClr val="bg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53049" y="2790425"/>
            <a:ext cx="5782614" cy="11565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PropertySourceBootstrapConfiguration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i</a:t>
            </a:r>
            <a:r>
              <a:rPr lang="en-US" altLang="zh-CN" b="1" dirty="0" smtClean="0">
                <a:solidFill>
                  <a:srgbClr val="FF0000"/>
                </a:solidFill>
              </a:rPr>
              <a:t>nitialize()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65172" y="4347763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PropertySourceLocator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Locate()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48872" y="5318975"/>
            <a:ext cx="8493618" cy="119773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 err="1">
                <a:solidFill>
                  <a:schemeClr val="tx1"/>
                </a:solidFill>
              </a:rPr>
              <a:t>s</a:t>
            </a:r>
            <a:r>
              <a:rPr kumimoji="1" lang="en-US" altLang="zh-CN" dirty="0" err="1" smtClean="0">
                <a:solidFill>
                  <a:schemeClr val="tx1"/>
                </a:solidFill>
              </a:rPr>
              <a:t>pring.factories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28799" y="5934728"/>
            <a:ext cx="3644722" cy="4987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chemeClr val="bg1"/>
                </a:solidFill>
              </a:rPr>
              <a:t>ZookeeperPropertySourceLocator.locate</a:t>
            </a:r>
            <a:r>
              <a:rPr lang="en-US" altLang="zh-CN" b="1" dirty="0" smtClean="0">
                <a:solidFill>
                  <a:schemeClr val="bg1"/>
                </a:solidFill>
              </a:rPr>
              <a:t>()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62481" y="5934727"/>
            <a:ext cx="3294810" cy="4987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LocalPropertySourceLocator.locate</a:t>
            </a:r>
            <a:r>
              <a:rPr lang="en-US" altLang="zh-CN" dirty="0" smtClean="0"/>
              <a:t>()</a:t>
            </a:r>
            <a:endParaRPr kumimoji="1" lang="zh-CN" altLang="en-US" dirty="0"/>
          </a:p>
        </p:txBody>
      </p:sp>
      <p:cxnSp>
        <p:nvCxnSpPr>
          <p:cNvPr id="17" name="直线箭头连接符 16"/>
          <p:cNvCxnSpPr/>
          <p:nvPr/>
        </p:nvCxnSpPr>
        <p:spPr>
          <a:xfrm>
            <a:off x="5368943" y="1779863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>
            <a:off x="5368943" y="3925339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>
            <a:endCxn id="4" idx="0"/>
          </p:cNvCxnSpPr>
          <p:nvPr/>
        </p:nvCxnSpPr>
        <p:spPr>
          <a:xfrm flipH="1">
            <a:off x="3651160" y="5050631"/>
            <a:ext cx="1717783" cy="88409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>
            <a:endCxn id="9" idx="0"/>
          </p:cNvCxnSpPr>
          <p:nvPr/>
        </p:nvCxnSpPr>
        <p:spPr>
          <a:xfrm>
            <a:off x="5473521" y="5050631"/>
            <a:ext cx="2136365" cy="88409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148885" y="4423967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PropertySourceLocator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l</a:t>
            </a:r>
            <a:r>
              <a:rPr lang="en-US" altLang="zh-CN" b="1" dirty="0" smtClean="0">
                <a:solidFill>
                  <a:srgbClr val="FF0000"/>
                </a:solidFill>
              </a:rPr>
              <a:t>ocate()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40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 err="1" smtClean="0"/>
              <a:t>zk-config</a:t>
            </a:r>
            <a:r>
              <a:rPr lang="zh-CN" altLang="en-US" sz="5400" dirty="0" smtClean="0"/>
              <a:t> 使用配置</a:t>
            </a:r>
            <a:endParaRPr lang="en-US" altLang="zh-CN" sz="5400" dirty="0"/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914400" y="1296821"/>
            <a:ext cx="10431887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spring:</a:t>
            </a:r>
            <a:br>
              <a:rPr lang="en-US" altLang="zh-CN" b="1" dirty="0"/>
            </a:br>
            <a:r>
              <a:rPr lang="en-US" altLang="zh-CN" b="1" dirty="0"/>
              <a:t>  application:</a:t>
            </a:r>
            <a:br>
              <a:rPr lang="en-US" altLang="zh-CN" b="1" dirty="0"/>
            </a:br>
            <a:r>
              <a:rPr lang="en-US" altLang="zh-CN" b="1" dirty="0"/>
              <a:t>    name: </a:t>
            </a:r>
            <a:r>
              <a:rPr lang="en-US" altLang="zh-CN" dirty="0" err="1"/>
              <a:t>CalmRouter</a:t>
            </a:r>
            <a:r>
              <a:rPr lang="en-US" altLang="zh-CN" dirty="0"/>
              <a:t>-trade</a:t>
            </a:r>
            <a:br>
              <a:rPr lang="en-US" altLang="zh-CN" dirty="0"/>
            </a:br>
            <a:r>
              <a:rPr lang="en-US" altLang="zh-CN" dirty="0"/>
              <a:t>  </a:t>
            </a:r>
            <a:r>
              <a:rPr lang="en-US" altLang="zh-CN" b="1" dirty="0"/>
              <a:t>profiles:</a:t>
            </a:r>
            <a:br>
              <a:rPr lang="en-US" altLang="zh-CN" b="1" dirty="0"/>
            </a:br>
            <a:r>
              <a:rPr lang="en-US" altLang="zh-CN" b="1" dirty="0"/>
              <a:t>    active: </a:t>
            </a:r>
            <a:r>
              <a:rPr lang="en-US" altLang="zh-CN" dirty="0"/>
              <a:t>${</a:t>
            </a:r>
            <a:r>
              <a:rPr lang="en-US" altLang="zh-CN" b="1" dirty="0" err="1"/>
              <a:t>profile.active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b="1" dirty="0">
                <a:solidFill>
                  <a:srgbClr val="FF0000"/>
                </a:solidFill>
              </a:rPr>
              <a:t>include: </a:t>
            </a:r>
            <a:r>
              <a:rPr lang="en-US" altLang="zh-CN" dirty="0" smtClean="0">
                <a:solidFill>
                  <a:srgbClr val="FF0000"/>
                </a:solidFill>
              </a:rPr>
              <a:t>config,push,datasource,jedis,activemq,threadpool,security,trade_cfg</a:t>
            </a:r>
          </a:p>
          <a:p>
            <a:r>
              <a:rPr lang="zh-CN" altLang="en-US" dirty="0"/>
              <a:t> </a:t>
            </a:r>
            <a:r>
              <a:rPr lang="zh-CN" altLang="en-US" dirty="0" smtClean="0"/>
              <a:t>  </a:t>
            </a:r>
            <a:r>
              <a:rPr lang="en-US" altLang="zh-CN" dirty="0" smtClean="0"/>
              <a:t> </a:t>
            </a:r>
            <a:r>
              <a:rPr lang="en-US" altLang="zh-CN" b="1" dirty="0"/>
              <a:t>cloud:</a:t>
            </a:r>
            <a:br>
              <a:rPr lang="en-US" altLang="zh-CN" b="1" dirty="0"/>
            </a:br>
            <a:r>
              <a:rPr lang="en-US" altLang="zh-CN" b="1" dirty="0"/>
              <a:t>    zookeeper:</a:t>
            </a:r>
            <a:br>
              <a:rPr lang="en-US" altLang="zh-CN" b="1" dirty="0"/>
            </a:br>
            <a:r>
              <a:rPr lang="en-US" altLang="zh-CN" b="1" dirty="0"/>
              <a:t>      enabled: </a:t>
            </a:r>
            <a:r>
              <a:rPr lang="en-US" altLang="zh-CN" b="1" dirty="0">
                <a:solidFill>
                  <a:srgbClr val="FF0000"/>
                </a:solidFill>
              </a:rPr>
              <a:t>true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b="1" dirty="0" err="1"/>
              <a:t>config</a:t>
            </a:r>
            <a:r>
              <a:rPr lang="en-US" altLang="zh-CN" b="1" dirty="0"/>
              <a:t>:</a:t>
            </a:r>
            <a:br>
              <a:rPr lang="en-US" altLang="zh-CN" b="1" dirty="0"/>
            </a:br>
            <a:r>
              <a:rPr lang="en-US" altLang="zh-CN" b="1" dirty="0"/>
              <a:t>        enabled: </a:t>
            </a:r>
            <a:r>
              <a:rPr lang="en-US" altLang="zh-CN" dirty="0"/>
              <a:t>true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b="1" dirty="0" err="1"/>
              <a:t>defaultContext</a:t>
            </a:r>
            <a:r>
              <a:rPr lang="en-US" altLang="zh-CN" b="1" dirty="0"/>
              <a:t>: </a:t>
            </a:r>
            <a:r>
              <a:rPr lang="en-US" altLang="zh-CN" dirty="0"/>
              <a:t>apps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b="1" dirty="0" err="1"/>
              <a:t>profileSeparator</a:t>
            </a:r>
            <a:r>
              <a:rPr lang="en-US" altLang="zh-CN" b="1" dirty="0"/>
              <a:t>: </a:t>
            </a:r>
            <a:r>
              <a:rPr lang="en-US" altLang="zh-CN" dirty="0"/>
              <a:t>':'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b="1" dirty="0"/>
              <a:t>watcher:</a:t>
            </a:r>
            <a:br>
              <a:rPr lang="en-US" altLang="zh-CN" b="1" dirty="0"/>
            </a:br>
            <a:r>
              <a:rPr lang="en-US" altLang="zh-CN" b="1" dirty="0"/>
              <a:t>          enabled: </a:t>
            </a:r>
            <a:r>
              <a:rPr lang="en-US" altLang="zh-CN" b="1" dirty="0" smtClean="0">
                <a:solidFill>
                  <a:srgbClr val="FF0000"/>
                </a:solidFill>
              </a:rPr>
              <a:t>false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>
                <a:solidFill>
                  <a:srgbClr val="FF0000"/>
                </a:solidFill>
              </a:rPr>
              <a:t>security</a:t>
            </a:r>
            <a:r>
              <a:rPr lang="en-US" altLang="zh-CN" b="1" dirty="0"/>
              <a:t>:</a:t>
            </a:r>
            <a:br>
              <a:rPr lang="en-US" altLang="zh-CN" b="1" dirty="0"/>
            </a:br>
            <a:r>
              <a:rPr lang="en-US" altLang="zh-CN" b="1" dirty="0"/>
              <a:t>    key: </a:t>
            </a:r>
            <a:r>
              <a:rPr lang="en-US" altLang="zh-CN" dirty="0"/>
              <a:t>wretched </a:t>
            </a:r>
            <a:r>
              <a:rPr lang="en-US" altLang="zh-CN" dirty="0" err="1"/>
              <a:t>growth,don't</a:t>
            </a:r>
            <a:r>
              <a:rPr lang="en-US" altLang="zh-CN" dirty="0"/>
              <a:t> indulge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24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 err="1" smtClean="0"/>
              <a:t>zk-config</a:t>
            </a:r>
            <a:r>
              <a:rPr lang="zh-CN" altLang="en-US" sz="5400" dirty="0" smtClean="0"/>
              <a:t>里面的</a:t>
            </a:r>
            <a:r>
              <a:rPr lang="en-US" altLang="zh-CN" sz="5400" dirty="0" err="1" smtClean="0"/>
              <a:t>Spring.factories</a:t>
            </a:r>
            <a:endParaRPr lang="en-US" altLang="zh-CN" sz="5400" dirty="0"/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7956" y="2534673"/>
            <a:ext cx="10859037" cy="24929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# Auto Configuration</a:t>
            </a:r>
            <a:br>
              <a:rPr lang="en-US" altLang="zh-CN" dirty="0"/>
            </a:br>
            <a:r>
              <a:rPr lang="en-US" altLang="zh-CN" dirty="0" err="1"/>
              <a:t>org.springframework.boot.autoconfigure.EnableAutoConfiguration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org.springframework.cloud.zookeeper.config.</a:t>
            </a:r>
            <a:r>
              <a:rPr lang="en-US" altLang="zh-CN" sz="2400" b="1" dirty="0"/>
              <a:t>ZookeeperConfigAutoConfiguration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# Bootstrap Configuration</a:t>
            </a:r>
            <a:br>
              <a:rPr lang="en-US" altLang="zh-CN" dirty="0"/>
            </a:br>
            <a:r>
              <a:rPr lang="en-US" altLang="zh-CN" dirty="0" err="1"/>
              <a:t>org.springframework.cloud.bootstrap.BootstrapConfiguration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org.springframework.cloud.zookeeper.config.</a:t>
            </a:r>
            <a:r>
              <a:rPr lang="en-US" altLang="zh-CN" sz="2400" b="1" dirty="0">
                <a:solidFill>
                  <a:srgbClr val="FF0000"/>
                </a:solidFill>
              </a:rPr>
              <a:t>ZookeeperConfigBootstrapConfiguration</a:t>
            </a:r>
            <a:r>
              <a:rPr lang="en-US" altLang="zh-CN" dirty="0"/>
              <a:t/>
            </a:r>
            <a:br>
              <a:rPr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6402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ZkConfigBootstrapConfig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8946" y="1481070"/>
            <a:ext cx="10200068" cy="31393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@Configuration</a:t>
            </a:r>
            <a:br>
              <a:rPr lang="en-US" altLang="zh-CN" dirty="0"/>
            </a:br>
            <a:r>
              <a:rPr lang="en-US" altLang="zh-CN" dirty="0"/>
              <a:t>@</a:t>
            </a:r>
            <a:r>
              <a:rPr lang="en-US" altLang="zh-CN" dirty="0" err="1"/>
              <a:t>ConditionalOnZookeeperEnabled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@Import(</a:t>
            </a:r>
            <a:r>
              <a:rPr lang="en-US" altLang="zh-CN" dirty="0" err="1"/>
              <a:t>ZookeeperAutoConfiguration.class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public class </a:t>
            </a:r>
            <a:r>
              <a:rPr lang="en-US" altLang="zh-CN" b="1" dirty="0" err="1">
                <a:solidFill>
                  <a:srgbClr val="FF0000"/>
                </a:solidFill>
              </a:rPr>
              <a:t>ZookeeperConfigBootstrapConfiguration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/>
              <a:t>{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@Bean</a:t>
            </a:r>
            <a:br>
              <a:rPr lang="en-US" altLang="zh-CN" dirty="0"/>
            </a:br>
            <a:r>
              <a:rPr lang="en-US" altLang="zh-CN" dirty="0"/>
              <a:t>   @</a:t>
            </a:r>
            <a:r>
              <a:rPr lang="en-US" altLang="zh-CN" dirty="0" err="1"/>
              <a:t>ConditionalOnMissingBean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public </a:t>
            </a:r>
            <a:r>
              <a:rPr lang="en-US" altLang="zh-CN" dirty="0" err="1"/>
              <a:t>ZookeeperPropertySourceLocator</a:t>
            </a:r>
            <a:r>
              <a:rPr lang="en-US" altLang="zh-CN" dirty="0"/>
              <a:t> </a:t>
            </a:r>
            <a:r>
              <a:rPr lang="en-US" altLang="zh-CN" dirty="0" err="1"/>
              <a:t>zookeeperPropertySourceLocator</a:t>
            </a:r>
            <a:r>
              <a:rPr lang="en-US" altLang="zh-CN" dirty="0"/>
              <a:t>(</a:t>
            </a:r>
            <a:br>
              <a:rPr lang="en-US" altLang="zh-CN" dirty="0"/>
            </a:br>
            <a:r>
              <a:rPr lang="en-US" altLang="zh-CN" dirty="0"/>
              <a:t>         </a:t>
            </a:r>
            <a:r>
              <a:rPr lang="en-US" altLang="zh-CN" dirty="0" err="1"/>
              <a:t>CuratorFramework</a:t>
            </a:r>
            <a:r>
              <a:rPr lang="en-US" altLang="zh-CN" dirty="0"/>
              <a:t> curator, </a:t>
            </a:r>
            <a:r>
              <a:rPr lang="en-US" altLang="zh-CN" dirty="0" err="1"/>
              <a:t>ZookeeperConfigProperties</a:t>
            </a:r>
            <a:r>
              <a:rPr lang="en-US" altLang="zh-CN" dirty="0"/>
              <a:t> properties) {</a:t>
            </a:r>
            <a:br>
              <a:rPr lang="en-US" altLang="zh-CN" dirty="0"/>
            </a:br>
            <a:r>
              <a:rPr lang="en-US" altLang="zh-CN" dirty="0"/>
              <a:t>      return new </a:t>
            </a:r>
            <a:r>
              <a:rPr lang="en-US" altLang="zh-CN" b="1" dirty="0" err="1">
                <a:solidFill>
                  <a:srgbClr val="FF0000"/>
                </a:solidFill>
              </a:rPr>
              <a:t>ZookeeperPropertySourceLocator</a:t>
            </a:r>
            <a:r>
              <a:rPr lang="en-US" altLang="zh-CN" dirty="0"/>
              <a:t>(curator, properties);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smtClean="0"/>
              <a:t>}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68946" y="5151549"/>
            <a:ext cx="10200068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@Retention(</a:t>
            </a:r>
            <a:r>
              <a:rPr lang="en-US" altLang="zh-CN" dirty="0" err="1"/>
              <a:t>RetentionPolicy.</a:t>
            </a:r>
            <a:r>
              <a:rPr lang="en-US" altLang="zh-CN" i="1" dirty="0" err="1"/>
              <a:t>RUNTIME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@Target({</a:t>
            </a:r>
            <a:r>
              <a:rPr lang="en-US" altLang="zh-CN" dirty="0" err="1"/>
              <a:t>ElementType.</a:t>
            </a:r>
            <a:r>
              <a:rPr lang="en-US" altLang="zh-CN" i="1" dirty="0" err="1"/>
              <a:t>TYPE</a:t>
            </a:r>
            <a:r>
              <a:rPr lang="en-US" altLang="zh-CN" dirty="0"/>
              <a:t>, </a:t>
            </a:r>
            <a:r>
              <a:rPr lang="en-US" altLang="zh-CN" dirty="0" err="1"/>
              <a:t>ElementType.</a:t>
            </a:r>
            <a:r>
              <a:rPr lang="en-US" altLang="zh-CN" i="1" dirty="0" err="1"/>
              <a:t>METHOD</a:t>
            </a:r>
            <a:r>
              <a:rPr lang="en-US" altLang="zh-CN" dirty="0"/>
              <a:t>})</a:t>
            </a:r>
            <a:br>
              <a:rPr lang="en-US" altLang="zh-CN" dirty="0"/>
            </a:br>
            <a:r>
              <a:rPr lang="en-US" altLang="zh-CN" dirty="0"/>
              <a:t>@</a:t>
            </a:r>
            <a:r>
              <a:rPr lang="en-US" altLang="zh-CN" dirty="0" err="1"/>
              <a:t>ConditionalOnProperty</a:t>
            </a:r>
            <a:r>
              <a:rPr lang="en-US" altLang="zh-CN" dirty="0"/>
              <a:t>(value = "</a:t>
            </a:r>
            <a:r>
              <a:rPr lang="en-US" altLang="zh-CN" b="1" dirty="0" err="1">
                <a:solidFill>
                  <a:srgbClr val="FF0000"/>
                </a:solidFill>
              </a:rPr>
              <a:t>spring.cloud.zookeeper.enabled</a:t>
            </a:r>
            <a:r>
              <a:rPr lang="en-US" altLang="zh-CN" dirty="0"/>
              <a:t>", </a:t>
            </a:r>
            <a:r>
              <a:rPr lang="en-US" altLang="zh-CN" dirty="0" err="1"/>
              <a:t>matchIfMissing</a:t>
            </a:r>
            <a:r>
              <a:rPr lang="en-US" altLang="zh-CN" dirty="0"/>
              <a:t> = true)</a:t>
            </a:r>
            <a:br>
              <a:rPr lang="en-US" altLang="zh-CN" dirty="0"/>
            </a:br>
            <a:r>
              <a:rPr lang="en-US" altLang="zh-CN" dirty="0"/>
              <a:t>public @interface </a:t>
            </a:r>
            <a:r>
              <a:rPr lang="en-US" altLang="zh-CN" dirty="0" err="1"/>
              <a:t>ConditionalOnZookeeperEnabled</a:t>
            </a:r>
            <a:r>
              <a:rPr lang="en-US" altLang="zh-CN" dirty="0"/>
              <a:t> {</a:t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723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ZkConfigBootstrapConfig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8946" y="1481070"/>
            <a:ext cx="10200068" cy="424731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public class </a:t>
            </a:r>
            <a:r>
              <a:rPr lang="en-US" altLang="zh-CN" b="1" dirty="0" err="1">
                <a:solidFill>
                  <a:srgbClr val="FF0000"/>
                </a:solidFill>
              </a:rPr>
              <a:t>ZookeeperPropertySourceLocator</a:t>
            </a:r>
            <a:r>
              <a:rPr lang="en-US" altLang="zh-CN" dirty="0"/>
              <a:t> </a:t>
            </a:r>
            <a:r>
              <a:rPr lang="en-US" altLang="zh-CN" dirty="0"/>
              <a:t>implements </a:t>
            </a:r>
            <a:r>
              <a:rPr lang="en-US" altLang="zh-CN" b="1" dirty="0" err="1">
                <a:solidFill>
                  <a:srgbClr val="FF0000"/>
                </a:solidFill>
              </a:rPr>
              <a:t>PropertySourceLocator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/>
              <a:t>@Override</a:t>
            </a:r>
            <a:br>
              <a:rPr lang="en-US" altLang="zh-CN" dirty="0"/>
            </a:br>
            <a:r>
              <a:rPr lang="en-US" altLang="zh-CN" dirty="0"/>
              <a:t>    public </a:t>
            </a:r>
            <a:r>
              <a:rPr lang="en-US" altLang="zh-CN" dirty="0" err="1"/>
              <a:t>PropertySource</a:t>
            </a:r>
            <a:r>
              <a:rPr lang="en-US" altLang="zh-CN" dirty="0"/>
              <a:t>&lt;?&gt; </a:t>
            </a:r>
            <a:r>
              <a:rPr lang="en-US" altLang="zh-CN" b="1" dirty="0">
                <a:solidFill>
                  <a:srgbClr val="FF0000"/>
                </a:solidFill>
              </a:rPr>
              <a:t>locate</a:t>
            </a:r>
            <a:r>
              <a:rPr lang="en-US" altLang="zh-CN" dirty="0"/>
              <a:t>(Environment environment) {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/>
              <a:t>if </a:t>
            </a:r>
            <a:r>
              <a:rPr lang="en-US" altLang="zh-CN" dirty="0"/>
              <a:t>(environment </a:t>
            </a:r>
            <a:r>
              <a:rPr lang="en-US" altLang="zh-CN" dirty="0" err="1"/>
              <a:t>instanceof</a:t>
            </a:r>
            <a:r>
              <a:rPr lang="en-US" altLang="zh-CN" dirty="0"/>
              <a:t> </a:t>
            </a:r>
            <a:r>
              <a:rPr lang="en-US" altLang="zh-CN" dirty="0" err="1"/>
              <a:t>ConfigurableEnvironment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/>
              <a:t>for </a:t>
            </a:r>
            <a:r>
              <a:rPr lang="en-US" altLang="zh-CN" dirty="0"/>
              <a:t>(String </a:t>
            </a:r>
            <a:r>
              <a:rPr lang="en-US" altLang="zh-CN" dirty="0" err="1"/>
              <a:t>propertySourceContext</a:t>
            </a:r>
            <a:r>
              <a:rPr lang="en-US" altLang="zh-CN" dirty="0"/>
              <a:t> : </a:t>
            </a:r>
            <a:r>
              <a:rPr lang="en-US" altLang="zh-CN" dirty="0" err="1"/>
              <a:t>this</a:t>
            </a:r>
            <a:r>
              <a:rPr lang="en-US" altLang="zh-CN" dirty="0" err="1"/>
              <a:t>.contexts</a:t>
            </a:r>
            <a:r>
              <a:rPr lang="en-US" altLang="zh-CN" dirty="0"/>
              <a:t>) </a:t>
            </a:r>
            <a:r>
              <a:rPr lang="en-US" altLang="zh-CN" dirty="0" smtClean="0"/>
              <a:t>{</a:t>
            </a:r>
          </a:p>
          <a:p>
            <a:r>
              <a:rPr lang="zh-CN" altLang="en-US" dirty="0"/>
              <a:t> </a:t>
            </a:r>
            <a:r>
              <a:rPr lang="zh-CN" altLang="en-US" dirty="0" smtClean="0"/>
              <a:t>                  </a:t>
            </a:r>
            <a:r>
              <a:rPr lang="en-US" altLang="zh-CN" b="1" dirty="0" smtClean="0">
                <a:solidFill>
                  <a:srgbClr val="FF0000"/>
                </a:solidFill>
              </a:rPr>
              <a:t>//</a:t>
            </a:r>
            <a:r>
              <a:rPr lang="zh-CN" altLang="en-US" b="1" dirty="0" smtClean="0">
                <a:solidFill>
                  <a:srgbClr val="FF0000"/>
                </a:solidFill>
              </a:rPr>
              <a:t> 遍历所有的</a:t>
            </a:r>
            <a:r>
              <a:rPr lang="en-US" altLang="zh-CN" b="1" dirty="0">
                <a:solidFill>
                  <a:srgbClr val="FF0000"/>
                </a:solidFill>
              </a:rPr>
              <a:t>spring 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profiles 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include </a:t>
            </a:r>
            <a:r>
              <a:rPr lang="zh-CN" altLang="en-US" b="1" dirty="0" smtClean="0">
                <a:solidFill>
                  <a:srgbClr val="FF0000"/>
                </a:solidFill>
              </a:rPr>
              <a:t> 去</a:t>
            </a:r>
            <a:r>
              <a:rPr lang="en-US" altLang="zh-CN" b="1" dirty="0" err="1" smtClean="0">
                <a:solidFill>
                  <a:srgbClr val="FF0000"/>
                </a:solidFill>
              </a:rPr>
              <a:t>zk</a:t>
            </a:r>
            <a:r>
              <a:rPr lang="zh-CN" altLang="en-US" b="1" dirty="0" smtClean="0">
                <a:solidFill>
                  <a:srgbClr val="FF0000"/>
                </a:solidFill>
              </a:rPr>
              <a:t>拉取配置生成属性对象</a:t>
            </a:r>
            <a:r>
              <a:rPr lang="en-US" altLang="zh-CN" b="1" dirty="0">
                <a:solidFill>
                  <a:srgbClr val="FF0000"/>
                </a:solidFill>
              </a:rPr>
              <a:t/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en-US" altLang="zh-CN" dirty="0"/>
              <a:t>                    </a:t>
            </a:r>
            <a:r>
              <a:rPr lang="en-US" altLang="zh-CN" dirty="0" err="1"/>
              <a:t>PropertySource</a:t>
            </a:r>
            <a:r>
              <a:rPr lang="en-US" altLang="zh-CN" dirty="0"/>
              <a:t> </a:t>
            </a:r>
            <a:r>
              <a:rPr lang="en-US" altLang="zh-CN" dirty="0" err="1"/>
              <a:t>propertySource</a:t>
            </a:r>
            <a:r>
              <a:rPr lang="en-US" altLang="zh-CN" dirty="0"/>
              <a:t> = create(</a:t>
            </a:r>
            <a:r>
              <a:rPr lang="en-US" altLang="zh-CN" dirty="0" err="1"/>
              <a:t>propertySourceContext</a:t>
            </a:r>
            <a:r>
              <a:rPr lang="en-US" altLang="zh-CN" dirty="0"/>
              <a:t>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            </a:t>
            </a:r>
            <a:r>
              <a:rPr lang="en-US" altLang="zh-CN" dirty="0" err="1"/>
              <a:t>composite.addPropertySource</a:t>
            </a:r>
            <a:r>
              <a:rPr lang="en-US" altLang="zh-CN" dirty="0"/>
              <a:t>(</a:t>
            </a:r>
            <a:r>
              <a:rPr lang="en-US" altLang="zh-CN" dirty="0" err="1"/>
              <a:t>propertySource</a:t>
            </a:r>
            <a:r>
              <a:rPr lang="en-US" altLang="zh-CN" dirty="0"/>
              <a:t>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/>
              <a:t>return </a:t>
            </a:r>
            <a:r>
              <a:rPr lang="en-US" altLang="zh-CN" dirty="0"/>
              <a:t>composite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/>
              <a:t>return null;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5619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0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>
                <a:solidFill>
                  <a:schemeClr val="bg1"/>
                </a:solidFill>
              </a:rPr>
              <a:t>PropertySourceBootstrapConfiguration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68946" y="990532"/>
            <a:ext cx="10200068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@Configuration</a:t>
            </a:r>
            <a:br>
              <a:rPr lang="en-US" altLang="zh-CN" dirty="0"/>
            </a:br>
            <a:r>
              <a:rPr lang="en-US" altLang="zh-CN" dirty="0"/>
              <a:t>@</a:t>
            </a:r>
            <a:r>
              <a:rPr lang="en-US" altLang="zh-CN" dirty="0" err="1"/>
              <a:t>EnableConfigurationProperties</a:t>
            </a:r>
            <a:r>
              <a:rPr lang="en-US" altLang="zh-CN" dirty="0"/>
              <a:t>(</a:t>
            </a:r>
            <a:r>
              <a:rPr lang="en-US" altLang="zh-CN" dirty="0" err="1"/>
              <a:t>PropertySourceBootstrapProperties.</a:t>
            </a:r>
            <a:r>
              <a:rPr lang="en-US" altLang="zh-CN" dirty="0" err="1"/>
              <a:t>class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public class </a:t>
            </a:r>
            <a:r>
              <a:rPr lang="en-US" altLang="zh-CN" b="1" dirty="0" err="1">
                <a:solidFill>
                  <a:srgbClr val="FF0000"/>
                </a:solidFill>
              </a:rPr>
              <a:t>PropertySourceBootstrapConfiguration</a:t>
            </a:r>
            <a:r>
              <a:rPr lang="en-US" altLang="zh-CN" dirty="0"/>
              <a:t> </a:t>
            </a:r>
            <a:r>
              <a:rPr lang="en-US" altLang="zh-CN" dirty="0"/>
              <a:t>implements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b="1" dirty="0" err="1">
                <a:solidFill>
                  <a:srgbClr val="FF0000"/>
                </a:solidFill>
              </a:rPr>
              <a:t>ApplicationContextInitializer</a:t>
            </a:r>
            <a:r>
              <a:rPr lang="en-US" altLang="zh-CN" dirty="0"/>
              <a:t>&lt;</a:t>
            </a:r>
            <a:r>
              <a:rPr lang="en-US" altLang="zh-CN" dirty="0" err="1"/>
              <a:t>ConfigurableApplicationContext</a:t>
            </a:r>
            <a:r>
              <a:rPr lang="en-US" altLang="zh-CN" dirty="0"/>
              <a:t>&gt;</a:t>
            </a:r>
            <a:r>
              <a:rPr lang="en-US" altLang="zh-CN" dirty="0"/>
              <a:t>, </a:t>
            </a:r>
            <a:r>
              <a:rPr lang="en-US" altLang="zh-CN" dirty="0"/>
              <a:t>Ordered </a:t>
            </a:r>
            <a:r>
              <a:rPr lang="en-US" altLang="zh-CN" dirty="0" smtClean="0"/>
              <a:t>{</a:t>
            </a:r>
          </a:p>
          <a:p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>    </a:t>
            </a:r>
            <a:r>
              <a:rPr lang="en-US" altLang="zh-CN" dirty="0"/>
              <a:t>@</a:t>
            </a:r>
            <a:r>
              <a:rPr lang="en-US" altLang="zh-CN" dirty="0" err="1"/>
              <a:t>Autowired</a:t>
            </a:r>
            <a:r>
              <a:rPr lang="en-US" altLang="zh-CN" dirty="0"/>
              <a:t>(</a:t>
            </a:r>
            <a:r>
              <a:rPr lang="en-US" altLang="zh-CN" dirty="0"/>
              <a:t>required </a:t>
            </a:r>
            <a:r>
              <a:rPr lang="en-US" altLang="zh-CN" dirty="0"/>
              <a:t>= </a:t>
            </a:r>
            <a:r>
              <a:rPr lang="en-US" altLang="zh-CN" dirty="0"/>
              <a:t>false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/>
              <a:t>private </a:t>
            </a:r>
            <a:r>
              <a:rPr lang="en-US" altLang="zh-CN" dirty="0"/>
              <a:t>List&lt;</a:t>
            </a:r>
            <a:r>
              <a:rPr lang="en-US" altLang="zh-CN" b="1" dirty="0" err="1">
                <a:solidFill>
                  <a:srgbClr val="FF0000"/>
                </a:solidFill>
              </a:rPr>
              <a:t>PropertySourceLocator</a:t>
            </a:r>
            <a:r>
              <a:rPr lang="en-US" altLang="zh-CN" dirty="0"/>
              <a:t>&gt; </a:t>
            </a:r>
            <a:r>
              <a:rPr lang="en-US" altLang="zh-CN" dirty="0" err="1"/>
              <a:t>propertySourceLocators</a:t>
            </a:r>
            <a:r>
              <a:rPr lang="en-US" altLang="zh-CN" dirty="0"/>
              <a:t> </a:t>
            </a:r>
            <a:r>
              <a:rPr lang="en-US" altLang="zh-CN" dirty="0"/>
              <a:t>= </a:t>
            </a:r>
            <a:r>
              <a:rPr lang="en-US" altLang="zh-CN" dirty="0"/>
              <a:t>new </a:t>
            </a:r>
            <a:r>
              <a:rPr lang="en-US" altLang="zh-CN" dirty="0" err="1"/>
              <a:t>ArrayList</a:t>
            </a:r>
            <a:r>
              <a:rPr lang="en-US" altLang="zh-CN" dirty="0" smtClean="0"/>
              <a:t>&lt;&gt;();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public void </a:t>
            </a:r>
            <a:r>
              <a:rPr lang="en-US" altLang="zh-CN" b="1" dirty="0">
                <a:solidFill>
                  <a:srgbClr val="FF0000"/>
                </a:solidFill>
              </a:rPr>
              <a:t>initialize</a:t>
            </a:r>
            <a:r>
              <a:rPr lang="en-US" altLang="zh-CN" dirty="0"/>
              <a:t>(</a:t>
            </a:r>
            <a:r>
              <a:rPr lang="en-US" altLang="zh-CN" dirty="0" err="1"/>
              <a:t>ConfigurableApplicationContext</a:t>
            </a:r>
            <a:r>
              <a:rPr lang="en-US" altLang="zh-CN" dirty="0"/>
              <a:t> </a:t>
            </a:r>
            <a:r>
              <a:rPr lang="en-US" altLang="zh-CN" dirty="0" err="1"/>
              <a:t>applicationContext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CompositePropertySource</a:t>
            </a:r>
            <a:r>
              <a:rPr lang="en-US" altLang="zh-CN" dirty="0"/>
              <a:t> composite = </a:t>
            </a:r>
            <a:r>
              <a:rPr lang="en-US" altLang="zh-CN" dirty="0"/>
              <a:t>new </a:t>
            </a:r>
            <a:r>
              <a:rPr lang="en-US" altLang="zh-CN" dirty="0" err="1"/>
              <a:t>CompositePropertySource</a:t>
            </a:r>
            <a:r>
              <a:rPr lang="en-US" altLang="zh-CN" dirty="0"/>
              <a:t>(</a:t>
            </a:r>
            <a:br>
              <a:rPr lang="en-US" altLang="zh-CN" dirty="0"/>
            </a:br>
            <a:r>
              <a:rPr lang="en-US" altLang="zh-CN" dirty="0"/>
              <a:t>            BOOTSTRAP_PROPERTY_SOURCE_NAME)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AnnotationAwareOrderComparator.</a:t>
            </a:r>
            <a:r>
              <a:rPr lang="en-US" altLang="zh-CN" i="1" dirty="0" err="1"/>
              <a:t>sort</a:t>
            </a:r>
            <a:r>
              <a:rPr lang="en-US" altLang="zh-CN" dirty="0"/>
              <a:t>(</a:t>
            </a:r>
            <a:r>
              <a:rPr lang="en-US" altLang="zh-CN" dirty="0" err="1"/>
              <a:t>this</a:t>
            </a:r>
            <a:r>
              <a:rPr lang="en-US" altLang="zh-CN" dirty="0" err="1"/>
              <a:t>.</a:t>
            </a:r>
            <a:r>
              <a:rPr lang="en-US" altLang="zh-CN" dirty="0" err="1"/>
              <a:t>propertySourceLocators</a:t>
            </a:r>
            <a:r>
              <a:rPr lang="en-US" altLang="zh-CN" dirty="0"/>
              <a:t>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boolean</a:t>
            </a:r>
            <a:r>
              <a:rPr lang="en-US" altLang="zh-CN" dirty="0"/>
              <a:t> </a:t>
            </a:r>
            <a:r>
              <a:rPr lang="en-US" altLang="zh-CN" dirty="0"/>
              <a:t>empty = </a:t>
            </a:r>
            <a:r>
              <a:rPr lang="en-US" altLang="zh-CN" dirty="0"/>
              <a:t>true;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ConfigurableEnvironment</a:t>
            </a:r>
            <a:r>
              <a:rPr lang="en-US" altLang="zh-CN" dirty="0"/>
              <a:t> environment = </a:t>
            </a:r>
            <a:r>
              <a:rPr lang="en-US" altLang="zh-CN" dirty="0" err="1"/>
              <a:t>applicationContext.getEnvironment</a:t>
            </a:r>
            <a:r>
              <a:rPr lang="en-US" altLang="zh-CN" dirty="0"/>
              <a:t>()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for </a:t>
            </a:r>
            <a:r>
              <a:rPr lang="en-US" altLang="zh-CN" dirty="0"/>
              <a:t>(</a:t>
            </a:r>
            <a:r>
              <a:rPr lang="en-US" altLang="zh-CN" dirty="0" err="1"/>
              <a:t>PropertySourceLocator</a:t>
            </a:r>
            <a:r>
              <a:rPr lang="en-US" altLang="zh-CN" dirty="0"/>
              <a:t> locator : </a:t>
            </a:r>
            <a:r>
              <a:rPr lang="en-US" altLang="zh-CN" dirty="0" err="1"/>
              <a:t>this</a:t>
            </a:r>
            <a:r>
              <a:rPr lang="en-US" altLang="zh-CN" dirty="0" err="1"/>
              <a:t>.</a:t>
            </a:r>
            <a:r>
              <a:rPr lang="en-US" altLang="zh-CN" dirty="0" err="1">
                <a:solidFill>
                  <a:srgbClr val="FF0000"/>
                </a:solidFill>
              </a:rPr>
              <a:t>propertySourceLocators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 err="1"/>
              <a:t>PropertySource</a:t>
            </a:r>
            <a:r>
              <a:rPr lang="en-US" altLang="zh-CN" dirty="0"/>
              <a:t>&lt;?&gt; source = </a:t>
            </a:r>
            <a:r>
              <a:rPr lang="en-US" altLang="zh-CN" dirty="0" err="1"/>
              <a:t>locator.</a:t>
            </a:r>
            <a:r>
              <a:rPr lang="en-US" altLang="zh-CN" b="1" dirty="0" err="1">
                <a:solidFill>
                  <a:srgbClr val="FF0000"/>
                </a:solidFill>
              </a:rPr>
              <a:t>locate</a:t>
            </a:r>
            <a:r>
              <a:rPr lang="en-US" altLang="zh-CN" dirty="0"/>
              <a:t>(environment)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 err="1"/>
              <a:t>composite.addPropertySource</a:t>
            </a:r>
            <a:r>
              <a:rPr lang="en-US" altLang="zh-CN" dirty="0"/>
              <a:t>(source)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    }</a:t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043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zk-config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流程图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5" y="1481070"/>
            <a:ext cx="10058400" cy="497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677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zk-config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927279" y="1291917"/>
            <a:ext cx="9530366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添加配置 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spring.factroies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BootstrapConfiguration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=\</a:t>
            </a:r>
            <a:r>
              <a:rPr lang="en-US" altLang="zh-CN" sz="2400" b="1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ZookeeperConfigBootstrapConfiguration</a:t>
            </a:r>
            <a:endParaRPr lang="en-US" altLang="zh-CN" sz="24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zk-config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开关打开实例化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ZookeeperPropertySourceLocator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Spring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boot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启动时调用</a:t>
            </a:r>
            <a:r>
              <a:rPr lang="en-US" altLang="zh-CN" sz="2400" b="1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PropertySourceBootstrapConfiguration.initialize</a:t>
            </a:r>
            <a:endParaRPr lang="en-US" altLang="zh-CN" sz="24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Init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调用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ZookeeperPropertySourceLocator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加载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zk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配置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100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34CB9AED-08B3-AA46-B8B8-7158BB5AF1F0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en-US" altLang="zh-CN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5400" b="1" spc="200" dirty="0" err="1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ConfigWacher</a:t>
            </a:r>
            <a:endParaRPr lang="en-US" altLang="zh-CN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100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 err="1" smtClean="0">
                <a:solidFill>
                  <a:schemeClr val="bg1"/>
                </a:solidFill>
              </a:rPr>
              <a:t>configWacher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7128" y="861743"/>
            <a:ext cx="9852338" cy="5757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493948" y="1110056"/>
            <a:ext cx="8403466" cy="27947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>
                <a:solidFill>
                  <a:schemeClr val="bg1"/>
                </a:solidFill>
              </a:rPr>
              <a:t>EnableAutoConfiguration</a:t>
            </a:r>
            <a:r>
              <a:rPr lang="zh-CN" altLang="en-US" dirty="0" smtClean="0">
                <a:solidFill>
                  <a:schemeClr val="bg1"/>
                </a:solidFill>
              </a:rPr>
              <a:t>配置</a:t>
            </a:r>
            <a:r>
              <a:rPr lang="en-US" altLang="zh-CN" dirty="0" err="1"/>
              <a:t>ZookeeperConfigAutoConfiguration</a:t>
            </a:r>
            <a:r>
              <a:rPr lang="en-US" altLang="zh-CN" dirty="0"/>
              <a:t> </a:t>
            </a:r>
            <a:endParaRPr kumimoji="1" lang="en-US" altLang="zh-CN" dirty="0" smtClean="0">
              <a:solidFill>
                <a:schemeClr val="bg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78807" y="1631184"/>
            <a:ext cx="5782614" cy="11565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rgbClr val="FF0000"/>
                </a:solidFill>
              </a:rPr>
              <a:t>ConfigWatcher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监听节点变化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174643" y="3190241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rgbClr val="FF0000"/>
                </a:solidFill>
              </a:rPr>
              <a:t>RefreshEvent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11538" y="4309623"/>
            <a:ext cx="3585876" cy="225860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dirty="0" smtClean="0">
                <a:solidFill>
                  <a:schemeClr val="tx1"/>
                </a:solidFill>
              </a:rPr>
              <a:t>重新绑定配置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6464930" y="4773553"/>
            <a:ext cx="3294810" cy="16143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LocalPropertySourceLocator.locate</a:t>
            </a:r>
            <a:r>
              <a:rPr lang="en-US" altLang="zh-CN" dirty="0" smtClean="0"/>
              <a:t>()</a:t>
            </a:r>
            <a:endParaRPr kumimoji="1" lang="zh-CN" altLang="en-US" dirty="0"/>
          </a:p>
        </p:txBody>
      </p:sp>
      <p:cxnSp>
        <p:nvCxnSpPr>
          <p:cNvPr id="18" name="直线箭头连接符 17"/>
          <p:cNvCxnSpPr/>
          <p:nvPr/>
        </p:nvCxnSpPr>
        <p:spPr>
          <a:xfrm>
            <a:off x="5368943" y="2787705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>
            <a:stCxn id="14" idx="2"/>
          </p:cNvCxnSpPr>
          <p:nvPr/>
        </p:nvCxnSpPr>
        <p:spPr>
          <a:xfrm flipH="1">
            <a:off x="3001968" y="3779379"/>
            <a:ext cx="2568146" cy="52792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>
            <a:endCxn id="15" idx="0"/>
          </p:cNvCxnSpPr>
          <p:nvPr/>
        </p:nvCxnSpPr>
        <p:spPr>
          <a:xfrm>
            <a:off x="5496946" y="3767433"/>
            <a:ext cx="2607530" cy="54219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477849" y="4339152"/>
            <a:ext cx="3277673" cy="21518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dirty="0" smtClean="0">
                <a:solidFill>
                  <a:schemeClr val="tx1"/>
                </a:solidFill>
              </a:rPr>
              <a:t>刷新配置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27835" y="5682366"/>
            <a:ext cx="2348267" cy="4987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SpringApplicationBuilder.run</a:t>
            </a:r>
            <a:r>
              <a:rPr lang="en-US" altLang="zh-CN" dirty="0">
                <a:solidFill>
                  <a:schemeClr val="bg1"/>
                </a:solidFill>
              </a:rPr>
              <a:t>()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827835" y="4912925"/>
            <a:ext cx="2348267" cy="4987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bg1"/>
                </a:solidFill>
              </a:rPr>
              <a:t>addConfigFilesToEnvironment</a:t>
            </a:r>
            <a:r>
              <a:rPr lang="en-US" altLang="zh-CN" dirty="0" smtClean="0">
                <a:solidFill>
                  <a:schemeClr val="bg1"/>
                </a:solidFill>
              </a:rPr>
              <a:t>()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527177" y="4848679"/>
            <a:ext cx="3294810" cy="16143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/>
              <a:t>r</a:t>
            </a:r>
            <a:r>
              <a:rPr kumimoji="1" lang="en-US" altLang="zh-CN" dirty="0" smtClean="0"/>
              <a:t>ebind()</a:t>
            </a:r>
          </a:p>
          <a:p>
            <a:pPr algn="ctr"/>
            <a:endParaRPr kumimoji="1" lang="en-US" altLang="zh-CN" dirty="0"/>
          </a:p>
          <a:p>
            <a:pPr algn="ctr"/>
            <a:endParaRPr kumimoji="1" lang="en-US" altLang="zh-CN" dirty="0" smtClean="0"/>
          </a:p>
          <a:p>
            <a:pPr algn="ctr"/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24" name="矩形 23"/>
          <p:cNvSpPr/>
          <p:nvPr/>
        </p:nvSpPr>
        <p:spPr>
          <a:xfrm>
            <a:off x="6930342" y="5313205"/>
            <a:ext cx="2348267" cy="57244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</a:rPr>
              <a:t>postProcessBeforeInitialization</a:t>
            </a:r>
            <a:r>
              <a:rPr lang="en-US" altLang="zh-CN" dirty="0" smtClean="0">
                <a:solidFill>
                  <a:schemeClr val="bg1"/>
                </a:solidFill>
              </a:rPr>
              <a:t>()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930341" y="6014433"/>
            <a:ext cx="2348267" cy="3734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chemeClr val="bg1"/>
                </a:solidFill>
              </a:rPr>
              <a:t>initializeBean</a:t>
            </a:r>
            <a:r>
              <a:rPr lang="en-US" altLang="zh-CN" dirty="0" smtClean="0">
                <a:solidFill>
                  <a:schemeClr val="bg1"/>
                </a:solidFill>
              </a:rPr>
              <a:t>()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 err="1" smtClean="0">
                <a:solidFill>
                  <a:schemeClr val="bg1"/>
                </a:solidFill>
              </a:rPr>
              <a:t>zk-config</a:t>
            </a:r>
            <a:r>
              <a:rPr lang="zh-CN" altLang="en-US" sz="5400" dirty="0" smtClean="0">
                <a:solidFill>
                  <a:schemeClr val="bg1"/>
                </a:solidFill>
              </a:rPr>
              <a:t>里面的</a:t>
            </a:r>
            <a:r>
              <a:rPr lang="en-US" altLang="zh-CN" sz="5400" dirty="0" err="1" smtClean="0">
                <a:solidFill>
                  <a:schemeClr val="bg1"/>
                </a:solidFill>
              </a:rPr>
              <a:t>Spring.factories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7956" y="2534673"/>
            <a:ext cx="10859037" cy="24929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# Auto Configuration</a:t>
            </a:r>
            <a:br>
              <a:rPr lang="en-US" altLang="zh-CN" dirty="0"/>
            </a:br>
            <a:r>
              <a:rPr lang="en-US" altLang="zh-CN" dirty="0" err="1"/>
              <a:t>org.springframework.boot.autoconfigure.EnableAutoConfiguration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org.springframework.cloud.zookeeper.config.</a:t>
            </a:r>
            <a:r>
              <a:rPr lang="en-US" altLang="zh-CN" sz="2400" b="1" dirty="0">
                <a:solidFill>
                  <a:srgbClr val="FF0000"/>
                </a:solidFill>
              </a:rPr>
              <a:t>ZookeeperConfigAutoConfiguration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# Bootstrap Configuration</a:t>
            </a:r>
            <a:br>
              <a:rPr lang="en-US" altLang="zh-CN" dirty="0"/>
            </a:br>
            <a:r>
              <a:rPr lang="en-US" altLang="zh-CN" dirty="0" err="1"/>
              <a:t>org.springframework.cloud.bootstrap.BootstrapConfiguration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org.springframework.cloud.zookeeper.config.</a:t>
            </a:r>
            <a:r>
              <a:rPr lang="en-US" altLang="zh-CN" sz="2400" b="1" dirty="0"/>
              <a:t>ZookeeperConfigBootstrapConfiguration</a:t>
            </a:r>
            <a:r>
              <a:rPr lang="en-US" altLang="zh-CN" dirty="0"/>
              <a:t/>
            </a:r>
            <a:br>
              <a:rPr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4977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>
                <a:solidFill>
                  <a:schemeClr val="bg1"/>
                </a:solidFill>
              </a:rPr>
              <a:t>ZookeeperConfigAutoConfiguration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7956" y="1801355"/>
            <a:ext cx="11439350" cy="452431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dirty="0"/>
              <a:t>@Configuration</a:t>
            </a:r>
            <a:br>
              <a:rPr lang="en-US" altLang="zh-CN" dirty="0"/>
            </a:br>
            <a:r>
              <a:rPr lang="en-US" altLang="zh-CN" dirty="0"/>
              <a:t>@</a:t>
            </a:r>
            <a:r>
              <a:rPr lang="en-US" altLang="zh-CN" dirty="0" err="1"/>
              <a:t>ConditionalOnZookeeperEnabled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@</a:t>
            </a:r>
            <a:r>
              <a:rPr lang="en-US" altLang="zh-CN" dirty="0" err="1"/>
              <a:t>ConditionalOnProperty</a:t>
            </a:r>
            <a:r>
              <a:rPr lang="en-US" altLang="zh-CN" dirty="0"/>
              <a:t>(value = "</a:t>
            </a:r>
            <a:r>
              <a:rPr lang="en-US" altLang="zh-CN" dirty="0" err="1"/>
              <a:t>spring.cloud.zookeeper.config.enabled</a:t>
            </a:r>
            <a:r>
              <a:rPr lang="en-US" altLang="zh-CN" dirty="0"/>
              <a:t>", </a:t>
            </a:r>
            <a:r>
              <a:rPr lang="en-US" altLang="zh-CN" dirty="0" err="1"/>
              <a:t>matchIfMissing</a:t>
            </a:r>
            <a:r>
              <a:rPr lang="en-US" altLang="zh-CN" dirty="0"/>
              <a:t> = true)</a:t>
            </a:r>
            <a:br>
              <a:rPr lang="en-US" altLang="zh-CN" dirty="0"/>
            </a:br>
            <a:r>
              <a:rPr lang="en-US" altLang="zh-CN" dirty="0"/>
              <a:t>public class </a:t>
            </a:r>
            <a:r>
              <a:rPr lang="en-US" altLang="zh-CN" dirty="0" err="1"/>
              <a:t>ZookeeperConfigAutoConfiguration</a:t>
            </a:r>
            <a:r>
              <a:rPr lang="en-US" altLang="zh-CN" dirty="0"/>
              <a:t> {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@Configuration</a:t>
            </a:r>
            <a:br>
              <a:rPr lang="en-US" altLang="zh-CN" dirty="0"/>
            </a:br>
            <a:r>
              <a:rPr lang="en-US" altLang="zh-CN" dirty="0"/>
              <a:t>   @</a:t>
            </a:r>
            <a:r>
              <a:rPr lang="en-US" altLang="zh-CN" dirty="0" err="1"/>
              <a:t>ConditionalOnClass</a:t>
            </a:r>
            <a:r>
              <a:rPr lang="en-US" altLang="zh-CN" dirty="0"/>
              <a:t>(</a:t>
            </a:r>
            <a:r>
              <a:rPr lang="en-US" altLang="zh-CN" dirty="0" err="1"/>
              <a:t>RefreshEndpoint.class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/>
              <a:t>   protected static class </a:t>
            </a:r>
            <a:r>
              <a:rPr lang="en-US" altLang="zh-CN" dirty="0" err="1"/>
              <a:t>ZkRefreshConfiguration</a:t>
            </a:r>
            <a:r>
              <a:rPr lang="en-US" altLang="zh-CN" dirty="0"/>
              <a:t> {</a:t>
            </a:r>
            <a:br>
              <a:rPr lang="en-US" altLang="zh-CN" dirty="0"/>
            </a:br>
            <a:r>
              <a:rPr lang="en-US" altLang="zh-CN" dirty="0"/>
              <a:t>      @Bean</a:t>
            </a:r>
            <a:br>
              <a:rPr lang="en-US" altLang="zh-CN" dirty="0"/>
            </a:br>
            <a:r>
              <a:rPr lang="en-US" altLang="zh-CN" dirty="0"/>
              <a:t>      @</a:t>
            </a:r>
            <a:r>
              <a:rPr lang="en-US" altLang="zh-CN" dirty="0" err="1"/>
              <a:t>ConditionalOnProperty</a:t>
            </a:r>
            <a:r>
              <a:rPr lang="en-US" altLang="zh-CN" dirty="0"/>
              <a:t>(name = "</a:t>
            </a:r>
            <a:r>
              <a:rPr lang="en-US" altLang="zh-CN" b="1" dirty="0" err="1">
                <a:solidFill>
                  <a:srgbClr val="FF0000"/>
                </a:solidFill>
              </a:rPr>
              <a:t>spring.cloud.zookeeper.config.watcher.enabled</a:t>
            </a:r>
            <a:r>
              <a:rPr lang="en-US" altLang="zh-CN" dirty="0"/>
              <a:t>", </a:t>
            </a:r>
            <a:r>
              <a:rPr lang="en-US" altLang="zh-CN" dirty="0" err="1"/>
              <a:t>matchIfMissing</a:t>
            </a:r>
            <a:r>
              <a:rPr lang="en-US" altLang="zh-CN" dirty="0"/>
              <a:t> = true)</a:t>
            </a:r>
            <a:br>
              <a:rPr lang="en-US" altLang="zh-CN" dirty="0"/>
            </a:br>
            <a:r>
              <a:rPr lang="en-US" altLang="zh-CN" dirty="0"/>
              <a:t>      public </a:t>
            </a:r>
            <a:r>
              <a:rPr lang="en-US" altLang="zh-CN" dirty="0" err="1"/>
              <a:t>ConfigWatcher</a:t>
            </a:r>
            <a:r>
              <a:rPr lang="en-US" altLang="zh-CN" dirty="0"/>
              <a:t> </a:t>
            </a:r>
            <a:r>
              <a:rPr lang="en-US" altLang="zh-CN" dirty="0" err="1"/>
              <a:t>configWatcher</a:t>
            </a:r>
            <a:r>
              <a:rPr lang="en-US" altLang="zh-CN" dirty="0"/>
              <a:t>(</a:t>
            </a:r>
            <a:r>
              <a:rPr lang="en-US" altLang="zh-CN" dirty="0" err="1"/>
              <a:t>ZookeeperPropertySourceLocator</a:t>
            </a:r>
            <a:r>
              <a:rPr lang="en-US" altLang="zh-CN" dirty="0"/>
              <a:t> locator,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 err="1"/>
              <a:t>CuratorFramework</a:t>
            </a:r>
            <a:r>
              <a:rPr lang="en-US" altLang="zh-CN" dirty="0"/>
              <a:t> curator) {</a:t>
            </a:r>
            <a:br>
              <a:rPr lang="en-US" altLang="zh-CN" dirty="0"/>
            </a:br>
            <a:r>
              <a:rPr lang="en-US" altLang="zh-CN" dirty="0"/>
              <a:t>         return new </a:t>
            </a:r>
            <a:r>
              <a:rPr lang="en-US" altLang="zh-CN" dirty="0" err="1"/>
              <a:t>ConfigWatcher</a:t>
            </a:r>
            <a:r>
              <a:rPr lang="en-US" altLang="zh-CN" dirty="0"/>
              <a:t>(</a:t>
            </a:r>
            <a:r>
              <a:rPr lang="en-US" altLang="zh-CN" dirty="0" err="1"/>
              <a:t>locator.getContexts</a:t>
            </a:r>
            <a:r>
              <a:rPr lang="en-US" altLang="zh-CN" dirty="0"/>
              <a:t>(), curator);</a:t>
            </a:r>
            <a:br>
              <a:rPr lang="en-US" altLang="zh-CN" dirty="0"/>
            </a:br>
            <a:r>
              <a:rPr lang="en-US" altLang="zh-CN" dirty="0"/>
              <a:t>      }</a:t>
            </a:r>
            <a:br>
              <a:rPr lang="en-US" altLang="zh-CN" dirty="0"/>
            </a:br>
            <a:r>
              <a:rPr lang="en-US" altLang="zh-CN" dirty="0"/>
              <a:t>   }</a:t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7125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18842" y="79577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>
                <a:solidFill>
                  <a:schemeClr val="bg1"/>
                </a:solidFill>
              </a:rPr>
              <a:t>ConfigWatcher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6745" y="990532"/>
            <a:ext cx="11031514" cy="563231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@</a:t>
            </a:r>
            <a:r>
              <a:rPr lang="en-US" altLang="zh-CN" b="1" dirty="0" err="1">
                <a:solidFill>
                  <a:srgbClr val="FF0000"/>
                </a:solidFill>
              </a:rPr>
              <a:t>PostConstruct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public void start() {</a:t>
            </a:r>
            <a:br>
              <a:rPr lang="en-US" altLang="zh-CN" dirty="0"/>
            </a:br>
            <a:r>
              <a:rPr lang="en-US" altLang="zh-CN" dirty="0"/>
              <a:t>   if (</a:t>
            </a:r>
            <a:r>
              <a:rPr lang="en-US" altLang="zh-CN" dirty="0" err="1"/>
              <a:t>this.running.compareAndSet</a:t>
            </a:r>
            <a:r>
              <a:rPr lang="en-US" altLang="zh-CN" dirty="0"/>
              <a:t>(false, true)) {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 err="1"/>
              <a:t>this.caches</a:t>
            </a:r>
            <a:r>
              <a:rPr lang="en-US" altLang="zh-CN" dirty="0"/>
              <a:t> = new </a:t>
            </a:r>
            <a:r>
              <a:rPr lang="en-US" altLang="zh-CN" dirty="0" err="1"/>
              <a:t>HashMap</a:t>
            </a:r>
            <a:r>
              <a:rPr lang="en-US" altLang="zh-CN" dirty="0"/>
              <a:t>&lt;&gt;();</a:t>
            </a:r>
            <a:br>
              <a:rPr lang="en-US" altLang="zh-CN" dirty="0"/>
            </a:br>
            <a:r>
              <a:rPr lang="en-US" altLang="zh-CN" dirty="0"/>
              <a:t>      for (String context : </a:t>
            </a:r>
            <a:r>
              <a:rPr lang="en-US" altLang="zh-CN" dirty="0" err="1"/>
              <a:t>this.contexts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 if (!</a:t>
            </a:r>
            <a:r>
              <a:rPr lang="en-US" altLang="zh-CN" dirty="0" err="1"/>
              <a:t>context.startsWith</a:t>
            </a:r>
            <a:r>
              <a:rPr lang="en-US" altLang="zh-CN" dirty="0" smtClean="0"/>
              <a:t>(“/”)) </a:t>
            </a:r>
            <a:r>
              <a:rPr lang="en-US" altLang="zh-CN" dirty="0" smtClean="0"/>
              <a:t>{</a:t>
            </a:r>
            <a:br>
              <a:rPr lang="en-US" altLang="zh-CN" dirty="0" smtClean="0"/>
            </a:br>
            <a:r>
              <a:rPr lang="en-US" altLang="zh-CN" dirty="0" smtClean="0"/>
              <a:t>             context </a:t>
            </a:r>
            <a:r>
              <a:rPr lang="en-US" altLang="zh-CN" dirty="0"/>
              <a:t>= </a:t>
            </a:r>
            <a:r>
              <a:rPr lang="en-US" altLang="zh-CN" dirty="0" smtClean="0"/>
              <a:t>“/" </a:t>
            </a:r>
            <a:r>
              <a:rPr lang="en-US" altLang="zh-CN" dirty="0"/>
              <a:t>+ context;</a:t>
            </a:r>
            <a:br>
              <a:rPr lang="en-US" altLang="zh-CN" dirty="0"/>
            </a:br>
            <a:r>
              <a:rPr lang="en-US" altLang="zh-CN" dirty="0"/>
              <a:t>         }</a:t>
            </a:r>
            <a:br>
              <a:rPr lang="en-US" altLang="zh-CN" dirty="0"/>
            </a:br>
            <a:r>
              <a:rPr lang="en-US" altLang="zh-CN" dirty="0"/>
              <a:t>         try {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 err="1"/>
              <a:t>TreeCache</a:t>
            </a:r>
            <a:r>
              <a:rPr lang="en-US" altLang="zh-CN" dirty="0"/>
              <a:t> cache = </a:t>
            </a:r>
            <a:r>
              <a:rPr lang="en-US" altLang="zh-CN" dirty="0" err="1"/>
              <a:t>TreeCache.</a:t>
            </a:r>
            <a:r>
              <a:rPr lang="en-US" altLang="zh-CN" i="1" dirty="0" err="1"/>
              <a:t>newBuilder</a:t>
            </a:r>
            <a:r>
              <a:rPr lang="en-US" altLang="zh-CN" dirty="0"/>
              <a:t>(</a:t>
            </a:r>
            <a:r>
              <a:rPr lang="en-US" altLang="zh-CN" dirty="0" err="1"/>
              <a:t>this.source</a:t>
            </a:r>
            <a:r>
              <a:rPr lang="en-US" altLang="zh-CN" dirty="0"/>
              <a:t>, context).build();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 err="1"/>
              <a:t>cache.getListenable</a:t>
            </a:r>
            <a:r>
              <a:rPr lang="en-US" altLang="zh-CN" dirty="0"/>
              <a:t>().</a:t>
            </a:r>
            <a:r>
              <a:rPr lang="en-US" altLang="zh-CN" b="1" dirty="0" err="1">
                <a:solidFill>
                  <a:srgbClr val="FF0000"/>
                </a:solidFill>
              </a:rPr>
              <a:t>addListener</a:t>
            </a:r>
            <a:r>
              <a:rPr lang="en-US" altLang="zh-CN" dirty="0"/>
              <a:t>(this);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 err="1"/>
              <a:t>cache.start</a:t>
            </a:r>
            <a:r>
              <a:rPr lang="en-US" altLang="zh-CN" dirty="0" smtClean="0"/>
              <a:t>();</a:t>
            </a:r>
            <a:r>
              <a:rPr lang="zh-CN" altLang="en-US" dirty="0" smtClean="0"/>
              <a:t> 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dirty="0" err="1"/>
              <a:t>this.caches.put</a:t>
            </a:r>
            <a:r>
              <a:rPr lang="en-US" altLang="zh-CN" dirty="0"/>
              <a:t>(context, cache</a:t>
            </a:r>
            <a:r>
              <a:rPr lang="en-US" altLang="zh-CN" dirty="0" smtClean="0"/>
              <a:t>);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     } catch (</a:t>
            </a:r>
            <a:r>
              <a:rPr lang="en-US" altLang="zh-CN" dirty="0" err="1"/>
              <a:t>KeeperException.NoNodeException</a:t>
            </a:r>
            <a:r>
              <a:rPr lang="en-US" altLang="zh-CN" dirty="0"/>
              <a:t> e) </a:t>
            </a:r>
            <a:r>
              <a:rPr lang="en-US" altLang="zh-CN" dirty="0" smtClean="0"/>
              <a:t>{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      } catch (Exception e) {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i="1" dirty="0" err="1"/>
              <a:t>log</a:t>
            </a:r>
            <a:r>
              <a:rPr lang="en-US" altLang="zh-CN" dirty="0" err="1"/>
              <a:t>.error</a:t>
            </a:r>
            <a:r>
              <a:rPr lang="en-US" altLang="zh-CN" dirty="0"/>
              <a:t>("Error initializing listener for context " + context, e);</a:t>
            </a:r>
            <a:br>
              <a:rPr lang="en-US" altLang="zh-CN" dirty="0"/>
            </a:br>
            <a:r>
              <a:rPr lang="en-US" altLang="zh-CN" dirty="0"/>
              <a:t>         }</a:t>
            </a:r>
            <a:br>
              <a:rPr lang="en-US" altLang="zh-CN" dirty="0"/>
            </a:br>
            <a:r>
              <a:rPr lang="en-US" altLang="zh-CN" dirty="0"/>
              <a:t>      }</a:t>
            </a:r>
            <a:br>
              <a:rPr lang="en-US" altLang="zh-CN" dirty="0"/>
            </a:br>
            <a:r>
              <a:rPr lang="en-US" altLang="zh-CN" dirty="0"/>
              <a:t>   }</a:t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37203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 smtClean="0">
                <a:solidFill>
                  <a:schemeClr val="bg1"/>
                </a:solidFill>
              </a:rPr>
              <a:t>ConfigWatcher</a:t>
            </a:r>
            <a:r>
              <a:rPr lang="zh-CN" altLang="en-US" sz="4400" dirty="0" smtClean="0">
                <a:solidFill>
                  <a:schemeClr val="bg1"/>
                </a:solidFill>
              </a:rPr>
              <a:t> 监听节点变化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9624" y="1544324"/>
            <a:ext cx="11031514" cy="20313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@Override</a:t>
            </a:r>
            <a:br>
              <a:rPr lang="en-US" altLang="zh-CN" dirty="0"/>
            </a:br>
            <a:r>
              <a:rPr lang="en-US" altLang="zh-CN" dirty="0"/>
              <a:t>public void </a:t>
            </a:r>
            <a:r>
              <a:rPr lang="en-US" altLang="zh-CN" dirty="0" err="1"/>
              <a:t>childEvent</a:t>
            </a:r>
            <a:r>
              <a:rPr lang="en-US" altLang="zh-CN" dirty="0"/>
              <a:t>(</a:t>
            </a:r>
            <a:r>
              <a:rPr lang="en-US" altLang="zh-CN" dirty="0" err="1"/>
              <a:t>CuratorFramework</a:t>
            </a:r>
            <a:r>
              <a:rPr lang="en-US" altLang="zh-CN" dirty="0"/>
              <a:t> client, </a:t>
            </a:r>
            <a:r>
              <a:rPr lang="en-US" altLang="zh-CN" dirty="0" err="1"/>
              <a:t>TreeCacheEvent</a:t>
            </a:r>
            <a:r>
              <a:rPr lang="en-US" altLang="zh-CN" dirty="0"/>
              <a:t> event) throws Exception {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err="1"/>
              <a:t>TreeCacheEvent.Type</a:t>
            </a:r>
            <a:r>
              <a:rPr lang="en-US" altLang="zh-CN" dirty="0"/>
              <a:t> </a:t>
            </a:r>
            <a:r>
              <a:rPr lang="en-US" altLang="zh-CN" dirty="0" err="1"/>
              <a:t>eventType</a:t>
            </a:r>
            <a:r>
              <a:rPr lang="en-US" altLang="zh-CN" dirty="0"/>
              <a:t> = </a:t>
            </a:r>
            <a:r>
              <a:rPr lang="en-US" altLang="zh-CN" dirty="0" err="1"/>
              <a:t>event.getType</a:t>
            </a:r>
            <a:r>
              <a:rPr lang="en-US" altLang="zh-CN" dirty="0"/>
              <a:t>();</a:t>
            </a:r>
            <a:br>
              <a:rPr lang="en-US" altLang="zh-CN" dirty="0"/>
            </a:br>
            <a:r>
              <a:rPr lang="en-US" altLang="zh-CN" dirty="0"/>
              <a:t>   if (</a:t>
            </a:r>
            <a:r>
              <a:rPr lang="en-US" altLang="zh-CN" dirty="0" err="1"/>
              <a:t>eventType</a:t>
            </a:r>
            <a:r>
              <a:rPr lang="en-US" altLang="zh-CN" dirty="0"/>
              <a:t> == </a:t>
            </a:r>
            <a:r>
              <a:rPr lang="en-US" altLang="zh-CN" i="1" dirty="0"/>
              <a:t>NODE_ADDED </a:t>
            </a:r>
            <a:r>
              <a:rPr lang="en-US" altLang="zh-CN" dirty="0"/>
              <a:t>|| </a:t>
            </a:r>
            <a:r>
              <a:rPr lang="en-US" altLang="zh-CN" dirty="0" err="1"/>
              <a:t>eventType</a:t>
            </a:r>
            <a:r>
              <a:rPr lang="en-US" altLang="zh-CN" dirty="0"/>
              <a:t> == </a:t>
            </a:r>
            <a:r>
              <a:rPr lang="en-US" altLang="zh-CN" i="1" dirty="0"/>
              <a:t>NODE_REMOVED </a:t>
            </a:r>
            <a:r>
              <a:rPr lang="en-US" altLang="zh-CN" dirty="0"/>
              <a:t>|| </a:t>
            </a:r>
            <a:r>
              <a:rPr lang="en-US" altLang="zh-CN" dirty="0" err="1"/>
              <a:t>eventType</a:t>
            </a:r>
            <a:r>
              <a:rPr lang="en-US" altLang="zh-CN" dirty="0"/>
              <a:t> == </a:t>
            </a:r>
            <a:r>
              <a:rPr lang="en-US" altLang="zh-CN" i="1" dirty="0"/>
              <a:t>NODE_UPDATED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 err="1"/>
              <a:t>this.publisher.publishEvent</a:t>
            </a:r>
            <a:r>
              <a:rPr lang="en-US" altLang="zh-CN" dirty="0"/>
              <a:t>(new </a:t>
            </a:r>
            <a:r>
              <a:rPr lang="en-US" altLang="zh-CN" b="1" dirty="0" err="1">
                <a:solidFill>
                  <a:srgbClr val="FF0000"/>
                </a:solidFill>
              </a:rPr>
              <a:t>RefreshEvent</a:t>
            </a:r>
            <a:r>
              <a:rPr lang="en-US" altLang="zh-CN" dirty="0"/>
              <a:t>(this, event, </a:t>
            </a:r>
            <a:r>
              <a:rPr lang="en-US" altLang="zh-CN" dirty="0" err="1"/>
              <a:t>getEventDesc</a:t>
            </a:r>
            <a:r>
              <a:rPr lang="en-US" altLang="zh-CN" dirty="0"/>
              <a:t>(event)));</a:t>
            </a:r>
            <a:br>
              <a:rPr lang="en-US" altLang="zh-CN" dirty="0"/>
            </a:br>
            <a:r>
              <a:rPr lang="en-US" altLang="zh-CN" dirty="0"/>
              <a:t>   }</a:t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696686" y="4680857"/>
            <a:ext cx="9714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 smtClean="0">
                <a:solidFill>
                  <a:schemeClr val="bg1"/>
                </a:solidFill>
              </a:rPr>
              <a:t>监听节点的新增、删除、更新变化之后发送</a:t>
            </a:r>
            <a:r>
              <a:rPr kumimoji="1" lang="en-US" altLang="zh-CN" sz="2800" dirty="0" err="1" smtClean="0">
                <a:solidFill>
                  <a:schemeClr val="bg1"/>
                </a:solidFill>
              </a:rPr>
              <a:t>RefreshEvent</a:t>
            </a:r>
            <a:r>
              <a:rPr kumimoji="1" lang="zh-CN" altLang="en-US" sz="2800" dirty="0" smtClean="0">
                <a:solidFill>
                  <a:schemeClr val="bg1"/>
                </a:solidFill>
              </a:rPr>
              <a:t>事件</a:t>
            </a:r>
            <a:endParaRPr kumimoji="1" lang="zh-CN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48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Refresh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监听器 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3329" y="1260989"/>
            <a:ext cx="10254342" cy="48013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@</a:t>
            </a:r>
            <a:r>
              <a:rPr lang="en-US" altLang="zh-CN" dirty="0" err="1"/>
              <a:t>CommonsLog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public class </a:t>
            </a:r>
            <a:r>
              <a:rPr lang="en-US" altLang="zh-CN" dirty="0" err="1"/>
              <a:t>RefreshEventListener</a:t>
            </a:r>
            <a:r>
              <a:rPr lang="en-US" altLang="zh-CN" dirty="0"/>
              <a:t> {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/>
              <a:t>private </a:t>
            </a:r>
            <a:r>
              <a:rPr lang="en-US" altLang="zh-CN" dirty="0" err="1"/>
              <a:t>ContextRefresher</a:t>
            </a:r>
            <a:r>
              <a:rPr lang="en-US" altLang="zh-CN" dirty="0"/>
              <a:t> </a:t>
            </a:r>
            <a:r>
              <a:rPr lang="en-US" altLang="zh-CN" dirty="0"/>
              <a:t>refresh;</a:t>
            </a:r>
            <a:br>
              <a:rPr lang="en-US" altLang="zh-CN" dirty="0"/>
            </a:br>
            <a:r>
              <a:rPr lang="en-US" altLang="zh-CN" dirty="0"/>
              <a:t>   private </a:t>
            </a:r>
            <a:r>
              <a:rPr lang="en-US" altLang="zh-CN" dirty="0" err="1"/>
              <a:t>AtomicBoolean</a:t>
            </a:r>
            <a:r>
              <a:rPr lang="en-US" altLang="zh-CN" dirty="0"/>
              <a:t> </a:t>
            </a:r>
            <a:r>
              <a:rPr lang="en-US" altLang="zh-CN" dirty="0"/>
              <a:t>ready </a:t>
            </a:r>
            <a:r>
              <a:rPr lang="en-US" altLang="zh-CN" dirty="0"/>
              <a:t>= </a:t>
            </a:r>
            <a:r>
              <a:rPr lang="en-US" altLang="zh-CN" dirty="0"/>
              <a:t>new </a:t>
            </a:r>
            <a:r>
              <a:rPr lang="en-US" altLang="zh-CN" dirty="0" err="1"/>
              <a:t>AtomicBoolean</a:t>
            </a:r>
            <a:r>
              <a:rPr lang="en-US" altLang="zh-CN" dirty="0"/>
              <a:t>(</a:t>
            </a:r>
            <a:r>
              <a:rPr lang="en-US" altLang="zh-CN" dirty="0"/>
              <a:t>false</a:t>
            </a:r>
            <a:r>
              <a:rPr lang="en-US" altLang="zh-CN" dirty="0" smtClean="0"/>
              <a:t>);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public </a:t>
            </a:r>
            <a:r>
              <a:rPr lang="en-US" altLang="zh-CN" dirty="0" err="1"/>
              <a:t>RefreshEventListener</a:t>
            </a:r>
            <a:r>
              <a:rPr lang="en-US" altLang="zh-CN" dirty="0"/>
              <a:t>(</a:t>
            </a:r>
            <a:r>
              <a:rPr lang="en-US" altLang="zh-CN" dirty="0" err="1"/>
              <a:t>ContextRefresher</a:t>
            </a:r>
            <a:r>
              <a:rPr lang="en-US" altLang="zh-CN" dirty="0"/>
              <a:t> refresh) {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 err="1"/>
              <a:t>this</a:t>
            </a:r>
            <a:r>
              <a:rPr lang="en-US" altLang="zh-CN" dirty="0" err="1"/>
              <a:t>.</a:t>
            </a:r>
            <a:r>
              <a:rPr lang="en-US" altLang="zh-CN" dirty="0" err="1"/>
              <a:t>refresh</a:t>
            </a:r>
            <a:r>
              <a:rPr lang="en-US" altLang="zh-CN" dirty="0"/>
              <a:t> </a:t>
            </a:r>
            <a:r>
              <a:rPr lang="en-US" altLang="zh-CN" dirty="0"/>
              <a:t>= refresh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 smtClean="0"/>
              <a:t>}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</a:t>
            </a:r>
            <a:r>
              <a:rPr lang="en-US" altLang="zh-CN" dirty="0"/>
              <a:t>@</a:t>
            </a:r>
            <a:r>
              <a:rPr lang="en-US" altLang="zh-CN" dirty="0" err="1"/>
              <a:t>EventListener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   public void handle</a:t>
            </a:r>
            <a:r>
              <a:rPr lang="en-US" altLang="zh-CN" dirty="0"/>
              <a:t>(</a:t>
            </a:r>
            <a:r>
              <a:rPr lang="en-US" altLang="zh-CN" dirty="0" err="1"/>
              <a:t>RefreshEvent</a:t>
            </a:r>
            <a:r>
              <a:rPr lang="en-US" altLang="zh-CN" dirty="0"/>
              <a:t> event) {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/>
              <a:t>if </a:t>
            </a:r>
            <a:r>
              <a:rPr lang="en-US" altLang="zh-CN" dirty="0"/>
              <a:t>(</a:t>
            </a:r>
            <a:r>
              <a:rPr lang="en-US" altLang="zh-CN" dirty="0" err="1"/>
              <a:t>this</a:t>
            </a:r>
            <a:r>
              <a:rPr lang="en-US" altLang="zh-CN" dirty="0" err="1"/>
              <a:t>.</a:t>
            </a:r>
            <a:r>
              <a:rPr lang="en-US" altLang="zh-CN" dirty="0" err="1"/>
              <a:t>ready</a:t>
            </a:r>
            <a:r>
              <a:rPr lang="en-US" altLang="zh-CN" dirty="0" err="1"/>
              <a:t>.get</a:t>
            </a:r>
            <a:r>
              <a:rPr lang="en-US" altLang="zh-CN" dirty="0"/>
              <a:t>()) { </a:t>
            </a:r>
            <a:r>
              <a:rPr lang="en-US" altLang="zh-CN" dirty="0"/>
              <a:t>// don't handle events before app is ready</a:t>
            </a:r>
            <a:br>
              <a:rPr lang="en-US" altLang="zh-CN" dirty="0"/>
            </a:br>
            <a:r>
              <a:rPr lang="en-US" altLang="zh-CN" dirty="0"/>
              <a:t>         </a:t>
            </a:r>
            <a:r>
              <a:rPr lang="en-US" altLang="zh-CN" i="1" dirty="0" err="1"/>
              <a:t>log</a:t>
            </a:r>
            <a:r>
              <a:rPr lang="en-US" altLang="zh-CN" dirty="0" err="1"/>
              <a:t>.debug</a:t>
            </a:r>
            <a:r>
              <a:rPr lang="en-US" altLang="zh-CN" dirty="0"/>
              <a:t>(</a:t>
            </a:r>
            <a:r>
              <a:rPr lang="en-US" altLang="zh-CN" dirty="0"/>
              <a:t>"Event received " </a:t>
            </a:r>
            <a:r>
              <a:rPr lang="en-US" altLang="zh-CN" dirty="0"/>
              <a:t>+ </a:t>
            </a:r>
            <a:r>
              <a:rPr lang="en-US" altLang="zh-CN" dirty="0" err="1"/>
              <a:t>event.getEventDesc</a:t>
            </a:r>
            <a:r>
              <a:rPr lang="en-US" altLang="zh-CN" dirty="0"/>
              <a:t>())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 </a:t>
            </a:r>
            <a:r>
              <a:rPr lang="en-US" altLang="zh-CN" dirty="0"/>
              <a:t>Set&lt;String&gt; keys = </a:t>
            </a:r>
            <a:r>
              <a:rPr lang="en-US" altLang="zh-CN" b="1" dirty="0" err="1">
                <a:solidFill>
                  <a:srgbClr val="FF0000"/>
                </a:solidFill>
              </a:rPr>
              <a:t>this</a:t>
            </a:r>
            <a:r>
              <a:rPr lang="en-US" altLang="zh-CN" b="1" dirty="0" err="1">
                <a:solidFill>
                  <a:srgbClr val="FF0000"/>
                </a:solidFill>
              </a:rPr>
              <a:t>.</a:t>
            </a:r>
            <a:r>
              <a:rPr lang="en-US" altLang="zh-CN" b="1" dirty="0" err="1">
                <a:solidFill>
                  <a:srgbClr val="FF0000"/>
                </a:solidFill>
              </a:rPr>
              <a:t>refresh</a:t>
            </a:r>
            <a:r>
              <a:rPr lang="en-US" altLang="zh-CN" b="1" dirty="0" err="1">
                <a:solidFill>
                  <a:srgbClr val="FF0000"/>
                </a:solidFill>
              </a:rPr>
              <a:t>.refresh</a:t>
            </a:r>
            <a:r>
              <a:rPr lang="en-US" altLang="zh-CN" dirty="0"/>
              <a:t>()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 </a:t>
            </a:r>
            <a:r>
              <a:rPr lang="en-US" altLang="zh-CN" i="1" dirty="0" err="1"/>
              <a:t>log</a:t>
            </a:r>
            <a:r>
              <a:rPr lang="en-US" altLang="zh-CN" dirty="0" err="1"/>
              <a:t>.info</a:t>
            </a:r>
            <a:r>
              <a:rPr lang="en-US" altLang="zh-CN" dirty="0"/>
              <a:t>(</a:t>
            </a:r>
            <a:r>
              <a:rPr lang="en-US" altLang="zh-CN" dirty="0"/>
              <a:t>"Refresh keys changed: " </a:t>
            </a:r>
            <a:r>
              <a:rPr lang="en-US" altLang="zh-CN" dirty="0"/>
              <a:t>+ keys)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/>
              <a:t>   }</a:t>
            </a:r>
            <a:br>
              <a:rPr lang="en-US" altLang="zh-CN" dirty="0"/>
            </a:br>
            <a:r>
              <a:rPr lang="en-US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4416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10518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Refresh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43189" y="1094704"/>
            <a:ext cx="9903853" cy="452431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public synchronized </a:t>
            </a:r>
            <a:r>
              <a:rPr lang="en-US" altLang="zh-CN" sz="2400" dirty="0"/>
              <a:t>Set&lt;String&gt; </a:t>
            </a:r>
            <a:r>
              <a:rPr lang="en-US" altLang="zh-CN" sz="2400" dirty="0"/>
              <a:t>refresh</a:t>
            </a:r>
            <a:r>
              <a:rPr lang="en-US" altLang="zh-CN" sz="2400" dirty="0"/>
              <a:t>() {</a:t>
            </a:r>
            <a:br>
              <a:rPr lang="en-US" altLang="zh-CN" sz="2400" dirty="0"/>
            </a:br>
            <a:r>
              <a:rPr lang="en-US" altLang="zh-CN" sz="2400" dirty="0"/>
              <a:t>   Map&lt;String</a:t>
            </a:r>
            <a:r>
              <a:rPr lang="en-US" altLang="zh-CN" sz="2400" dirty="0"/>
              <a:t>, </a:t>
            </a:r>
            <a:r>
              <a:rPr lang="en-US" altLang="zh-CN" sz="2400" dirty="0"/>
              <a:t>Object&gt; before = extract(</a:t>
            </a:r>
            <a:br>
              <a:rPr lang="en-US" altLang="zh-CN" sz="2400" dirty="0"/>
            </a:br>
            <a:r>
              <a:rPr lang="en-US" altLang="zh-CN" sz="2400" dirty="0"/>
              <a:t>        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</a:t>
            </a:r>
            <a:r>
              <a:rPr lang="en-US" altLang="zh-CN" sz="2400" dirty="0" err="1"/>
              <a:t>context</a:t>
            </a:r>
            <a:r>
              <a:rPr lang="en-US" altLang="zh-CN" sz="2400" dirty="0" err="1"/>
              <a:t>.getEnvironment</a:t>
            </a:r>
            <a:r>
              <a:rPr lang="en-US" altLang="zh-CN" sz="2400" dirty="0"/>
              <a:t>().</a:t>
            </a:r>
            <a:r>
              <a:rPr lang="en-US" altLang="zh-CN" sz="2400" dirty="0" err="1"/>
              <a:t>getPropertySources</a:t>
            </a:r>
            <a:r>
              <a:rPr lang="en-US" altLang="zh-CN" sz="2400" dirty="0" smtClean="0"/>
              <a:t>());</a:t>
            </a:r>
          </a:p>
          <a:p>
            <a:r>
              <a:rPr lang="zh-CN" altLang="en-US" sz="2400" dirty="0"/>
              <a:t> </a:t>
            </a:r>
            <a:r>
              <a:rPr lang="zh-CN" altLang="en-US" sz="2400" dirty="0" smtClean="0"/>
              <a:t>  </a:t>
            </a:r>
            <a:r>
              <a:rPr lang="en-US" altLang="zh-CN" sz="2400" dirty="0" smtClean="0"/>
              <a:t>//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刷新配置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</a:t>
            </a:r>
            <a:r>
              <a:rPr lang="en-US" altLang="zh-CN" sz="2400" b="1" dirty="0" err="1">
                <a:solidFill>
                  <a:srgbClr val="FF0000"/>
                </a:solidFill>
              </a:rPr>
              <a:t>addConfigFilesToEnvironment</a:t>
            </a:r>
            <a:r>
              <a:rPr lang="en-US" altLang="zh-CN" sz="2400" dirty="0" smtClean="0"/>
              <a:t>();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</a:t>
            </a:r>
            <a:r>
              <a:rPr lang="en-US" altLang="zh-CN" sz="2400" dirty="0"/>
              <a:t>Set&lt;String&gt; keys = changes(before</a:t>
            </a:r>
            <a:r>
              <a:rPr lang="en-US" altLang="zh-CN" sz="2400" dirty="0"/>
              <a:t>,</a:t>
            </a:r>
            <a:br>
              <a:rPr lang="en-US" altLang="zh-CN" sz="2400" dirty="0"/>
            </a:br>
            <a:r>
              <a:rPr lang="en-US" altLang="zh-CN" sz="2400" dirty="0"/>
              <a:t>         </a:t>
            </a:r>
            <a:r>
              <a:rPr lang="en-US" altLang="zh-CN" sz="2400" dirty="0"/>
              <a:t>extract(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</a:t>
            </a:r>
            <a:r>
              <a:rPr lang="en-US" altLang="zh-CN" sz="2400" dirty="0" err="1"/>
              <a:t>context</a:t>
            </a:r>
            <a:r>
              <a:rPr lang="en-US" altLang="zh-CN" sz="2400" dirty="0" err="1"/>
              <a:t>.getEnvironment</a:t>
            </a:r>
            <a:r>
              <a:rPr lang="en-US" altLang="zh-CN" sz="2400" dirty="0"/>
              <a:t>().</a:t>
            </a:r>
            <a:r>
              <a:rPr lang="en-US" altLang="zh-CN" sz="2400" dirty="0" err="1"/>
              <a:t>getPropertySources</a:t>
            </a:r>
            <a:r>
              <a:rPr lang="en-US" altLang="zh-CN" sz="2400" dirty="0"/>
              <a:t>())).</a:t>
            </a:r>
            <a:r>
              <a:rPr lang="en-US" altLang="zh-CN" sz="2400" dirty="0" err="1"/>
              <a:t>keySet</a:t>
            </a:r>
            <a:r>
              <a:rPr lang="en-US" altLang="zh-CN" sz="2400" dirty="0" smtClean="0"/>
              <a:t>();</a:t>
            </a:r>
          </a:p>
          <a:p>
            <a:r>
              <a:rPr lang="zh-CN" altLang="en-US" sz="2400" dirty="0"/>
              <a:t> </a:t>
            </a:r>
            <a:r>
              <a:rPr lang="zh-CN" altLang="en-US" sz="2400" dirty="0" smtClean="0"/>
              <a:t>  </a:t>
            </a:r>
            <a:r>
              <a:rPr lang="en-US" altLang="zh-CN" sz="2400" dirty="0" smtClean="0"/>
              <a:t>//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重新绑定配置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</a:t>
            </a:r>
            <a:r>
              <a:rPr lang="en-US" altLang="zh-CN" sz="2400" dirty="0" err="1"/>
              <a:t>context</a:t>
            </a:r>
            <a:r>
              <a:rPr lang="en-US" altLang="zh-CN" sz="2400" dirty="0" err="1"/>
              <a:t>.publishEvent</a:t>
            </a:r>
            <a:r>
              <a:rPr lang="en-US" altLang="zh-CN" sz="2400" dirty="0"/>
              <a:t>(</a:t>
            </a:r>
            <a:r>
              <a:rPr lang="en-US" altLang="zh-CN" sz="2400" dirty="0"/>
              <a:t>new </a:t>
            </a:r>
            <a:r>
              <a:rPr lang="en-US" altLang="zh-CN" sz="2400" b="1" dirty="0" err="1">
                <a:solidFill>
                  <a:srgbClr val="FF0000"/>
                </a:solidFill>
              </a:rPr>
              <a:t>EnvironmentChangeEvent</a:t>
            </a:r>
            <a:r>
              <a:rPr lang="en-US" altLang="zh-CN" sz="2400" dirty="0"/>
              <a:t>(keys))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</a:t>
            </a:r>
            <a:r>
              <a:rPr lang="en-US" altLang="zh-CN" sz="2400" dirty="0" err="1"/>
              <a:t>scope</a:t>
            </a:r>
            <a:r>
              <a:rPr lang="en-US" altLang="zh-CN" sz="2400" dirty="0" err="1"/>
              <a:t>.refreshAll</a:t>
            </a:r>
            <a:r>
              <a:rPr lang="en-US" altLang="zh-CN" sz="2400" dirty="0"/>
              <a:t>()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return </a:t>
            </a:r>
            <a:r>
              <a:rPr lang="en-US" altLang="zh-CN" sz="2400" dirty="0"/>
              <a:t>keys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997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10518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>
                <a:solidFill>
                  <a:schemeClr val="bg1"/>
                </a:solidFill>
              </a:rPr>
              <a:t>addConfigFilesToEnvironment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7956" y="1094704"/>
            <a:ext cx="11070151" cy="532453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private void </a:t>
            </a:r>
            <a:r>
              <a:rPr lang="en-US" altLang="zh-CN" sz="2400" dirty="0" err="1"/>
              <a:t>addConfigFilesToEnvironment</a:t>
            </a:r>
            <a:r>
              <a:rPr lang="en-US" altLang="zh-CN" sz="2400" dirty="0"/>
              <a:t>() {			</a:t>
            </a:r>
            <a:r>
              <a:rPr lang="en-US" altLang="zh-CN" sz="2400" dirty="0" err="1"/>
              <a:t>StandardEnvironment</a:t>
            </a:r>
            <a:r>
              <a:rPr lang="en-US" altLang="zh-CN" sz="2400" dirty="0"/>
              <a:t> environment = </a:t>
            </a:r>
            <a:r>
              <a:rPr lang="en-US" altLang="zh-CN" sz="2400" dirty="0" err="1"/>
              <a:t>copyEnvironment</a:t>
            </a:r>
            <a:r>
              <a:rPr lang="en-US" altLang="zh-CN" sz="2400" dirty="0"/>
              <a:t>(					</a:t>
            </a:r>
            <a:r>
              <a:rPr lang="en-US" altLang="zh-CN" sz="2400" dirty="0" err="1"/>
              <a:t>this.context.getEnvironment</a:t>
            </a:r>
            <a:r>
              <a:rPr lang="en-US" altLang="zh-CN" sz="2400" dirty="0"/>
              <a:t>());			</a:t>
            </a:r>
            <a:r>
              <a:rPr lang="en-US" altLang="zh-CN" sz="2400" dirty="0" err="1"/>
              <a:t>SpringApplicationBuilder</a:t>
            </a:r>
            <a:r>
              <a:rPr lang="en-US" altLang="zh-CN" sz="2400" dirty="0"/>
              <a:t> builder = new </a:t>
            </a:r>
            <a:r>
              <a:rPr lang="en-US" altLang="zh-CN" sz="2400" dirty="0" err="1"/>
              <a:t>SpringApplicationBuilder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Empty.class</a:t>
            </a:r>
            <a:r>
              <a:rPr lang="en-US" altLang="zh-CN" sz="2400" dirty="0"/>
              <a:t>)					.</a:t>
            </a:r>
            <a:r>
              <a:rPr lang="en-US" altLang="zh-CN" sz="2400" dirty="0" err="1"/>
              <a:t>bannerMode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Mode.OFF</a:t>
            </a:r>
            <a:r>
              <a:rPr lang="en-US" altLang="zh-CN" sz="2400" dirty="0"/>
              <a:t>).web(false).environment(environment);			</a:t>
            </a:r>
            <a:r>
              <a:rPr lang="en-US" altLang="zh-CN" sz="2400" dirty="0" err="1"/>
              <a:t>builder.application</a:t>
            </a:r>
            <a:r>
              <a:rPr lang="en-US" altLang="zh-CN" sz="2400" dirty="0"/>
              <a:t>()					.</a:t>
            </a:r>
            <a:r>
              <a:rPr lang="en-US" altLang="zh-CN" sz="2400" dirty="0" err="1"/>
              <a:t>setListeners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Arrays.asList</a:t>
            </a:r>
            <a:r>
              <a:rPr lang="en-US" altLang="zh-CN" sz="2400" dirty="0"/>
              <a:t>(new </a:t>
            </a:r>
            <a:r>
              <a:rPr lang="en-US" altLang="zh-CN" sz="2400" dirty="0" err="1"/>
              <a:t>BootstrapApplicationListener</a:t>
            </a:r>
            <a:r>
              <a:rPr lang="en-US" altLang="zh-CN" sz="2400" dirty="0"/>
              <a:t>(),							new </a:t>
            </a:r>
            <a:r>
              <a:rPr lang="en-US" altLang="zh-CN" sz="2400" dirty="0" err="1"/>
              <a:t>ConfigFileApplicationListener</a:t>
            </a:r>
            <a:r>
              <a:rPr lang="en-US" altLang="zh-CN" sz="2400" dirty="0"/>
              <a:t>()));			</a:t>
            </a:r>
            <a:r>
              <a:rPr lang="en-US" altLang="zh-CN" sz="2400" dirty="0" err="1"/>
              <a:t>ConfigurableApplicationContext</a:t>
            </a:r>
            <a:r>
              <a:rPr lang="en-US" altLang="zh-CN" sz="2400" dirty="0"/>
              <a:t> capture = </a:t>
            </a:r>
            <a:r>
              <a:rPr lang="en-US" altLang="zh-CN" sz="2800" b="1" dirty="0" err="1">
                <a:solidFill>
                  <a:srgbClr val="FF0000"/>
                </a:solidFill>
              </a:rPr>
              <a:t>builder.run</a:t>
            </a:r>
            <a:r>
              <a:rPr lang="en-US" altLang="zh-CN" sz="2400" dirty="0"/>
              <a:t>();			</a:t>
            </a:r>
            <a:r>
              <a:rPr lang="en-US" altLang="zh-CN" sz="2400" dirty="0" err="1"/>
              <a:t>MutablePropertySources</a:t>
            </a:r>
            <a:r>
              <a:rPr lang="en-US" altLang="zh-CN" sz="2400" dirty="0"/>
              <a:t> target = </a:t>
            </a:r>
            <a:r>
              <a:rPr lang="en-US" altLang="zh-CN" sz="2400" dirty="0" err="1"/>
              <a:t>this.context.getEnvironment</a:t>
            </a:r>
            <a:r>
              <a:rPr lang="en-US" altLang="zh-CN" sz="2400" dirty="0"/>
              <a:t>()					.</a:t>
            </a:r>
            <a:r>
              <a:rPr lang="en-US" altLang="zh-CN" sz="2400" dirty="0" err="1"/>
              <a:t>getPropertySources</a:t>
            </a:r>
            <a:r>
              <a:rPr lang="en-US" altLang="zh-CN" sz="2400" dirty="0"/>
              <a:t>();			</a:t>
            </a:r>
            <a:r>
              <a:rPr lang="en-US" altLang="zh-CN" sz="2400" b="1" dirty="0" err="1">
                <a:solidFill>
                  <a:srgbClr val="FF0000"/>
                </a:solidFill>
              </a:rPr>
              <a:t>target.merge</a:t>
            </a:r>
            <a:r>
              <a:rPr lang="en-US" altLang="zh-CN" sz="2400" b="1" dirty="0">
                <a:solidFill>
                  <a:srgbClr val="FF0000"/>
                </a:solidFill>
              </a:rPr>
              <a:t>(environment)</a:t>
            </a:r>
            <a:r>
              <a:rPr lang="en-US" altLang="zh-CN" sz="2400" dirty="0"/>
              <a:t>;		</a:t>
            </a:r>
            <a:endParaRPr lang="en-US" altLang="zh-CN" sz="2400" dirty="0" smtClean="0"/>
          </a:p>
          <a:p>
            <a:r>
              <a:rPr lang="en-US" altLang="zh-CN" sz="2400" dirty="0" smtClean="0"/>
              <a:t>}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37215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614587" y="51515"/>
            <a:ext cx="107610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ConfigurationPropertiesRebinder</a:t>
            </a:r>
            <a:r>
              <a:rPr lang="zh-CN" altLang="en-US" sz="40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251" y="130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98490" y="1287887"/>
            <a:ext cx="1040612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public void </a:t>
            </a:r>
            <a:r>
              <a:rPr lang="en-US" altLang="zh-CN" sz="2400" dirty="0" err="1"/>
              <a:t>onApplicationEvent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EnvironmentChangeEvent</a:t>
            </a:r>
            <a:r>
              <a:rPr lang="en-US" altLang="zh-CN" sz="2400" dirty="0"/>
              <a:t> event) {</a:t>
            </a:r>
            <a:br>
              <a:rPr lang="en-US" altLang="zh-CN" sz="2400" dirty="0"/>
            </a:br>
            <a:r>
              <a:rPr lang="en-US" altLang="zh-CN" sz="2400" dirty="0"/>
              <a:t>   rebind()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798490" y="3114540"/>
            <a:ext cx="10406129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public void rebind</a:t>
            </a:r>
            <a:r>
              <a:rPr lang="en-US" altLang="zh-CN" sz="2400" dirty="0"/>
              <a:t>() {</a:t>
            </a:r>
            <a:br>
              <a:rPr lang="en-US" altLang="zh-CN" sz="2400" dirty="0"/>
            </a:br>
            <a:r>
              <a:rPr lang="en-US" altLang="zh-CN" sz="2400" dirty="0"/>
              <a:t>  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</a:t>
            </a:r>
            <a:r>
              <a:rPr lang="en-US" altLang="zh-CN" sz="2400" dirty="0" err="1"/>
              <a:t>errors</a:t>
            </a:r>
            <a:r>
              <a:rPr lang="en-US" altLang="zh-CN" sz="2400" dirty="0" err="1"/>
              <a:t>.clear</a:t>
            </a:r>
            <a:r>
              <a:rPr lang="en-US" altLang="zh-CN" sz="2400" dirty="0"/>
              <a:t>()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for </a:t>
            </a:r>
            <a:r>
              <a:rPr lang="en-US" altLang="zh-CN" sz="2400" dirty="0"/>
              <a:t>(String name :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</a:t>
            </a:r>
            <a:r>
              <a:rPr lang="en-US" altLang="zh-CN" sz="2400" dirty="0" err="1"/>
              <a:t>beans</a:t>
            </a:r>
            <a:r>
              <a:rPr lang="en-US" altLang="zh-CN" sz="2400" dirty="0" err="1"/>
              <a:t>.getBeanNames</a:t>
            </a:r>
            <a:r>
              <a:rPr lang="en-US" altLang="zh-CN" sz="2400" dirty="0"/>
              <a:t>()) {</a:t>
            </a:r>
            <a:br>
              <a:rPr lang="en-US" altLang="zh-CN" sz="2400" dirty="0"/>
            </a:br>
            <a:r>
              <a:rPr lang="en-US" altLang="zh-CN" sz="2400" dirty="0"/>
              <a:t>      rebind(name)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</a:t>
            </a:r>
            <a:r>
              <a:rPr lang="en-US" altLang="zh-CN" sz="2400" dirty="0"/>
              <a:t>}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873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614587" y="51515"/>
            <a:ext cx="107610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ConfigurationPropertiesRebinder</a:t>
            </a:r>
            <a:r>
              <a:rPr lang="zh-CN" altLang="en-US" sz="40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251" y="130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92051" y="1485432"/>
            <a:ext cx="10406129" cy="45243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 smtClean="0"/>
              <a:t>public </a:t>
            </a:r>
            <a:r>
              <a:rPr lang="en-US" altLang="zh-CN" sz="2400" dirty="0" err="1"/>
              <a:t>boolean</a:t>
            </a:r>
            <a:r>
              <a:rPr lang="en-US" altLang="zh-CN" sz="2400" dirty="0"/>
              <a:t> rebind(String name) </a:t>
            </a:r>
            <a:r>
              <a:rPr lang="en-US" altLang="zh-CN" sz="2400" dirty="0" smtClean="0"/>
              <a:t>{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 Object bean = </a:t>
            </a:r>
            <a:r>
              <a:rPr lang="en-US" altLang="zh-CN" sz="2400" dirty="0" err="1"/>
              <a:t>this.applicationContext.getBean</a:t>
            </a:r>
            <a:r>
              <a:rPr lang="en-US" altLang="zh-CN" sz="2400" dirty="0"/>
              <a:t>(name);</a:t>
            </a:r>
            <a:br>
              <a:rPr lang="en-US" altLang="zh-CN" sz="2400" dirty="0"/>
            </a:br>
            <a:r>
              <a:rPr lang="en-US" altLang="zh-CN" sz="2400" dirty="0"/>
              <a:t>         if (</a:t>
            </a:r>
            <a:r>
              <a:rPr lang="en-US" altLang="zh-CN" sz="2400" dirty="0" err="1"/>
              <a:t>AopUtils.</a:t>
            </a:r>
            <a:r>
              <a:rPr lang="en-US" altLang="zh-CN" sz="2400" i="1" dirty="0" err="1"/>
              <a:t>isCglibProxy</a:t>
            </a:r>
            <a:r>
              <a:rPr lang="en-US" altLang="zh-CN" sz="2400" dirty="0"/>
              <a:t>(bean)) {</a:t>
            </a:r>
            <a:br>
              <a:rPr lang="en-US" altLang="zh-CN" sz="2400" dirty="0"/>
            </a:br>
            <a:r>
              <a:rPr lang="en-US" altLang="zh-CN" sz="2400" dirty="0"/>
              <a:t>            bean = </a:t>
            </a:r>
            <a:r>
              <a:rPr lang="en-US" altLang="zh-CN" sz="2400" i="1" dirty="0" err="1"/>
              <a:t>getTargetObject</a:t>
            </a:r>
            <a:r>
              <a:rPr lang="en-US" altLang="zh-CN" sz="2400" dirty="0"/>
              <a:t>(bean);</a:t>
            </a:r>
            <a:br>
              <a:rPr lang="en-US" altLang="zh-CN" sz="2400" dirty="0"/>
            </a:br>
            <a:r>
              <a:rPr lang="en-US" altLang="zh-CN" sz="2400" dirty="0"/>
              <a:t>         </a:t>
            </a:r>
            <a:r>
              <a:rPr lang="en-US" altLang="zh-CN" sz="2400" dirty="0" smtClean="0"/>
              <a:t>}</a:t>
            </a:r>
          </a:p>
          <a:p>
            <a:r>
              <a:rPr lang="zh-CN" altLang="en-US" sz="2400" dirty="0"/>
              <a:t> </a:t>
            </a:r>
            <a:r>
              <a:rPr lang="zh-CN" altLang="en-US" sz="2400" dirty="0" smtClean="0"/>
              <a:t>      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初始化之前把新配置绑定</a:t>
            </a:r>
            <a:r>
              <a:rPr lang="en-US" altLang="zh-CN" sz="2400" b="1" dirty="0">
                <a:solidFill>
                  <a:srgbClr val="FF0000"/>
                </a:solidFill>
              </a:rPr>
              <a:t/>
            </a:r>
            <a:br>
              <a:rPr lang="en-US" altLang="zh-CN" sz="2400" b="1" dirty="0">
                <a:solidFill>
                  <a:srgbClr val="FF0000"/>
                </a:solidFill>
              </a:rPr>
            </a:br>
            <a:r>
              <a:rPr lang="en-US" altLang="zh-CN" sz="2400" dirty="0"/>
              <a:t>         </a:t>
            </a:r>
            <a:r>
              <a:rPr lang="en-US" altLang="zh-CN" sz="2400" dirty="0" err="1"/>
              <a:t>this.binder.</a:t>
            </a:r>
            <a:r>
              <a:rPr lang="en-US" altLang="zh-CN" sz="2400" b="1" dirty="0" err="1">
                <a:solidFill>
                  <a:srgbClr val="FF0000"/>
                </a:solidFill>
              </a:rPr>
              <a:t>postProcessBeforeInitialization</a:t>
            </a:r>
            <a:r>
              <a:rPr lang="en-US" altLang="zh-CN" sz="2400" dirty="0"/>
              <a:t>(bean, name</a:t>
            </a:r>
            <a:r>
              <a:rPr lang="en-US" altLang="zh-CN" sz="2400" dirty="0" smtClean="0"/>
              <a:t>);</a:t>
            </a:r>
          </a:p>
          <a:p>
            <a:r>
              <a:rPr lang="zh-CN" altLang="en-US" sz="2400" dirty="0"/>
              <a:t> </a:t>
            </a:r>
            <a:r>
              <a:rPr lang="zh-CN" altLang="en-US" sz="2400" dirty="0" smtClean="0"/>
              <a:t>        </a:t>
            </a:r>
            <a:r>
              <a:rPr lang="en-US" altLang="zh-CN" sz="2400" dirty="0" smtClean="0"/>
              <a:t>//</a:t>
            </a:r>
            <a:r>
              <a:rPr lang="zh-CN" altLang="en-US" sz="2400" dirty="0" smtClean="0"/>
              <a:t> 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重新初始化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bean</a:t>
            </a:r>
            <a:r>
              <a:rPr lang="en-US" altLang="zh-CN" sz="2400" b="1" dirty="0">
                <a:solidFill>
                  <a:srgbClr val="FF0000"/>
                </a:solidFill>
              </a:rPr>
              <a:t/>
            </a:r>
            <a:br>
              <a:rPr lang="en-US" altLang="zh-CN" sz="2400" b="1" dirty="0">
                <a:solidFill>
                  <a:srgbClr val="FF0000"/>
                </a:solidFill>
              </a:rPr>
            </a:br>
            <a:r>
              <a:rPr lang="en-US" altLang="zh-CN" sz="2400" dirty="0"/>
              <a:t>         </a:t>
            </a:r>
            <a:r>
              <a:rPr lang="en-US" altLang="zh-CN" sz="2400" dirty="0" err="1"/>
              <a:t>this.applicationContext.getAutowireCapableBeanFactory</a:t>
            </a:r>
            <a:r>
              <a:rPr lang="en-US" altLang="zh-CN" sz="2400" dirty="0"/>
              <a:t>()</a:t>
            </a:r>
            <a:br>
              <a:rPr lang="en-US" altLang="zh-CN" sz="2400" dirty="0"/>
            </a:br>
            <a:r>
              <a:rPr lang="en-US" altLang="zh-CN" sz="2400" dirty="0"/>
              <a:t>               .</a:t>
            </a:r>
            <a:r>
              <a:rPr lang="en-US" altLang="zh-CN" sz="2400" b="1" dirty="0" err="1">
                <a:solidFill>
                  <a:srgbClr val="FF0000"/>
                </a:solidFill>
              </a:rPr>
              <a:t>initializeBean</a:t>
            </a:r>
            <a:r>
              <a:rPr lang="en-US" altLang="zh-CN" sz="2400" dirty="0"/>
              <a:t>(bean, name);</a:t>
            </a:r>
            <a:br>
              <a:rPr lang="en-US" altLang="zh-CN" sz="2400" dirty="0"/>
            </a:br>
            <a:r>
              <a:rPr lang="en-US" altLang="zh-CN" sz="2400" dirty="0"/>
              <a:t>         return true;</a:t>
            </a:r>
            <a:br>
              <a:rPr lang="en-US" altLang="zh-CN" sz="2400" dirty="0"/>
            </a:br>
            <a:r>
              <a:rPr lang="en-US" altLang="zh-CN" sz="2400" dirty="0" smtClean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82365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ConfigWacher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940157" y="1187052"/>
            <a:ext cx="10522039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添加配置 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spring.factroies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solidFill>
                  <a:schemeClr val="bg1"/>
                </a:solidFill>
              </a:rPr>
              <a:t>EnableAutoConfiguration</a:t>
            </a:r>
            <a:r>
              <a:rPr lang="en-US" altLang="zh-CN" sz="2400" dirty="0" smtClean="0">
                <a:solidFill>
                  <a:schemeClr val="bg1"/>
                </a:solidFill>
              </a:rPr>
              <a:t>=\</a:t>
            </a:r>
            <a:r>
              <a:rPr lang="en-US" altLang="zh-CN" sz="2400" b="1" dirty="0" err="1" smtClean="0">
                <a:solidFill>
                  <a:schemeClr val="bg1"/>
                </a:solidFill>
              </a:rPr>
              <a:t>ZookeeperConfigAutoConfiguration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监听节点变化之后发送</a:t>
            </a:r>
            <a:r>
              <a:rPr lang="en-US" altLang="zh-CN" sz="2400" dirty="0" err="1" smtClean="0">
                <a:solidFill>
                  <a:schemeClr val="bg1"/>
                </a:solidFill>
              </a:rPr>
              <a:t>RefreshEvent</a:t>
            </a:r>
            <a:r>
              <a:rPr lang="zh-CN" altLang="en-US" sz="2400" dirty="0" smtClean="0">
                <a:solidFill>
                  <a:schemeClr val="bg1"/>
                </a:solidFill>
              </a:rPr>
              <a:t>事件</a:t>
            </a:r>
            <a:endParaRPr lang="en-US" altLang="zh-CN" sz="24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刷新配置   </a:t>
            </a:r>
            <a:r>
              <a:rPr lang="en-US" altLang="zh-CN" sz="2400" dirty="0" err="1" smtClean="0">
                <a:solidFill>
                  <a:schemeClr val="bg1"/>
                </a:solidFill>
              </a:rPr>
              <a:t>SpringApplicationBuilder.run</a:t>
            </a:r>
            <a:r>
              <a:rPr lang="en-US" altLang="zh-CN" sz="2400" dirty="0" smtClean="0">
                <a:solidFill>
                  <a:schemeClr val="bg1"/>
                </a:solidFill>
              </a:rPr>
              <a:t>()</a:t>
            </a:r>
            <a:endParaRPr lang="en-US" altLang="zh-CN" sz="24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重新初始化所有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bean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（绑定新配置属性） 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 err="1" smtClean="0">
                <a:solidFill>
                  <a:schemeClr val="bg1"/>
                </a:solidFill>
              </a:rPr>
              <a:t>postProcessBeforeInitialization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()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 err="1" smtClean="0">
                <a:solidFill>
                  <a:schemeClr val="bg1"/>
                </a:solidFill>
              </a:rPr>
              <a:t>initializeBean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()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0356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C1A356C2-2C80-7E48-84F4-5ABEDC633A90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en-US" altLang="zh-CN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zh-CN" altLang="en-US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zh-CN" altLang="en-US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</a:t>
            </a:r>
            <a:endParaRPr lang="en-US" altLang="zh-CN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470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Encrypt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流程图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7128" y="861743"/>
            <a:ext cx="9852338" cy="5757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61564" y="2240924"/>
            <a:ext cx="8403466" cy="422427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 smtClean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 smtClean="0">
              <a:solidFill>
                <a:schemeClr val="bg1"/>
              </a:solidFill>
            </a:endParaRPr>
          </a:p>
          <a:p>
            <a:r>
              <a:rPr lang="en-US" altLang="zh-CN" dirty="0" err="1" smtClean="0">
                <a:solidFill>
                  <a:schemeClr val="bg1"/>
                </a:solidFill>
              </a:rPr>
              <a:t>BootstrapConfiguration</a:t>
            </a:r>
            <a:r>
              <a:rPr lang="zh-CN" altLang="en-US" dirty="0" smtClean="0">
                <a:solidFill>
                  <a:schemeClr val="bg1"/>
                </a:solidFill>
              </a:rPr>
              <a:t>配置 </a:t>
            </a:r>
            <a:r>
              <a:rPr lang="en-US" altLang="zh-CN" dirty="0" err="1" smtClean="0"/>
              <a:t>EncryptPostProcessor</a:t>
            </a:r>
            <a:r>
              <a:rPr lang="en-US" altLang="zh-CN" dirty="0" smtClean="0"/>
              <a:t> </a:t>
            </a:r>
            <a:endParaRPr kumimoji="1" lang="en-US" altLang="zh-CN" dirty="0" smtClean="0">
              <a:solidFill>
                <a:schemeClr val="bg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71990" y="3081785"/>
            <a:ext cx="5782614" cy="11565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EncryptPostProcessor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err="1" smtClean="0">
                <a:solidFill>
                  <a:srgbClr val="FF0000"/>
                </a:solidFill>
              </a:rPr>
              <a:t>postProcessBeforeInitialization</a:t>
            </a:r>
            <a:r>
              <a:rPr lang="en-US" altLang="zh-CN" b="1" dirty="0" smtClean="0">
                <a:solidFill>
                  <a:srgbClr val="FF0000"/>
                </a:solidFill>
              </a:rPr>
              <a:t>()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03683" y="4710288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>
                <a:solidFill>
                  <a:srgbClr val="FF0000"/>
                </a:solidFill>
              </a:rPr>
              <a:t>updateBean</a:t>
            </a:r>
            <a:r>
              <a:rPr lang="en-US" altLang="zh-CN" b="1" dirty="0" smtClean="0">
                <a:solidFill>
                  <a:srgbClr val="FF0000"/>
                </a:solidFill>
              </a:rPr>
              <a:t>()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18" name="直线箭头连接符 17"/>
          <p:cNvCxnSpPr/>
          <p:nvPr/>
        </p:nvCxnSpPr>
        <p:spPr>
          <a:xfrm>
            <a:off x="5352372" y="4238306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158329" y="1091415"/>
            <a:ext cx="2421229" cy="688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SpringApplication.run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  <p:cxnSp>
        <p:nvCxnSpPr>
          <p:cNvPr id="26" name="直线箭头连接符 25"/>
          <p:cNvCxnSpPr/>
          <p:nvPr/>
        </p:nvCxnSpPr>
        <p:spPr>
          <a:xfrm>
            <a:off x="5352372" y="1779863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203684" y="5774233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deCode</a:t>
            </a:r>
            <a:r>
              <a:rPr lang="en-US" altLang="zh-CN" b="1" dirty="0" smtClean="0">
                <a:solidFill>
                  <a:srgbClr val="FF0000"/>
                </a:solidFill>
              </a:rPr>
              <a:t>(</a:t>
            </a:r>
            <a:r>
              <a:rPr lang="en-US" altLang="zh-CN" b="1" dirty="0" err="1" smtClean="0">
                <a:solidFill>
                  <a:srgbClr val="FF0000"/>
                </a:solidFill>
              </a:rPr>
              <a:t>key,encryptedValue</a:t>
            </a:r>
            <a:r>
              <a:rPr lang="en-US" altLang="zh-CN" b="1" dirty="0" smtClean="0">
                <a:solidFill>
                  <a:srgbClr val="FF0000"/>
                </a:solidFill>
              </a:rPr>
              <a:t>)</a:t>
            </a:r>
            <a:endParaRPr kumimoji="1" lang="zh-CN" altLang="en-US" b="1" dirty="0">
              <a:solidFill>
                <a:srgbClr val="FF0000"/>
              </a:solidFill>
            </a:endParaRPr>
          </a:p>
        </p:txBody>
      </p:sp>
      <p:cxnSp>
        <p:nvCxnSpPr>
          <p:cNvPr id="28" name="直线箭头连接符 27"/>
          <p:cNvCxnSpPr/>
          <p:nvPr/>
        </p:nvCxnSpPr>
        <p:spPr>
          <a:xfrm>
            <a:off x="5334508" y="5313172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54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614585" y="60588"/>
            <a:ext cx="107610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b="1" spc="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加密配置 </a:t>
            </a:r>
            <a:endParaRPr lang="zh-CN" altLang="en-US" sz="40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251" y="130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92051" y="1485432"/>
            <a:ext cx="10406129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/>
              <a:t>security:</a:t>
            </a:r>
            <a:br>
              <a:rPr lang="en-US" altLang="zh-CN" sz="2400" b="1" dirty="0"/>
            </a:br>
            <a:r>
              <a:rPr lang="en-US" altLang="zh-CN" sz="2400" b="1" dirty="0"/>
              <a:t>    </a:t>
            </a:r>
            <a:r>
              <a:rPr lang="en-US" altLang="zh-CN" sz="2400" b="1" dirty="0">
                <a:solidFill>
                  <a:srgbClr val="FF0000"/>
                </a:solidFill>
              </a:rPr>
              <a:t>key</a:t>
            </a:r>
            <a:r>
              <a:rPr lang="en-US" altLang="zh-CN" sz="2400" b="1" dirty="0"/>
              <a:t>: </a:t>
            </a:r>
            <a:r>
              <a:rPr lang="en-US" altLang="zh-CN" sz="2400" dirty="0"/>
              <a:t>wretched </a:t>
            </a:r>
            <a:r>
              <a:rPr lang="en-US" altLang="zh-CN" sz="2400" dirty="0" err="1"/>
              <a:t>growth,don't</a:t>
            </a:r>
            <a:r>
              <a:rPr lang="en-US" altLang="zh-CN" sz="2400" dirty="0"/>
              <a:t> indulge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792050" y="2978065"/>
            <a:ext cx="10406129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 err="1"/>
              <a:t>sync.redis.host</a:t>
            </a:r>
            <a:r>
              <a:rPr lang="en-US" altLang="zh-CN" sz="2400" dirty="0"/>
              <a:t>=</a:t>
            </a:r>
            <a:r>
              <a:rPr lang="en-US" altLang="zh-CN" sz="2400" dirty="0" err="1"/>
              <a:t>gld.redis.cnhz.keruyun.com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 err="1"/>
              <a:t>sync.redis.port</a:t>
            </a:r>
            <a:r>
              <a:rPr lang="en-US" altLang="zh-CN" sz="2400" dirty="0"/>
              <a:t>=6379</a:t>
            </a:r>
            <a:br>
              <a:rPr lang="en-US" altLang="zh-CN" sz="2400" dirty="0"/>
            </a:br>
            <a:r>
              <a:rPr lang="en-US" altLang="zh-CN" sz="2400" dirty="0" err="1"/>
              <a:t>sync.redis.pass</a:t>
            </a:r>
            <a:r>
              <a:rPr lang="en-US" altLang="zh-CN" sz="2400" dirty="0"/>
              <a:t>=</a:t>
            </a:r>
            <a:r>
              <a:rPr lang="en-US" altLang="zh-CN" sz="2400" b="1" dirty="0">
                <a:solidFill>
                  <a:srgbClr val="FF0000"/>
                </a:solidFill>
              </a:rPr>
              <a:t>ENC(</a:t>
            </a:r>
            <a:r>
              <a:rPr lang="en-US" altLang="zh-CN" sz="2400" dirty="0"/>
              <a:t>ktptoj0WmJnTHya28Xvsc07VpfrefxDcBHAhLR9A72NkHXGpookbBG6/n0nVwaXW</a:t>
            </a:r>
            <a:r>
              <a:rPr lang="en-US" altLang="zh-CN" sz="2400" b="1" dirty="0">
                <a:solidFill>
                  <a:srgbClr val="FF0000"/>
                </a:solidFill>
              </a:rPr>
              <a:t>)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 err="1"/>
              <a:t>sync.redis.timeout</a:t>
            </a:r>
            <a:r>
              <a:rPr lang="en-US" altLang="zh-CN" sz="2400" dirty="0"/>
              <a:t>=1000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792049" y="5385583"/>
            <a:ext cx="1040612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b="1" dirty="0" err="1"/>
              <a:t>s</a:t>
            </a:r>
            <a:r>
              <a:rPr lang="en-US" altLang="zh-CN" sz="2400" b="1" dirty="0" err="1" smtClean="0"/>
              <a:t>pring.factroies</a:t>
            </a:r>
            <a:r>
              <a:rPr lang="en-US" altLang="zh-CN" sz="2400" b="1" dirty="0" smtClean="0"/>
              <a:t>:</a:t>
            </a:r>
            <a:r>
              <a:rPr lang="en-US" altLang="zh-CN" sz="2400" b="1" dirty="0"/>
              <a:t/>
            </a:r>
            <a:br>
              <a:rPr lang="en-US" altLang="zh-CN" sz="2400" b="1" dirty="0"/>
            </a:br>
            <a:r>
              <a:rPr lang="en-US" altLang="zh-CN" sz="2400" dirty="0" err="1" smtClean="0"/>
              <a:t>org.springframework.cloud.bootstrap.BootstrapConfiguration</a:t>
            </a:r>
            <a:r>
              <a:rPr lang="en-US" altLang="zh-CN" sz="2400" dirty="0" smtClean="0"/>
              <a:t>=</a:t>
            </a:r>
            <a:r>
              <a:rPr lang="en-US" altLang="zh-CN" sz="2400" dirty="0" err="1" smtClean="0"/>
              <a:t>com.keruyun.infra.encrypt.springboot.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EncryptPostProcessor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23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614587" y="51515"/>
            <a:ext cx="107610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>
                <a:solidFill>
                  <a:schemeClr val="bg1"/>
                </a:solidFill>
              </a:rPr>
              <a:t>EncryptPostProcessor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251" y="130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69516" y="820956"/>
            <a:ext cx="10406129" cy="60016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public class </a:t>
            </a:r>
            <a:r>
              <a:rPr lang="en-US" altLang="zh-CN" sz="2400" dirty="0" err="1"/>
              <a:t>EncryptPostProcessor</a:t>
            </a:r>
            <a:r>
              <a:rPr lang="en-US" altLang="zh-CN" sz="2400" dirty="0"/>
              <a:t> </a:t>
            </a:r>
            <a:r>
              <a:rPr lang="en-US" altLang="zh-CN" sz="2400" dirty="0"/>
              <a:t>implements </a:t>
            </a:r>
            <a:r>
              <a:rPr lang="en-US" altLang="zh-CN" sz="2400" b="1" dirty="0" err="1">
                <a:solidFill>
                  <a:srgbClr val="FF0000"/>
                </a:solidFill>
              </a:rPr>
              <a:t>BeanPostProcessor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smtClean="0"/>
              <a:t>{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@</a:t>
            </a:r>
            <a:r>
              <a:rPr lang="en-US" altLang="zh-CN" sz="2400" dirty="0" err="1"/>
              <a:t>Autowired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/>
              <a:t>private </a:t>
            </a:r>
            <a:r>
              <a:rPr lang="en-US" altLang="zh-CN" sz="2400" dirty="0" err="1"/>
              <a:t>EncryptConfig</a:t>
            </a:r>
            <a:r>
              <a:rPr lang="en-US" altLang="zh-CN" sz="2400" dirty="0"/>
              <a:t> </a:t>
            </a:r>
            <a:r>
              <a:rPr lang="en-US" altLang="zh-CN" sz="2400" dirty="0" err="1"/>
              <a:t>encryptConfig</a:t>
            </a:r>
            <a:r>
              <a:rPr lang="en-US" altLang="zh-CN" sz="2400" dirty="0" smtClean="0"/>
              <a:t>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public </a:t>
            </a:r>
            <a:r>
              <a:rPr lang="en-US" altLang="zh-CN" sz="2400" dirty="0"/>
              <a:t>Object </a:t>
            </a:r>
            <a:r>
              <a:rPr lang="en-US" altLang="zh-CN" sz="2400" b="1" dirty="0" err="1">
                <a:solidFill>
                  <a:srgbClr val="FF0000"/>
                </a:solidFill>
              </a:rPr>
              <a:t>postProcessBeforeInitialization</a:t>
            </a:r>
            <a:r>
              <a:rPr lang="en-US" altLang="zh-CN" sz="2400" dirty="0"/>
              <a:t>(Object bean</a:t>
            </a:r>
            <a:r>
              <a:rPr lang="en-US" altLang="zh-CN" sz="2400" dirty="0"/>
              <a:t>, </a:t>
            </a:r>
            <a:r>
              <a:rPr lang="en-US" altLang="zh-CN" sz="2400" dirty="0"/>
              <a:t>String </a:t>
            </a:r>
            <a:r>
              <a:rPr lang="en-US" altLang="zh-CN" sz="2400" dirty="0" err="1"/>
              <a:t>beanName</a:t>
            </a:r>
            <a:r>
              <a:rPr lang="en-US" altLang="zh-CN" sz="2400" dirty="0"/>
              <a:t>) </a:t>
            </a:r>
            <a:r>
              <a:rPr lang="en-US" altLang="zh-CN" sz="2400" dirty="0"/>
              <a:t>throws </a:t>
            </a:r>
            <a:r>
              <a:rPr lang="en-US" altLang="zh-CN" sz="2400" dirty="0" err="1"/>
              <a:t>BeansException</a:t>
            </a:r>
            <a:r>
              <a:rPr lang="en-US" altLang="zh-CN" sz="2400" dirty="0"/>
              <a:t> {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/>
              <a:t>if</a:t>
            </a:r>
            <a:r>
              <a:rPr lang="en-US" altLang="zh-CN" sz="2400" dirty="0"/>
              <a:t>(</a:t>
            </a:r>
            <a:r>
              <a:rPr lang="en-US" altLang="zh-CN" sz="2400" dirty="0" err="1"/>
              <a:t>AopUtils.isAopProxy</a:t>
            </a:r>
            <a:r>
              <a:rPr lang="en-US" altLang="zh-CN" sz="2400" dirty="0"/>
              <a:t>(bean)) {</a:t>
            </a:r>
            <a:br>
              <a:rPr lang="en-US" altLang="zh-CN" sz="2400" dirty="0"/>
            </a:br>
            <a:r>
              <a:rPr lang="en-US" altLang="zh-CN" sz="2400" dirty="0"/>
              <a:t>            Object target = bean</a:t>
            </a:r>
            <a:r>
              <a:rPr lang="en-US" altLang="zh-CN" sz="2400" dirty="0" smtClean="0"/>
              <a:t>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    if</a:t>
            </a:r>
            <a:r>
              <a:rPr lang="en-US" altLang="zh-CN" sz="2400" dirty="0"/>
              <a:t>(target != </a:t>
            </a:r>
            <a:r>
              <a:rPr lang="en-US" altLang="zh-CN" sz="2400" dirty="0"/>
              <a:t>null</a:t>
            </a:r>
            <a:r>
              <a:rPr lang="en-US" altLang="zh-CN" sz="2400" dirty="0"/>
              <a:t>) {</a:t>
            </a:r>
            <a:br>
              <a:rPr lang="en-US" altLang="zh-CN" sz="2400" dirty="0"/>
            </a:br>
            <a:r>
              <a:rPr lang="en-US" altLang="zh-CN" sz="2400" dirty="0"/>
              <a:t>               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</a:t>
            </a:r>
            <a:r>
              <a:rPr lang="en-US" altLang="zh-CN" sz="2400" b="1" dirty="0" err="1">
                <a:solidFill>
                  <a:srgbClr val="FF0000"/>
                </a:solidFill>
              </a:rPr>
              <a:t>updateBean</a:t>
            </a:r>
            <a:r>
              <a:rPr lang="en-US" altLang="zh-CN" sz="2400" dirty="0"/>
              <a:t>(target)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       </a:t>
            </a:r>
            <a:r>
              <a:rPr lang="en-US" altLang="zh-CN" sz="2400" dirty="0"/>
              <a:t>}</a:t>
            </a:r>
            <a:br>
              <a:rPr lang="en-US" altLang="zh-CN" sz="2400" dirty="0"/>
            </a:br>
            <a:r>
              <a:rPr lang="en-US" altLang="zh-CN" sz="2400" dirty="0"/>
              <a:t>        } </a:t>
            </a:r>
            <a:r>
              <a:rPr lang="en-US" altLang="zh-CN" sz="2400" dirty="0"/>
              <a:t>else </a:t>
            </a:r>
            <a:r>
              <a:rPr lang="en-US" altLang="zh-CN" sz="2400" dirty="0"/>
              <a:t>{</a:t>
            </a:r>
            <a:br>
              <a:rPr lang="en-US" altLang="zh-CN" sz="2400" dirty="0"/>
            </a:br>
            <a:r>
              <a:rPr lang="en-US" altLang="zh-CN" sz="2400" dirty="0"/>
              <a:t>           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.updateBean</a:t>
            </a:r>
            <a:r>
              <a:rPr lang="en-US" altLang="zh-CN" sz="2400" dirty="0"/>
              <a:t>(bean)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 smtClean="0"/>
              <a:t>}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/>
              <a:t>return </a:t>
            </a:r>
            <a:r>
              <a:rPr lang="en-US" altLang="zh-CN" sz="2400" dirty="0"/>
              <a:t>bean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/>
              <a:t>}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58359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614587" y="51515"/>
            <a:ext cx="107610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>
                <a:solidFill>
                  <a:schemeClr val="bg1"/>
                </a:solidFill>
              </a:rPr>
              <a:t>EncryptPostProcessor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251" y="130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69516" y="1020477"/>
            <a:ext cx="10406129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private </a:t>
            </a:r>
            <a:r>
              <a:rPr lang="en-US" altLang="zh-CN" sz="2400" dirty="0"/>
              <a:t>String </a:t>
            </a:r>
            <a:r>
              <a:rPr lang="en-US" altLang="zh-CN" sz="2400" dirty="0" err="1"/>
              <a:t>deCode</a:t>
            </a:r>
            <a:r>
              <a:rPr lang="en-US" altLang="zh-CN" sz="2400" dirty="0"/>
              <a:t>(Object bean</a:t>
            </a:r>
            <a:r>
              <a:rPr lang="en-US" altLang="zh-CN" sz="2400" dirty="0"/>
              <a:t>, </a:t>
            </a:r>
            <a:r>
              <a:rPr lang="en-US" altLang="zh-CN" sz="2400" dirty="0"/>
              <a:t>Field field</a:t>
            </a:r>
            <a:r>
              <a:rPr lang="en-US" altLang="zh-CN" sz="2400" dirty="0"/>
              <a:t>, </a:t>
            </a:r>
            <a:r>
              <a:rPr lang="en-US" altLang="zh-CN" sz="2400" dirty="0"/>
              <a:t>String content) </a:t>
            </a:r>
            <a:r>
              <a:rPr lang="en-US" altLang="zh-CN" sz="2400" dirty="0"/>
              <a:t>throws </a:t>
            </a:r>
            <a:r>
              <a:rPr lang="en-US" altLang="zh-CN" sz="2400" dirty="0" err="1"/>
              <a:t>IllegalAccessException</a:t>
            </a:r>
            <a:r>
              <a:rPr lang="en-US" altLang="zh-CN" sz="2400" dirty="0"/>
              <a:t> {</a:t>
            </a:r>
            <a:br>
              <a:rPr lang="en-US" altLang="zh-CN" sz="2400" dirty="0"/>
            </a:br>
            <a:r>
              <a:rPr lang="en-US" altLang="zh-CN" sz="2400" dirty="0"/>
              <a:t>    String result = content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if</a:t>
            </a:r>
            <a:r>
              <a:rPr lang="en-US" altLang="zh-CN" sz="2400" dirty="0"/>
              <a:t>(</a:t>
            </a:r>
            <a:r>
              <a:rPr lang="en-US" altLang="zh-CN" sz="2400" dirty="0" err="1">
                <a:solidFill>
                  <a:srgbClr val="FF0000"/>
                </a:solidFill>
              </a:rPr>
              <a:t>content.startsWith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"ENC("</a:t>
            </a:r>
            <a:r>
              <a:rPr lang="en-US" altLang="zh-CN" sz="2400" dirty="0">
                <a:solidFill>
                  <a:srgbClr val="FF0000"/>
                </a:solidFill>
              </a:rPr>
              <a:t>) &amp;&amp; </a:t>
            </a:r>
            <a:r>
              <a:rPr lang="en-US" altLang="zh-CN" sz="2400" dirty="0" err="1">
                <a:solidFill>
                  <a:srgbClr val="FF0000"/>
                </a:solidFill>
              </a:rPr>
              <a:t>content.endsWith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en-US" altLang="zh-CN" sz="2400" dirty="0">
                <a:solidFill>
                  <a:srgbClr val="FF0000"/>
                </a:solidFill>
              </a:rPr>
              <a:t>")"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r>
              <a:rPr lang="en-US" altLang="zh-CN" sz="2400" dirty="0"/>
              <a:t>) {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/>
              <a:t>if</a:t>
            </a:r>
            <a:r>
              <a:rPr lang="en-US" altLang="zh-CN" sz="2400" dirty="0"/>
              <a:t>(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.encryptConfig</a:t>
            </a:r>
            <a:r>
              <a:rPr lang="en-US" altLang="zh-CN" sz="2400" dirty="0"/>
              <a:t> == </a:t>
            </a:r>
            <a:r>
              <a:rPr lang="en-US" altLang="zh-CN" sz="2400" dirty="0"/>
              <a:t>null </a:t>
            </a:r>
            <a:r>
              <a:rPr lang="en-US" altLang="zh-CN" sz="2400" dirty="0"/>
              <a:t>||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.encryptConfig.getKey</a:t>
            </a:r>
            <a:r>
              <a:rPr lang="en-US" altLang="zh-CN" sz="2400" dirty="0"/>
              <a:t>() == </a:t>
            </a:r>
            <a:r>
              <a:rPr lang="en-US" altLang="zh-CN" sz="2400" dirty="0"/>
              <a:t>null </a:t>
            </a:r>
            <a:r>
              <a:rPr lang="en-US" altLang="zh-CN" sz="2400" dirty="0"/>
              <a:t>||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.encryptConfig.getKey</a:t>
            </a:r>
            <a:r>
              <a:rPr lang="en-US" altLang="zh-CN" sz="2400" dirty="0"/>
              <a:t>().</a:t>
            </a:r>
            <a:r>
              <a:rPr lang="en-US" altLang="zh-CN" sz="2400" dirty="0" err="1"/>
              <a:t>isEmpty</a:t>
            </a:r>
            <a:r>
              <a:rPr lang="en-US" altLang="zh-CN" sz="2400" dirty="0"/>
              <a:t>()) {</a:t>
            </a:r>
            <a:br>
              <a:rPr lang="en-US" altLang="zh-CN" sz="2400" dirty="0"/>
            </a:br>
            <a:r>
              <a:rPr lang="en-US" altLang="zh-CN" sz="2400" dirty="0"/>
              <a:t>            </a:t>
            </a:r>
            <a:r>
              <a:rPr lang="en-US" altLang="zh-CN" sz="2400" dirty="0" err="1"/>
              <a:t>logger.error</a:t>
            </a:r>
            <a:r>
              <a:rPr lang="en-US" altLang="zh-CN" sz="2400" dirty="0"/>
              <a:t>(</a:t>
            </a:r>
            <a:r>
              <a:rPr lang="en-US" altLang="zh-CN" sz="2400" dirty="0"/>
              <a:t>"</a:t>
            </a:r>
            <a:r>
              <a:rPr lang="zh-CN" altLang="en-US" sz="2400" dirty="0"/>
              <a:t>请配置解密</a:t>
            </a:r>
            <a:r>
              <a:rPr lang="en-US" altLang="zh-CN" sz="2400" dirty="0"/>
              <a:t>key"</a:t>
            </a:r>
            <a:r>
              <a:rPr lang="en-US" altLang="zh-CN" sz="2400" dirty="0"/>
              <a:t>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       return </a:t>
            </a:r>
            <a:r>
              <a:rPr lang="en-US" altLang="zh-CN" sz="2400" dirty="0"/>
              <a:t>content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 smtClean="0"/>
              <a:t>}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String opValue1 = </a:t>
            </a:r>
            <a:r>
              <a:rPr lang="en-US" altLang="zh-CN" sz="2400" dirty="0" err="1"/>
              <a:t>content.replace</a:t>
            </a:r>
            <a:r>
              <a:rPr lang="en-US" altLang="zh-CN" sz="2400" dirty="0"/>
              <a:t>(</a:t>
            </a:r>
            <a:r>
              <a:rPr lang="en-US" altLang="zh-CN" sz="2400" dirty="0"/>
              <a:t>"ENC(", ""</a:t>
            </a:r>
            <a:r>
              <a:rPr lang="en-US" altLang="zh-CN" sz="2400" dirty="0"/>
              <a:t>).replace(</a:t>
            </a:r>
            <a:r>
              <a:rPr lang="en-US" altLang="zh-CN" sz="2400" dirty="0"/>
              <a:t>")", ""</a:t>
            </a:r>
            <a:r>
              <a:rPr lang="en-US" altLang="zh-CN" sz="2400" dirty="0"/>
              <a:t>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/>
              <a:t>result = </a:t>
            </a:r>
            <a:r>
              <a:rPr lang="en-US" altLang="zh-CN" sz="2400" dirty="0" err="1"/>
              <a:t>EncryptUtil.</a:t>
            </a:r>
            <a:r>
              <a:rPr lang="en-US" altLang="zh-CN" sz="2400" b="1" dirty="0" err="1">
                <a:solidFill>
                  <a:srgbClr val="FF0000"/>
                </a:solidFill>
              </a:rPr>
              <a:t>decrypt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.encryptConfig.</a:t>
            </a:r>
            <a:r>
              <a:rPr lang="en-US" altLang="zh-CN" sz="2400" b="1" dirty="0" err="1">
                <a:solidFill>
                  <a:srgbClr val="FF0000"/>
                </a:solidFill>
              </a:rPr>
              <a:t>getKey</a:t>
            </a:r>
            <a:r>
              <a:rPr lang="en-US" altLang="zh-CN" sz="2400" dirty="0"/>
              <a:t>()</a:t>
            </a:r>
            <a:r>
              <a:rPr lang="en-US" altLang="zh-CN" sz="2400" dirty="0"/>
              <a:t>, </a:t>
            </a:r>
            <a:r>
              <a:rPr lang="en-US" altLang="zh-CN" sz="2400" b="1" dirty="0">
                <a:solidFill>
                  <a:srgbClr val="FF0000"/>
                </a:solidFill>
              </a:rPr>
              <a:t>opValue1</a:t>
            </a:r>
            <a:r>
              <a:rPr lang="en-US" altLang="zh-CN" sz="2400" dirty="0"/>
              <a:t>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 err="1"/>
              <a:t>logger.debug</a:t>
            </a:r>
            <a:r>
              <a:rPr lang="en-US" altLang="zh-CN" sz="2400" dirty="0"/>
              <a:t>(</a:t>
            </a:r>
            <a:r>
              <a:rPr lang="en-US" altLang="zh-CN" sz="2400" dirty="0"/>
              <a:t>"</a:t>
            </a:r>
            <a:r>
              <a:rPr lang="en-US" altLang="zh-CN" sz="2400" dirty="0" err="1"/>
              <a:t>deCode</a:t>
            </a:r>
            <a:r>
              <a:rPr lang="en-US" altLang="zh-CN" sz="2400" dirty="0"/>
              <a:t> before is: " </a:t>
            </a:r>
            <a:r>
              <a:rPr lang="en-US" altLang="zh-CN" sz="2400" dirty="0"/>
              <a:t>+ content + </a:t>
            </a:r>
            <a:r>
              <a:rPr lang="en-US" altLang="zh-CN" sz="2400" dirty="0"/>
              <a:t>",after is:" </a:t>
            </a:r>
            <a:r>
              <a:rPr lang="en-US" altLang="zh-CN" sz="2400" dirty="0"/>
              <a:t>+ result)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 smtClean="0"/>
              <a:t>}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/>
              <a:t>return </a:t>
            </a:r>
            <a:r>
              <a:rPr lang="en-US" altLang="zh-CN" sz="2400" dirty="0"/>
              <a:t>result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2111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>
                <a:solidFill>
                  <a:schemeClr val="bg1"/>
                </a:solidFill>
              </a:rPr>
              <a:t>Encrypt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888642" y="1948740"/>
            <a:ext cx="1052203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添加配置 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spring.factroies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chemeClr val="bg1"/>
                </a:solidFill>
              </a:rPr>
              <a:t>BootstrapConfiguration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</a:rPr>
              <a:t>=\ </a:t>
            </a:r>
            <a:r>
              <a:rPr lang="en-US" altLang="zh-CN" sz="2400" dirty="0" err="1">
                <a:solidFill>
                  <a:schemeClr val="bg1"/>
                </a:solidFill>
              </a:rPr>
              <a:t>EncryptPostProcessor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初始化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bean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之前执行</a:t>
            </a:r>
            <a:r>
              <a:rPr lang="en-US" altLang="zh-CN" sz="2400" dirty="0" err="1" smtClean="0">
                <a:solidFill>
                  <a:schemeClr val="bg1"/>
                </a:solidFill>
              </a:rPr>
              <a:t>EncryptPostProcessor</a:t>
            </a:r>
            <a:r>
              <a:rPr lang="en-US" altLang="zh-CN" sz="2400" dirty="0" smtClean="0">
                <a:solidFill>
                  <a:schemeClr val="bg1"/>
                </a:solidFill>
              </a:rPr>
              <a:t>.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 err="1">
                <a:solidFill>
                  <a:schemeClr val="bg1"/>
                </a:solidFill>
              </a:rPr>
              <a:t>postProcessBeforeInitialization</a:t>
            </a:r>
            <a:endParaRPr lang="en-US" altLang="zh-CN" sz="24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如果是符合解密的属性，用配置的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key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解密属性即可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2128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="" xmlns:a16="http://schemas.microsoft.com/office/drawing/2014/main" id="{05E131C8-DA2B-A34B-A26D-DFB087B9B053}"/>
              </a:ext>
            </a:extLst>
          </p:cNvPr>
          <p:cNvSpPr/>
          <p:nvPr/>
        </p:nvSpPr>
        <p:spPr>
          <a:xfrm>
            <a:off x="5216056" y="2661650"/>
            <a:ext cx="6975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.local-locator</a:t>
            </a:r>
            <a:endParaRPr lang="en-US" altLang="zh-CN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7627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local</a:t>
            </a:r>
            <a:r>
              <a:rPr lang="en-US" altLang="zh-CN" sz="4400" b="1" dirty="0" smtClean="0">
                <a:solidFill>
                  <a:schemeClr val="bg1"/>
                </a:solidFill>
              </a:rPr>
              <a:t>-</a:t>
            </a:r>
            <a:r>
              <a:rPr lang="en-US" altLang="zh-CN" sz="4400" b="1" dirty="0" err="1" smtClean="0">
                <a:solidFill>
                  <a:schemeClr val="bg1"/>
                </a:solidFill>
              </a:rPr>
              <a:t>config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流程图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7128" y="861743"/>
            <a:ext cx="9852338" cy="5757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58329" y="1091415"/>
            <a:ext cx="2421229" cy="688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SpringApplication.run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48872" y="2261888"/>
            <a:ext cx="8403466" cy="27947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 smtClean="0">
                <a:solidFill>
                  <a:schemeClr val="bg1"/>
                </a:solidFill>
              </a:rPr>
              <a:t>BootstrapConfiguration</a:t>
            </a:r>
            <a:r>
              <a:rPr lang="zh-CN" altLang="en-US" dirty="0" smtClean="0">
                <a:solidFill>
                  <a:schemeClr val="bg1"/>
                </a:solidFill>
              </a:rPr>
              <a:t>配置</a:t>
            </a:r>
            <a:endParaRPr kumimoji="1" lang="en-US" altLang="zh-CN" dirty="0" smtClean="0">
              <a:solidFill>
                <a:schemeClr val="bg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53049" y="2790425"/>
            <a:ext cx="5782614" cy="11565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PropertySourceBootstrapConfiguration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Initialize()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65172" y="4347763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PropertySourceLocator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Locate()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48872" y="5318975"/>
            <a:ext cx="8493618" cy="119773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 err="1">
                <a:solidFill>
                  <a:schemeClr val="tx1"/>
                </a:solidFill>
              </a:rPr>
              <a:t>s</a:t>
            </a:r>
            <a:r>
              <a:rPr kumimoji="1" lang="en-US" altLang="zh-CN" dirty="0" err="1" smtClean="0">
                <a:solidFill>
                  <a:schemeClr val="tx1"/>
                </a:solidFill>
              </a:rPr>
              <a:t>pring.factories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28799" y="5934728"/>
            <a:ext cx="3644722" cy="4987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chemeClr val="bg1"/>
                </a:solidFill>
              </a:rPr>
              <a:t>ZookeeperPropertySourceLocator.locate</a:t>
            </a:r>
            <a:r>
              <a:rPr lang="en-US" altLang="zh-CN" b="1" dirty="0" smtClean="0">
                <a:solidFill>
                  <a:schemeClr val="bg1"/>
                </a:solidFill>
              </a:rPr>
              <a:t>()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62481" y="5934727"/>
            <a:ext cx="3294810" cy="49877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LocalPropertySourceLocator.locate</a:t>
            </a:r>
            <a:r>
              <a:rPr lang="en-US" altLang="zh-CN" dirty="0" smtClean="0"/>
              <a:t>()</a:t>
            </a:r>
            <a:endParaRPr kumimoji="1" lang="zh-CN" altLang="en-US" dirty="0"/>
          </a:p>
        </p:txBody>
      </p:sp>
      <p:cxnSp>
        <p:nvCxnSpPr>
          <p:cNvPr id="17" name="直线箭头连接符 16"/>
          <p:cNvCxnSpPr/>
          <p:nvPr/>
        </p:nvCxnSpPr>
        <p:spPr>
          <a:xfrm>
            <a:off x="5368943" y="1779863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>
            <a:off x="5368943" y="3925339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>
            <a:endCxn id="4" idx="0"/>
          </p:cNvCxnSpPr>
          <p:nvPr/>
        </p:nvCxnSpPr>
        <p:spPr>
          <a:xfrm flipH="1">
            <a:off x="3651160" y="5050631"/>
            <a:ext cx="1717783" cy="88409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>
            <a:endCxn id="9" idx="0"/>
          </p:cNvCxnSpPr>
          <p:nvPr/>
        </p:nvCxnSpPr>
        <p:spPr>
          <a:xfrm>
            <a:off x="5473521" y="5050631"/>
            <a:ext cx="2136365" cy="884096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3148885" y="4423967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err="1" smtClean="0">
                <a:solidFill>
                  <a:srgbClr val="FF0000"/>
                </a:solidFill>
              </a:rPr>
              <a:t>PropertySourceLocator</a:t>
            </a:r>
            <a:r>
              <a:rPr lang="en-US" altLang="zh-CN" b="1" dirty="0" smtClean="0">
                <a:solidFill>
                  <a:srgbClr val="FF0000"/>
                </a:solidFill>
              </a:rPr>
              <a:t>.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Locate()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29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614587" y="51515"/>
            <a:ext cx="107610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smtClean="0">
                <a:solidFill>
                  <a:schemeClr val="bg1"/>
                </a:solidFill>
              </a:rPr>
              <a:t>Local</a:t>
            </a:r>
            <a:r>
              <a:rPr lang="zh-CN" altLang="en-US" sz="4400" dirty="0" smtClean="0">
                <a:solidFill>
                  <a:schemeClr val="bg1"/>
                </a:solidFill>
              </a:rPr>
              <a:t>配置信息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251" y="130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69516" y="1020477"/>
            <a:ext cx="1040612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# Bootstrap Configuration</a:t>
            </a:r>
            <a:br>
              <a:rPr lang="en-US" altLang="zh-CN" sz="2400" dirty="0"/>
            </a:br>
            <a:r>
              <a:rPr lang="en-US" altLang="zh-CN" sz="2400" dirty="0" err="1"/>
              <a:t>org.springframework.cloud.bootstrap.</a:t>
            </a:r>
            <a:r>
              <a:rPr lang="en-US" altLang="zh-CN" sz="2400" b="1" dirty="0" err="1">
                <a:solidFill>
                  <a:srgbClr val="FF0000"/>
                </a:solidFill>
              </a:rPr>
              <a:t>BootstrapConfiguration</a:t>
            </a:r>
            <a:r>
              <a:rPr lang="en-US" altLang="zh-CN" sz="2400" dirty="0"/>
              <a:t>=</a:t>
            </a:r>
            <a:r>
              <a:rPr lang="en-US" altLang="zh-CN" sz="2400" dirty="0"/>
              <a:t>\</a:t>
            </a:r>
            <a:br>
              <a:rPr lang="en-US" altLang="zh-CN" sz="2400" dirty="0"/>
            </a:br>
            <a:r>
              <a:rPr lang="en-US" altLang="zh-CN" sz="2400" dirty="0" err="1" smtClean="0"/>
              <a:t>com.keruyun.calm.locator.LocalPropertySourceBootstrapConfig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969516" y="2501095"/>
            <a:ext cx="10406129" cy="41549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@Configuration</a:t>
            </a:r>
            <a:br>
              <a:rPr lang="en-US" altLang="zh-CN" sz="2400" dirty="0"/>
            </a:br>
            <a:r>
              <a:rPr lang="en-US" altLang="zh-CN" sz="2400" dirty="0"/>
              <a:t>public class </a:t>
            </a:r>
            <a:r>
              <a:rPr lang="en-US" altLang="zh-CN" sz="2400" dirty="0" err="1"/>
              <a:t>LocalPropertySourceBootstrapConfig</a:t>
            </a:r>
            <a:r>
              <a:rPr lang="en-US" altLang="zh-CN" sz="2400" dirty="0"/>
              <a:t> {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/>
              <a:t>@Bean</a:t>
            </a:r>
            <a:br>
              <a:rPr lang="en-US" altLang="zh-CN" sz="2400" dirty="0"/>
            </a:br>
            <a:r>
              <a:rPr lang="en-US" altLang="zh-CN" sz="2400" dirty="0"/>
              <a:t>    @</a:t>
            </a:r>
            <a:r>
              <a:rPr lang="en-US" altLang="zh-CN" sz="2400" dirty="0" err="1"/>
              <a:t>ConditionalOnMissingBean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@</a:t>
            </a:r>
            <a:r>
              <a:rPr lang="en-US" altLang="zh-CN" sz="2400" dirty="0" err="1"/>
              <a:t>ConditionalOnProperty</a:t>
            </a:r>
            <a:r>
              <a:rPr lang="en-US" altLang="zh-CN" sz="2400" dirty="0"/>
              <a:t>(</a:t>
            </a:r>
            <a:r>
              <a:rPr lang="en-US" altLang="zh-CN" sz="2400" dirty="0"/>
              <a:t>value </a:t>
            </a:r>
            <a:r>
              <a:rPr lang="en-US" altLang="zh-CN" sz="2400" dirty="0"/>
              <a:t>= </a:t>
            </a:r>
            <a:r>
              <a:rPr lang="en-US" altLang="zh-CN" sz="2400" dirty="0"/>
              <a:t>"</a:t>
            </a:r>
            <a:r>
              <a:rPr lang="en-US" altLang="zh-CN" sz="2400" b="1" dirty="0">
                <a:solidFill>
                  <a:srgbClr val="FF0000"/>
                </a:solidFill>
              </a:rPr>
              <a:t>spring.cloud.zookeeper.enabled</a:t>
            </a:r>
            <a:r>
              <a:rPr lang="en-US" altLang="zh-CN" sz="2400" dirty="0"/>
              <a:t>",</a:t>
            </a:r>
            <a:r>
              <a:rPr lang="en-US" altLang="zh-CN" sz="2400" dirty="0" err="1"/>
              <a:t>havingValue</a:t>
            </a:r>
            <a:r>
              <a:rPr lang="en-US" altLang="zh-CN" sz="2400" dirty="0"/>
              <a:t> </a:t>
            </a:r>
            <a:r>
              <a:rPr lang="en-US" altLang="zh-CN" sz="2400" dirty="0"/>
              <a:t>= </a:t>
            </a:r>
            <a:r>
              <a:rPr lang="en-US" altLang="zh-CN" sz="2400" dirty="0"/>
              <a:t>"</a:t>
            </a:r>
            <a:r>
              <a:rPr lang="en-US" altLang="zh-CN" sz="2400" b="1" dirty="0">
                <a:solidFill>
                  <a:srgbClr val="FF0000"/>
                </a:solidFill>
              </a:rPr>
              <a:t>false</a:t>
            </a:r>
            <a:r>
              <a:rPr lang="en-US" altLang="zh-CN" sz="2400" dirty="0"/>
              <a:t>", </a:t>
            </a:r>
            <a:r>
              <a:rPr lang="en-US" altLang="zh-CN" sz="2400" dirty="0" err="1"/>
              <a:t>matchIfMissing</a:t>
            </a:r>
            <a:r>
              <a:rPr lang="en-US" altLang="zh-CN" sz="2400" dirty="0"/>
              <a:t> </a:t>
            </a:r>
            <a:r>
              <a:rPr lang="en-US" altLang="zh-CN" sz="2400" dirty="0"/>
              <a:t>= </a:t>
            </a:r>
            <a:r>
              <a:rPr lang="en-US" altLang="zh-CN" sz="2400" dirty="0"/>
              <a:t>true</a:t>
            </a:r>
            <a:r>
              <a:rPr lang="en-US" altLang="zh-CN" sz="2400" dirty="0"/>
              <a:t>)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/>
              <a:t>public </a:t>
            </a:r>
            <a:r>
              <a:rPr lang="en-US" altLang="zh-CN" sz="2400" dirty="0" err="1"/>
              <a:t>LocalPropertySourceLocator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localPropertySourceLocator</a:t>
            </a:r>
            <a:r>
              <a:rPr lang="en-US" altLang="zh-CN" sz="2400" dirty="0"/>
              <a:t>() {</a:t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/>
              <a:t>return new </a:t>
            </a:r>
            <a:r>
              <a:rPr lang="en-US" altLang="zh-CN" sz="2400" b="1" dirty="0" err="1">
                <a:solidFill>
                  <a:srgbClr val="FF0000"/>
                </a:solidFill>
              </a:rPr>
              <a:t>LocalPropertySourceLocator</a:t>
            </a:r>
            <a:r>
              <a:rPr lang="en-US" altLang="zh-CN" sz="2400" dirty="0"/>
              <a:t>()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/>
              <a:t>}</a:t>
            </a:r>
            <a:br>
              <a:rPr lang="en-US" altLang="zh-CN" sz="2400" dirty="0"/>
            </a:br>
            <a:r>
              <a:rPr lang="en-US" altLang="zh-CN" sz="2400" dirty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98430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614587" y="51515"/>
            <a:ext cx="1076105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 err="1">
                <a:solidFill>
                  <a:schemeClr val="bg1"/>
                </a:solidFill>
              </a:rPr>
              <a:t>LocalPropertySourceLocator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49251" y="13007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57577" y="1020025"/>
            <a:ext cx="11809927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2400" dirty="0"/>
              <a:t>public class </a:t>
            </a:r>
            <a:r>
              <a:rPr lang="en-US" altLang="zh-CN" sz="2400" dirty="0" err="1"/>
              <a:t>LocalPropertySourceLocator</a:t>
            </a:r>
            <a:r>
              <a:rPr lang="en-US" altLang="zh-CN" sz="2400" dirty="0"/>
              <a:t> </a:t>
            </a:r>
            <a:r>
              <a:rPr lang="en-US" altLang="zh-CN" sz="2400" dirty="0"/>
              <a:t>implements </a:t>
            </a:r>
            <a:r>
              <a:rPr lang="en-US" altLang="zh-CN" sz="2400" b="1" dirty="0" err="1">
                <a:solidFill>
                  <a:srgbClr val="FF0000"/>
                </a:solidFill>
              </a:rPr>
              <a:t>PropertySourceLocator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smtClean="0"/>
              <a:t>{ 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@Override</a:t>
            </a:r>
            <a:br>
              <a:rPr lang="en-US" altLang="zh-CN" sz="2400" dirty="0"/>
            </a:br>
            <a:r>
              <a:rPr lang="en-US" altLang="zh-CN" sz="2400" dirty="0"/>
              <a:t>    public </a:t>
            </a:r>
            <a:r>
              <a:rPr lang="en-US" altLang="zh-CN" sz="2400" dirty="0" err="1"/>
              <a:t>PropertySource</a:t>
            </a:r>
            <a:r>
              <a:rPr lang="en-US" altLang="zh-CN" sz="2400" dirty="0"/>
              <a:t>&lt;?&gt; </a:t>
            </a:r>
            <a:r>
              <a:rPr lang="en-US" altLang="zh-CN" sz="2400" b="1" dirty="0">
                <a:solidFill>
                  <a:srgbClr val="FF0000"/>
                </a:solidFill>
              </a:rPr>
              <a:t>locate</a:t>
            </a:r>
            <a:r>
              <a:rPr lang="en-US" altLang="zh-CN" sz="2400" dirty="0"/>
              <a:t>(Environment environment) {</a:t>
            </a:r>
            <a:br>
              <a:rPr lang="en-US" altLang="zh-CN" sz="2400" dirty="0"/>
            </a:br>
            <a:r>
              <a:rPr lang="en-US" altLang="zh-CN" sz="2400" dirty="0" smtClean="0"/>
              <a:t>        </a:t>
            </a:r>
            <a:r>
              <a:rPr lang="en-US" altLang="zh-CN" sz="2400" dirty="0" err="1"/>
              <a:t>CompositePropertySource</a:t>
            </a:r>
            <a:r>
              <a:rPr lang="en-US" altLang="zh-CN" sz="2400" dirty="0"/>
              <a:t> composite = </a:t>
            </a:r>
            <a:r>
              <a:rPr lang="en-US" altLang="zh-CN" sz="2400" dirty="0"/>
              <a:t>new </a:t>
            </a:r>
            <a:r>
              <a:rPr lang="en-US" altLang="zh-CN" sz="2400" dirty="0" err="1"/>
              <a:t>CompositePropertySource</a:t>
            </a:r>
            <a:r>
              <a:rPr lang="en-US" altLang="zh-CN" sz="2400" dirty="0" smtClean="0"/>
              <a:t>(“</a:t>
            </a:r>
            <a:r>
              <a:rPr lang="en-US" altLang="zh-CN" sz="2400" dirty="0" err="1" smtClean="0"/>
              <a:t>localProperty</a:t>
            </a:r>
            <a:r>
              <a:rPr lang="en-US" altLang="zh-CN" sz="2400" dirty="0" smtClean="0"/>
              <a:t>”);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</a:t>
            </a:r>
            <a:r>
              <a:rPr lang="zh-CN" altLang="en-US" sz="2400" dirty="0" smtClean="0"/>
              <a:t>        </a:t>
            </a:r>
            <a:r>
              <a:rPr lang="en-US" altLang="zh-CN" sz="2400" dirty="0" smtClean="0"/>
              <a:t>List&lt;String</a:t>
            </a:r>
            <a:r>
              <a:rPr lang="en-US" altLang="zh-CN" sz="2400" dirty="0"/>
              <a:t>&gt; </a:t>
            </a:r>
            <a:r>
              <a:rPr lang="en-US" altLang="zh-CN" sz="2400" dirty="0" err="1"/>
              <a:t>fileList</a:t>
            </a:r>
            <a:r>
              <a:rPr lang="en-US" altLang="zh-CN" sz="2400" dirty="0"/>
              <a:t> </a:t>
            </a:r>
            <a:r>
              <a:rPr lang="en-US" altLang="zh-CN" sz="2400" dirty="0" smtClean="0"/>
              <a:t>= </a:t>
            </a:r>
            <a:r>
              <a:rPr lang="en-US" altLang="zh-CN" sz="2400" dirty="0" err="1"/>
              <a:t>environment.</a:t>
            </a:r>
            <a:r>
              <a:rPr lang="en-US" altLang="zh-CN" sz="2400" b="1" dirty="0" err="1">
                <a:solidFill>
                  <a:srgbClr val="FF0000"/>
                </a:solidFill>
              </a:rPr>
              <a:t>getActiveProfiles</a:t>
            </a:r>
            <a:r>
              <a:rPr lang="en-US" altLang="zh-CN" sz="2400" dirty="0" smtClean="0"/>
              <a:t>();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 smtClean="0"/>
              <a:t> </a:t>
            </a:r>
            <a:r>
              <a:rPr lang="en-US" altLang="zh-CN" sz="2400" dirty="0"/>
              <a:t>for </a:t>
            </a:r>
            <a:r>
              <a:rPr lang="en-US" altLang="zh-CN" sz="2400" dirty="0"/>
              <a:t>(String 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: </a:t>
            </a:r>
            <a:r>
              <a:rPr lang="en-US" altLang="zh-CN" sz="2400" dirty="0" err="1"/>
              <a:t>fileList</a:t>
            </a:r>
            <a:r>
              <a:rPr lang="en-US" altLang="zh-CN" sz="2400" dirty="0"/>
              <a:t>) </a:t>
            </a:r>
            <a:r>
              <a:rPr lang="en-US" altLang="zh-CN" sz="2400" dirty="0" smtClean="0"/>
              <a:t>{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            </a:t>
            </a:r>
            <a:r>
              <a:rPr lang="en-US" altLang="zh-CN" sz="2400" dirty="0" err="1"/>
              <a:t>InputStream</a:t>
            </a:r>
            <a:r>
              <a:rPr lang="en-US" altLang="zh-CN" sz="2400" dirty="0"/>
              <a:t> </a:t>
            </a:r>
            <a:r>
              <a:rPr lang="en-US" altLang="zh-CN" sz="2400" dirty="0" err="1"/>
              <a:t>inputStream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this</a:t>
            </a:r>
            <a:r>
              <a:rPr lang="en-US" altLang="zh-CN" sz="2400" dirty="0" err="1"/>
              <a:t>.getClass</a:t>
            </a:r>
            <a:r>
              <a:rPr lang="en-US" altLang="zh-CN" sz="2400" dirty="0"/>
              <a:t>().</a:t>
            </a:r>
            <a:r>
              <a:rPr lang="en-US" altLang="zh-CN" sz="2400" dirty="0" err="1"/>
              <a:t>getClassLoader</a:t>
            </a:r>
            <a:r>
              <a:rPr lang="en-US" altLang="zh-CN" sz="2400" dirty="0"/>
              <a:t>().</a:t>
            </a:r>
            <a:r>
              <a:rPr lang="en-US" altLang="zh-CN" sz="2400" dirty="0" err="1"/>
              <a:t>getResourceAsStream</a:t>
            </a:r>
            <a:r>
              <a:rPr lang="en-US" altLang="zh-CN" sz="2400" dirty="0"/>
              <a:t>(</a:t>
            </a:r>
            <a:r>
              <a:rPr lang="en-US" altLang="zh-CN" sz="2400" dirty="0" err="1"/>
              <a:t>fileName</a:t>
            </a:r>
            <a:r>
              <a:rPr lang="en-US" altLang="zh-CN" sz="2400" dirty="0"/>
              <a:t> + </a:t>
            </a:r>
            <a:r>
              <a:rPr lang="en-US" altLang="zh-CN" sz="2400" dirty="0" smtClean="0"/>
              <a:t>“.properties”);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            </a:t>
            </a:r>
            <a:r>
              <a:rPr lang="en-US" altLang="zh-CN" sz="2400" dirty="0" err="1"/>
              <a:t>InputStreamResource</a:t>
            </a:r>
            <a:r>
              <a:rPr lang="en-US" altLang="zh-CN" sz="2400" dirty="0"/>
              <a:t> resource = </a:t>
            </a:r>
            <a:r>
              <a:rPr lang="en-US" altLang="zh-CN" sz="2400" dirty="0"/>
              <a:t>new </a:t>
            </a:r>
            <a:r>
              <a:rPr lang="en-US" altLang="zh-CN" sz="2400" dirty="0" err="1"/>
              <a:t>InputStreamResource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inputStream</a:t>
            </a:r>
            <a:r>
              <a:rPr lang="en-US" altLang="zh-CN" sz="2400" dirty="0" smtClean="0"/>
              <a:t>);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            </a:t>
            </a:r>
            <a:r>
              <a:rPr lang="en-US" altLang="zh-CN" sz="2400" dirty="0" err="1"/>
              <a:t>composite.</a:t>
            </a:r>
            <a:r>
              <a:rPr lang="en-US" altLang="zh-CN" sz="2400" b="1" dirty="0" err="1">
                <a:solidFill>
                  <a:srgbClr val="FF0000"/>
                </a:solidFill>
              </a:rPr>
              <a:t>addPropertySource</a:t>
            </a:r>
            <a:r>
              <a:rPr lang="en-US" altLang="zh-CN" sz="2400" dirty="0"/>
              <a:t>(</a:t>
            </a:r>
            <a:r>
              <a:rPr lang="en-US" altLang="zh-CN" sz="2400" dirty="0" err="1"/>
              <a:t>resourcePropertySource</a:t>
            </a:r>
            <a:r>
              <a:rPr lang="en-US" altLang="zh-CN" sz="2400" dirty="0"/>
              <a:t>)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 smtClean="0"/>
              <a:t>        </a:t>
            </a:r>
            <a:r>
              <a:rPr lang="zh-CN" altLang="en-US" sz="2400" dirty="0" smtClean="0"/>
              <a:t> </a:t>
            </a:r>
            <a:r>
              <a:rPr lang="en-US" altLang="zh-CN" sz="2400" dirty="0" smtClean="0"/>
              <a:t>}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        </a:t>
            </a:r>
            <a:r>
              <a:rPr lang="en-US" altLang="zh-CN" sz="2400" dirty="0"/>
              <a:t>return </a:t>
            </a:r>
            <a:r>
              <a:rPr lang="en-US" altLang="zh-CN" sz="2400" dirty="0"/>
              <a:t>composite</a:t>
            </a:r>
            <a:r>
              <a:rPr lang="en-US" altLang="zh-CN" sz="2400" dirty="0"/>
              <a:t>;</a:t>
            </a:r>
            <a:br>
              <a:rPr lang="en-US" altLang="zh-CN" sz="2400" dirty="0"/>
            </a:br>
            <a:r>
              <a:rPr lang="en-US" altLang="zh-CN" sz="2400" dirty="0"/>
              <a:t>    </a:t>
            </a:r>
            <a:r>
              <a:rPr lang="en-US" altLang="zh-CN" sz="2400" dirty="0"/>
              <a:t>}</a:t>
            </a:r>
            <a:br>
              <a:rPr lang="en-US" altLang="zh-CN" sz="2400" dirty="0"/>
            </a:br>
            <a:r>
              <a:rPr lang="en-US" altLang="zh-CN" sz="2400" dirty="0" smtClean="0"/>
              <a:t>}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7762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Local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locator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888642" y="1948740"/>
            <a:ext cx="1052203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添加配置 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spring.factroies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>
                <a:solidFill>
                  <a:schemeClr val="bg1"/>
                </a:solidFill>
              </a:rPr>
              <a:t>BootstrapConfiguration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</a:rPr>
              <a:t>=\ </a:t>
            </a:r>
            <a:r>
              <a:rPr lang="en-US" altLang="zh-CN" sz="2400" dirty="0" err="1">
                <a:solidFill>
                  <a:schemeClr val="bg1"/>
                </a:solidFill>
              </a:rPr>
              <a:t>LocalPropertySourceBootstrapConfig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endParaRPr lang="en-US" altLang="zh-CN" sz="24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服务启动的时候调用</a:t>
            </a:r>
            <a:r>
              <a:rPr lang="en-US" altLang="zh-CN" sz="2400" dirty="0" err="1" smtClean="0">
                <a:solidFill>
                  <a:schemeClr val="bg1"/>
                </a:solidFill>
              </a:rPr>
              <a:t>LocalPropertySourceLocator</a:t>
            </a:r>
            <a:r>
              <a:rPr lang="en-US" altLang="zh-CN" sz="2400" dirty="0" smtClean="0">
                <a:solidFill>
                  <a:schemeClr val="bg1"/>
                </a:solidFill>
              </a:rPr>
              <a:t> .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</a:rPr>
              <a:t>locate</a:t>
            </a:r>
            <a:r>
              <a:rPr lang="zh-CN" altLang="en-US" sz="2400" dirty="0" smtClean="0">
                <a:solidFill>
                  <a:schemeClr val="bg1"/>
                </a:solidFill>
              </a:rPr>
              <a:t>加载本地配置</a:t>
            </a:r>
            <a:endParaRPr lang="en-US" altLang="zh-CN" sz="24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6901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="" xmlns:a16="http://schemas.microsoft.com/office/drawing/2014/main" id="{25568D8B-DB17-0648-BA53-A00DB1030D07}"/>
              </a:ext>
            </a:extLst>
          </p:cNvPr>
          <p:cNvSpPr/>
          <p:nvPr/>
        </p:nvSpPr>
        <p:spPr>
          <a:xfrm>
            <a:off x="1216886" y="2086580"/>
            <a:ext cx="91119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en-US" altLang="zh-CN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.Spring boot</a:t>
            </a:r>
            <a:r>
              <a:rPr lang="zh-CN" altLang="en-US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初始化</a:t>
            </a:r>
            <a:r>
              <a:rPr lang="zh-CN" altLang="en-US" sz="5400" b="1" spc="200" dirty="0" smtClean="0">
                <a:solidFill>
                  <a:srgbClr val="0083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</a:t>
            </a:r>
            <a:endParaRPr lang="en-US" altLang="zh-CN" sz="5400" b="1" spc="200" dirty="0">
              <a:solidFill>
                <a:srgbClr val="0083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954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 err="1" smtClean="0">
                <a:solidFill>
                  <a:schemeClr val="bg1"/>
                </a:solidFill>
              </a:rPr>
              <a:t>zk-config</a:t>
            </a:r>
            <a:r>
              <a:rPr lang="zh-CN" altLang="en-US" sz="5400" dirty="0" smtClean="0">
                <a:solidFill>
                  <a:schemeClr val="bg1"/>
                </a:solidFill>
              </a:rPr>
              <a:t>里面的</a:t>
            </a:r>
            <a:r>
              <a:rPr lang="en-US" altLang="zh-CN" sz="5400" dirty="0" err="1" smtClean="0">
                <a:solidFill>
                  <a:schemeClr val="bg1"/>
                </a:solidFill>
              </a:rPr>
              <a:t>Spring.factories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7956" y="2534673"/>
            <a:ext cx="10859037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# Auto </a:t>
            </a:r>
            <a:r>
              <a:rPr lang="en-US" altLang="zh-CN" dirty="0" smtClean="0"/>
              <a:t>Configuration</a:t>
            </a: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//</a:t>
            </a:r>
            <a:r>
              <a:rPr lang="zh-CN" altLang="en-US" b="1" dirty="0" smtClean="0">
                <a:solidFill>
                  <a:srgbClr val="FF0000"/>
                </a:solidFill>
              </a:rPr>
              <a:t> 这个启用</a:t>
            </a:r>
            <a:r>
              <a:rPr lang="en-US" altLang="zh-CN" b="1" dirty="0" err="1" smtClean="0">
                <a:solidFill>
                  <a:srgbClr val="FF0000"/>
                </a:solidFill>
              </a:rPr>
              <a:t>configWacher</a:t>
            </a:r>
            <a:r>
              <a:rPr lang="zh-CN" altLang="en-US" b="1" dirty="0" smtClean="0">
                <a:solidFill>
                  <a:srgbClr val="FF0000"/>
                </a:solidFill>
              </a:rPr>
              <a:t>的配置</a:t>
            </a:r>
            <a:r>
              <a:rPr lang="en-US" altLang="zh-CN" b="1" dirty="0">
                <a:solidFill>
                  <a:srgbClr val="FF0000"/>
                </a:solidFill>
              </a:rPr>
              <a:t/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en-US" altLang="zh-CN" dirty="0" err="1"/>
              <a:t>org.springframework.boot.autoconfigure.</a:t>
            </a:r>
            <a:r>
              <a:rPr lang="en-US" altLang="zh-CN" b="1" dirty="0" err="1">
                <a:solidFill>
                  <a:srgbClr val="FF0000"/>
                </a:solidFill>
              </a:rPr>
              <a:t>EnableAutoConfiguration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org.springframework.cloud.zookeeper.config.</a:t>
            </a:r>
            <a:r>
              <a:rPr lang="en-US" altLang="zh-CN" sz="2400" b="1" dirty="0">
                <a:solidFill>
                  <a:srgbClr val="FF0000"/>
                </a:solidFill>
              </a:rPr>
              <a:t>ZookeeperConfigAutoConfiguration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# Bootstrap </a:t>
            </a:r>
            <a:r>
              <a:rPr lang="en-US" altLang="zh-CN" dirty="0" smtClean="0"/>
              <a:t>Configuration</a:t>
            </a:r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//</a:t>
            </a:r>
            <a:r>
              <a:rPr lang="zh-CN" altLang="en-US" b="1" dirty="0" smtClean="0">
                <a:solidFill>
                  <a:srgbClr val="FF0000"/>
                </a:solidFill>
              </a:rPr>
              <a:t> 这个是启用</a:t>
            </a:r>
            <a:r>
              <a:rPr lang="en-US" altLang="zh-CN" b="1" dirty="0" err="1" smtClean="0">
                <a:solidFill>
                  <a:srgbClr val="FF0000"/>
                </a:solidFill>
              </a:rPr>
              <a:t>zk-config</a:t>
            </a:r>
            <a:r>
              <a:rPr lang="zh-CN" altLang="en-US" b="1" dirty="0" smtClean="0">
                <a:solidFill>
                  <a:srgbClr val="FF0000"/>
                </a:solidFill>
              </a:rPr>
              <a:t>的配置</a:t>
            </a:r>
            <a:r>
              <a:rPr lang="en-US" altLang="zh-CN" b="1" dirty="0">
                <a:solidFill>
                  <a:srgbClr val="FF0000"/>
                </a:solidFill>
              </a:rPr>
              <a:t/>
            </a:r>
            <a:br>
              <a:rPr lang="en-US" altLang="zh-CN" b="1" dirty="0">
                <a:solidFill>
                  <a:srgbClr val="FF0000"/>
                </a:solidFill>
              </a:rPr>
            </a:br>
            <a:r>
              <a:rPr lang="en-US" altLang="zh-CN" dirty="0" err="1"/>
              <a:t>org.springframework.cloud.bootstrap.</a:t>
            </a:r>
            <a:r>
              <a:rPr lang="en-US" altLang="zh-CN" b="1" dirty="0" err="1">
                <a:solidFill>
                  <a:srgbClr val="FF0000"/>
                </a:solidFill>
              </a:rPr>
              <a:t>BootstrapConfiguration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org.springframework.cloud.zookeeper.config.</a:t>
            </a:r>
            <a:r>
              <a:rPr lang="en-US" altLang="zh-CN" sz="2400" b="1" dirty="0"/>
              <a:t>ZookeeperConfigBootstrapConfiguration</a:t>
            </a:r>
            <a:r>
              <a:rPr lang="en-US" altLang="zh-CN" dirty="0"/>
              <a:t/>
            </a:r>
            <a:br>
              <a:rPr lang="en-US" altLang="zh-CN" dirty="0"/>
            </a:b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195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-49103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dirty="0" smtClean="0">
                <a:solidFill>
                  <a:schemeClr val="bg1"/>
                </a:solidFill>
              </a:rPr>
              <a:t>灵魂几问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862884" y="647308"/>
            <a:ext cx="10947043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 smtClean="0">
                <a:solidFill>
                  <a:schemeClr val="bg1"/>
                </a:solidFill>
              </a:rPr>
              <a:t>spring.factories</a:t>
            </a:r>
            <a:r>
              <a:rPr lang="zh-CN" altLang="en-US" sz="2600" dirty="0" smtClean="0">
                <a:solidFill>
                  <a:schemeClr val="bg1"/>
                </a:solidFill>
              </a:rPr>
              <a:t>的相关原理你真的知道吗？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chemeClr val="bg1"/>
                </a:solidFill>
              </a:rPr>
              <a:t>怎么加载（</a:t>
            </a:r>
            <a:r>
              <a:rPr lang="en-US" altLang="zh-CN" sz="2600" dirty="0" smtClean="0">
                <a:solidFill>
                  <a:schemeClr val="bg1"/>
                </a:solidFill>
              </a:rPr>
              <a:t>API</a:t>
            </a:r>
            <a:r>
              <a:rPr lang="zh-CN" altLang="en-US" sz="2600" dirty="0" smtClean="0">
                <a:solidFill>
                  <a:schemeClr val="bg1"/>
                </a:solidFill>
              </a:rPr>
              <a:t>是什么</a:t>
            </a:r>
            <a:r>
              <a:rPr lang="zh-CN" altLang="en-US" sz="2600" dirty="0" smtClean="0">
                <a:solidFill>
                  <a:schemeClr val="bg1"/>
                </a:solidFill>
              </a:rPr>
              <a:t>）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chemeClr val="bg1"/>
                </a:solidFill>
              </a:rPr>
              <a:t>为什么</a:t>
            </a:r>
            <a:r>
              <a:rPr lang="en-US" altLang="zh-CN" sz="2600" dirty="0" err="1" smtClean="0">
                <a:solidFill>
                  <a:schemeClr val="bg1"/>
                </a:solidFill>
              </a:rPr>
              <a:t>zk-config</a:t>
            </a:r>
            <a:r>
              <a:rPr lang="zh-CN" altLang="en-US" sz="2600" dirty="0" smtClean="0">
                <a:solidFill>
                  <a:schemeClr val="bg1"/>
                </a:solidFill>
              </a:rPr>
              <a:t>配置的是</a:t>
            </a:r>
            <a:r>
              <a:rPr lang="en-US" altLang="zh-CN" sz="2600" dirty="0" err="1" smtClean="0">
                <a:solidFill>
                  <a:schemeClr val="bg1"/>
                </a:solidFill>
              </a:rPr>
              <a:t>BootstrapConfiguration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chemeClr val="bg1"/>
                </a:solidFill>
              </a:rPr>
              <a:t>为什么</a:t>
            </a:r>
            <a:r>
              <a:rPr lang="en-US" altLang="zh-CN" sz="2600" dirty="0" err="1" smtClean="0">
                <a:solidFill>
                  <a:schemeClr val="bg1"/>
                </a:solidFill>
              </a:rPr>
              <a:t>configWacher</a:t>
            </a:r>
            <a:r>
              <a:rPr lang="zh-CN" altLang="en-US" sz="2600" dirty="0" smtClean="0">
                <a:solidFill>
                  <a:schemeClr val="bg1"/>
                </a:solidFill>
              </a:rPr>
              <a:t>配置</a:t>
            </a:r>
            <a:r>
              <a:rPr lang="zh-CN" altLang="en-US" sz="2600" dirty="0">
                <a:solidFill>
                  <a:schemeClr val="bg1"/>
                </a:solidFill>
              </a:rPr>
              <a:t>的</a:t>
            </a:r>
            <a:r>
              <a:rPr lang="zh-CN" altLang="en-US" sz="2600" dirty="0" smtClean="0">
                <a:solidFill>
                  <a:schemeClr val="bg1"/>
                </a:solidFill>
              </a:rPr>
              <a:t>是</a:t>
            </a:r>
            <a:r>
              <a:rPr lang="en-US" altLang="zh-CN" sz="2600" dirty="0" err="1">
                <a:solidFill>
                  <a:schemeClr val="bg1"/>
                </a:solidFill>
              </a:rPr>
              <a:t>EnableAutoConfiguration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chemeClr val="bg1"/>
                </a:solidFill>
              </a:rPr>
              <a:t>配置为</a:t>
            </a:r>
            <a:r>
              <a:rPr lang="en-US" altLang="zh-CN" sz="2600" dirty="0" err="1" smtClean="0">
                <a:solidFill>
                  <a:schemeClr val="bg1"/>
                </a:solidFill>
              </a:rPr>
              <a:t>BootstrapConfiguration</a:t>
            </a:r>
            <a:r>
              <a:rPr lang="zh-CN" altLang="en-US" sz="2600" dirty="0" smtClean="0">
                <a:solidFill>
                  <a:schemeClr val="bg1"/>
                </a:solidFill>
              </a:rPr>
              <a:t>加载时机是怎么样的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600" dirty="0" smtClean="0">
                <a:solidFill>
                  <a:schemeClr val="bg1"/>
                </a:solidFill>
              </a:rPr>
              <a:t>配置为</a:t>
            </a:r>
            <a:r>
              <a:rPr lang="en-US" altLang="zh-CN" sz="2600" dirty="0" err="1" smtClean="0">
                <a:solidFill>
                  <a:schemeClr val="bg1"/>
                </a:solidFill>
              </a:rPr>
              <a:t>EnableAutoConfiguration</a:t>
            </a:r>
            <a:r>
              <a:rPr lang="zh-CN" altLang="en-US" sz="2600" dirty="0" smtClean="0">
                <a:solidFill>
                  <a:schemeClr val="bg1"/>
                </a:solidFill>
              </a:rPr>
              <a:t>加载时机是</a:t>
            </a:r>
            <a:r>
              <a:rPr lang="zh-CN" altLang="en-US" sz="2600" dirty="0">
                <a:solidFill>
                  <a:schemeClr val="bg1"/>
                </a:solidFill>
              </a:rPr>
              <a:t>怎么样</a:t>
            </a:r>
            <a:r>
              <a:rPr lang="zh-CN" altLang="en-US" sz="2600" dirty="0" smtClean="0">
                <a:solidFill>
                  <a:schemeClr val="bg1"/>
                </a:solidFill>
              </a:rPr>
              <a:t>的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smtClean="0">
                <a:solidFill>
                  <a:schemeClr val="bg1"/>
                </a:solidFill>
              </a:rPr>
              <a:t>Spring</a:t>
            </a:r>
            <a:r>
              <a:rPr lang="zh-CN" altLang="en-US" sz="2600" dirty="0" smtClean="0">
                <a:solidFill>
                  <a:schemeClr val="bg1"/>
                </a:solidFill>
              </a:rPr>
              <a:t> </a:t>
            </a:r>
            <a:r>
              <a:rPr lang="en-US" altLang="zh-CN" sz="2600" dirty="0" smtClean="0">
                <a:solidFill>
                  <a:schemeClr val="bg1"/>
                </a:solidFill>
              </a:rPr>
              <a:t>boot</a:t>
            </a:r>
            <a:r>
              <a:rPr lang="zh-CN" altLang="en-US" sz="2600" dirty="0" smtClean="0">
                <a:solidFill>
                  <a:schemeClr val="bg1"/>
                </a:solidFill>
              </a:rPr>
              <a:t> 为什么具有加载外部配置的能力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b="1" dirty="0" err="1" smtClean="0">
                <a:solidFill>
                  <a:schemeClr val="bg1"/>
                </a:solidFill>
              </a:rPr>
              <a:t>PropertySourceBootstrapConfiguration</a:t>
            </a:r>
            <a:r>
              <a:rPr lang="zh-CN" altLang="en-US" sz="2600" dirty="0">
                <a:solidFill>
                  <a:schemeClr val="bg1"/>
                </a:solidFill>
              </a:rPr>
              <a:t>实例化</a:t>
            </a:r>
            <a:r>
              <a:rPr lang="zh-CN" altLang="en-US" sz="2600" dirty="0" smtClean="0">
                <a:solidFill>
                  <a:schemeClr val="bg1"/>
                </a:solidFill>
              </a:rPr>
              <a:t>时机</a:t>
            </a:r>
            <a:endParaRPr lang="en-US" altLang="zh-CN" sz="2600" dirty="0" smtClean="0">
              <a:solidFill>
                <a:schemeClr val="bg1"/>
              </a:solidFill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ZookeeperConfigBootstrapConfiguration</a:t>
            </a:r>
            <a:r>
              <a:rPr lang="zh-CN" altLang="en-US" sz="2600" dirty="0">
                <a:solidFill>
                  <a:schemeClr val="bg1"/>
                </a:solidFill>
              </a:rPr>
              <a:t>实例化</a:t>
            </a:r>
            <a:r>
              <a:rPr lang="zh-CN" altLang="en-US" sz="2600" dirty="0" smtClean="0">
                <a:solidFill>
                  <a:schemeClr val="bg1"/>
                </a:solidFill>
              </a:rPr>
              <a:t>时机</a:t>
            </a:r>
            <a:endParaRPr lang="en-US" altLang="zh-CN" sz="2600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1714500" lvl="3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600" dirty="0" err="1" smtClean="0">
                <a:solidFill>
                  <a:schemeClr val="bg1"/>
                </a:solidFill>
              </a:rPr>
              <a:t>ZookeeperPropertySourceLocator</a:t>
            </a:r>
            <a:r>
              <a:rPr lang="zh-CN" altLang="en-US" sz="2600" dirty="0" smtClean="0">
                <a:solidFill>
                  <a:schemeClr val="bg1"/>
                </a:solidFill>
              </a:rPr>
              <a:t>实例化时机</a:t>
            </a:r>
            <a:endParaRPr lang="en-US" altLang="zh-CN" sz="26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18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dirty="0">
                <a:solidFill>
                  <a:schemeClr val="bg1"/>
                </a:solidFill>
              </a:rPr>
              <a:t>@</a:t>
            </a:r>
            <a:r>
              <a:rPr lang="en-US" altLang="zh-CN" sz="4400" dirty="0" err="1" smtClean="0">
                <a:solidFill>
                  <a:schemeClr val="bg1"/>
                </a:solidFill>
              </a:rPr>
              <a:t>SpringBootApplication</a:t>
            </a:r>
            <a:r>
              <a:rPr lang="zh-CN" altLang="en-US" sz="4400" dirty="0" smtClean="0">
                <a:solidFill>
                  <a:schemeClr val="bg1"/>
                </a:solidFill>
              </a:rPr>
              <a:t>注解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940157" y="1562374"/>
            <a:ext cx="1052203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@</a:t>
            </a:r>
            <a:r>
              <a:rPr lang="en-US" altLang="zh-CN" sz="3200" dirty="0" err="1" smtClean="0">
                <a:solidFill>
                  <a:schemeClr val="bg1"/>
                </a:solidFill>
              </a:rPr>
              <a:t>SpringBootConfiguration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@</a:t>
            </a:r>
            <a:r>
              <a:rPr lang="en-US" altLang="zh-CN" sz="3200" dirty="0" smtClean="0">
                <a:solidFill>
                  <a:schemeClr val="bg1"/>
                </a:solidFill>
              </a:rPr>
              <a:t>Configuration</a:t>
            </a:r>
            <a:r>
              <a:rPr lang="zh-CN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</a:rPr>
              <a:t>java</a:t>
            </a:r>
            <a:r>
              <a:rPr lang="zh-CN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CN" sz="3200" dirty="0" err="1" smtClean="0">
                <a:solidFill>
                  <a:schemeClr val="bg1"/>
                </a:solidFill>
              </a:rPr>
              <a:t>config</a:t>
            </a:r>
            <a:r>
              <a:rPr lang="zh-CN" altLang="en-US" sz="3200" dirty="0" smtClean="0">
                <a:solidFill>
                  <a:schemeClr val="bg1"/>
                </a:solidFill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</a:rPr>
              <a:t>bean</a:t>
            </a:r>
            <a:endParaRPr lang="en-US" altLang="zh-CN" sz="3200" dirty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@</a:t>
            </a:r>
            <a:r>
              <a:rPr lang="en-US" altLang="zh-CN" sz="3200" dirty="0" err="1" smtClean="0">
                <a:solidFill>
                  <a:schemeClr val="bg1"/>
                </a:solidFill>
              </a:rPr>
              <a:t>EnableAutoConfiguration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bg1"/>
                </a:solidFill>
              </a:rPr>
              <a:t>自动配置</a:t>
            </a:r>
            <a:endParaRPr lang="en-US" altLang="zh-CN" sz="3200" b="1" dirty="0" smtClean="0">
              <a:solidFill>
                <a:schemeClr val="bg1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3200" dirty="0">
                <a:solidFill>
                  <a:schemeClr val="bg1"/>
                </a:solidFill>
              </a:rPr>
              <a:t>@</a:t>
            </a:r>
            <a:r>
              <a:rPr lang="en-US" altLang="zh-CN" sz="3200" dirty="0" err="1" smtClean="0">
                <a:solidFill>
                  <a:schemeClr val="bg1"/>
                </a:solidFill>
              </a:rPr>
              <a:t>ComponentScan</a:t>
            </a:r>
            <a:endParaRPr lang="en-US" altLang="zh-CN" sz="32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3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扫描注解</a:t>
            </a:r>
            <a:r>
              <a:rPr lang="en-US" altLang="zh-CN" sz="3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bean</a:t>
            </a:r>
            <a:r>
              <a:rPr lang="zh-CN" altLang="en-US" sz="3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(</a:t>
            </a:r>
            <a:r>
              <a:rPr lang="en-US" altLang="zh-CN" sz="3200" dirty="0" err="1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eg</a:t>
            </a:r>
            <a:r>
              <a:rPr lang="zh-CN" altLang="en-US" sz="3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 </a:t>
            </a:r>
            <a:r>
              <a:rPr lang="en-US" altLang="zh-CN" sz="3200" dirty="0" smtClean="0">
                <a:solidFill>
                  <a:schemeClr val="bg1"/>
                </a:solidFill>
                <a:latin typeface="Microsoft YaHei" charset="-122"/>
                <a:ea typeface="Microsoft YaHei" charset="-122"/>
                <a:cs typeface="Microsoft YaHei" charset="-122"/>
              </a:rPr>
              <a:t>@service)</a:t>
            </a:r>
          </a:p>
        </p:txBody>
      </p:sp>
    </p:spTree>
    <p:extLst>
      <p:ext uri="{BB962C8B-B14F-4D97-AF65-F5344CB8AC3E}">
        <p14:creationId xmlns:p14="http://schemas.microsoft.com/office/powerpoint/2010/main" val="1885343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 err="1" smtClean="0"/>
              <a:t>Spring.factories</a:t>
            </a:r>
            <a:endParaRPr lang="en-US" altLang="zh-CN" sz="5400" dirty="0"/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62000" y="1163579"/>
            <a:ext cx="10798581" cy="553997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# </a:t>
            </a:r>
            <a:r>
              <a:rPr lang="en-US" altLang="zh-CN" dirty="0" err="1"/>
              <a:t>AutoConfiguration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err="1">
                <a:solidFill>
                  <a:srgbClr val="FF0000"/>
                </a:solidFill>
              </a:rPr>
              <a:t>org.springframework.boot.autoconfigure.EnableAutoConfiguration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org.springframework.cloud.autoconfigure.ConfigurationPropertiesRebinderAutoConfiguration,\</a:t>
            </a:r>
            <a:br>
              <a:rPr lang="en-US" altLang="zh-CN" dirty="0"/>
            </a:br>
            <a:r>
              <a:rPr lang="en-US" altLang="zh-CN" dirty="0"/>
              <a:t>org.springframework.cloud.autoconfigure.RefreshAutoConfiguration,\</a:t>
            </a:r>
            <a:br>
              <a:rPr lang="en-US" altLang="zh-CN" dirty="0"/>
            </a:br>
            <a:r>
              <a:rPr lang="en-US" altLang="zh-CN" dirty="0"/>
              <a:t>org.springframework.cloud.autoconfigure.RefreshEndpointAutoConfiguration,\</a:t>
            </a:r>
            <a:br>
              <a:rPr lang="en-US" altLang="zh-CN" dirty="0"/>
            </a:br>
            <a:r>
              <a:rPr lang="en-US" altLang="zh-CN" dirty="0"/>
              <a:t>org.springframework.cloud.autoconfigure.LifecycleMvcEndpointAutoConfiguration</a:t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# Application Listeners</a:t>
            </a:r>
            <a:br>
              <a:rPr lang="en-US" altLang="zh-CN" dirty="0"/>
            </a:br>
            <a:r>
              <a:rPr lang="en-US" altLang="zh-CN" dirty="0" err="1">
                <a:solidFill>
                  <a:srgbClr val="FF0000"/>
                </a:solidFill>
              </a:rPr>
              <a:t>org.springframework.context.ApplicationListener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org.springframework.cloud.bootstrap.</a:t>
            </a:r>
            <a:r>
              <a:rPr lang="en-US" altLang="zh-CN" sz="2400" b="1" dirty="0">
                <a:solidFill>
                  <a:srgbClr val="FF0000"/>
                </a:solidFill>
              </a:rPr>
              <a:t>BootstrapApplicationListener</a:t>
            </a:r>
            <a:r>
              <a:rPr lang="en-US" altLang="zh-CN" dirty="0"/>
              <a:t>,\</a:t>
            </a:r>
            <a:br>
              <a:rPr lang="en-US" altLang="zh-CN" dirty="0"/>
            </a:br>
            <a:r>
              <a:rPr lang="en-US" altLang="zh-CN" dirty="0"/>
              <a:t>org.springframework.cloud.bootstrap.LoggingSystemShutdownListener,\</a:t>
            </a:r>
            <a:br>
              <a:rPr lang="en-US" altLang="zh-CN" dirty="0"/>
            </a:br>
            <a:r>
              <a:rPr lang="en-US" altLang="zh-CN" dirty="0" err="1"/>
              <a:t>org.springframework.cloud.context.restart.RestartListener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/>
              <a:t># Bootstrap components</a:t>
            </a:r>
            <a:br>
              <a:rPr lang="en-US" altLang="zh-CN" dirty="0"/>
            </a:br>
            <a:r>
              <a:rPr lang="en-US" altLang="zh-CN" dirty="0" err="1">
                <a:solidFill>
                  <a:srgbClr val="FF0000"/>
                </a:solidFill>
              </a:rPr>
              <a:t>org.springframework.cloud.bootstrap.BootstrapConfiguration</a:t>
            </a:r>
            <a:r>
              <a:rPr lang="en-US" altLang="zh-CN" dirty="0"/>
              <a:t>=\</a:t>
            </a:r>
            <a:br>
              <a:rPr lang="en-US" altLang="zh-CN" dirty="0"/>
            </a:br>
            <a:r>
              <a:rPr lang="en-US" altLang="zh-CN" dirty="0"/>
              <a:t>org.springframework.cloud.bootstrap.config.</a:t>
            </a:r>
            <a:r>
              <a:rPr lang="en-US" altLang="zh-CN" sz="2400" b="1" dirty="0">
                <a:solidFill>
                  <a:srgbClr val="FF0000"/>
                </a:solidFill>
              </a:rPr>
              <a:t>PropertySourceBootstrapConfiguration</a:t>
            </a:r>
            <a:r>
              <a:rPr lang="en-US" altLang="zh-CN" dirty="0"/>
              <a:t>,\</a:t>
            </a:r>
            <a:br>
              <a:rPr lang="en-US" altLang="zh-CN" dirty="0"/>
            </a:br>
            <a:r>
              <a:rPr lang="en-US" altLang="zh-CN" dirty="0"/>
              <a:t>org.springframework.cloud.bootstrap.encrypt.EncryptionBootstrapConfiguration,\</a:t>
            </a:r>
            <a:br>
              <a:rPr lang="en-US" altLang="zh-CN" dirty="0"/>
            </a:br>
            <a:r>
              <a:rPr lang="en-US" altLang="zh-CN" dirty="0"/>
              <a:t>org.springframework.cloud.autoconfigure.ConfigurationPropertiesRebinderAutoConfiguration,\</a:t>
            </a:r>
            <a:br>
              <a:rPr lang="en-US" altLang="zh-CN" dirty="0"/>
            </a:br>
            <a:r>
              <a:rPr lang="en-US" altLang="zh-CN" dirty="0"/>
              <a:t>org.springframework.boot.autoconfigure.PropertyPlaceholderAutoConfiguration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717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1020535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5400" dirty="0" err="1" smtClean="0"/>
              <a:t>Spring.factories</a:t>
            </a:r>
            <a:r>
              <a:rPr lang="zh-CN" altLang="en-US" sz="5400" dirty="0" smtClean="0"/>
              <a:t>怎么加载</a:t>
            </a:r>
            <a:endParaRPr lang="en-US" altLang="zh-CN" sz="5400" dirty="0"/>
          </a:p>
        </p:txBody>
      </p:sp>
      <p:sp>
        <p:nvSpPr>
          <p:cNvPr id="5" name="AutoShape 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AutoShape 8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" name="AutoShape 10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1" name="AutoShape 12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2" name="AutoShape 14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" name="AutoShape 16" descr="https://conf.shishike.com/download/attachments/36027758/image2019-10-17_14-33-23.png?version=1&amp;modificationDate=1571294019000&amp;api=v2"/>
          <p:cNvSpPr>
            <a:spLocks noChangeAspect="1" noChangeArrowheads="1"/>
          </p:cNvSpPr>
          <p:nvPr/>
        </p:nvSpPr>
        <p:spPr bwMode="auto">
          <a:xfrm>
            <a:off x="762000" y="762000"/>
            <a:ext cx="3019168" cy="301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0" y="1793237"/>
            <a:ext cx="1221039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2400" b="1" dirty="0" err="1" smtClean="0">
                <a:solidFill>
                  <a:srgbClr val="FF0000"/>
                </a:solidFill>
              </a:rPr>
              <a:t>SpringFactoriesLoader</a:t>
            </a:r>
            <a:r>
              <a:rPr lang="en-US" altLang="zh-CN" sz="2400" dirty="0" err="1" smtClean="0"/>
              <a:t>.</a:t>
            </a:r>
            <a:r>
              <a:rPr lang="en-US" altLang="zh-CN" sz="2400" i="1" dirty="0" err="1" smtClean="0"/>
              <a:t>loadFactoryNames</a:t>
            </a:r>
            <a:r>
              <a:rPr lang="en-US" altLang="zh-CN" sz="2400" dirty="0"/>
              <a:t>(Class&lt;?&gt; </a:t>
            </a:r>
            <a:r>
              <a:rPr lang="en-US" altLang="zh-CN" sz="2400" dirty="0" err="1"/>
              <a:t>factoryClass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ClassLoader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classLoader</a:t>
            </a:r>
            <a:r>
              <a:rPr lang="en-US" altLang="zh-CN" sz="2400" dirty="0" smtClean="0"/>
              <a:t>)</a:t>
            </a:r>
            <a:endParaRPr lang="en-US" altLang="zh-CN" sz="2400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304801" y="3094020"/>
            <a:ext cx="1146649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ClassLoader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classLoader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Thread.</a:t>
            </a:r>
            <a:r>
              <a:rPr lang="en-US" altLang="zh-CN" sz="2400" i="1" dirty="0" err="1"/>
              <a:t>currentThread</a:t>
            </a:r>
            <a:r>
              <a:rPr lang="en-US" altLang="zh-CN" sz="2400" dirty="0"/>
              <a:t>().</a:t>
            </a:r>
            <a:r>
              <a:rPr lang="en-US" altLang="zh-CN" sz="2400" dirty="0" err="1"/>
              <a:t>getContextClassLoader</a:t>
            </a:r>
            <a:r>
              <a:rPr lang="en-US" altLang="zh-CN" sz="2400" dirty="0" smtClean="0"/>
              <a:t>();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Set&lt;String&gt; names = new </a:t>
            </a:r>
            <a:r>
              <a:rPr lang="en-US" altLang="zh-CN" sz="2400" dirty="0" err="1"/>
              <a:t>LinkedHashSet</a:t>
            </a:r>
            <a:r>
              <a:rPr lang="en-US" altLang="zh-CN" sz="2400" dirty="0"/>
              <a:t>&lt;String&gt;(</a:t>
            </a:r>
            <a:br>
              <a:rPr lang="en-US" altLang="zh-CN" sz="2400" dirty="0"/>
            </a:br>
            <a:r>
              <a:rPr lang="en-US" altLang="zh-CN" sz="2400" dirty="0"/>
              <a:t>      </a:t>
            </a:r>
            <a:r>
              <a:rPr lang="en-US" altLang="zh-CN" sz="2400" dirty="0" err="1" smtClean="0"/>
              <a:t>SpringFactoriesLoader.</a:t>
            </a:r>
            <a:r>
              <a:rPr lang="en-US" altLang="zh-CN" sz="2400" i="1" dirty="0" err="1" smtClean="0"/>
              <a:t>loadFactoryNames</a:t>
            </a:r>
            <a:r>
              <a:rPr lang="en-US" altLang="zh-CN" sz="2400" dirty="0" smtClean="0"/>
              <a:t>(</a:t>
            </a:r>
            <a:r>
              <a:rPr lang="en-US" altLang="zh-CN" sz="2400" dirty="0" err="1"/>
              <a:t>SpringApplicationRunListener.class</a:t>
            </a:r>
            <a:r>
              <a:rPr lang="en-US" altLang="zh-CN" sz="2400" dirty="0" smtClean="0"/>
              <a:t> </a:t>
            </a:r>
            <a:r>
              <a:rPr lang="en-US" altLang="zh-CN" sz="2400" dirty="0" err="1"/>
              <a:t>classLoader</a:t>
            </a:r>
            <a:r>
              <a:rPr lang="en-US" altLang="zh-CN" sz="2400" dirty="0"/>
              <a:t>));</a:t>
            </a:r>
            <a:endParaRPr kumimoji="1"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304801" y="5192866"/>
            <a:ext cx="1146649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ClassLoader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classLoader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Thread.</a:t>
            </a:r>
            <a:r>
              <a:rPr lang="en-US" altLang="zh-CN" sz="2400" i="1" dirty="0" err="1"/>
              <a:t>currentThread</a:t>
            </a:r>
            <a:r>
              <a:rPr lang="en-US" altLang="zh-CN" sz="2400" dirty="0"/>
              <a:t>().</a:t>
            </a:r>
            <a:r>
              <a:rPr lang="en-US" altLang="zh-CN" sz="2400" dirty="0" err="1"/>
              <a:t>getContextClassLoader</a:t>
            </a:r>
            <a:r>
              <a:rPr lang="en-US" altLang="zh-CN" sz="2400" dirty="0" smtClean="0"/>
              <a:t>();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/>
              <a:t>Set&lt;String&gt; names = new </a:t>
            </a:r>
            <a:r>
              <a:rPr lang="en-US" altLang="zh-CN" sz="2400" dirty="0" err="1"/>
              <a:t>LinkedHashSet</a:t>
            </a:r>
            <a:r>
              <a:rPr lang="en-US" altLang="zh-CN" sz="2400" dirty="0"/>
              <a:t>&lt;String&gt;(</a:t>
            </a:r>
            <a:br>
              <a:rPr lang="en-US" altLang="zh-CN" sz="2400" dirty="0"/>
            </a:br>
            <a:r>
              <a:rPr lang="en-US" altLang="zh-CN" sz="2400" dirty="0"/>
              <a:t>      </a:t>
            </a:r>
            <a:r>
              <a:rPr lang="en-US" altLang="zh-CN" sz="2400" dirty="0" err="1" smtClean="0"/>
              <a:t>SpringFactoriesLoader.</a:t>
            </a:r>
            <a:r>
              <a:rPr lang="en-US" altLang="zh-CN" sz="2400" i="1" dirty="0" err="1" smtClean="0"/>
              <a:t>loadFactoryNames</a:t>
            </a:r>
            <a:r>
              <a:rPr lang="en-US" altLang="zh-CN" sz="2400" dirty="0" smtClean="0"/>
              <a:t>(</a:t>
            </a:r>
            <a:r>
              <a:rPr lang="en-US" altLang="zh-CN" sz="2400" dirty="0" err="1"/>
              <a:t>BootstrapConfiguration</a:t>
            </a:r>
            <a:r>
              <a:rPr lang="en-US" altLang="zh-CN" sz="2400" dirty="0" err="1" smtClean="0"/>
              <a:t>.class</a:t>
            </a:r>
            <a:r>
              <a:rPr lang="en-US" altLang="zh-CN" sz="2400" dirty="0" smtClean="0"/>
              <a:t> </a:t>
            </a:r>
            <a:r>
              <a:rPr lang="en-US" altLang="zh-CN" sz="2400" dirty="0" err="1"/>
              <a:t>classLoader</a:t>
            </a:r>
            <a:r>
              <a:rPr lang="en-US" altLang="zh-CN" sz="2400" dirty="0"/>
              <a:t>));</a:t>
            </a:r>
            <a:endParaRPr kumimoji="1"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585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 smtClean="0">
                <a:solidFill>
                  <a:schemeClr val="bg1"/>
                </a:solidFill>
              </a:rPr>
              <a:t>自动配置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7128" y="861743"/>
            <a:ext cx="9852338" cy="575799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58329" y="1091415"/>
            <a:ext cx="2421229" cy="6884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SpringApplication.run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48872" y="2261888"/>
            <a:ext cx="8403466" cy="279471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 smtClean="0">
                <a:solidFill>
                  <a:schemeClr val="tx1"/>
                </a:solidFill>
              </a:rPr>
              <a:t>@</a:t>
            </a:r>
            <a:r>
              <a:rPr lang="en-US" altLang="zh-CN" dirty="0" err="1">
                <a:solidFill>
                  <a:schemeClr val="tx1"/>
                </a:solidFill>
              </a:rPr>
              <a:t>EnableAutoConfiguration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653049" y="2790425"/>
            <a:ext cx="5782614" cy="11565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tx1"/>
                </a:solidFill>
              </a:rPr>
              <a:t>EnableAutoConfigurationImportSelector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65172" y="4386400"/>
            <a:ext cx="4790941" cy="58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SpringFactoriesLoader</a:t>
            </a:r>
            <a:r>
              <a:rPr lang="en-US" altLang="zh-CN" dirty="0" smtClean="0">
                <a:solidFill>
                  <a:schemeClr val="tx1"/>
                </a:solidFill>
              </a:rPr>
              <a:t>.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err="1" smtClean="0">
                <a:solidFill>
                  <a:schemeClr val="tx1"/>
                </a:solidFill>
              </a:rPr>
              <a:t>loadFactoryNames</a:t>
            </a:r>
            <a:r>
              <a:rPr lang="en-US" altLang="zh-CN" dirty="0" smtClean="0">
                <a:solidFill>
                  <a:schemeClr val="tx1"/>
                </a:solidFill>
              </a:rPr>
              <a:t>()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448872" y="5318975"/>
            <a:ext cx="8493618" cy="119773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 err="1">
                <a:solidFill>
                  <a:schemeClr val="tx1"/>
                </a:solidFill>
              </a:rPr>
              <a:t>s</a:t>
            </a:r>
            <a:r>
              <a:rPr kumimoji="1" lang="en-US" altLang="zh-CN" dirty="0" err="1" smtClean="0">
                <a:solidFill>
                  <a:schemeClr val="tx1"/>
                </a:solidFill>
              </a:rPr>
              <a:t>pring.factories</a:t>
            </a:r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828800" y="5957978"/>
            <a:ext cx="1370402" cy="47551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z</a:t>
            </a:r>
            <a:r>
              <a:rPr kumimoji="1" lang="en-US" altLang="zh-CN" dirty="0" err="1" smtClean="0"/>
              <a:t>k-config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810946" y="5974291"/>
            <a:ext cx="1404558" cy="45920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eureka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948365" y="5974291"/>
            <a:ext cx="1542289" cy="47412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>
                <a:solidFill>
                  <a:schemeClr val="bg1"/>
                </a:solidFill>
              </a:rPr>
              <a:t>robbin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964667" y="5972898"/>
            <a:ext cx="1730622" cy="47551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mr-IN" altLang="zh-CN" dirty="0" smtClean="0"/>
              <a:t>…</a:t>
            </a:r>
            <a:r>
              <a:rPr kumimoji="1" lang="en-US" altLang="zh-CN" dirty="0" smtClean="0"/>
              <a:t>.</a:t>
            </a:r>
            <a:endParaRPr kumimoji="1" lang="zh-CN" altLang="en-US" dirty="0"/>
          </a:p>
        </p:txBody>
      </p:sp>
      <p:cxnSp>
        <p:nvCxnSpPr>
          <p:cNvPr id="17" name="直线箭头连接符 16"/>
          <p:cNvCxnSpPr/>
          <p:nvPr/>
        </p:nvCxnSpPr>
        <p:spPr>
          <a:xfrm>
            <a:off x="5368943" y="1779863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>
            <a:off x="5368943" y="3925339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>
            <a:endCxn id="4" idx="0"/>
          </p:cNvCxnSpPr>
          <p:nvPr/>
        </p:nvCxnSpPr>
        <p:spPr>
          <a:xfrm flipH="1">
            <a:off x="2514001" y="4975538"/>
            <a:ext cx="2701503" cy="98244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>
            <a:endCxn id="9" idx="0"/>
          </p:cNvCxnSpPr>
          <p:nvPr/>
        </p:nvCxnSpPr>
        <p:spPr>
          <a:xfrm flipH="1">
            <a:off x="4513225" y="4975538"/>
            <a:ext cx="688164" cy="99875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/>
          <p:cNvCxnSpPr/>
          <p:nvPr/>
        </p:nvCxnSpPr>
        <p:spPr>
          <a:xfrm>
            <a:off x="5198426" y="5041716"/>
            <a:ext cx="1521083" cy="91626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/>
          <p:cNvCxnSpPr/>
          <p:nvPr/>
        </p:nvCxnSpPr>
        <p:spPr>
          <a:xfrm>
            <a:off x="5206965" y="4988128"/>
            <a:ext cx="3623013" cy="96985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83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dirty="0" smtClean="0">
                <a:solidFill>
                  <a:schemeClr val="bg1"/>
                </a:solidFill>
              </a:rPr>
              <a:t>spring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 </a:t>
            </a:r>
            <a:r>
              <a:rPr lang="en-US" altLang="zh-CN" sz="4400" b="1" dirty="0" smtClean="0">
                <a:solidFill>
                  <a:schemeClr val="bg1"/>
                </a:solidFill>
              </a:rPr>
              <a:t>boot</a:t>
            </a:r>
            <a:r>
              <a:rPr lang="zh-CN" altLang="en-US" sz="4400" b="1" dirty="0" smtClean="0">
                <a:solidFill>
                  <a:schemeClr val="bg1"/>
                </a:solidFill>
              </a:rPr>
              <a:t> 初始化流程图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7730" y="861743"/>
            <a:ext cx="11178862" cy="58988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158328" y="945168"/>
            <a:ext cx="2421229" cy="42607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SpringApplication.run</a:t>
            </a:r>
            <a:r>
              <a:rPr kumimoji="1" lang="en-US" altLang="zh-CN" dirty="0" smtClean="0"/>
              <a:t>()</a:t>
            </a:r>
            <a:endParaRPr kumimoji="1"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416675" y="1682345"/>
            <a:ext cx="8403466" cy="334602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37893" y="1763793"/>
            <a:ext cx="6954592" cy="144126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zh-CN" altLang="en-US" b="1" dirty="0" smtClean="0">
                <a:solidFill>
                  <a:schemeClr val="tx1"/>
                </a:solidFill>
              </a:rPr>
              <a:t>加载配置为</a:t>
            </a:r>
            <a:r>
              <a:rPr lang="en-US" altLang="zh-CN" b="1" dirty="0" err="1" smtClean="0">
                <a:solidFill>
                  <a:schemeClr val="tx1"/>
                </a:solidFill>
              </a:rPr>
              <a:t>BootstrapConfiguration</a:t>
            </a:r>
            <a:r>
              <a:rPr lang="zh-CN" altLang="en-US" b="1" dirty="0" smtClean="0">
                <a:solidFill>
                  <a:schemeClr val="tx1"/>
                </a:solidFill>
              </a:rPr>
              <a:t>的类作为</a:t>
            </a:r>
            <a:r>
              <a:rPr lang="en-US" altLang="zh-CN" b="1" dirty="0" err="1">
                <a:solidFill>
                  <a:schemeClr val="tx1"/>
                </a:solidFill>
              </a:rPr>
              <a:t>parentBeanFactory</a:t>
            </a:r>
            <a:endParaRPr kumimoji="1" lang="en-US" altLang="zh-CN" b="1" dirty="0" smtClean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rgbClr val="FF0000"/>
              </a:solidFill>
            </a:endParaRPr>
          </a:p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07594" y="3516162"/>
            <a:ext cx="5447764" cy="4212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ConfigFileApplicationListener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zh-CN" altLang="en-US" dirty="0" smtClean="0">
                <a:solidFill>
                  <a:schemeClr val="tx1"/>
                </a:solidFill>
              </a:rPr>
              <a:t>加载本地配置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04552" y="5175022"/>
            <a:ext cx="9337183" cy="151150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 err="1" smtClean="0"/>
              <a:t>CalmRouterTradeBootstrap</a:t>
            </a:r>
            <a:endParaRPr lang="en-US" altLang="zh-CN" b="1" dirty="0" smtClean="0"/>
          </a:p>
          <a:p>
            <a:endParaRPr kumimoji="1" lang="en-US" altLang="zh-CN" b="1" dirty="0" smtClean="0">
              <a:solidFill>
                <a:schemeClr val="tx1"/>
              </a:solidFill>
            </a:endParaRPr>
          </a:p>
          <a:p>
            <a:endParaRPr kumimoji="1" lang="en-US" altLang="zh-CN" dirty="0">
              <a:solidFill>
                <a:schemeClr val="tx1"/>
              </a:solidFill>
            </a:endParaRPr>
          </a:p>
          <a:p>
            <a:endParaRPr kumimoji="1" lang="en-US" altLang="zh-CN" dirty="0" smtClean="0">
              <a:solidFill>
                <a:schemeClr val="tx1"/>
              </a:solidFill>
            </a:endParaRPr>
          </a:p>
          <a:p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605028" y="5597039"/>
            <a:ext cx="2247362" cy="47551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Xml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bean</a:t>
            </a:r>
            <a:endParaRPr kumimoji="1"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138201" y="5619372"/>
            <a:ext cx="2482407" cy="45920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Java</a:t>
            </a:r>
            <a:r>
              <a:rPr kumimoji="1" lang="zh-CN" altLang="en-US" dirty="0" smtClean="0"/>
              <a:t> </a:t>
            </a:r>
            <a:r>
              <a:rPr kumimoji="1" lang="en-US" altLang="zh-CN" dirty="0" err="1" smtClean="0"/>
              <a:t>config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bean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021018" y="5585679"/>
            <a:ext cx="2446857" cy="47412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>
                <a:solidFill>
                  <a:schemeClr val="bg1"/>
                </a:solidFill>
              </a:rPr>
              <a:t>AutoConfiguration</a:t>
            </a:r>
            <a:r>
              <a:rPr lang="zh-CN" altLang="en-US" dirty="0">
                <a:solidFill>
                  <a:schemeClr val="bg1"/>
                </a:solidFill>
              </a:rPr>
              <a:t> </a:t>
            </a:r>
            <a:r>
              <a:rPr lang="en-US" altLang="zh-CN" dirty="0">
                <a:solidFill>
                  <a:schemeClr val="bg1"/>
                </a:solidFill>
              </a:rPr>
              <a:t>bean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cxnSp>
        <p:nvCxnSpPr>
          <p:cNvPr id="17" name="直线箭头连接符 16"/>
          <p:cNvCxnSpPr/>
          <p:nvPr/>
        </p:nvCxnSpPr>
        <p:spPr>
          <a:xfrm>
            <a:off x="5368942" y="1358365"/>
            <a:ext cx="0" cy="36937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/>
          <p:nvPr/>
        </p:nvCxnSpPr>
        <p:spPr>
          <a:xfrm>
            <a:off x="5368942" y="3089710"/>
            <a:ext cx="0" cy="46106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/>
          <p:cNvCxnSpPr/>
          <p:nvPr/>
        </p:nvCxnSpPr>
        <p:spPr>
          <a:xfrm flipH="1">
            <a:off x="3760631" y="5028373"/>
            <a:ext cx="1608312" cy="59099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3115139" y="2752881"/>
            <a:ext cx="4790941" cy="3522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rgbClr val="FF0000"/>
                </a:solidFill>
              </a:rPr>
              <a:t>AbstractApplicationContext.</a:t>
            </a:r>
            <a:r>
              <a:rPr lang="en-US" altLang="zh-CN" dirty="0" err="1">
                <a:solidFill>
                  <a:srgbClr val="FF0000"/>
                </a:solidFill>
              </a:rPr>
              <a:t>r</a:t>
            </a:r>
            <a:r>
              <a:rPr lang="en-US" altLang="zh-CN" dirty="0" err="1" smtClean="0">
                <a:solidFill>
                  <a:srgbClr val="FF0000"/>
                </a:solidFill>
              </a:rPr>
              <a:t>efresh</a:t>
            </a:r>
            <a:r>
              <a:rPr lang="en-US" altLang="zh-CN" dirty="0" smtClean="0">
                <a:solidFill>
                  <a:srgbClr val="FF0000"/>
                </a:solidFill>
              </a:rPr>
              <a:t>()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807594" y="4033212"/>
            <a:ext cx="5447764" cy="4486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chemeClr val="tx1"/>
                </a:solidFill>
              </a:rPr>
              <a:t>PropertySourceBootstrapConfiguration</a:t>
            </a:r>
            <a:r>
              <a:rPr lang="zh-CN" altLang="en-US" dirty="0" smtClean="0">
                <a:solidFill>
                  <a:schemeClr val="tx1"/>
                </a:solidFill>
              </a:rPr>
              <a:t> 加载外部配置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807594" y="4561574"/>
            <a:ext cx="5447764" cy="4009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>
                <a:solidFill>
                  <a:srgbClr val="FF0000"/>
                </a:solidFill>
              </a:rPr>
              <a:t>AbstractApplicationContext.</a:t>
            </a:r>
            <a:r>
              <a:rPr lang="en-US" altLang="zh-CN" dirty="0" err="1">
                <a:solidFill>
                  <a:srgbClr val="FF0000"/>
                </a:solidFill>
              </a:rPr>
              <a:t>r</a:t>
            </a:r>
            <a:r>
              <a:rPr lang="en-US" altLang="zh-CN" dirty="0" err="1" smtClean="0">
                <a:solidFill>
                  <a:srgbClr val="FF0000"/>
                </a:solidFill>
              </a:rPr>
              <a:t>efresh</a:t>
            </a:r>
            <a:r>
              <a:rPr lang="en-US" altLang="zh-CN" dirty="0" smtClean="0">
                <a:solidFill>
                  <a:srgbClr val="FF0000"/>
                </a:solidFill>
              </a:rPr>
              <a:t>()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线箭头连接符 23"/>
          <p:cNvCxnSpPr>
            <a:endCxn id="9" idx="0"/>
          </p:cNvCxnSpPr>
          <p:nvPr/>
        </p:nvCxnSpPr>
        <p:spPr>
          <a:xfrm flipH="1">
            <a:off x="5379405" y="5028373"/>
            <a:ext cx="28174" cy="59099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/>
          <p:cNvCxnSpPr/>
          <p:nvPr/>
        </p:nvCxnSpPr>
        <p:spPr>
          <a:xfrm>
            <a:off x="5368942" y="5028373"/>
            <a:ext cx="1652076" cy="59099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/>
        </p:nvSpPr>
        <p:spPr>
          <a:xfrm>
            <a:off x="1609515" y="6164298"/>
            <a:ext cx="2247362" cy="47551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@</a:t>
            </a:r>
            <a:r>
              <a:rPr lang="en-US" altLang="zh-CN" dirty="0" err="1">
                <a:solidFill>
                  <a:schemeClr val="bg1"/>
                </a:solidFill>
              </a:rPr>
              <a:t>ImportResource</a:t>
            </a:r>
            <a:endParaRPr kumimoji="1" lang="zh-CN" altLang="en-US" dirty="0"/>
          </a:p>
        </p:txBody>
      </p:sp>
      <p:sp>
        <p:nvSpPr>
          <p:cNvPr id="49" name="矩形 48"/>
          <p:cNvSpPr/>
          <p:nvPr/>
        </p:nvSpPr>
        <p:spPr>
          <a:xfrm>
            <a:off x="4138200" y="6173105"/>
            <a:ext cx="2482407" cy="47551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@</a:t>
            </a:r>
            <a:r>
              <a:rPr lang="en-US" altLang="zh-CN" dirty="0" err="1">
                <a:solidFill>
                  <a:schemeClr val="bg1"/>
                </a:solidFill>
              </a:rPr>
              <a:t>ComponentScan</a:t>
            </a:r>
            <a:endParaRPr kumimoji="1" lang="zh-CN" altLang="en-US" dirty="0"/>
          </a:p>
        </p:txBody>
      </p:sp>
      <p:sp>
        <p:nvSpPr>
          <p:cNvPr id="50" name="矩形 49"/>
          <p:cNvSpPr/>
          <p:nvPr/>
        </p:nvSpPr>
        <p:spPr>
          <a:xfrm>
            <a:off x="7021017" y="6189041"/>
            <a:ext cx="2446857" cy="47551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@</a:t>
            </a:r>
            <a:r>
              <a:rPr lang="en-US" altLang="zh-CN" dirty="0" err="1">
                <a:solidFill>
                  <a:schemeClr val="bg1"/>
                </a:solidFill>
              </a:rPr>
              <a:t>EnableAutoConfiguration</a:t>
            </a:r>
            <a:endParaRPr kumimoji="1" lang="zh-CN" altLang="en-US" dirty="0"/>
          </a:p>
        </p:txBody>
      </p:sp>
      <p:sp>
        <p:nvSpPr>
          <p:cNvPr id="59" name="矩形 58"/>
          <p:cNvSpPr/>
          <p:nvPr/>
        </p:nvSpPr>
        <p:spPr>
          <a:xfrm>
            <a:off x="3115138" y="2363963"/>
            <a:ext cx="4790941" cy="31119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>
                <a:solidFill>
                  <a:schemeClr val="tx1"/>
                </a:solidFill>
              </a:rPr>
              <a:t>SpringApplication.run</a:t>
            </a:r>
            <a:r>
              <a:rPr kumimoji="1" lang="en-US" altLang="zh-CN" dirty="0">
                <a:solidFill>
                  <a:schemeClr val="tx1"/>
                </a:solidFill>
              </a:rPr>
              <a:t>()</a:t>
            </a:r>
          </a:p>
        </p:txBody>
      </p:sp>
      <p:sp>
        <p:nvSpPr>
          <p:cNvPr id="63" name="圆角矩形标注 62"/>
          <p:cNvSpPr/>
          <p:nvPr/>
        </p:nvSpPr>
        <p:spPr>
          <a:xfrm>
            <a:off x="8325946" y="3937447"/>
            <a:ext cx="1423606" cy="258483"/>
          </a:xfrm>
          <a:prstGeom prst="wedgeRoundRectCallout">
            <a:avLst>
              <a:gd name="adj1" fmla="val -54415"/>
              <a:gd name="adj2" fmla="val 121131"/>
              <a:gd name="adj3" fmla="val 16667"/>
            </a:avLst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b="1" dirty="0" smtClean="0"/>
              <a:t>由第一次初始化创建</a:t>
            </a:r>
            <a:endParaRPr kumimoji="1" lang="zh-CN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2731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20835" y="92302"/>
            <a:ext cx="969621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boot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4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启动时序图</a:t>
            </a:r>
            <a:endParaRPr lang="zh-CN" altLang="en-US" sz="4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94" y="990532"/>
            <a:ext cx="11552348" cy="570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551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时序图说明</a:t>
            </a:r>
            <a:endParaRPr lang="zh-CN" altLang="en-US" sz="5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507956" y="1144421"/>
            <a:ext cx="1100575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第一次初始化提前实例化所有的</a:t>
            </a:r>
            <a:r>
              <a:rPr lang="en-US" altLang="zh-CN" sz="2400" dirty="0" err="1" smtClean="0">
                <a:solidFill>
                  <a:schemeClr val="bg1"/>
                </a:solidFill>
              </a:rPr>
              <a:t>BootstrapConfiguration</a:t>
            </a:r>
            <a:r>
              <a:rPr lang="zh-CN" altLang="en-US" sz="2400" dirty="0" smtClean="0">
                <a:solidFill>
                  <a:schemeClr val="bg1"/>
                </a:solidFill>
              </a:rPr>
              <a:t>配置类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</a:t>
            </a:r>
            <a:r>
              <a:rPr lang="en-US" altLang="zh-CN" sz="2400" b="1" dirty="0" err="1" smtClean="0">
                <a:solidFill>
                  <a:schemeClr val="bg1"/>
                </a:solidFill>
              </a:rPr>
              <a:t>PropertySourceBootstrapConfiguration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添加到当前的</a:t>
            </a:r>
            <a:r>
              <a:rPr lang="en-US" altLang="zh-CN" sz="2400" dirty="0" smtClean="0">
                <a:solidFill>
                  <a:schemeClr val="bg1"/>
                </a:solidFill>
              </a:rPr>
              <a:t>Initializer</a:t>
            </a:r>
            <a:r>
              <a:rPr lang="zh-CN" altLang="en-US" sz="2400" dirty="0" smtClean="0">
                <a:solidFill>
                  <a:schemeClr val="bg1"/>
                </a:solidFill>
              </a:rPr>
              <a:t>中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把第一次初始化的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beanFactroy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作为当前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beanFactroy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</a:t>
            </a:r>
            <a:r>
              <a:rPr lang="en-US" altLang="zh-CN" sz="2400" dirty="0" err="1">
                <a:solidFill>
                  <a:schemeClr val="bg1"/>
                </a:solidFill>
              </a:rPr>
              <a:t>parentBeanFactory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加载本服务内配置 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eg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bootstrap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prod.properties</a:t>
            </a:r>
            <a:endParaRPr lang="en-US" altLang="zh-CN" sz="2400" dirty="0" smtClea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</a:rPr>
              <a:t>遍历所有</a:t>
            </a:r>
            <a:r>
              <a:rPr lang="en-US" altLang="zh-CN" sz="2400" dirty="0" smtClean="0">
                <a:solidFill>
                  <a:schemeClr val="bg1"/>
                </a:solidFill>
              </a:rPr>
              <a:t>Initializer</a:t>
            </a:r>
            <a:r>
              <a:rPr lang="zh-CN" altLang="en-US" sz="2400" dirty="0" smtClean="0">
                <a:solidFill>
                  <a:schemeClr val="bg1"/>
                </a:solidFill>
              </a:rPr>
              <a:t>调用其</a:t>
            </a:r>
            <a:r>
              <a:rPr lang="en-US" altLang="zh-CN" sz="2400" dirty="0" smtClean="0">
                <a:solidFill>
                  <a:schemeClr val="bg1"/>
                </a:solidFill>
              </a:rPr>
              <a:t>initialize()</a:t>
            </a:r>
            <a:r>
              <a:rPr lang="zh-CN" altLang="en-US" sz="2400" dirty="0" smtClean="0">
                <a:solidFill>
                  <a:schemeClr val="bg1"/>
                </a:solidFill>
              </a:rPr>
              <a:t>方法</a:t>
            </a:r>
            <a:endParaRPr lang="en-US" altLang="zh-CN" sz="2400" dirty="0" smtClean="0">
              <a:solidFill>
                <a:schemeClr val="bg1"/>
              </a:solidFill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1" dirty="0" err="1" smtClean="0">
                <a:solidFill>
                  <a:schemeClr val="bg1"/>
                </a:solidFill>
              </a:rPr>
              <a:t>PropertySourceBootstrapConfiguration</a:t>
            </a:r>
            <a:r>
              <a:rPr lang="en-US" altLang="zh-CN" sz="2400" b="1" dirty="0" smtClean="0">
                <a:solidFill>
                  <a:schemeClr val="bg1"/>
                </a:solidFill>
              </a:rPr>
              <a:t>.</a:t>
            </a:r>
            <a:r>
              <a:rPr lang="en-US" altLang="zh-CN" sz="2400" dirty="0">
                <a:solidFill>
                  <a:schemeClr val="bg1"/>
                </a:solidFill>
              </a:rPr>
              <a:t> initialize</a:t>
            </a:r>
            <a:r>
              <a:rPr lang="en-US" altLang="zh-CN" sz="2400" dirty="0" smtClean="0">
                <a:solidFill>
                  <a:schemeClr val="bg1"/>
                </a:solidFill>
              </a:rPr>
              <a:t>()</a:t>
            </a:r>
            <a:r>
              <a:rPr lang="zh-CN" altLang="en-US" sz="2400" dirty="0" smtClean="0">
                <a:solidFill>
                  <a:schemeClr val="bg1"/>
                </a:solidFill>
              </a:rPr>
              <a:t> 加载外部配置</a:t>
            </a:r>
            <a:endParaRPr lang="en-US" altLang="zh-CN" sz="2400" dirty="0" smtClean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第二次初始化所有服务内自定义的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Xml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bean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en-US" altLang="zh-CN" sz="2400" dirty="0">
                <a:solidFill>
                  <a:schemeClr val="bg1"/>
                </a:solidFill>
              </a:rPr>
              <a:t>@</a:t>
            </a:r>
            <a:r>
              <a:rPr lang="en-US" altLang="zh-CN" sz="2400" dirty="0" err="1">
                <a:solidFill>
                  <a:schemeClr val="bg1"/>
                </a:solidFill>
              </a:rPr>
              <a:t>ImportResource</a:t>
            </a:r>
            <a:r>
              <a:rPr lang="en-US" altLang="zh-CN" sz="2400" dirty="0">
                <a:solidFill>
                  <a:schemeClr val="bg1"/>
                </a:solidFill>
              </a:rPr>
              <a:t>(</a:t>
            </a:r>
            <a:r>
              <a:rPr lang="en-US" altLang="zh-CN" sz="2400" dirty="0">
                <a:solidFill>
                  <a:schemeClr val="bg1"/>
                </a:solidFill>
              </a:rPr>
              <a:t>value </a:t>
            </a:r>
            <a:r>
              <a:rPr lang="en-US" altLang="zh-CN" sz="2400" dirty="0">
                <a:solidFill>
                  <a:schemeClr val="bg1"/>
                </a:solidFill>
              </a:rPr>
              <a:t>= {</a:t>
            </a:r>
            <a:r>
              <a:rPr lang="en-US" altLang="zh-CN" sz="2400" dirty="0">
                <a:solidFill>
                  <a:schemeClr val="bg1"/>
                </a:solidFill>
              </a:rPr>
              <a:t>"</a:t>
            </a:r>
            <a:r>
              <a:rPr lang="en-US" altLang="zh-CN" sz="2400" dirty="0" err="1">
                <a:solidFill>
                  <a:schemeClr val="bg1"/>
                </a:solidFill>
              </a:rPr>
              <a:t>applicationContext-root.xml</a:t>
            </a:r>
            <a:r>
              <a:rPr lang="en-US" altLang="zh-CN" sz="2400" dirty="0">
                <a:solidFill>
                  <a:schemeClr val="bg1"/>
                </a:solidFill>
              </a:rPr>
              <a:t>"</a:t>
            </a:r>
            <a:r>
              <a:rPr lang="en-US" altLang="zh-CN" sz="2400" dirty="0">
                <a:solidFill>
                  <a:schemeClr val="bg1"/>
                </a:solidFill>
              </a:rPr>
              <a:t>})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Java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config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bean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[</a:t>
            </a:r>
            <a:r>
              <a:rPr lang="en-US" altLang="zh-CN" sz="2400" dirty="0" smtClean="0">
                <a:solidFill>
                  <a:schemeClr val="bg1"/>
                </a:solidFill>
              </a:rPr>
              <a:t>@</a:t>
            </a:r>
            <a:r>
              <a:rPr lang="en-US" altLang="zh-CN" sz="2400" dirty="0" err="1" smtClean="0">
                <a:solidFill>
                  <a:schemeClr val="bg1"/>
                </a:solidFill>
              </a:rPr>
              <a:t>ComponentScan</a:t>
            </a:r>
            <a:r>
              <a:rPr lang="en-US" altLang="zh-CN" sz="2400" dirty="0" smtClean="0">
                <a:solidFill>
                  <a:schemeClr val="bg1"/>
                </a:solidFill>
              </a:rPr>
              <a:t>(</a:t>
            </a:r>
            <a:r>
              <a:rPr lang="en-US" altLang="zh-CN" sz="2400" dirty="0" err="1">
                <a:solidFill>
                  <a:schemeClr val="bg1"/>
                </a:solidFill>
              </a:rPr>
              <a:t>basePackages</a:t>
            </a:r>
            <a:r>
              <a:rPr lang="en-US" altLang="zh-CN" sz="2400" dirty="0">
                <a:solidFill>
                  <a:schemeClr val="bg1"/>
                </a:solidFill>
              </a:rPr>
              <a:t> = </a:t>
            </a:r>
            <a:r>
              <a:rPr lang="en-US" altLang="zh-CN" sz="2400" dirty="0">
                <a:solidFill>
                  <a:schemeClr val="bg1"/>
                </a:solidFill>
              </a:rPr>
              <a:t>"</a:t>
            </a:r>
            <a:r>
              <a:rPr lang="en-US" altLang="zh-CN" sz="2400" dirty="0" err="1">
                <a:solidFill>
                  <a:schemeClr val="bg1"/>
                </a:solidFill>
              </a:rPr>
              <a:t>com.keruyun</a:t>
            </a:r>
            <a:r>
              <a:rPr lang="en-US" altLang="zh-CN" sz="2400" dirty="0" smtClean="0">
                <a:solidFill>
                  <a:schemeClr val="bg1"/>
                </a:solidFill>
              </a:rPr>
              <a:t>")</a:t>
            </a:r>
            <a:r>
              <a:rPr lang="en-US" altLang="zh-CN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]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solidFill>
                  <a:schemeClr val="bg1"/>
                </a:solidFill>
              </a:rPr>
              <a:t>AutoConfiguration</a:t>
            </a:r>
            <a:r>
              <a:rPr lang="zh-CN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</a:rPr>
              <a:t>bean</a:t>
            </a:r>
            <a:r>
              <a:rPr lang="zh-CN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</a:rPr>
              <a:t>[</a:t>
            </a:r>
            <a:r>
              <a:rPr lang="en-US" altLang="zh-CN" sz="2400" dirty="0">
                <a:solidFill>
                  <a:schemeClr val="bg1"/>
                </a:solidFill>
              </a:rPr>
              <a:t>@</a:t>
            </a:r>
            <a:r>
              <a:rPr lang="en-US" altLang="zh-CN" sz="2400" dirty="0" err="1">
                <a:solidFill>
                  <a:schemeClr val="bg1"/>
                </a:solidFill>
              </a:rPr>
              <a:t>EnableAutoConfiguration</a:t>
            </a:r>
            <a:r>
              <a:rPr lang="en-US" altLang="zh-CN" sz="2400" dirty="0" smtClean="0">
                <a:solidFill>
                  <a:schemeClr val="bg1"/>
                </a:solidFill>
              </a:rPr>
              <a:t>]</a:t>
            </a: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66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="" xmlns:a16="http://schemas.microsoft.com/office/drawing/2014/main" id="{E4BBEE27-390A-5C43-A173-CCEE3B742E6D}"/>
              </a:ext>
            </a:extLst>
          </p:cNvPr>
          <p:cNvSpPr/>
          <p:nvPr/>
        </p:nvSpPr>
        <p:spPr>
          <a:xfrm>
            <a:off x="507956" y="221091"/>
            <a:ext cx="96962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5400" b="1" spc="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终章</a:t>
            </a:r>
            <a:endParaRPr lang="zh-CN" altLang="en-US" sz="5400" b="1" spc="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6F3F0AA7-74A4-3746-ABA9-2AEA8DF7CA1D}"/>
              </a:ext>
            </a:extLst>
          </p:cNvPr>
          <p:cNvSpPr/>
          <p:nvPr/>
        </p:nvSpPr>
        <p:spPr>
          <a:xfrm>
            <a:off x="507956" y="1620939"/>
            <a:ext cx="1100575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知道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zk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配置中心的原理、动态感应配置变更、加解密、怎么加载本地配置</a:t>
            </a:r>
            <a:endParaRPr lang="en-US" altLang="zh-CN" sz="2400" dirty="0" smtClea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2400" dirty="0" err="1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pring.factories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的原理</a:t>
            </a:r>
            <a:r>
              <a:rPr lang="zh-CN" altLang="en-US" sz="24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2400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怎么加载  不同配置的加载时机</a:t>
            </a:r>
            <a:endParaRPr lang="en-US" altLang="zh-CN" sz="2400" dirty="0" smtClea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 smtClean="0">
                <a:solidFill>
                  <a:schemeClr val="bg1"/>
                </a:solidFill>
              </a:rPr>
              <a:t>spring</a:t>
            </a:r>
            <a:r>
              <a:rPr lang="zh-CN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</a:rPr>
              <a:t>boot</a:t>
            </a:r>
            <a:r>
              <a:rPr lang="zh-CN" altLang="en-US" sz="2400" dirty="0" smtClean="0">
                <a:solidFill>
                  <a:schemeClr val="bg1"/>
                </a:solidFill>
              </a:rPr>
              <a:t> 为什么具有加载外部配置的能力</a:t>
            </a:r>
            <a:endParaRPr lang="en-US" altLang="zh-CN" sz="2400" dirty="0" smtClean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 smtClean="0">
              <a:solidFill>
                <a:schemeClr val="bg1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chemeClr val="bg1"/>
                </a:solidFill>
              </a:rPr>
              <a:t>s</a:t>
            </a:r>
            <a:r>
              <a:rPr lang="en-US" altLang="zh-CN" sz="2400" dirty="0" smtClean="0">
                <a:solidFill>
                  <a:schemeClr val="bg1"/>
                </a:solidFill>
              </a:rPr>
              <a:t>pring</a:t>
            </a:r>
            <a:r>
              <a:rPr lang="zh-CN" altLang="en-US" sz="2400" dirty="0" smtClean="0">
                <a:solidFill>
                  <a:schemeClr val="bg1"/>
                </a:solidFill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</a:rPr>
              <a:t>boot</a:t>
            </a:r>
            <a:r>
              <a:rPr lang="zh-CN" altLang="en-US" sz="2400" dirty="0" smtClean="0">
                <a:solidFill>
                  <a:schemeClr val="bg1"/>
                </a:solidFill>
              </a:rPr>
              <a:t> 为什么需要初始化两遍</a:t>
            </a:r>
            <a:endParaRPr lang="en-US" altLang="zh-CN" sz="2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31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4FEAECAD-BA44-40CB-ADCC-CD8EC3D7A8E0}"/>
              </a:ext>
            </a:extLst>
          </p:cNvPr>
          <p:cNvSpPr txBox="1"/>
          <p:nvPr/>
        </p:nvSpPr>
        <p:spPr>
          <a:xfrm>
            <a:off x="388454" y="2517523"/>
            <a:ext cx="104275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QA</a:t>
            </a:r>
            <a:endParaRPr lang="zh-CN" altLang="en-US" sz="10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0770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="" xmlns:a16="http://schemas.microsoft.com/office/drawing/2014/main" id="{4FEAECAD-BA44-40CB-ADCC-CD8EC3D7A8E0}"/>
              </a:ext>
            </a:extLst>
          </p:cNvPr>
          <p:cNvSpPr txBox="1"/>
          <p:nvPr/>
        </p:nvSpPr>
        <p:spPr>
          <a:xfrm>
            <a:off x="1764408" y="2743946"/>
            <a:ext cx="104275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lang="zh-CN" altLang="en-US" sz="10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051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18271</TotalTime>
  <Words>853</Words>
  <Application>Microsoft Macintosh PowerPoint</Application>
  <PresentationFormat>宽屏</PresentationFormat>
  <Paragraphs>354</Paragraphs>
  <Slides>50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0" baseType="lpstr">
      <vt:lpstr>Gotham Regular</vt:lpstr>
      <vt:lpstr>Mangal</vt:lpstr>
      <vt:lpstr>Microsoft YaHei</vt:lpstr>
      <vt:lpstr>等线</vt:lpstr>
      <vt:lpstr>等线 Light</vt:lpstr>
      <vt:lpstr>宋体</vt:lpstr>
      <vt:lpstr>微软雅黑</vt:lpstr>
      <vt:lpstr>_x0010_位铪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Microsoft Office 用户</cp:lastModifiedBy>
  <cp:revision>550</cp:revision>
  <cp:lastPrinted>2019-09-09T07:08:52Z</cp:lastPrinted>
  <dcterms:created xsi:type="dcterms:W3CDTF">2018-05-29T05:57:48Z</dcterms:created>
  <dcterms:modified xsi:type="dcterms:W3CDTF">2019-12-30T03:03:27Z</dcterms:modified>
</cp:coreProperties>
</file>