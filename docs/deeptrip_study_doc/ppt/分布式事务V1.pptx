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79" r:id="rId4"/>
    <p:sldId id="280" r:id="rId5"/>
    <p:sldId id="282" r:id="rId6"/>
    <p:sldId id="286" r:id="rId7"/>
    <p:sldId id="283" r:id="rId8"/>
    <p:sldId id="287" r:id="rId9"/>
    <p:sldId id="288" r:id="rId10"/>
    <p:sldId id="302" r:id="rId11"/>
    <p:sldId id="284" r:id="rId12"/>
    <p:sldId id="304" r:id="rId13"/>
    <p:sldId id="303" r:id="rId14"/>
    <p:sldId id="294" r:id="rId15"/>
    <p:sldId id="285" r:id="rId16"/>
    <p:sldId id="306" r:id="rId17"/>
    <p:sldId id="293" r:id="rId18"/>
    <p:sldId id="301" r:id="rId19"/>
    <p:sldId id="298" r:id="rId20"/>
    <p:sldId id="305" r:id="rId21"/>
    <p:sldId id="300" r:id="rId22"/>
    <p:sldId id="281" r:id="rId23"/>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0">
          <p15:clr>
            <a:srgbClr val="A4A3A4"/>
          </p15:clr>
        </p15:guide>
        <p15:guide id="2" pos="2880">
          <p15:clr>
            <a:srgbClr val="A4A3A4"/>
          </p15:clr>
        </p15:guide>
        <p15:guide id="3" orient="horz" pos="162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213"/>
    <a:srgbClr val="FF6801"/>
    <a:srgbClr val="DC5E00"/>
    <a:srgbClr val="E71C1A"/>
    <a:srgbClr val="FFFFFF"/>
    <a:srgbClr val="8BB92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765"/>
    <p:restoredTop sz="94691"/>
  </p:normalViewPr>
  <p:slideViewPr>
    <p:cSldViewPr>
      <p:cViewPr varScale="1">
        <p:scale>
          <a:sx n="77" d="100"/>
          <a:sy n="77" d="100"/>
        </p:scale>
        <p:origin x="108" y="300"/>
      </p:cViewPr>
      <p:guideLst>
        <p:guide orient="horz" pos="2140"/>
        <p:guide pos="2880"/>
        <p:guide orient="horz" pos="1629"/>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2019/12/9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而事务的ACID是通过InnoDB日志和锁来保证。事务的隔离性是通过数据库锁的机制实现的，持久性通过redo log（重做日志）来实现，原子性和一致性通过Undo log来实现。UndoLog的原理很简单，为了满足事务的原子性，在操作任何数据之前，首先将数据备份到一个地方（这个存储数据备份的地方称为UndoLog）。然后进行数据的修改。如果出现了错误或者用户执行了ROLLBACK语句，系统可以利用Undo Log中的备份将数据恢复到事务开始之前的状态。</a:t>
            </a:r>
          </a:p>
          <a:p>
            <a:r>
              <a:rPr lang="zh-CN" altLang="en-US"/>
              <a:t>和Undo Log相反，RedoLog记录的是新数据的备份。在事务提交前，只要将RedoLog持久化即可，不需要将数据持久化。当系统崩溃时，虽然数据没有持久化，但是RedoLog已经持久化。系统可以根据RedoLog的内容，将所有数据恢复到最新的状态。</a:t>
            </a:r>
          </a:p>
          <a:p>
            <a:r>
              <a:rPr lang="zh-CN" altLang="en-US"/>
              <a:t>对具体实现过程有兴趣的同学可以去自行搜索扩展</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随着互联网快速发展，微服务，SOA等服务架构模式正在被大规模的使用，举个简单的例子，一个公司之内，用户的资产可能分为好多个部分，比如余额，积分，优惠券等等。在公司内部有可能积分功能由一个微服务团队维护，优惠券又是另外的团队维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同样的，互联网发展得太快了，我们的Mysql一般来说装千万级的数据就得进行分库分表，对于一个支付宝的转账业务来说，你给的朋友转钱，有可能你的数据库是在北京，而你的朋友的钱是存在上海，所以我们依然无法保证他们能同时成功。</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标准分布式事务解决方案的利弊</a:t>
            </a:r>
          </a:p>
          <a:p>
            <a:r>
              <a:rPr lang="zh-CN" altLang="en-US"/>
              <a:t> 优点：严格的ACID</a:t>
            </a:r>
          </a:p>
          <a:p>
            <a:r>
              <a:rPr lang="zh-CN" altLang="en-US"/>
              <a:t> 缺点：效率非常低（微服务架构下已不太适用）</a:t>
            </a:r>
          </a:p>
          <a:p>
            <a:r>
              <a:rPr lang="zh-CN" altLang="en-US"/>
              <a:t>• 全局事务方式下，全局事务管理器（TM）通过XA接口使用二阶段提交协议（ 2PC ）与资源层（如数据</a:t>
            </a:r>
          </a:p>
          <a:p>
            <a:r>
              <a:rPr lang="zh-CN" altLang="en-US"/>
              <a:t>库）进行交互。使用全局事务，数据被Lock的时间跨整个事务，直到全局事务结束。</a:t>
            </a:r>
          </a:p>
          <a:p>
            <a:r>
              <a:rPr lang="zh-CN" altLang="en-US"/>
              <a:t>• 2PC 是反可伸缩模式，在事务处理过程中，参与者需要一直持有资源直到整个分布式事务结束。这样，</a:t>
            </a:r>
          </a:p>
          <a:p>
            <a:r>
              <a:rPr lang="zh-CN" altLang="en-US"/>
              <a:t>当业务规模越来越大的情况下，2PC 的局限性就越来越明显，系统可伸缩性会变得很差。</a:t>
            </a:r>
          </a:p>
          <a:p>
            <a:r>
              <a:rPr lang="zh-CN" altLang="en-US"/>
              <a:t>• 与本地事务相比，XA 协议的系统开销相当大，因而应当慎重考虑是否确实需要分布式事务。而且只有</a:t>
            </a:r>
          </a:p>
          <a:p>
            <a:r>
              <a:rPr lang="zh-CN" altLang="en-US"/>
              <a:t>支持 XA 协议的资源才能参与分布式事务。</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标准分布式事务解决方案的利弊</a:t>
            </a:r>
          </a:p>
          <a:p>
            <a:r>
              <a:rPr lang="zh-CN" altLang="en-US"/>
              <a:t> 优点：严格的ACID</a:t>
            </a:r>
          </a:p>
          <a:p>
            <a:r>
              <a:rPr lang="zh-CN" altLang="en-US"/>
              <a:t> 缺点：效率非常低（微服务架构下已不太适用）</a:t>
            </a:r>
          </a:p>
          <a:p>
            <a:r>
              <a:rPr lang="zh-CN" altLang="en-US"/>
              <a:t>• 全局事务方式下，全局事务管理器（TM）通过XA接口使用二阶段提交协议（ 2PC ）与资源层（如数据</a:t>
            </a:r>
          </a:p>
          <a:p>
            <a:r>
              <a:rPr lang="zh-CN" altLang="en-US"/>
              <a:t>库）进行交互。使用全局事务，数据被Lock的时间跨整个事务，直到全局事务结束。</a:t>
            </a:r>
          </a:p>
          <a:p>
            <a:r>
              <a:rPr lang="zh-CN" altLang="en-US"/>
              <a:t>• 2PC 是反可伸缩模式，在事务处理过程中，参与者需要一直持有资源直到整个分布式事务结束。这样，</a:t>
            </a:r>
          </a:p>
          <a:p>
            <a:r>
              <a:rPr lang="zh-CN" altLang="en-US"/>
              <a:t>当业务规模越来越大的情况下，2PC 的局限性就越来越明显，系统可伸缩性会变得很差。</a:t>
            </a:r>
          </a:p>
          <a:p>
            <a:r>
              <a:rPr lang="zh-CN" altLang="en-US"/>
              <a:t>• 与本地事务相比，XA 协议的系统开销相当大，因而应当慎重考虑是否确实需要分布式事务。而且只有</a:t>
            </a:r>
          </a:p>
          <a:p>
            <a:r>
              <a:rPr lang="zh-CN" altLang="en-US"/>
              <a:t>支持 XA 协议的资源才能参与分布式事务。</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17EF920A-3C79-4CE2-A108-BC0A1BFFF57F}" type="datetimeFigureOut">
              <a:rPr lang="zh-CN" altLang="en-US" smtClean="0"/>
              <a:t>2019/12/9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FD315F7-2603-4DD0-A5B9-87CD5BE5B67D}"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17EF920A-3C79-4CE2-A108-BC0A1BFFF57F}" type="datetimeFigureOut">
              <a:rPr lang="zh-CN" altLang="en-US" smtClean="0"/>
              <a:t>2019/12/9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FD315F7-2603-4DD0-A5B9-87CD5BE5B67D}"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17EF920A-3C79-4CE2-A108-BC0A1BFFF57F}" type="datetimeFigureOut">
              <a:rPr lang="zh-CN" altLang="en-US" smtClean="0"/>
              <a:t>2019/12/9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FD315F7-2603-4DD0-A5B9-87CD5BE5B67D}"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17EF920A-3C79-4CE2-A108-BC0A1BFFF57F}" type="datetimeFigureOut">
              <a:rPr lang="zh-CN" altLang="en-US" smtClean="0"/>
              <a:t>2019/12/9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FD315F7-2603-4DD0-A5B9-87CD5BE5B67D}"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17EF920A-3C79-4CE2-A108-BC0A1BFFF57F}" type="datetimeFigureOut">
              <a:rPr lang="zh-CN" altLang="en-US" smtClean="0"/>
              <a:t>2019/12/9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FD315F7-2603-4DD0-A5B9-87CD5BE5B67D}"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17EF920A-3C79-4CE2-A108-BC0A1BFFF57F}" type="datetimeFigureOut">
              <a:rPr lang="zh-CN" altLang="en-US" smtClean="0"/>
              <a:t>2019/12/9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FD315F7-2603-4DD0-A5B9-87CD5BE5B67D}"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7EF920A-3C79-4CE2-A108-BC0A1BFFF57F}" type="datetimeFigureOut">
              <a:rPr lang="zh-CN" altLang="en-US" smtClean="0"/>
              <a:t>2019/12/9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FD315F7-2603-4DD0-A5B9-87CD5BE5B67D}"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17EF920A-3C79-4CE2-A108-BC0A1BFFF57F}" type="datetimeFigureOut">
              <a:rPr lang="zh-CN" altLang="en-US" smtClean="0"/>
              <a:t>2019/12/9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FD315F7-2603-4DD0-A5B9-87CD5BE5B67D}"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17EF920A-3C79-4CE2-A108-BC0A1BFFF57F}" type="datetimeFigureOut">
              <a:rPr lang="zh-CN" altLang="en-US" smtClean="0"/>
              <a:t>2019/12/9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FD315F7-2603-4DD0-A5B9-87CD5BE5B67D}"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17EF920A-3C79-4CE2-A108-BC0A1BFFF57F}" type="datetimeFigureOut">
              <a:rPr lang="zh-CN" altLang="en-US" smtClean="0"/>
              <a:t>2019/12/9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FD315F7-2603-4DD0-A5B9-87CD5BE5B67D}"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17EF920A-3C79-4CE2-A108-BC0A1BFFF57F}" type="datetimeFigureOut">
              <a:rPr lang="zh-CN" altLang="en-US" smtClean="0"/>
              <a:t>2019/12/9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FD315F7-2603-4DD0-A5B9-87CD5BE5B67D}"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7EF920A-3C79-4CE2-A108-BC0A1BFFF57F}" type="datetimeFigureOut">
              <a:rPr lang="zh-CN" altLang="en-US" smtClean="0"/>
              <a:t>2019/12/9</a:t>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DFD315F7-2603-4DD0-A5B9-87CD5BE5B67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0" y="0"/>
            <a:ext cx="9143996" cy="51435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7" name="Picture 3"/>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1" y="128"/>
            <a:ext cx="9143997" cy="5143241"/>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p:cNvSpPr>
            <a:spLocks noGrp="1" noChangeArrowheads="1"/>
          </p:cNvSpPr>
          <p:nvPr>
            <p:ph type="ctrTitle" idx="4294967295"/>
          </p:nvPr>
        </p:nvSpPr>
        <p:spPr>
          <a:xfrm>
            <a:off x="409268" y="1635646"/>
            <a:ext cx="6480719" cy="1296144"/>
          </a:xfrm>
        </p:spPr>
        <p:txBody>
          <a:bodyPr>
            <a:noAutofit/>
          </a:bodyPr>
          <a:lstStyle/>
          <a:p>
            <a:pPr algn="l">
              <a:lnSpc>
                <a:spcPct val="90000"/>
              </a:lnSpc>
            </a:pPr>
            <a:r>
              <a:rPr lang="zh-CN" altLang="en-US" b="1" dirty="0" smtClean="0">
                <a:solidFill>
                  <a:schemeClr val="bg1"/>
                </a:solidFill>
              </a:rPr>
              <a:t>分布式</a:t>
            </a:r>
            <a:r>
              <a:rPr lang="zh-CN" altLang="en-US" b="1" dirty="0">
                <a:solidFill>
                  <a:schemeClr val="bg1"/>
                </a:solidFill>
              </a:rPr>
              <a:t>事务</a:t>
            </a:r>
            <a:r>
              <a:rPr lang="zh-CN" altLang="en-US" sz="4800" dirty="0"/>
              <a:t/>
            </a:r>
            <a:br>
              <a:rPr lang="zh-CN" altLang="en-US" sz="4800" dirty="0"/>
            </a:br>
            <a:endParaRPr lang="zh-CN" sz="4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TextBox 35"/>
          <p:cNvSpPr>
            <a:spLocks noChangeArrowheads="1"/>
          </p:cNvSpPr>
          <p:nvPr/>
        </p:nvSpPr>
        <p:spPr bwMode="auto">
          <a:xfrm>
            <a:off x="467544" y="3219822"/>
            <a:ext cx="4680520" cy="607695"/>
          </a:xfrm>
          <a:prstGeom prst="rect">
            <a:avLst/>
          </a:prstGeom>
          <a:noFill/>
          <a:ln w="9525">
            <a:noFill/>
            <a:miter lim="800000"/>
          </a:ln>
        </p:spPr>
        <p:txBody>
          <a:bodyPr wrap="square">
            <a:spAutoFit/>
          </a:bodyPr>
          <a:lstStyle/>
          <a:p>
            <a:pPr>
              <a:lnSpc>
                <a:spcPct val="120000"/>
              </a:lnSpc>
            </a:pPr>
            <a:r>
              <a:rPr lang="zh-CN" altLang="en-US" sz="14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汇报人</a:t>
            </a:r>
            <a:r>
              <a:rPr lang="zh-CN" altLang="en-US" sz="1400" dirty="0" smtClean="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：徐嘉滨</a:t>
            </a:r>
            <a:endParaRPr lang="en-US" altLang="zh-CN" sz="1400" dirty="0" smtClean="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pPr>
              <a:lnSpc>
                <a:spcPct val="120000"/>
              </a:lnSpc>
            </a:pPr>
            <a:r>
              <a:rPr lang="en-US" sz="1400" dirty="0" smtClean="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2019-12-09</a:t>
            </a:r>
            <a:endParaRPr lang="en-US" sz="14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withEffect">
                                  <p:stCondLst>
                                    <p:cond delay="0"/>
                                  </p:stCondLst>
                                  <p:childTnLst>
                                    <p:set>
                                      <p:cBhvr>
                                        <p:cTn id="6" dur="1" fill="hold">
                                          <p:stCondLst>
                                            <p:cond delay="0"/>
                                          </p:stCondLst>
                                        </p:cTn>
                                        <p:tgtEl>
                                          <p:spTgt spid="1027"/>
                                        </p:tgtEl>
                                        <p:attrNameLst>
                                          <p:attrName>style.visibility</p:attrName>
                                        </p:attrNameLst>
                                      </p:cBhvr>
                                      <p:to>
                                        <p:strVal val="visible"/>
                                      </p:to>
                                    </p:set>
                                    <p:animEffect transition="in" filter="wipe(right)">
                                      <p:cBhvr>
                                        <p:cTn id="7" dur="500"/>
                                        <p:tgtEl>
                                          <p:spTgt spid="1027"/>
                                        </p:tgtEl>
                                      </p:cBhvr>
                                    </p:animEffect>
                                  </p:childTnLst>
                                </p:cTn>
                              </p:par>
                            </p:childTnLst>
                          </p:cTn>
                        </p:par>
                        <p:par>
                          <p:cTn id="8" fill="hold">
                            <p:stCondLst>
                              <p:cond delay="500"/>
                            </p:stCondLst>
                            <p:childTnLst>
                              <p:par>
                                <p:cTn id="9" presetID="42" presetClass="entr" presetSubtype="0" fill="hold" grpId="0" nodeType="afterEffect">
                                  <p:stCondLst>
                                    <p:cond delay="5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250"/>
                                        <p:tgtEl>
                                          <p:spTgt spid="6"/>
                                        </p:tgtEl>
                                      </p:cBhvr>
                                    </p:animEffect>
                                    <p:anim calcmode="lin" valueType="num">
                                      <p:cBhvr>
                                        <p:cTn id="12" dur="250" fill="hold"/>
                                        <p:tgtEl>
                                          <p:spTgt spid="6"/>
                                        </p:tgtEl>
                                        <p:attrNameLst>
                                          <p:attrName>ppt_x</p:attrName>
                                        </p:attrNameLst>
                                      </p:cBhvr>
                                      <p:tavLst>
                                        <p:tav tm="0">
                                          <p:val>
                                            <p:strVal val="#ppt_x"/>
                                          </p:val>
                                        </p:tav>
                                        <p:tav tm="100000">
                                          <p:val>
                                            <p:strVal val="#ppt_x"/>
                                          </p:val>
                                        </p:tav>
                                      </p:tavLst>
                                    </p:anim>
                                    <p:anim calcmode="lin" valueType="num">
                                      <p:cBhvr>
                                        <p:cTn id="13" dur="250" fill="hold"/>
                                        <p:tgtEl>
                                          <p:spTgt spid="6"/>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41" presetClass="entr" presetSubtype="0" fill="hold" grpId="0" nodeType="afterEffect">
                                  <p:stCondLst>
                                    <p:cond delay="0"/>
                                  </p:stCondLst>
                                  <p:iterate type="lt">
                                    <p:tmPct val="10000"/>
                                  </p:iterate>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18" dur="500" fill="hold"/>
                                        <p:tgtEl>
                                          <p:spTgt spid="7"/>
                                        </p:tgtEl>
                                        <p:attrNameLst>
                                          <p:attrName>ppt_y</p:attrName>
                                        </p:attrNameLst>
                                      </p:cBhvr>
                                      <p:tavLst>
                                        <p:tav tm="0">
                                          <p:val>
                                            <p:strVal val="#ppt_y"/>
                                          </p:val>
                                        </p:tav>
                                        <p:tav tm="100000">
                                          <p:val>
                                            <p:strVal val="#ppt_y"/>
                                          </p:val>
                                        </p:tav>
                                      </p:tavLst>
                                    </p:anim>
                                    <p:anim calcmode="lin" valueType="num">
                                      <p:cBhvr>
                                        <p:cTn id="19" dur="5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20" dur="500" fill="hold"/>
                                        <p:tgtEl>
                                          <p:spTgt spid="7"/>
                                        </p:tgtEl>
                                        <p:attrNameLst>
                                          <p:attrName>ppt_w</p:attrName>
                                        </p:attrNameLst>
                                      </p:cBhvr>
                                      <p:tavLst>
                                        <p:tav tm="0">
                                          <p:val>
                                            <p:strVal val="#ppt_w/10"/>
                                          </p:val>
                                        </p:tav>
                                        <p:tav tm="50000">
                                          <p:val>
                                            <p:strVal val="#ppt_w+.01"/>
                                          </p:val>
                                        </p:tav>
                                        <p:tav tm="100000">
                                          <p:val>
                                            <p:strVal val="#ppt_w"/>
                                          </p:val>
                                        </p:tav>
                                      </p:tavLst>
                                    </p:anim>
                                    <p:animEffect>
                                      <p:cBhvr>
                                        <p:cTn id="21" dur="500" tmFilter="0,0; .5, 1; 1, 1"/>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bldLvl="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D:\MyConfiguration\zxp09284\Desktop\同程艺龙PPT内页.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244"/>
            <a:ext cx="9144000" cy="5143244"/>
          </a:xfrm>
          <a:prstGeom prst="rect">
            <a:avLst/>
          </a:prstGeom>
          <a:noFill/>
          <a:extLst>
            <a:ext uri="{909E8E84-426E-40DD-AFC4-6F175D3DCCD1}">
              <a14:hiddenFill xmlns:a14="http://schemas.microsoft.com/office/drawing/2010/main">
                <a:solidFill>
                  <a:srgbClr val="FFFFFF"/>
                </a:solidFill>
              </a14:hiddenFill>
            </a:ext>
          </a:extLst>
        </p:spPr>
      </p:pic>
      <p:sp>
        <p:nvSpPr>
          <p:cNvPr id="33" name="Rectangle 3"/>
          <p:cNvSpPr>
            <a:spLocks noGrp="1" noChangeArrowheads="1"/>
          </p:cNvSpPr>
          <p:nvPr>
            <p:ph type="ctrTitle" idx="4294967295"/>
          </p:nvPr>
        </p:nvSpPr>
        <p:spPr>
          <a:xfrm>
            <a:off x="409269" y="411510"/>
            <a:ext cx="1930484" cy="792088"/>
          </a:xfrm>
        </p:spPr>
        <p:txBody>
          <a:bodyPr>
            <a:noAutofit/>
          </a:bodyPr>
          <a:lstStyle/>
          <a:p>
            <a:pPr algn="l">
              <a:lnSpc>
                <a:spcPct val="90000"/>
              </a:lnSpc>
            </a:pPr>
            <a:r>
              <a:rPr lang="zh-CN" altLang="en-US" sz="3600" dirty="0">
                <a:solidFill>
                  <a:srgbClr val="FF6801"/>
                </a:solidFill>
                <a:latin typeface="微软雅黑" panose="020B0503020204020204" pitchFamily="34" charset="-122"/>
                <a:ea typeface="微软雅黑" panose="020B0503020204020204" pitchFamily="34" charset="-122"/>
                <a:sym typeface="微软雅黑" panose="020B0503020204020204" pitchFamily="34" charset="-122"/>
              </a:rPr>
              <a:t>目录</a:t>
            </a:r>
            <a:endParaRPr lang="zh-CN" sz="3600" dirty="0">
              <a:solidFill>
                <a:srgbClr val="FF680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6" name="TextBox 35"/>
          <p:cNvSpPr>
            <a:spLocks noChangeArrowheads="1"/>
          </p:cNvSpPr>
          <p:nvPr/>
        </p:nvSpPr>
        <p:spPr bwMode="auto">
          <a:xfrm>
            <a:off x="2123728" y="1336694"/>
            <a:ext cx="4680520" cy="534035"/>
          </a:xfrm>
          <a:prstGeom prst="rect">
            <a:avLst/>
          </a:prstGeom>
          <a:noFill/>
          <a:ln w="9525">
            <a:noFill/>
            <a:miter lim="800000"/>
          </a:ln>
        </p:spPr>
        <p:txBody>
          <a:bodyPr wrap="square">
            <a:spAutoFit/>
          </a:bodyPr>
          <a:lstStyle/>
          <a:p>
            <a:pPr>
              <a:lnSpc>
                <a:spcPct val="120000"/>
              </a:lnSpc>
            </a:pPr>
            <a:r>
              <a:rPr lang="en-US" sz="2400" b="1"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分布式事务</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场景</a:t>
            </a:r>
          </a:p>
        </p:txBody>
      </p:sp>
      <p:sp>
        <p:nvSpPr>
          <p:cNvPr id="2" name="椭圆 1"/>
          <p:cNvSpPr/>
          <p:nvPr/>
        </p:nvSpPr>
        <p:spPr>
          <a:xfrm>
            <a:off x="1619672" y="1405515"/>
            <a:ext cx="432000" cy="432000"/>
          </a:xfrm>
          <a:prstGeom prst="ellipse">
            <a:avLst/>
          </a:prstGeom>
          <a:solidFill>
            <a:srgbClr val="FF68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endParaRPr lang="zh-CN" altLang="en-US" dirty="0"/>
          </a:p>
        </p:txBody>
      </p:sp>
      <p:sp>
        <p:nvSpPr>
          <p:cNvPr id="46" name="TextBox 35"/>
          <p:cNvSpPr>
            <a:spLocks noChangeArrowheads="1"/>
          </p:cNvSpPr>
          <p:nvPr/>
        </p:nvSpPr>
        <p:spPr bwMode="auto">
          <a:xfrm>
            <a:off x="2123728" y="2130801"/>
            <a:ext cx="4680520" cy="534035"/>
          </a:xfrm>
          <a:prstGeom prst="rect">
            <a:avLst/>
          </a:prstGeom>
          <a:noFill/>
          <a:ln w="9525">
            <a:noFill/>
            <a:miter lim="800000"/>
          </a:ln>
        </p:spPr>
        <p:txBody>
          <a:bodyPr wrap="square">
            <a:spAutoFit/>
          </a:bodyPr>
          <a:lstStyle/>
          <a:p>
            <a:pPr>
              <a:lnSpc>
                <a:spcPct val="120000"/>
              </a:lnSpc>
            </a:pPr>
            <a:r>
              <a:rPr lang="en-US" sz="2400" b="1"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分布式事务问题的困扰</a:t>
            </a:r>
          </a:p>
        </p:txBody>
      </p:sp>
      <p:sp>
        <p:nvSpPr>
          <p:cNvPr id="47" name="椭圆 46"/>
          <p:cNvSpPr/>
          <p:nvPr/>
        </p:nvSpPr>
        <p:spPr>
          <a:xfrm>
            <a:off x="1619672" y="2197603"/>
            <a:ext cx="432000" cy="432000"/>
          </a:xfrm>
          <a:prstGeom prst="ellipse">
            <a:avLst/>
          </a:prstGeom>
          <a:solidFill>
            <a:srgbClr val="FF68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sp>
        <p:nvSpPr>
          <p:cNvPr id="48" name="TextBox 35"/>
          <p:cNvSpPr>
            <a:spLocks noChangeArrowheads="1"/>
          </p:cNvSpPr>
          <p:nvPr/>
        </p:nvSpPr>
        <p:spPr bwMode="auto">
          <a:xfrm>
            <a:off x="2123728" y="2931790"/>
            <a:ext cx="4680520" cy="534035"/>
          </a:xfrm>
          <a:prstGeom prst="rect">
            <a:avLst/>
          </a:prstGeom>
          <a:noFill/>
          <a:ln w="9525">
            <a:noFill/>
            <a:miter lim="800000"/>
          </a:ln>
        </p:spPr>
        <p:txBody>
          <a:bodyPr wrap="square">
            <a:spAutoFit/>
          </a:bodyPr>
          <a:lstStyle/>
          <a:p>
            <a:pPr>
              <a:lnSpc>
                <a:spcPct val="120000"/>
              </a:lnSpc>
            </a:pP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可靠消息最终一致性方案</a:t>
            </a:r>
          </a:p>
        </p:txBody>
      </p:sp>
      <p:sp>
        <p:nvSpPr>
          <p:cNvPr id="49" name="椭圆 48"/>
          <p:cNvSpPr/>
          <p:nvPr/>
        </p:nvSpPr>
        <p:spPr>
          <a:xfrm>
            <a:off x="1619672" y="2989691"/>
            <a:ext cx="432000" cy="432000"/>
          </a:xfrm>
          <a:prstGeom prst="ellipse">
            <a:avLst/>
          </a:prstGeom>
          <a:solidFill>
            <a:srgbClr val="FF68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3</a:t>
            </a:r>
            <a:endParaRPr lang="zh-CN" altLang="en-US" dirty="0"/>
          </a:p>
        </p:txBody>
      </p:sp>
      <p:sp>
        <p:nvSpPr>
          <p:cNvPr id="50" name="Rectangle 3"/>
          <p:cNvSpPr>
            <a:spLocks noGrp="1" noChangeArrowheads="1"/>
          </p:cNvSpPr>
          <p:nvPr>
            <p:ph type="ctrTitle" idx="4294967295"/>
          </p:nvPr>
        </p:nvSpPr>
        <p:spPr>
          <a:xfrm>
            <a:off x="373696" y="699542"/>
            <a:ext cx="2686136" cy="792088"/>
          </a:xfrm>
        </p:spPr>
        <p:txBody>
          <a:bodyPr>
            <a:noAutofit/>
          </a:bodyPr>
          <a:lstStyle/>
          <a:p>
            <a:pPr algn="l">
              <a:lnSpc>
                <a:spcPct val="90000"/>
              </a:lnSpc>
            </a:pPr>
            <a:r>
              <a:rPr lang="en-US" altLang="zh-CN" sz="1800" dirty="0">
                <a:solidFill>
                  <a:schemeClr val="bg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 contents</a:t>
            </a:r>
            <a:endParaRPr lang="zh-CN" sz="1800" dirty="0">
              <a:solidFill>
                <a:schemeClr val="bg1">
                  <a:lumMod val="7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p:cTn id="7" dur="500" fill="hold"/>
                                        <p:tgtEl>
                                          <p:spTgt spid="33"/>
                                        </p:tgtEl>
                                        <p:attrNameLst>
                                          <p:attrName>ppt_x</p:attrName>
                                        </p:attrNameLst>
                                      </p:cBhvr>
                                      <p:tavLst>
                                        <p:tav tm="0">
                                          <p:val>
                                            <p:strVal val="1+#ppt_w/2"/>
                                          </p:val>
                                        </p:tav>
                                        <p:tav tm="100000">
                                          <p:val>
                                            <p:strVal val="#ppt_x"/>
                                          </p:val>
                                        </p:tav>
                                      </p:tavLst>
                                    </p:anim>
                                    <p:anim calcmode="lin" valueType="num">
                                      <p:cBhvr>
                                        <p:cTn id="8" dur="500" fill="hold"/>
                                        <p:tgtEl>
                                          <p:spTgt spid="3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50"/>
                                        </p:tgtEl>
                                        <p:attrNameLst>
                                          <p:attrName>style.visibility</p:attrName>
                                        </p:attrNameLst>
                                      </p:cBhvr>
                                      <p:to>
                                        <p:strVal val="visible"/>
                                      </p:to>
                                    </p:set>
                                    <p:animEffect transition="in" filter="fade">
                                      <p:cBhvr>
                                        <p:cTn id="12" dur="500"/>
                                        <p:tgtEl>
                                          <p:spTgt spid="50"/>
                                        </p:tgtEl>
                                      </p:cBhvr>
                                    </p:animEffect>
                                  </p:childTnLst>
                                </p:cTn>
                              </p:par>
                            </p:childTnLst>
                          </p:cTn>
                        </p:par>
                        <p:par>
                          <p:cTn id="13" fill="hold">
                            <p:stCondLst>
                              <p:cond delay="1000"/>
                            </p:stCondLst>
                            <p:childTnLst>
                              <p:par>
                                <p:cTn id="14" presetID="41" presetClass="entr" presetSubtype="0" fill="hold" grpId="0" nodeType="afterEffect">
                                  <p:stCondLst>
                                    <p:cond delay="0"/>
                                  </p:stCondLst>
                                  <p:iterate type="lt">
                                    <p:tmPct val="10000"/>
                                  </p:iterate>
                                  <p:childTnLst>
                                    <p:set>
                                      <p:cBhvr>
                                        <p:cTn id="15" dur="1" fill="hold">
                                          <p:stCondLst>
                                            <p:cond delay="0"/>
                                          </p:stCondLst>
                                        </p:cTn>
                                        <p:tgtEl>
                                          <p:spTgt spid="36"/>
                                        </p:tgtEl>
                                        <p:attrNameLst>
                                          <p:attrName>style.visibility</p:attrName>
                                        </p:attrNameLst>
                                      </p:cBhvr>
                                      <p:to>
                                        <p:strVal val="visible"/>
                                      </p:to>
                                    </p:set>
                                    <p:anim calcmode="lin" valueType="num">
                                      <p:cBhvr>
                                        <p:cTn id="16" dur="500" fill="hold"/>
                                        <p:tgtEl>
                                          <p:spTgt spid="36"/>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36"/>
                                        </p:tgtEl>
                                        <p:attrNameLst>
                                          <p:attrName>ppt_y</p:attrName>
                                        </p:attrNameLst>
                                      </p:cBhvr>
                                      <p:tavLst>
                                        <p:tav tm="0">
                                          <p:val>
                                            <p:strVal val="#ppt_y"/>
                                          </p:val>
                                        </p:tav>
                                        <p:tav tm="100000">
                                          <p:val>
                                            <p:strVal val="#ppt_y"/>
                                          </p:val>
                                        </p:tav>
                                      </p:tavLst>
                                    </p:anim>
                                    <p:anim calcmode="lin" valueType="num">
                                      <p:cBhvr>
                                        <p:cTn id="18" dur="500" fill="hold"/>
                                        <p:tgtEl>
                                          <p:spTgt spid="36"/>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36"/>
                                        </p:tgtEl>
                                        <p:attrNameLst>
                                          <p:attrName>ppt_w</p:attrName>
                                        </p:attrNameLst>
                                      </p:cBhvr>
                                      <p:tavLst>
                                        <p:tav tm="0">
                                          <p:val>
                                            <p:strVal val="#ppt_w/10"/>
                                          </p:val>
                                        </p:tav>
                                        <p:tav tm="50000">
                                          <p:val>
                                            <p:strVal val="#ppt_w+.01"/>
                                          </p:val>
                                        </p:tav>
                                        <p:tav tm="100000">
                                          <p:val>
                                            <p:strVal val="#ppt_w"/>
                                          </p:val>
                                        </p:tav>
                                      </p:tavLst>
                                    </p:anim>
                                    <p:animEffect>
                                      <p:cBhvr>
                                        <p:cTn id="20" dur="500" tmFilter="0,0; .5, 1; 1, 1"/>
                                        <p:tgtEl>
                                          <p:spTgt spid="36"/>
                                        </p:tgtEl>
                                      </p:cBhvr>
                                    </p:animEffect>
                                  </p:childTnLst>
                                </p:cTn>
                              </p:par>
                            </p:childTnLst>
                          </p:cTn>
                        </p:par>
                        <p:par>
                          <p:cTn id="21" fill="hold">
                            <p:stCondLst>
                              <p:cond delay="1799"/>
                            </p:stCondLst>
                            <p:childTnLst>
                              <p:par>
                                <p:cTn id="22" presetID="41" presetClass="entr" presetSubtype="0" fill="hold" grpId="0" nodeType="afterEffect">
                                  <p:stCondLst>
                                    <p:cond delay="0"/>
                                  </p:stCondLst>
                                  <p:iterate type="lt">
                                    <p:tmPct val="10000"/>
                                  </p:iterate>
                                  <p:childTnLst>
                                    <p:set>
                                      <p:cBhvr>
                                        <p:cTn id="23" dur="1" fill="hold">
                                          <p:stCondLst>
                                            <p:cond delay="0"/>
                                          </p:stCondLst>
                                        </p:cTn>
                                        <p:tgtEl>
                                          <p:spTgt spid="46"/>
                                        </p:tgtEl>
                                        <p:attrNameLst>
                                          <p:attrName>style.visibility</p:attrName>
                                        </p:attrNameLst>
                                      </p:cBhvr>
                                      <p:to>
                                        <p:strVal val="visible"/>
                                      </p:to>
                                    </p:set>
                                    <p:anim calcmode="lin" valueType="num">
                                      <p:cBhvr>
                                        <p:cTn id="24" dur="500" fill="hold"/>
                                        <p:tgtEl>
                                          <p:spTgt spid="46"/>
                                        </p:tgtEl>
                                        <p:attrNameLst>
                                          <p:attrName>ppt_x</p:attrName>
                                        </p:attrNameLst>
                                      </p:cBhvr>
                                      <p:tavLst>
                                        <p:tav tm="0">
                                          <p:val>
                                            <p:strVal val="#ppt_x"/>
                                          </p:val>
                                        </p:tav>
                                        <p:tav tm="50000">
                                          <p:val>
                                            <p:strVal val="#ppt_x+.1"/>
                                          </p:val>
                                        </p:tav>
                                        <p:tav tm="100000">
                                          <p:val>
                                            <p:strVal val="#ppt_x"/>
                                          </p:val>
                                        </p:tav>
                                      </p:tavLst>
                                    </p:anim>
                                    <p:anim calcmode="lin" valueType="num">
                                      <p:cBhvr>
                                        <p:cTn id="25" dur="500" fill="hold"/>
                                        <p:tgtEl>
                                          <p:spTgt spid="46"/>
                                        </p:tgtEl>
                                        <p:attrNameLst>
                                          <p:attrName>ppt_y</p:attrName>
                                        </p:attrNameLst>
                                      </p:cBhvr>
                                      <p:tavLst>
                                        <p:tav tm="0">
                                          <p:val>
                                            <p:strVal val="#ppt_y"/>
                                          </p:val>
                                        </p:tav>
                                        <p:tav tm="100000">
                                          <p:val>
                                            <p:strVal val="#ppt_y"/>
                                          </p:val>
                                        </p:tav>
                                      </p:tavLst>
                                    </p:anim>
                                    <p:anim calcmode="lin" valueType="num">
                                      <p:cBhvr>
                                        <p:cTn id="26" dur="500" fill="hold"/>
                                        <p:tgtEl>
                                          <p:spTgt spid="46"/>
                                        </p:tgtEl>
                                        <p:attrNameLst>
                                          <p:attrName>ppt_h</p:attrName>
                                        </p:attrNameLst>
                                      </p:cBhvr>
                                      <p:tavLst>
                                        <p:tav tm="0">
                                          <p:val>
                                            <p:strVal val="#ppt_h/10"/>
                                          </p:val>
                                        </p:tav>
                                        <p:tav tm="50000">
                                          <p:val>
                                            <p:strVal val="#ppt_h+.01"/>
                                          </p:val>
                                        </p:tav>
                                        <p:tav tm="100000">
                                          <p:val>
                                            <p:strVal val="#ppt_h"/>
                                          </p:val>
                                        </p:tav>
                                      </p:tavLst>
                                    </p:anim>
                                    <p:anim calcmode="lin" valueType="num">
                                      <p:cBhvr>
                                        <p:cTn id="27" dur="500" fill="hold"/>
                                        <p:tgtEl>
                                          <p:spTgt spid="46"/>
                                        </p:tgtEl>
                                        <p:attrNameLst>
                                          <p:attrName>ppt_w</p:attrName>
                                        </p:attrNameLst>
                                      </p:cBhvr>
                                      <p:tavLst>
                                        <p:tav tm="0">
                                          <p:val>
                                            <p:strVal val="#ppt_w/10"/>
                                          </p:val>
                                        </p:tav>
                                        <p:tav tm="50000">
                                          <p:val>
                                            <p:strVal val="#ppt_w+.01"/>
                                          </p:val>
                                        </p:tav>
                                        <p:tav tm="100000">
                                          <p:val>
                                            <p:strVal val="#ppt_w"/>
                                          </p:val>
                                        </p:tav>
                                      </p:tavLst>
                                    </p:anim>
                                    <p:animEffect>
                                      <p:cBhvr>
                                        <p:cTn id="28" dur="500" tmFilter="0,0; .5, 1; 1, 1"/>
                                        <p:tgtEl>
                                          <p:spTgt spid="46"/>
                                        </p:tgtEl>
                                      </p:cBhvr>
                                    </p:animEffect>
                                  </p:childTnLst>
                                </p:cTn>
                              </p:par>
                            </p:childTnLst>
                          </p:cTn>
                        </p:par>
                        <p:par>
                          <p:cTn id="29" fill="hold">
                            <p:stCondLst>
                              <p:cond delay="2750"/>
                            </p:stCondLst>
                            <p:childTnLst>
                              <p:par>
                                <p:cTn id="30" presetID="41" presetClass="entr" presetSubtype="0" fill="hold" grpId="0" nodeType="afterEffect">
                                  <p:stCondLst>
                                    <p:cond delay="0"/>
                                  </p:stCondLst>
                                  <p:iterate type="lt">
                                    <p:tmPct val="10000"/>
                                  </p:iterate>
                                  <p:childTnLst>
                                    <p:set>
                                      <p:cBhvr>
                                        <p:cTn id="31" dur="1" fill="hold">
                                          <p:stCondLst>
                                            <p:cond delay="0"/>
                                          </p:stCondLst>
                                        </p:cTn>
                                        <p:tgtEl>
                                          <p:spTgt spid="48"/>
                                        </p:tgtEl>
                                        <p:attrNameLst>
                                          <p:attrName>style.visibility</p:attrName>
                                        </p:attrNameLst>
                                      </p:cBhvr>
                                      <p:to>
                                        <p:strVal val="visible"/>
                                      </p:to>
                                    </p:set>
                                    <p:anim calcmode="lin" valueType="num">
                                      <p:cBhvr>
                                        <p:cTn id="32" dur="500" fill="hold"/>
                                        <p:tgtEl>
                                          <p:spTgt spid="48"/>
                                        </p:tgtEl>
                                        <p:attrNameLst>
                                          <p:attrName>ppt_x</p:attrName>
                                        </p:attrNameLst>
                                      </p:cBhvr>
                                      <p:tavLst>
                                        <p:tav tm="0">
                                          <p:val>
                                            <p:strVal val="#ppt_x"/>
                                          </p:val>
                                        </p:tav>
                                        <p:tav tm="50000">
                                          <p:val>
                                            <p:strVal val="#ppt_x+.1"/>
                                          </p:val>
                                        </p:tav>
                                        <p:tav tm="100000">
                                          <p:val>
                                            <p:strVal val="#ppt_x"/>
                                          </p:val>
                                        </p:tav>
                                      </p:tavLst>
                                    </p:anim>
                                    <p:anim calcmode="lin" valueType="num">
                                      <p:cBhvr>
                                        <p:cTn id="33" dur="500" fill="hold"/>
                                        <p:tgtEl>
                                          <p:spTgt spid="48"/>
                                        </p:tgtEl>
                                        <p:attrNameLst>
                                          <p:attrName>ppt_y</p:attrName>
                                        </p:attrNameLst>
                                      </p:cBhvr>
                                      <p:tavLst>
                                        <p:tav tm="0">
                                          <p:val>
                                            <p:strVal val="#ppt_y"/>
                                          </p:val>
                                        </p:tav>
                                        <p:tav tm="100000">
                                          <p:val>
                                            <p:strVal val="#ppt_y"/>
                                          </p:val>
                                        </p:tav>
                                      </p:tavLst>
                                    </p:anim>
                                    <p:anim calcmode="lin" valueType="num">
                                      <p:cBhvr>
                                        <p:cTn id="34" dur="500" fill="hold"/>
                                        <p:tgtEl>
                                          <p:spTgt spid="48"/>
                                        </p:tgtEl>
                                        <p:attrNameLst>
                                          <p:attrName>ppt_h</p:attrName>
                                        </p:attrNameLst>
                                      </p:cBhvr>
                                      <p:tavLst>
                                        <p:tav tm="0">
                                          <p:val>
                                            <p:strVal val="#ppt_h/10"/>
                                          </p:val>
                                        </p:tav>
                                        <p:tav tm="50000">
                                          <p:val>
                                            <p:strVal val="#ppt_h+.01"/>
                                          </p:val>
                                        </p:tav>
                                        <p:tav tm="100000">
                                          <p:val>
                                            <p:strVal val="#ppt_h"/>
                                          </p:val>
                                        </p:tav>
                                      </p:tavLst>
                                    </p:anim>
                                    <p:anim calcmode="lin" valueType="num">
                                      <p:cBhvr>
                                        <p:cTn id="35" dur="500" fill="hold"/>
                                        <p:tgtEl>
                                          <p:spTgt spid="48"/>
                                        </p:tgtEl>
                                        <p:attrNameLst>
                                          <p:attrName>ppt_w</p:attrName>
                                        </p:attrNameLst>
                                      </p:cBhvr>
                                      <p:tavLst>
                                        <p:tav tm="0">
                                          <p:val>
                                            <p:strVal val="#ppt_w/10"/>
                                          </p:val>
                                        </p:tav>
                                        <p:tav tm="50000">
                                          <p:val>
                                            <p:strVal val="#ppt_w+.01"/>
                                          </p:val>
                                        </p:tav>
                                        <p:tav tm="100000">
                                          <p:val>
                                            <p:strVal val="#ppt_w"/>
                                          </p:val>
                                        </p:tav>
                                      </p:tavLst>
                                    </p:anim>
                                    <p:animEffect>
                                      <p:cBhvr>
                                        <p:cTn id="36" dur="500" tmFilter="0,0; .5, 1; 1, 1"/>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bldLvl="0" animBg="1" autoUpdateAnimBg="0"/>
      <p:bldP spid="36" grpId="0" bldLvl="0" autoUpdateAnimBg="0"/>
      <p:bldP spid="46" grpId="0" bldLvl="0" autoUpdateAnimBg="0"/>
      <p:bldP spid="48" grpId="0" bldLvl="0" autoUpdateAnimBg="0"/>
      <p:bldP spid="5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D:\MyConfiguration\zxp09284\Desktop\同程艺龙PPT内页.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7229"/>
            <a:ext cx="9144000" cy="5143244"/>
          </a:xfrm>
          <a:prstGeom prst="rect">
            <a:avLst/>
          </a:prstGeom>
          <a:noFill/>
          <a:extLst>
            <a:ext uri="{909E8E84-426E-40DD-AFC4-6F175D3DCCD1}">
              <a14:hiddenFill xmlns:a14="http://schemas.microsoft.com/office/drawing/2010/main">
                <a:solidFill>
                  <a:srgbClr val="FFFFFF"/>
                </a:solidFill>
              </a14:hiddenFill>
            </a:ext>
          </a:extLst>
        </p:spPr>
      </p:pic>
      <p:sp>
        <p:nvSpPr>
          <p:cNvPr id="33" name="Rectangle 3"/>
          <p:cNvSpPr>
            <a:spLocks noGrp="1" noChangeArrowheads="1"/>
          </p:cNvSpPr>
          <p:nvPr>
            <p:ph type="ctrTitle" idx="4294967295"/>
          </p:nvPr>
        </p:nvSpPr>
        <p:spPr>
          <a:xfrm>
            <a:off x="2483768" y="1544638"/>
            <a:ext cx="5256583" cy="1296144"/>
          </a:xfrm>
        </p:spPr>
        <p:txBody>
          <a:bodyPr>
            <a:noAutofit/>
          </a:bodyPr>
          <a:lstStyle/>
          <a:p>
            <a:pPr algn="l">
              <a:lnSpc>
                <a:spcPct val="120000"/>
              </a:lnSpc>
            </a:pPr>
            <a:r>
              <a:rPr lang="en-US" sz="4000" b="1"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分布式事务</a:t>
            </a:r>
            <a:r>
              <a:rPr lang="zh-CN" altLang="en-US" sz="4000" b="1"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场景</a:t>
            </a:r>
            <a:endParaRPr lang="en-US" altLang="zh-CN" sz="4000" b="1"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椭圆 4"/>
          <p:cNvSpPr/>
          <p:nvPr/>
        </p:nvSpPr>
        <p:spPr>
          <a:xfrm>
            <a:off x="1763688" y="1851670"/>
            <a:ext cx="648072" cy="648072"/>
          </a:xfrm>
          <a:prstGeom prst="ellipse">
            <a:avLst/>
          </a:prstGeom>
          <a:solidFill>
            <a:srgbClr val="FF6801"/>
          </a:solidFill>
          <a:ln>
            <a:solidFill>
              <a:srgbClr val="FF68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b="1" dirty="0" smtClean="0"/>
              <a:t>1</a:t>
            </a:r>
            <a:endParaRPr lang="zh-CN" altLang="en-US" sz="36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p:cTn id="7" dur="500" fill="hold"/>
                                        <p:tgtEl>
                                          <p:spTgt spid="33"/>
                                        </p:tgtEl>
                                        <p:attrNameLst>
                                          <p:attrName>ppt_x</p:attrName>
                                        </p:attrNameLst>
                                      </p:cBhvr>
                                      <p:tavLst>
                                        <p:tav tm="0">
                                          <p:val>
                                            <p:strVal val="1+#ppt_w/2"/>
                                          </p:val>
                                        </p:tav>
                                        <p:tav tm="100000">
                                          <p:val>
                                            <p:strVal val="#ppt_x"/>
                                          </p:val>
                                        </p:tav>
                                      </p:tavLst>
                                    </p:anim>
                                    <p:anim calcmode="lin" valueType="num">
                                      <p:cBhvr>
                                        <p:cTn id="8" dur="500" fill="hold"/>
                                        <p:tgtEl>
                                          <p:spTgt spid="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bldLvl="0" animBg="1"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D:\MyConfiguration\zxp09284\Desktop\同程艺龙PPT内页.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7229"/>
            <a:ext cx="9144000" cy="514324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p:cNvSpPr>
            <a:spLocks noGrp="1" noChangeArrowheads="1"/>
          </p:cNvSpPr>
          <p:nvPr>
            <p:ph type="ctrTitle" idx="4294967295"/>
          </p:nvPr>
        </p:nvSpPr>
        <p:spPr>
          <a:xfrm>
            <a:off x="323528" y="14737"/>
            <a:ext cx="3240360" cy="798993"/>
          </a:xfrm>
        </p:spPr>
        <p:txBody>
          <a:bodyPr>
            <a:noAutofit/>
          </a:bodyPr>
          <a:lstStyle/>
          <a:p>
            <a:pPr algn="l">
              <a:lnSpc>
                <a:spcPct val="120000"/>
              </a:lnSpc>
            </a:pPr>
            <a:r>
              <a:rPr lang="en-US" altLang="zh-CN" sz="2000" b="1" dirty="0" smtClean="0">
                <a:solidFill>
                  <a:srgbClr val="FF6801"/>
                </a:solidFill>
                <a:latin typeface="微软雅黑" panose="020B0503020204020204" pitchFamily="34" charset="-122"/>
                <a:ea typeface="微软雅黑" panose="020B0503020204020204" pitchFamily="34" charset="-122"/>
                <a:sym typeface="微软雅黑" panose="020B0503020204020204" pitchFamily="34" charset="-122"/>
              </a:rPr>
              <a:t>数据库本地事务</a:t>
            </a:r>
          </a:p>
        </p:txBody>
      </p:sp>
      <p:sp>
        <p:nvSpPr>
          <p:cNvPr id="8" name="TextBox 1"/>
          <p:cNvSpPr txBox="1"/>
          <p:nvPr/>
        </p:nvSpPr>
        <p:spPr>
          <a:xfrm>
            <a:off x="631796" y="987573"/>
            <a:ext cx="6300454" cy="18999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en-US" altLang="zh-CN" sz="1400" b="1" dirty="0" smtClean="0">
                <a:solidFill>
                  <a:schemeClr val="tx1">
                    <a:lumMod val="95000"/>
                    <a:lumOff val="5000"/>
                  </a:schemeClr>
                </a:solidFill>
                <a:latin typeface="微软雅黑" panose="020B0503020204020204" pitchFamily="34" charset="-122"/>
                <a:ea typeface="微软雅黑" panose="020B0503020204020204" pitchFamily="34" charset="-122"/>
              </a:rPr>
              <a:t>1</a:t>
            </a:r>
            <a:r>
              <a:rPr lang="zh-CN" altLang="en-US" sz="1400" b="1" dirty="0" smtClean="0">
                <a:solidFill>
                  <a:schemeClr val="tx1">
                    <a:lumMod val="95000"/>
                    <a:lumOff val="5000"/>
                  </a:schemeClr>
                </a:solidFill>
                <a:latin typeface="微软雅黑" panose="020B0503020204020204" pitchFamily="34" charset="-122"/>
                <a:ea typeface="微软雅黑" panose="020B0503020204020204" pitchFamily="34" charset="-122"/>
              </a:rPr>
              <a:t>、</a:t>
            </a:r>
            <a:r>
              <a:rPr lang="zh-CN" altLang="en-US" sz="1400" b="1" dirty="0">
                <a:solidFill>
                  <a:schemeClr val="tx1">
                    <a:lumMod val="95000"/>
                    <a:lumOff val="5000"/>
                  </a:schemeClr>
                </a:solidFill>
                <a:latin typeface="微软雅黑" panose="020B0503020204020204" pitchFamily="34" charset="-122"/>
                <a:ea typeface="微软雅黑" panose="020B0503020204020204" pitchFamily="34" charset="-122"/>
              </a:rPr>
              <a:t>原子性(Atomicity)</a:t>
            </a:r>
          </a:p>
          <a:p>
            <a:pPr>
              <a:lnSpc>
                <a:spcPct val="120000"/>
              </a:lnSpc>
            </a:pPr>
            <a:endParaRPr lang="en-US" altLang="zh-CN" sz="1400" dirty="0">
              <a:latin typeface="微软雅黑" panose="020B0503020204020204" pitchFamily="34" charset="-122"/>
              <a:ea typeface="微软雅黑" panose="020B0503020204020204" pitchFamily="34" charset="-122"/>
            </a:endParaRPr>
          </a:p>
          <a:p>
            <a:pPr>
              <a:lnSpc>
                <a:spcPct val="120000"/>
              </a:lnSpc>
            </a:pPr>
            <a:r>
              <a:rPr lang="en-US" altLang="zh-CN" sz="1400" b="1" dirty="0" smtClean="0">
                <a:solidFill>
                  <a:schemeClr val="tx1">
                    <a:lumMod val="95000"/>
                    <a:lumOff val="5000"/>
                  </a:schemeClr>
                </a:solidFill>
                <a:latin typeface="微软雅黑" panose="020B0503020204020204" pitchFamily="34" charset="-122"/>
                <a:ea typeface="微软雅黑" panose="020B0503020204020204" pitchFamily="34" charset="-122"/>
              </a:rPr>
              <a:t>2</a:t>
            </a:r>
            <a:r>
              <a:rPr lang="zh-CN" altLang="en-US" sz="1400" b="1" dirty="0" smtClean="0">
                <a:solidFill>
                  <a:schemeClr val="tx1">
                    <a:lumMod val="95000"/>
                    <a:lumOff val="5000"/>
                  </a:schemeClr>
                </a:solidFill>
                <a:latin typeface="微软雅黑" panose="020B0503020204020204" pitchFamily="34" charset="-122"/>
                <a:ea typeface="微软雅黑" panose="020B0503020204020204" pitchFamily="34" charset="-122"/>
              </a:rPr>
              <a:t>、一致性(Consistency)</a:t>
            </a:r>
          </a:p>
          <a:p>
            <a:pPr>
              <a:lnSpc>
                <a:spcPct val="120000"/>
              </a:lnSpc>
            </a:pPr>
            <a:endParaRPr lang="en-US" altLang="zh-CN" sz="1400" dirty="0" smtClean="0">
              <a:solidFill>
                <a:schemeClr val="bg1">
                  <a:lumMod val="50000"/>
                </a:schemeClr>
              </a:solidFill>
              <a:latin typeface="微软雅黑" panose="020B0503020204020204" pitchFamily="34" charset="-122"/>
              <a:ea typeface="微软雅黑" panose="020B0503020204020204" pitchFamily="34" charset="-122"/>
            </a:endParaRPr>
          </a:p>
          <a:p>
            <a:pPr>
              <a:lnSpc>
                <a:spcPct val="120000"/>
              </a:lnSpc>
            </a:pPr>
            <a:r>
              <a:rPr lang="en-US" altLang="zh-CN" sz="1400" b="1" dirty="0" smtClean="0">
                <a:solidFill>
                  <a:schemeClr val="tx1">
                    <a:lumMod val="95000"/>
                    <a:lumOff val="5000"/>
                  </a:schemeClr>
                </a:solidFill>
                <a:latin typeface="微软雅黑" panose="020B0503020204020204" pitchFamily="34" charset="-122"/>
                <a:ea typeface="微软雅黑" panose="020B0503020204020204" pitchFamily="34" charset="-122"/>
                <a:sym typeface="+mn-ea"/>
              </a:rPr>
              <a:t>3</a:t>
            </a:r>
            <a:r>
              <a:rPr lang="zh-CN" altLang="en-US" sz="1400" b="1" dirty="0" smtClean="0">
                <a:solidFill>
                  <a:schemeClr val="tx1">
                    <a:lumMod val="95000"/>
                    <a:lumOff val="5000"/>
                  </a:schemeClr>
                </a:solidFill>
                <a:latin typeface="微软雅黑" panose="020B0503020204020204" pitchFamily="34" charset="-122"/>
                <a:ea typeface="微软雅黑" panose="020B0503020204020204" pitchFamily="34" charset="-122"/>
                <a:sym typeface="+mn-ea"/>
              </a:rPr>
              <a:t>、一致性(Consistency)</a:t>
            </a:r>
          </a:p>
          <a:p>
            <a:pPr>
              <a:lnSpc>
                <a:spcPct val="120000"/>
              </a:lnSpc>
            </a:pP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r>
              <a:rPr lang="en-US" altLang="zh-CN" sz="1400" b="1" dirty="0" smtClean="0">
                <a:solidFill>
                  <a:schemeClr val="tx1">
                    <a:lumMod val="95000"/>
                    <a:lumOff val="5000"/>
                  </a:schemeClr>
                </a:solidFill>
                <a:latin typeface="微软雅黑" panose="020B0503020204020204" pitchFamily="34" charset="-122"/>
                <a:ea typeface="微软雅黑" panose="020B0503020204020204" pitchFamily="34" charset="-122"/>
                <a:sym typeface="+mn-ea"/>
              </a:rPr>
              <a:t>4</a:t>
            </a:r>
            <a:r>
              <a:rPr lang="zh-CN" altLang="en-US" sz="1400" b="1" dirty="0" smtClean="0">
                <a:solidFill>
                  <a:schemeClr val="tx1">
                    <a:lumMod val="95000"/>
                    <a:lumOff val="5000"/>
                  </a:schemeClr>
                </a:solidFill>
                <a:latin typeface="微软雅黑" panose="020B0503020204020204" pitchFamily="34" charset="-122"/>
                <a:ea typeface="微软雅黑" panose="020B0503020204020204" pitchFamily="34" charset="-122"/>
                <a:sym typeface="+mn-ea"/>
              </a:rPr>
              <a:t>、隔离性(Isolation)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1+#ppt_w/2"/>
                                          </p:val>
                                        </p:tav>
                                        <p:tav tm="100000">
                                          <p:val>
                                            <p:strVal val="#ppt_x"/>
                                          </p:val>
                                        </p:tav>
                                      </p:tavLst>
                                    </p:anim>
                                    <p:anim calcmode="lin" valueType="num">
                                      <p:cBhvr>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autoUpdateAnimBg="0"/>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D:\MyConfiguration\zxp09284\Desktop\同程艺龙PPT内页.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7229"/>
            <a:ext cx="9144000" cy="514324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p:cNvSpPr>
            <a:spLocks noGrp="1" noChangeArrowheads="1"/>
          </p:cNvSpPr>
          <p:nvPr>
            <p:ph type="ctrTitle" idx="4294967295"/>
          </p:nvPr>
        </p:nvSpPr>
        <p:spPr>
          <a:xfrm>
            <a:off x="323528" y="14737"/>
            <a:ext cx="3240360" cy="798993"/>
          </a:xfrm>
        </p:spPr>
        <p:txBody>
          <a:bodyPr>
            <a:noAutofit/>
          </a:bodyPr>
          <a:lstStyle/>
          <a:p>
            <a:pPr algn="l">
              <a:lnSpc>
                <a:spcPct val="120000"/>
              </a:lnSpc>
            </a:pPr>
            <a:r>
              <a:rPr lang="en-US" altLang="zh-CN" sz="2000" b="1" dirty="0">
                <a:solidFill>
                  <a:srgbClr val="FF6801"/>
                </a:solidFill>
                <a:latin typeface="微软雅黑" panose="020B0503020204020204" pitchFamily="34" charset="-122"/>
                <a:ea typeface="微软雅黑" panose="020B0503020204020204" pitchFamily="34" charset="-122"/>
                <a:sym typeface="微软雅黑" panose="020B0503020204020204" pitchFamily="34" charset="-122"/>
              </a:rPr>
              <a:t>InnoDB实现原理</a:t>
            </a:r>
          </a:p>
        </p:txBody>
      </p:sp>
      <p:sp>
        <p:nvSpPr>
          <p:cNvPr id="8" name="TextBox 1"/>
          <p:cNvSpPr txBox="1"/>
          <p:nvPr/>
        </p:nvSpPr>
        <p:spPr>
          <a:xfrm>
            <a:off x="631796" y="987573"/>
            <a:ext cx="6300454" cy="86614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en-US" altLang="zh-CN" sz="1400" b="1" dirty="0" smtClean="0">
                <a:solidFill>
                  <a:schemeClr val="tx1">
                    <a:lumMod val="95000"/>
                    <a:lumOff val="5000"/>
                  </a:schemeClr>
                </a:solidFill>
                <a:latin typeface="微软雅黑" panose="020B0503020204020204" pitchFamily="34" charset="-122"/>
                <a:ea typeface="微软雅黑" panose="020B0503020204020204" pitchFamily="34" charset="-122"/>
              </a:rPr>
              <a:t>1</a:t>
            </a:r>
            <a:r>
              <a:rPr lang="zh-CN" altLang="en-US" sz="1400" b="1" dirty="0" smtClean="0">
                <a:solidFill>
                  <a:schemeClr val="tx1">
                    <a:lumMod val="95000"/>
                    <a:lumOff val="5000"/>
                  </a:schemeClr>
                </a:solidFill>
                <a:latin typeface="微软雅黑" panose="020B0503020204020204" pitchFamily="34" charset="-122"/>
                <a:ea typeface="微软雅黑" panose="020B0503020204020204" pitchFamily="34" charset="-122"/>
              </a:rPr>
              <a:t>、</a:t>
            </a:r>
            <a:r>
              <a:rPr lang="zh-CN" altLang="en-US" sz="1400" b="1" dirty="0">
                <a:solidFill>
                  <a:schemeClr val="tx1">
                    <a:lumMod val="95000"/>
                    <a:lumOff val="5000"/>
                  </a:schemeClr>
                </a:solidFill>
                <a:latin typeface="微软雅黑" panose="020B0503020204020204" pitchFamily="34" charset="-122"/>
                <a:ea typeface="微软雅黑" panose="020B0503020204020204" pitchFamily="34" charset="-122"/>
              </a:rPr>
              <a:t>mysql的一个存储引擎</a:t>
            </a:r>
            <a:endParaRPr lang="en-US" altLang="zh-CN" sz="1400" dirty="0" smtClean="0">
              <a:solidFill>
                <a:schemeClr val="bg1">
                  <a:lumMod val="50000"/>
                </a:schemeClr>
              </a:solidFill>
              <a:latin typeface="微软雅黑" panose="020B0503020204020204" pitchFamily="34" charset="-122"/>
              <a:ea typeface="微软雅黑" panose="020B0503020204020204" pitchFamily="34" charset="-122"/>
            </a:endParaRPr>
          </a:p>
          <a:p>
            <a:pPr>
              <a:lnSpc>
                <a:spcPct val="120000"/>
              </a:lnSpc>
            </a:pPr>
            <a:endParaRPr lang="en-US" altLang="zh-CN" sz="1400" dirty="0">
              <a:latin typeface="微软雅黑" panose="020B0503020204020204" pitchFamily="34" charset="-122"/>
              <a:ea typeface="微软雅黑" panose="020B0503020204020204" pitchFamily="34" charset="-122"/>
            </a:endParaRPr>
          </a:p>
          <a:p>
            <a:pPr>
              <a:lnSpc>
                <a:spcPct val="120000"/>
              </a:lnSpc>
            </a:pPr>
            <a:r>
              <a:rPr lang="en-US" altLang="zh-CN" sz="1400" b="1" dirty="0" smtClean="0">
                <a:solidFill>
                  <a:schemeClr val="tx1">
                    <a:lumMod val="95000"/>
                    <a:lumOff val="5000"/>
                  </a:schemeClr>
                </a:solidFill>
                <a:latin typeface="微软雅黑" panose="020B0503020204020204" pitchFamily="34" charset="-122"/>
                <a:ea typeface="微软雅黑" panose="020B0503020204020204" pitchFamily="34" charset="-122"/>
              </a:rPr>
              <a:t>2</a:t>
            </a:r>
            <a:r>
              <a:rPr lang="zh-CN" altLang="en-US" sz="1400" b="1" dirty="0" smtClean="0">
                <a:solidFill>
                  <a:schemeClr val="tx1">
                    <a:lumMod val="95000"/>
                    <a:lumOff val="5000"/>
                  </a:schemeClr>
                </a:solidFill>
                <a:latin typeface="微软雅黑" panose="020B0503020204020204" pitchFamily="34" charset="-122"/>
                <a:ea typeface="微软雅黑" panose="020B0503020204020204" pitchFamily="34" charset="-122"/>
              </a:rPr>
              <a:t>、</a:t>
            </a:r>
            <a:r>
              <a:rPr lang="zh-CN" altLang="en-US" sz="1400" b="1" dirty="0">
                <a:solidFill>
                  <a:schemeClr val="tx1">
                    <a:lumMod val="95000"/>
                    <a:lumOff val="5000"/>
                  </a:schemeClr>
                </a:solidFill>
                <a:latin typeface="微软雅黑" panose="020B0503020204020204" pitchFamily="34" charset="-122"/>
                <a:ea typeface="微软雅黑" panose="020B0503020204020204" pitchFamily="34" charset="-122"/>
              </a:rPr>
              <a:t>在本地事务中，服务和资源在事务的包裹下可以看做是一体的:</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4"/>
          <a:stretch>
            <a:fillRect/>
          </a:stretch>
        </p:blipFill>
        <p:spPr>
          <a:xfrm>
            <a:off x="934085" y="2030730"/>
            <a:ext cx="5836920" cy="2476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1+#ppt_w/2"/>
                                          </p:val>
                                        </p:tav>
                                        <p:tav tm="100000">
                                          <p:val>
                                            <p:strVal val="#ppt_x"/>
                                          </p:val>
                                        </p:tav>
                                      </p:tavLst>
                                    </p:anim>
                                    <p:anim calcmode="lin" valueType="num">
                                      <p:cBhvr>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autoUpdateAnimBg="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D:\MyConfiguration\zxp09284\Desktop\同程艺龙PPT内页.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7229"/>
            <a:ext cx="9144000" cy="514324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p:cNvSpPr>
            <a:spLocks noGrp="1" noChangeArrowheads="1"/>
          </p:cNvSpPr>
          <p:nvPr>
            <p:ph type="ctrTitle" idx="4294967295"/>
          </p:nvPr>
        </p:nvSpPr>
        <p:spPr>
          <a:xfrm>
            <a:off x="323528" y="14737"/>
            <a:ext cx="3240360" cy="798993"/>
          </a:xfrm>
        </p:spPr>
        <p:txBody>
          <a:bodyPr>
            <a:noAutofit/>
          </a:bodyPr>
          <a:lstStyle/>
          <a:p>
            <a:pPr algn="l">
              <a:lnSpc>
                <a:spcPct val="120000"/>
              </a:lnSpc>
            </a:pPr>
            <a:r>
              <a:rPr lang="en-US" altLang="zh-CN" sz="2000" b="1" dirty="0">
                <a:solidFill>
                  <a:srgbClr val="FF6801"/>
                </a:solidFill>
                <a:latin typeface="微软雅黑" panose="020B0503020204020204" pitchFamily="34" charset="-122"/>
                <a:ea typeface="微软雅黑" panose="020B0503020204020204" pitchFamily="34" charset="-122"/>
                <a:sym typeface="微软雅黑" panose="020B0503020204020204" pitchFamily="34" charset="-122"/>
              </a:rPr>
              <a:t>InnoDB实现原理</a:t>
            </a:r>
          </a:p>
        </p:txBody>
      </p:sp>
      <p:sp>
        <p:nvSpPr>
          <p:cNvPr id="8" name="TextBox 1"/>
          <p:cNvSpPr txBox="1"/>
          <p:nvPr/>
        </p:nvSpPr>
        <p:spPr>
          <a:xfrm>
            <a:off x="631796" y="987573"/>
            <a:ext cx="6300454" cy="34925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en-US" altLang="zh-CN" sz="1400" b="1" dirty="0" smtClean="0">
                <a:solidFill>
                  <a:schemeClr val="tx1">
                    <a:lumMod val="95000"/>
                    <a:lumOff val="5000"/>
                  </a:schemeClr>
                </a:solidFill>
                <a:latin typeface="微软雅黑" panose="020B0503020204020204" pitchFamily="34" charset="-122"/>
                <a:ea typeface="微软雅黑" panose="020B0503020204020204" pitchFamily="34" charset="-122"/>
              </a:rPr>
              <a:t>3</a:t>
            </a:r>
            <a:r>
              <a:rPr lang="zh-CN" altLang="en-US" sz="1400" b="1" dirty="0" smtClean="0">
                <a:solidFill>
                  <a:schemeClr val="tx1">
                    <a:lumMod val="95000"/>
                    <a:lumOff val="5000"/>
                  </a:schemeClr>
                </a:solidFill>
                <a:latin typeface="微软雅黑" panose="020B0503020204020204" pitchFamily="34" charset="-122"/>
                <a:ea typeface="微软雅黑" panose="020B0503020204020204" pitchFamily="34" charset="-122"/>
              </a:rPr>
              <a:t>、</a:t>
            </a:r>
            <a:r>
              <a:rPr lang="zh-CN" altLang="en-US" sz="1400" b="1" dirty="0">
                <a:solidFill>
                  <a:schemeClr val="tx1">
                    <a:lumMod val="95000"/>
                    <a:lumOff val="5000"/>
                  </a:schemeClr>
                </a:solidFill>
                <a:latin typeface="微软雅黑" panose="020B0503020204020204" pitchFamily="34" charset="-122"/>
                <a:ea typeface="微软雅黑" panose="020B0503020204020204" pitchFamily="34" charset="-122"/>
              </a:rPr>
              <a:t>本地事务由资源管理器进行管理:</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4"/>
          <a:stretch>
            <a:fillRect/>
          </a:stretch>
        </p:blipFill>
        <p:spPr>
          <a:xfrm>
            <a:off x="4601210" y="109220"/>
            <a:ext cx="4165600" cy="439483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1+#ppt_w/2"/>
                                          </p:val>
                                        </p:tav>
                                        <p:tav tm="100000">
                                          <p:val>
                                            <p:strVal val="#ppt_x"/>
                                          </p:val>
                                        </p:tav>
                                      </p:tavLst>
                                    </p:anim>
                                    <p:anim calcmode="lin" valueType="num">
                                      <p:cBhvr>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autoUpdateAnimBg="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D:\MyConfiguration\zxp09284\Desktop\同程艺龙PPT内页.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7229"/>
            <a:ext cx="9144000" cy="514324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p:cNvSpPr>
            <a:spLocks noGrp="1" noChangeArrowheads="1"/>
          </p:cNvSpPr>
          <p:nvPr>
            <p:ph type="ctrTitle" idx="4294967295"/>
          </p:nvPr>
        </p:nvSpPr>
        <p:spPr>
          <a:xfrm>
            <a:off x="323528" y="14737"/>
            <a:ext cx="3240360" cy="798993"/>
          </a:xfrm>
        </p:spPr>
        <p:txBody>
          <a:bodyPr>
            <a:noAutofit/>
          </a:bodyPr>
          <a:lstStyle/>
          <a:p>
            <a:pPr algn="l">
              <a:lnSpc>
                <a:spcPct val="120000"/>
              </a:lnSpc>
            </a:pPr>
            <a:r>
              <a:rPr lang="en-US" altLang="zh-CN" sz="2000" b="1" dirty="0">
                <a:solidFill>
                  <a:srgbClr val="FF6801"/>
                </a:solidFill>
                <a:latin typeface="微软雅黑" panose="020B0503020204020204" pitchFamily="34" charset="-122"/>
                <a:ea typeface="微软雅黑" panose="020B0503020204020204" pitchFamily="34" charset="-122"/>
                <a:sym typeface="微软雅黑" panose="020B0503020204020204" pitchFamily="34" charset="-122"/>
              </a:rPr>
              <a:t>分布式事务产生的原因</a:t>
            </a:r>
          </a:p>
        </p:txBody>
      </p:sp>
      <p:sp>
        <p:nvSpPr>
          <p:cNvPr id="8" name="TextBox 1"/>
          <p:cNvSpPr txBox="1"/>
          <p:nvPr/>
        </p:nvSpPr>
        <p:spPr>
          <a:xfrm>
            <a:off x="609571" y="987573"/>
            <a:ext cx="6300454" cy="86614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en-US" altLang="zh-CN" sz="1400" b="1" dirty="0" smtClean="0">
                <a:solidFill>
                  <a:schemeClr val="tx1">
                    <a:lumMod val="95000"/>
                    <a:lumOff val="5000"/>
                  </a:schemeClr>
                </a:solidFill>
                <a:latin typeface="微软雅黑" panose="020B0503020204020204" pitchFamily="34" charset="-122"/>
                <a:ea typeface="微软雅黑" panose="020B0503020204020204" pitchFamily="34" charset="-122"/>
              </a:rPr>
              <a:t>1</a:t>
            </a:r>
            <a:r>
              <a:rPr lang="zh-CN" altLang="en-US" sz="1400" b="1" dirty="0" smtClean="0">
                <a:solidFill>
                  <a:schemeClr val="tx1">
                    <a:lumMod val="95000"/>
                    <a:lumOff val="5000"/>
                  </a:schemeClr>
                </a:solidFill>
                <a:latin typeface="微软雅黑" panose="020B0503020204020204" pitchFamily="34" charset="-122"/>
                <a:ea typeface="微软雅黑" panose="020B0503020204020204" pitchFamily="34" charset="-122"/>
              </a:rPr>
              <a:t>、service多个节点</a:t>
            </a:r>
            <a:endParaRPr lang="en-US" altLang="zh-CN" sz="1400" dirty="0" smtClean="0">
              <a:solidFill>
                <a:schemeClr val="bg1">
                  <a:lumMod val="50000"/>
                </a:schemeClr>
              </a:solidFill>
              <a:latin typeface="微软雅黑" panose="020B0503020204020204" pitchFamily="34" charset="-122"/>
              <a:ea typeface="微软雅黑" panose="020B0503020204020204" pitchFamily="34" charset="-122"/>
            </a:endParaRPr>
          </a:p>
          <a:p>
            <a:pPr>
              <a:lnSpc>
                <a:spcPct val="120000"/>
              </a:lnSpc>
            </a:pPr>
            <a:endParaRPr lang="en-US" altLang="zh-CN" sz="1400" dirty="0">
              <a:latin typeface="微软雅黑" panose="020B0503020204020204" pitchFamily="34" charset="-122"/>
              <a:ea typeface="微软雅黑" panose="020B0503020204020204" pitchFamily="34" charset="-122"/>
            </a:endParaRPr>
          </a:p>
          <a:p>
            <a:pPr>
              <a:lnSpc>
                <a:spcPct val="120000"/>
              </a:lnSpc>
            </a:pPr>
            <a:r>
              <a:rPr lang="en-US" altLang="zh-CN" sz="1400" b="1" dirty="0" smtClean="0">
                <a:solidFill>
                  <a:schemeClr val="tx1">
                    <a:lumMod val="95000"/>
                    <a:lumOff val="5000"/>
                  </a:schemeClr>
                </a:solidFill>
                <a:latin typeface="微软雅黑" panose="020B0503020204020204" pitchFamily="34" charset="-122"/>
                <a:ea typeface="微软雅黑" panose="020B0503020204020204" pitchFamily="34" charset="-122"/>
              </a:rPr>
              <a:t>2</a:t>
            </a:r>
            <a:r>
              <a:rPr lang="zh-CN" altLang="en-US" sz="1400" b="1" dirty="0" smtClean="0">
                <a:solidFill>
                  <a:schemeClr val="tx1">
                    <a:lumMod val="95000"/>
                    <a:lumOff val="5000"/>
                  </a:schemeClr>
                </a:solidFill>
                <a:latin typeface="微软雅黑" panose="020B0503020204020204" pitchFamily="34" charset="-122"/>
                <a:ea typeface="微软雅黑" panose="020B0503020204020204" pitchFamily="34" charset="-122"/>
              </a:rPr>
              <a:t>、resource多个节点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1+#ppt_w/2"/>
                                          </p:val>
                                        </p:tav>
                                        <p:tav tm="100000">
                                          <p:val>
                                            <p:strVal val="#ppt_x"/>
                                          </p:val>
                                        </p:tav>
                                      </p:tavLst>
                                    </p:anim>
                                    <p:anim calcmode="lin" valueType="num">
                                      <p:cBhvr>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autoUpdateAnimBg="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D:\MyConfiguration\zxp09284\Desktop\同程艺龙PPT内页.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7229"/>
            <a:ext cx="9144000" cy="514324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p:cNvSpPr>
            <a:spLocks noGrp="1" noChangeArrowheads="1"/>
          </p:cNvSpPr>
          <p:nvPr>
            <p:ph type="ctrTitle" idx="4294967295"/>
          </p:nvPr>
        </p:nvSpPr>
        <p:spPr>
          <a:xfrm>
            <a:off x="323528" y="14737"/>
            <a:ext cx="3240360" cy="798993"/>
          </a:xfrm>
        </p:spPr>
        <p:txBody>
          <a:bodyPr>
            <a:noAutofit/>
          </a:bodyPr>
          <a:lstStyle/>
          <a:p>
            <a:pPr algn="l">
              <a:lnSpc>
                <a:spcPct val="120000"/>
              </a:lnSpc>
            </a:pPr>
            <a:r>
              <a:rPr lang="en-US" altLang="zh-CN" sz="2000" b="1" dirty="0">
                <a:solidFill>
                  <a:srgbClr val="FF6801"/>
                </a:solidFill>
                <a:latin typeface="微软雅黑" panose="020B0503020204020204" pitchFamily="34" charset="-122"/>
                <a:ea typeface="微软雅黑" panose="020B0503020204020204" pitchFamily="34" charset="-122"/>
                <a:sym typeface="微软雅黑" panose="020B0503020204020204" pitchFamily="34" charset="-122"/>
              </a:rPr>
              <a:t>分布式事务产生的原因</a:t>
            </a:r>
          </a:p>
        </p:txBody>
      </p:sp>
      <p:sp>
        <p:nvSpPr>
          <p:cNvPr id="8" name="TextBox 1"/>
          <p:cNvSpPr txBox="1"/>
          <p:nvPr/>
        </p:nvSpPr>
        <p:spPr>
          <a:xfrm>
            <a:off x="609571" y="987573"/>
            <a:ext cx="6300454" cy="34925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400" b="1" dirty="0" smtClean="0">
                <a:solidFill>
                  <a:schemeClr val="tx1">
                    <a:lumMod val="95000"/>
                    <a:lumOff val="5000"/>
                  </a:schemeClr>
                </a:solidFill>
                <a:latin typeface="微软雅黑" panose="020B0503020204020204" pitchFamily="34" charset="-122"/>
                <a:ea typeface="微软雅黑" panose="020B0503020204020204" pitchFamily="34" charset="-122"/>
              </a:rPr>
              <a:t>service多个节点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4"/>
          <a:stretch>
            <a:fillRect/>
          </a:stretch>
        </p:blipFill>
        <p:spPr>
          <a:xfrm>
            <a:off x="2068830" y="742315"/>
            <a:ext cx="5006340" cy="3672840"/>
          </a:xfrm>
          <a:prstGeom prst="rect">
            <a:avLst/>
          </a:prstGeom>
        </p:spPr>
      </p:pic>
      <p:sp>
        <p:nvSpPr>
          <p:cNvPr id="3" name="文本框 2"/>
          <p:cNvSpPr txBox="1"/>
          <p:nvPr/>
        </p:nvSpPr>
        <p:spPr>
          <a:xfrm>
            <a:off x="7139305" y="899795"/>
            <a:ext cx="601345" cy="1753235"/>
          </a:xfrm>
          <a:prstGeom prst="rect">
            <a:avLst/>
          </a:prstGeom>
          <a:noFill/>
        </p:spPr>
        <p:txBody>
          <a:bodyPr wrap="square" rtlCol="0">
            <a:spAutoFit/>
          </a:bodyPr>
          <a:lstStyle/>
          <a:p>
            <a:r>
              <a:rPr lang="zh-CN" altLang="en-US"/>
              <a:t>图片来源网络</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1+#ppt_w/2"/>
                                          </p:val>
                                        </p:tav>
                                        <p:tav tm="100000">
                                          <p:val>
                                            <p:strVal val="#ppt_x"/>
                                          </p:val>
                                        </p:tav>
                                      </p:tavLst>
                                    </p:anim>
                                    <p:anim calcmode="lin" valueType="num">
                                      <p:cBhvr>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autoUpdateAnimBg="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D:\MyConfiguration\zxp09284\Desktop\同程艺龙PPT内页.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7229"/>
            <a:ext cx="9144000" cy="514324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p:cNvSpPr>
            <a:spLocks noGrp="1" noChangeArrowheads="1"/>
          </p:cNvSpPr>
          <p:nvPr>
            <p:ph type="ctrTitle" idx="4294967295"/>
          </p:nvPr>
        </p:nvSpPr>
        <p:spPr>
          <a:xfrm>
            <a:off x="323528" y="14737"/>
            <a:ext cx="3240360" cy="798993"/>
          </a:xfrm>
        </p:spPr>
        <p:txBody>
          <a:bodyPr>
            <a:noAutofit/>
          </a:bodyPr>
          <a:lstStyle/>
          <a:p>
            <a:pPr algn="l">
              <a:lnSpc>
                <a:spcPct val="120000"/>
              </a:lnSpc>
            </a:pPr>
            <a:r>
              <a:rPr lang="en-US" altLang="zh-CN" sz="2000" b="1" dirty="0">
                <a:solidFill>
                  <a:srgbClr val="FF6801"/>
                </a:solidFill>
                <a:latin typeface="微软雅黑" panose="020B0503020204020204" pitchFamily="34" charset="-122"/>
                <a:ea typeface="微软雅黑" panose="020B0503020204020204" pitchFamily="34" charset="-122"/>
                <a:sym typeface="微软雅黑" panose="020B0503020204020204" pitchFamily="34" charset="-122"/>
              </a:rPr>
              <a:t>分布式事务产生的原因</a:t>
            </a:r>
          </a:p>
        </p:txBody>
      </p:sp>
      <p:sp>
        <p:nvSpPr>
          <p:cNvPr id="8" name="TextBox 1"/>
          <p:cNvSpPr txBox="1"/>
          <p:nvPr/>
        </p:nvSpPr>
        <p:spPr>
          <a:xfrm>
            <a:off x="609571" y="987573"/>
            <a:ext cx="6300454" cy="34925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400" b="1" dirty="0" smtClean="0">
                <a:solidFill>
                  <a:schemeClr val="tx1">
                    <a:lumMod val="95000"/>
                    <a:lumOff val="5000"/>
                  </a:schemeClr>
                </a:solidFill>
                <a:latin typeface="微软雅黑" panose="020B0503020204020204" pitchFamily="34" charset="-122"/>
                <a:ea typeface="微软雅黑" panose="020B0503020204020204" pitchFamily="34" charset="-122"/>
              </a:rPr>
              <a:t>resource多个节点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4"/>
          <a:stretch>
            <a:fillRect/>
          </a:stretch>
        </p:blipFill>
        <p:spPr>
          <a:xfrm>
            <a:off x="2331085" y="1061720"/>
            <a:ext cx="4061460" cy="2552700"/>
          </a:xfrm>
          <a:prstGeom prst="rect">
            <a:avLst/>
          </a:prstGeom>
        </p:spPr>
      </p:pic>
      <p:sp>
        <p:nvSpPr>
          <p:cNvPr id="3" name="文本框 2"/>
          <p:cNvSpPr txBox="1"/>
          <p:nvPr/>
        </p:nvSpPr>
        <p:spPr>
          <a:xfrm>
            <a:off x="5989320" y="1063625"/>
            <a:ext cx="455295" cy="1753235"/>
          </a:xfrm>
          <a:prstGeom prst="rect">
            <a:avLst/>
          </a:prstGeom>
          <a:noFill/>
        </p:spPr>
        <p:txBody>
          <a:bodyPr wrap="square" rtlCol="0">
            <a:spAutoFit/>
          </a:bodyPr>
          <a:lstStyle/>
          <a:p>
            <a:r>
              <a:rPr lang="zh-CN" altLang="en-US"/>
              <a:t>图片来源网络</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1+#ppt_w/2"/>
                                          </p:val>
                                        </p:tav>
                                        <p:tav tm="100000">
                                          <p:val>
                                            <p:strVal val="#ppt_x"/>
                                          </p:val>
                                        </p:tav>
                                      </p:tavLst>
                                    </p:anim>
                                    <p:anim calcmode="lin" valueType="num">
                                      <p:cBhvr>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autoUpdateAnimBg="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D:\MyConfiguration\zxp09284\Desktop\同程艺龙PPT内页.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7229"/>
            <a:ext cx="9144000" cy="5143244"/>
          </a:xfrm>
          <a:prstGeom prst="rect">
            <a:avLst/>
          </a:prstGeom>
          <a:noFill/>
          <a:extLst>
            <a:ext uri="{909E8E84-426E-40DD-AFC4-6F175D3DCCD1}">
              <a14:hiddenFill xmlns:a14="http://schemas.microsoft.com/office/drawing/2010/main">
                <a:solidFill>
                  <a:srgbClr val="FFFFFF"/>
                </a:solidFill>
              </a14:hiddenFill>
            </a:ext>
          </a:extLst>
        </p:spPr>
      </p:pic>
      <p:sp>
        <p:nvSpPr>
          <p:cNvPr id="33" name="Rectangle 3"/>
          <p:cNvSpPr>
            <a:spLocks noGrp="1" noChangeArrowheads="1"/>
          </p:cNvSpPr>
          <p:nvPr>
            <p:ph type="ctrTitle" idx="4294967295"/>
          </p:nvPr>
        </p:nvSpPr>
        <p:spPr>
          <a:xfrm>
            <a:off x="2483768" y="1544638"/>
            <a:ext cx="5256583" cy="1296144"/>
          </a:xfrm>
        </p:spPr>
        <p:txBody>
          <a:bodyPr>
            <a:noAutofit/>
          </a:bodyPr>
          <a:lstStyle/>
          <a:p>
            <a:pPr algn="l">
              <a:lnSpc>
                <a:spcPct val="120000"/>
              </a:lnSpc>
            </a:pPr>
            <a:r>
              <a:rPr lang="en-US" sz="4000" b="1"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分布式事务</a:t>
            </a:r>
            <a:r>
              <a:rPr lang="zh-CN" altLang="en-US" sz="4000" b="1"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困扰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p:cTn id="7" dur="500" fill="hold"/>
                                        <p:tgtEl>
                                          <p:spTgt spid="33"/>
                                        </p:tgtEl>
                                        <p:attrNameLst>
                                          <p:attrName>ppt_x</p:attrName>
                                        </p:attrNameLst>
                                      </p:cBhvr>
                                      <p:tavLst>
                                        <p:tav tm="0">
                                          <p:val>
                                            <p:strVal val="1+#ppt_w/2"/>
                                          </p:val>
                                        </p:tav>
                                        <p:tav tm="100000">
                                          <p:val>
                                            <p:strVal val="#ppt_x"/>
                                          </p:val>
                                        </p:tav>
                                      </p:tavLst>
                                    </p:anim>
                                    <p:anim calcmode="lin" valueType="num">
                                      <p:cBhvr>
                                        <p:cTn id="8" dur="500" fill="hold"/>
                                        <p:tgtEl>
                                          <p:spTgt spid="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bldLvl="0" animBg="1"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D:\MyConfiguration\zxp09284\Desktop\同程艺龙PPT内页.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244"/>
            <a:ext cx="9144000" cy="514324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p:cNvSpPr>
            <a:spLocks noGrp="1" noChangeArrowheads="1"/>
          </p:cNvSpPr>
          <p:nvPr>
            <p:ph type="ctrTitle" idx="4294967295"/>
          </p:nvPr>
        </p:nvSpPr>
        <p:spPr>
          <a:xfrm>
            <a:off x="323528" y="14737"/>
            <a:ext cx="3240360" cy="798993"/>
          </a:xfrm>
        </p:spPr>
        <p:txBody>
          <a:bodyPr>
            <a:noAutofit/>
          </a:bodyPr>
          <a:lstStyle/>
          <a:p>
            <a:pPr algn="l">
              <a:lnSpc>
                <a:spcPct val="120000"/>
              </a:lnSpc>
            </a:pPr>
            <a:r>
              <a:rPr lang="en-US" altLang="zh-CN" sz="2000" b="1" dirty="0">
                <a:solidFill>
                  <a:srgbClr val="FF6801"/>
                </a:solidFill>
                <a:latin typeface="微软雅黑" panose="020B0503020204020204" pitchFamily="34" charset="-122"/>
                <a:ea typeface="微软雅黑" panose="020B0503020204020204" pitchFamily="34" charset="-122"/>
                <a:sym typeface="微软雅黑" panose="020B0503020204020204" pitchFamily="34" charset="-122"/>
              </a:rPr>
              <a:t>分布式事务</a:t>
            </a:r>
            <a:r>
              <a:rPr lang="zh-CN" altLang="en-US" sz="2000" b="1" dirty="0">
                <a:solidFill>
                  <a:srgbClr val="FF6801"/>
                </a:solidFill>
                <a:latin typeface="微软雅黑" panose="020B0503020204020204" pitchFamily="34" charset="-122"/>
                <a:ea typeface="微软雅黑" panose="020B0503020204020204" pitchFamily="34" charset="-122"/>
                <a:sym typeface="微软雅黑" panose="020B0503020204020204" pitchFamily="34" charset="-122"/>
              </a:rPr>
              <a:t>问题困扰</a:t>
            </a:r>
          </a:p>
        </p:txBody>
      </p:sp>
      <p:sp>
        <p:nvSpPr>
          <p:cNvPr id="8" name="TextBox 1"/>
          <p:cNvSpPr txBox="1"/>
          <p:nvPr/>
        </p:nvSpPr>
        <p:spPr>
          <a:xfrm>
            <a:off x="631825" y="987425"/>
            <a:ext cx="7740650" cy="21583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en-US" altLang="zh-CN" sz="1400" b="1" dirty="0" smtClean="0">
                <a:solidFill>
                  <a:schemeClr val="tx1">
                    <a:lumMod val="95000"/>
                    <a:lumOff val="5000"/>
                  </a:schemeClr>
                </a:solidFill>
                <a:latin typeface="微软雅黑" panose="020B0503020204020204" pitchFamily="34" charset="-122"/>
                <a:ea typeface="微软雅黑" panose="020B0503020204020204" pitchFamily="34" charset="-122"/>
              </a:rPr>
              <a:t>1</a:t>
            </a:r>
            <a:r>
              <a:rPr lang="zh-CN" altLang="en-US" sz="1400" b="1" dirty="0" smtClean="0">
                <a:solidFill>
                  <a:schemeClr val="tx1">
                    <a:lumMod val="95000"/>
                    <a:lumOff val="5000"/>
                  </a:schemeClr>
                </a:solidFill>
                <a:latin typeface="微软雅黑" panose="020B0503020204020204" pitchFamily="34" charset="-122"/>
                <a:ea typeface="微软雅黑" panose="020B0503020204020204" pitchFamily="34" charset="-122"/>
              </a:rPr>
              <a:t>、“最终一致性”、“事务补偿”、“TCC”、“两阶段提交”、“最大能力通知”等关于分布式事务处理的方法论</a:t>
            </a:r>
          </a:p>
          <a:p>
            <a:pPr>
              <a:lnSpc>
                <a:spcPct val="120000"/>
              </a:lnSpc>
            </a:pPr>
            <a:endParaRPr lang="en-US" altLang="zh-CN" sz="1400" dirty="0">
              <a:latin typeface="微软雅黑" panose="020B0503020204020204" pitchFamily="34" charset="-122"/>
              <a:ea typeface="微软雅黑" panose="020B0503020204020204" pitchFamily="34" charset="-122"/>
            </a:endParaRPr>
          </a:p>
          <a:p>
            <a:pPr>
              <a:lnSpc>
                <a:spcPct val="120000"/>
              </a:lnSpc>
            </a:pPr>
            <a:r>
              <a:rPr lang="en-US" altLang="zh-CN" sz="1400" b="1" dirty="0" smtClean="0">
                <a:solidFill>
                  <a:schemeClr val="tx1">
                    <a:lumMod val="95000"/>
                    <a:lumOff val="5000"/>
                  </a:schemeClr>
                </a:solidFill>
                <a:latin typeface="微软雅黑" panose="020B0503020204020204" pitchFamily="34" charset="-122"/>
                <a:ea typeface="微软雅黑" panose="020B0503020204020204" pitchFamily="34" charset="-122"/>
              </a:rPr>
              <a:t>2</a:t>
            </a:r>
            <a:r>
              <a:rPr lang="zh-CN" altLang="en-US" sz="1400" b="1" dirty="0" smtClean="0">
                <a:solidFill>
                  <a:schemeClr val="tx1">
                    <a:lumMod val="95000"/>
                    <a:lumOff val="5000"/>
                  </a:schemeClr>
                </a:solidFill>
                <a:latin typeface="微软雅黑" panose="020B0503020204020204" pitchFamily="34" charset="-122"/>
                <a:ea typeface="微软雅黑" panose="020B0503020204020204" pitchFamily="34" charset="-122"/>
              </a:rPr>
              <a:t>、大型互联网企业都是自主研发了分布式事务框架或是消息中间件来处理分布式事务问</a:t>
            </a:r>
          </a:p>
          <a:p>
            <a:pPr>
              <a:lnSpc>
                <a:spcPct val="120000"/>
              </a:lnSpc>
            </a:pPr>
            <a:r>
              <a:rPr lang="zh-CN" altLang="en-US" sz="1400" b="1" dirty="0" smtClean="0">
                <a:solidFill>
                  <a:schemeClr val="tx1">
                    <a:lumMod val="95000"/>
                    <a:lumOff val="5000"/>
                  </a:schemeClr>
                </a:solidFill>
                <a:latin typeface="微软雅黑" panose="020B0503020204020204" pitchFamily="34" charset="-122"/>
                <a:ea typeface="微软雅黑" panose="020B0503020204020204" pitchFamily="34" charset="-122"/>
              </a:rPr>
              <a:t>题，让很多技术人员感觉难度极大，因此望而生畏！</a:t>
            </a:r>
          </a:p>
          <a:p>
            <a:pPr>
              <a:lnSpc>
                <a:spcPct val="120000"/>
              </a:lnSpc>
            </a:pP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r>
              <a:rPr lang="en-US" altLang="zh-CN" sz="1400" b="1" dirty="0" smtClean="0">
                <a:solidFill>
                  <a:schemeClr val="tx1">
                    <a:lumMod val="95000"/>
                    <a:lumOff val="5000"/>
                  </a:schemeClr>
                </a:solidFill>
                <a:latin typeface="微软雅黑" panose="020B0503020204020204" pitchFamily="34" charset="-122"/>
                <a:ea typeface="微软雅黑" panose="020B0503020204020204" pitchFamily="34" charset="-122"/>
                <a:sym typeface="+mn-ea"/>
              </a:rPr>
              <a:t>3</a:t>
            </a:r>
            <a:r>
              <a:rPr lang="zh-CN" altLang="en-US" sz="1400" b="1" dirty="0" smtClean="0">
                <a:solidFill>
                  <a:schemeClr val="tx1">
                    <a:lumMod val="95000"/>
                    <a:lumOff val="5000"/>
                  </a:schemeClr>
                </a:solidFill>
                <a:latin typeface="微软雅黑" panose="020B0503020204020204" pitchFamily="34" charset="-122"/>
                <a:ea typeface="微软雅黑" panose="020B0503020204020204" pitchFamily="34" charset="-122"/>
                <a:sym typeface="+mn-ea"/>
              </a:rPr>
              <a:t>、是否能有轻量灵活的分布式事务解决方案能够满足大部分涉及到分布式事务的业务场景呢？</a:t>
            </a:r>
          </a:p>
          <a:p>
            <a:pPr>
              <a:lnSpc>
                <a:spcPct val="120000"/>
              </a:lnSpc>
            </a:pP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1+#ppt_w/2"/>
                                          </p:val>
                                        </p:tav>
                                        <p:tav tm="100000">
                                          <p:val>
                                            <p:strVal val="#ppt_x"/>
                                          </p:val>
                                        </p:tav>
                                      </p:tavLst>
                                    </p:anim>
                                    <p:anim calcmode="lin" valueType="num">
                                      <p:cBhvr>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autoUpdateAnimBg="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D:\MyConfiguration\zxp09284\Desktop\同程艺龙PPT内页.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7229"/>
            <a:ext cx="9144000" cy="5143244"/>
          </a:xfrm>
          <a:prstGeom prst="rect">
            <a:avLst/>
          </a:prstGeom>
          <a:noFill/>
          <a:extLst>
            <a:ext uri="{909E8E84-426E-40DD-AFC4-6F175D3DCCD1}">
              <a14:hiddenFill xmlns:a14="http://schemas.microsoft.com/office/drawing/2010/main">
                <a:solidFill>
                  <a:srgbClr val="FFFFFF"/>
                </a:solidFill>
              </a14:hiddenFill>
            </a:ext>
          </a:extLst>
        </p:spPr>
      </p:pic>
      <p:sp>
        <p:nvSpPr>
          <p:cNvPr id="33" name="Rectangle 3"/>
          <p:cNvSpPr>
            <a:spLocks noGrp="1" noChangeArrowheads="1"/>
          </p:cNvSpPr>
          <p:nvPr>
            <p:ph type="ctrTitle" idx="4294967295"/>
          </p:nvPr>
        </p:nvSpPr>
        <p:spPr>
          <a:xfrm>
            <a:off x="2483768" y="1544638"/>
            <a:ext cx="5256583" cy="1296144"/>
          </a:xfrm>
        </p:spPr>
        <p:txBody>
          <a:bodyPr>
            <a:noAutofit/>
          </a:bodyPr>
          <a:lstStyle/>
          <a:p>
            <a:pPr algn="l">
              <a:lnSpc>
                <a:spcPct val="120000"/>
              </a:lnSpc>
            </a:pPr>
            <a:r>
              <a:rPr lang="en-US" sz="4000" b="1"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分布式事务</a:t>
            </a:r>
            <a:r>
              <a:rPr lang="zh-CN" altLang="en-US" sz="4000" b="1"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方案</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p:cTn id="7" dur="500" fill="hold"/>
                                        <p:tgtEl>
                                          <p:spTgt spid="33"/>
                                        </p:tgtEl>
                                        <p:attrNameLst>
                                          <p:attrName>ppt_x</p:attrName>
                                        </p:attrNameLst>
                                      </p:cBhvr>
                                      <p:tavLst>
                                        <p:tav tm="0">
                                          <p:val>
                                            <p:strVal val="1+#ppt_w/2"/>
                                          </p:val>
                                        </p:tav>
                                        <p:tav tm="100000">
                                          <p:val>
                                            <p:strVal val="#ppt_x"/>
                                          </p:val>
                                        </p:tav>
                                      </p:tavLst>
                                    </p:anim>
                                    <p:anim calcmode="lin" valueType="num">
                                      <p:cBhvr>
                                        <p:cTn id="8" dur="500" fill="hold"/>
                                        <p:tgtEl>
                                          <p:spTgt spid="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bldLvl="0" animBg="1"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D:\MyConfiguration\zxp09284\Desktop\同程艺龙PPT内页.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244"/>
            <a:ext cx="9144000" cy="514324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p:cNvSpPr>
            <a:spLocks noGrp="1" noChangeArrowheads="1"/>
          </p:cNvSpPr>
          <p:nvPr>
            <p:ph type="ctrTitle" idx="4294967295"/>
          </p:nvPr>
        </p:nvSpPr>
        <p:spPr>
          <a:xfrm>
            <a:off x="323528" y="14737"/>
            <a:ext cx="3240360" cy="798993"/>
          </a:xfrm>
        </p:spPr>
        <p:txBody>
          <a:bodyPr>
            <a:noAutofit/>
          </a:bodyPr>
          <a:lstStyle/>
          <a:p>
            <a:pPr algn="l">
              <a:lnSpc>
                <a:spcPct val="120000"/>
              </a:lnSpc>
            </a:pPr>
            <a:r>
              <a:rPr lang="en-US" altLang="zh-CN" sz="2000" b="1" dirty="0">
                <a:solidFill>
                  <a:srgbClr val="FF6801"/>
                </a:solidFill>
                <a:latin typeface="微软雅黑" panose="020B0503020204020204" pitchFamily="34" charset="-122"/>
                <a:ea typeface="微软雅黑" panose="020B0503020204020204" pitchFamily="34" charset="-122"/>
                <a:sym typeface="微软雅黑" panose="020B0503020204020204" pitchFamily="34" charset="-122"/>
              </a:rPr>
              <a:t>分布式事务解决方案</a:t>
            </a:r>
          </a:p>
        </p:txBody>
      </p:sp>
      <p:sp>
        <p:nvSpPr>
          <p:cNvPr id="8" name="TextBox 1"/>
          <p:cNvSpPr txBox="1"/>
          <p:nvPr/>
        </p:nvSpPr>
        <p:spPr>
          <a:xfrm>
            <a:off x="631796" y="987573"/>
            <a:ext cx="6300454" cy="16414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en-US" altLang="zh-CN" sz="1400" b="1" dirty="0" smtClean="0">
                <a:solidFill>
                  <a:schemeClr val="tx1">
                    <a:lumMod val="95000"/>
                    <a:lumOff val="5000"/>
                  </a:schemeClr>
                </a:solidFill>
                <a:latin typeface="微软雅黑" panose="020B0503020204020204" pitchFamily="34" charset="-122"/>
                <a:ea typeface="微软雅黑" panose="020B0503020204020204" pitchFamily="34" charset="-122"/>
              </a:rPr>
              <a:t>1</a:t>
            </a:r>
            <a:r>
              <a:rPr lang="zh-CN" altLang="en-US" sz="1400" b="1" dirty="0" smtClean="0">
                <a:solidFill>
                  <a:schemeClr val="tx1">
                    <a:lumMod val="95000"/>
                    <a:lumOff val="5000"/>
                  </a:schemeClr>
                </a:solidFill>
                <a:latin typeface="微软雅黑" panose="020B0503020204020204" pitchFamily="34" charset="-122"/>
                <a:ea typeface="微软雅黑" panose="020B0503020204020204" pitchFamily="34" charset="-122"/>
              </a:rPr>
              <a:t>、可靠消息最终一致性方案</a:t>
            </a:r>
            <a:endParaRPr lang="en-US" altLang="zh-CN" sz="1400" dirty="0" smtClean="0">
              <a:solidFill>
                <a:schemeClr val="bg1">
                  <a:lumMod val="50000"/>
                </a:schemeClr>
              </a:solidFill>
              <a:latin typeface="微软雅黑" panose="020B0503020204020204" pitchFamily="34" charset="-122"/>
              <a:ea typeface="微软雅黑" panose="020B0503020204020204" pitchFamily="34" charset="-122"/>
            </a:endParaRPr>
          </a:p>
          <a:p>
            <a:pPr>
              <a:lnSpc>
                <a:spcPct val="120000"/>
              </a:lnSpc>
            </a:pPr>
            <a:endParaRPr lang="en-US" altLang="zh-CN" sz="1400" dirty="0">
              <a:latin typeface="微软雅黑" panose="020B0503020204020204" pitchFamily="34" charset="-122"/>
              <a:ea typeface="微软雅黑" panose="020B0503020204020204" pitchFamily="34" charset="-122"/>
            </a:endParaRPr>
          </a:p>
          <a:p>
            <a:pPr>
              <a:lnSpc>
                <a:spcPct val="120000"/>
              </a:lnSpc>
            </a:pPr>
            <a:r>
              <a:rPr lang="en-US" altLang="zh-CN" sz="1400" b="1" dirty="0" smtClean="0">
                <a:solidFill>
                  <a:schemeClr val="tx1">
                    <a:lumMod val="95000"/>
                    <a:lumOff val="5000"/>
                  </a:schemeClr>
                </a:solidFill>
                <a:latin typeface="微软雅黑" panose="020B0503020204020204" pitchFamily="34" charset="-122"/>
                <a:ea typeface="微软雅黑" panose="020B0503020204020204" pitchFamily="34" charset="-122"/>
              </a:rPr>
              <a:t>2</a:t>
            </a:r>
            <a:r>
              <a:rPr lang="zh-CN" altLang="en-US" sz="1400" b="1" dirty="0" smtClean="0">
                <a:solidFill>
                  <a:schemeClr val="tx1">
                    <a:lumMod val="95000"/>
                    <a:lumOff val="5000"/>
                  </a:schemeClr>
                </a:solidFill>
                <a:latin typeface="微软雅黑" panose="020B0503020204020204" pitchFamily="34" charset="-122"/>
                <a:ea typeface="微软雅黑" panose="020B0503020204020204" pitchFamily="34" charset="-122"/>
              </a:rPr>
              <a:t>、最大努力通知方案</a:t>
            </a:r>
          </a:p>
          <a:p>
            <a:pPr>
              <a:lnSpc>
                <a:spcPct val="120000"/>
              </a:lnSpc>
            </a:pP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r>
              <a:rPr lang="en-US" altLang="zh-CN" sz="1400" b="1" dirty="0" smtClean="0">
                <a:solidFill>
                  <a:schemeClr val="tx1">
                    <a:lumMod val="95000"/>
                    <a:lumOff val="5000"/>
                  </a:schemeClr>
                </a:solidFill>
                <a:latin typeface="微软雅黑" panose="020B0503020204020204" pitchFamily="34" charset="-122"/>
                <a:ea typeface="微软雅黑" panose="020B0503020204020204" pitchFamily="34" charset="-122"/>
                <a:sym typeface="+mn-ea"/>
              </a:rPr>
              <a:t>3</a:t>
            </a:r>
            <a:r>
              <a:rPr lang="zh-CN" altLang="en-US" sz="1400" b="1" dirty="0" smtClean="0">
                <a:solidFill>
                  <a:schemeClr val="tx1">
                    <a:lumMod val="95000"/>
                    <a:lumOff val="5000"/>
                  </a:schemeClr>
                </a:solidFill>
                <a:latin typeface="微软雅黑" panose="020B0503020204020204" pitchFamily="34" charset="-122"/>
                <a:ea typeface="微软雅黑" panose="020B0503020204020204" pitchFamily="34" charset="-122"/>
                <a:sym typeface="+mn-ea"/>
              </a:rPr>
              <a:t>、TCC型分布式事务方案</a:t>
            </a:r>
          </a:p>
          <a:p>
            <a:pPr>
              <a:lnSpc>
                <a:spcPct val="120000"/>
              </a:lnSpc>
            </a:pP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1+#ppt_w/2"/>
                                          </p:val>
                                        </p:tav>
                                        <p:tav tm="100000">
                                          <p:val>
                                            <p:strVal val="#ppt_x"/>
                                          </p:val>
                                        </p:tav>
                                      </p:tavLst>
                                    </p:anim>
                                    <p:anim calcmode="lin" valueType="num">
                                      <p:cBhvr>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autoUpdateAnimBg="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D:\MyConfiguration\zxp09284\Desktop\同程艺龙PPT内页.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4849"/>
            <a:ext cx="9144000" cy="514324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p:cNvSpPr>
            <a:spLocks noGrp="1" noChangeArrowheads="1"/>
          </p:cNvSpPr>
          <p:nvPr>
            <p:ph type="ctrTitle" idx="4294967295"/>
          </p:nvPr>
        </p:nvSpPr>
        <p:spPr>
          <a:xfrm>
            <a:off x="323528" y="14737"/>
            <a:ext cx="3240360" cy="798993"/>
          </a:xfrm>
        </p:spPr>
        <p:txBody>
          <a:bodyPr>
            <a:noAutofit/>
          </a:bodyPr>
          <a:lstStyle/>
          <a:p>
            <a:pPr algn="l">
              <a:lnSpc>
                <a:spcPct val="120000"/>
              </a:lnSpc>
            </a:pPr>
            <a:r>
              <a:rPr lang="zh-CN" altLang="en-US" sz="2000" b="1" dirty="0" smtClean="0">
                <a:solidFill>
                  <a:schemeClr val="tx1">
                    <a:lumMod val="95000"/>
                    <a:lumOff val="5000"/>
                  </a:schemeClr>
                </a:solidFill>
                <a:latin typeface="微软雅黑" panose="020B0503020204020204" pitchFamily="34" charset="-122"/>
                <a:ea typeface="微软雅黑" panose="020B0503020204020204" pitchFamily="34" charset="-122"/>
                <a:sym typeface="+mn-ea"/>
              </a:rPr>
              <a:t>最终一致性方案</a:t>
            </a:r>
            <a:r>
              <a:rPr lang="en-US" altLang="zh-CN" sz="2000" b="1" dirty="0" smtClean="0">
                <a:solidFill>
                  <a:schemeClr val="tx1">
                    <a:lumMod val="95000"/>
                    <a:lumOff val="5000"/>
                  </a:schemeClr>
                </a:solidFill>
                <a:latin typeface="微软雅黑" panose="020B0503020204020204" pitchFamily="34" charset="-122"/>
                <a:ea typeface="微软雅黑" panose="020B0503020204020204" pitchFamily="34" charset="-122"/>
                <a:sym typeface="+mn-ea"/>
              </a:rPr>
              <a:t>:</a:t>
            </a:r>
            <a:r>
              <a:rPr lang="zh-CN" altLang="en-US" sz="2000" b="1" dirty="0" smtClean="0">
                <a:solidFill>
                  <a:schemeClr val="tx1">
                    <a:lumMod val="95000"/>
                    <a:lumOff val="5000"/>
                  </a:schemeClr>
                </a:solidFill>
                <a:latin typeface="微软雅黑" panose="020B0503020204020204" pitchFamily="34" charset="-122"/>
                <a:ea typeface="微软雅黑" panose="020B0503020204020204" pitchFamily="34" charset="-122"/>
                <a:sym typeface="+mn-ea"/>
              </a:rPr>
              <a:t>柔性事务</a:t>
            </a:r>
          </a:p>
        </p:txBody>
      </p:sp>
      <p:sp>
        <p:nvSpPr>
          <p:cNvPr id="8" name="TextBox 1"/>
          <p:cNvSpPr txBox="1"/>
          <p:nvPr/>
        </p:nvSpPr>
        <p:spPr>
          <a:xfrm>
            <a:off x="631796" y="987573"/>
            <a:ext cx="6300454" cy="86614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en-US" altLang="zh-CN" sz="1400" b="1" dirty="0" smtClean="0">
                <a:solidFill>
                  <a:schemeClr val="tx1">
                    <a:lumMod val="95000"/>
                    <a:lumOff val="5000"/>
                  </a:schemeClr>
                </a:solidFill>
                <a:latin typeface="微软雅黑" panose="020B0503020204020204" pitchFamily="34" charset="-122"/>
                <a:ea typeface="微软雅黑" panose="020B0503020204020204" pitchFamily="34" charset="-122"/>
              </a:rPr>
              <a:t>1</a:t>
            </a:r>
            <a:r>
              <a:rPr lang="zh-CN" altLang="en-US" sz="1400" b="1" dirty="0" smtClean="0">
                <a:solidFill>
                  <a:schemeClr val="tx1">
                    <a:lumMod val="95000"/>
                    <a:lumOff val="5000"/>
                  </a:schemeClr>
                </a:solidFill>
                <a:latin typeface="微软雅黑" panose="020B0503020204020204" pitchFamily="34" charset="-122"/>
                <a:ea typeface="微软雅黑" panose="020B0503020204020204" pitchFamily="34" charset="-122"/>
              </a:rPr>
              <a:t>、可靠消息最终一致（异步确保型）</a:t>
            </a:r>
          </a:p>
          <a:p>
            <a:pPr>
              <a:lnSpc>
                <a:spcPct val="120000"/>
              </a:lnSpc>
            </a:pPr>
            <a:endParaRPr lang="en-US" altLang="zh-CN" sz="1400" dirty="0">
              <a:latin typeface="微软雅黑" panose="020B0503020204020204" pitchFamily="34" charset="-122"/>
              <a:ea typeface="微软雅黑" panose="020B0503020204020204" pitchFamily="34" charset="-122"/>
            </a:endParaRPr>
          </a:p>
          <a:p>
            <a:pPr>
              <a:lnSpc>
                <a:spcPct val="120000"/>
              </a:lnSpc>
            </a:pPr>
            <a:r>
              <a:rPr lang="en-US" altLang="zh-CN" sz="1400" b="1" dirty="0" smtClean="0">
                <a:solidFill>
                  <a:schemeClr val="tx1">
                    <a:lumMod val="95000"/>
                    <a:lumOff val="5000"/>
                  </a:schemeClr>
                </a:solidFill>
                <a:latin typeface="微软雅黑" panose="020B0503020204020204" pitchFamily="34" charset="-122"/>
                <a:ea typeface="微软雅黑" panose="020B0503020204020204" pitchFamily="34" charset="-122"/>
              </a:rPr>
              <a:t>2</a:t>
            </a:r>
            <a:r>
              <a:rPr lang="zh-CN" altLang="en-US" sz="1400" b="1" dirty="0" smtClean="0">
                <a:solidFill>
                  <a:schemeClr val="tx1">
                    <a:lumMod val="95000"/>
                    <a:lumOff val="5000"/>
                  </a:schemeClr>
                </a:solidFill>
                <a:latin typeface="微软雅黑" panose="020B0503020204020204" pitchFamily="34" charset="-122"/>
                <a:ea typeface="微软雅黑" panose="020B0503020204020204" pitchFamily="34" charset="-122"/>
              </a:rPr>
              <a:t>、独立消息服务（</a:t>
            </a:r>
            <a:r>
              <a:rPr lang="en-US" altLang="zh-CN" sz="1400" b="1" dirty="0" smtClean="0">
                <a:solidFill>
                  <a:schemeClr val="tx1">
                    <a:lumMod val="95000"/>
                    <a:lumOff val="5000"/>
                  </a:schemeClr>
                </a:solidFill>
                <a:latin typeface="微软雅黑" panose="020B0503020204020204" pitchFamily="34" charset="-122"/>
                <a:ea typeface="微软雅黑" panose="020B0503020204020204" pitchFamily="34" charset="-122"/>
              </a:rPr>
              <a:t>--</a:t>
            </a:r>
            <a:r>
              <a:rPr lang="zh-CN" altLang="en-US" sz="1400" b="1" dirty="0" smtClean="0">
                <a:solidFill>
                  <a:schemeClr val="tx1">
                    <a:lumMod val="95000"/>
                    <a:lumOff val="5000"/>
                  </a:schemeClr>
                </a:solidFill>
                <a:latin typeface="微软雅黑" panose="020B0503020204020204" pitchFamily="34" charset="-122"/>
                <a:ea typeface="微软雅黑" panose="020B0503020204020204" pitchFamily="34" charset="-122"/>
              </a:rPr>
              <a:t>）、本地消息</a:t>
            </a:r>
            <a:endParaRPr lang="en-US" altLang="zh-CN" sz="1400" b="1" dirty="0" smtClean="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713740" y="2003425"/>
            <a:ext cx="6954520" cy="922020"/>
          </a:xfrm>
          <a:prstGeom prst="rect">
            <a:avLst/>
          </a:prstGeom>
          <a:noFill/>
        </p:spPr>
        <p:txBody>
          <a:bodyPr wrap="square" rtlCol="0">
            <a:spAutoFit/>
          </a:bodyPr>
          <a:lstStyle/>
          <a:p>
            <a:r>
              <a:rPr lang="zh-CN" altLang="en-US"/>
              <a:t>消息发送一致性</a:t>
            </a:r>
          </a:p>
          <a:p>
            <a:endParaRPr lang="zh-CN" altLang="en-US"/>
          </a:p>
          <a:p>
            <a:r>
              <a:rPr lang="zh-CN" altLang="en-US"/>
              <a:t>消息发送一致性的异常流处理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1+#ppt_w/2"/>
                                          </p:val>
                                        </p:tav>
                                        <p:tav tm="100000">
                                          <p:val>
                                            <p:strVal val="#ppt_x"/>
                                          </p:val>
                                        </p:tav>
                                      </p:tavLst>
                                    </p:anim>
                                    <p:anim calcmode="lin" valueType="num">
                                      <p:cBhvr>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autoUpdateAnimBg="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D:\MyConfiguration\zxp09284\Desktop\同程艺龙PPT内页.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4849"/>
            <a:ext cx="9144000" cy="514324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p:cNvSpPr>
            <a:spLocks noGrp="1" noChangeArrowheads="1"/>
          </p:cNvSpPr>
          <p:nvPr>
            <p:ph type="ctrTitle" idx="4294967295"/>
          </p:nvPr>
        </p:nvSpPr>
        <p:spPr>
          <a:xfrm>
            <a:off x="323215" y="14605"/>
            <a:ext cx="4200525" cy="798830"/>
          </a:xfrm>
        </p:spPr>
        <p:txBody>
          <a:bodyPr>
            <a:noAutofit/>
          </a:bodyPr>
          <a:lstStyle/>
          <a:p>
            <a:pPr algn="l">
              <a:lnSpc>
                <a:spcPct val="120000"/>
              </a:lnSpc>
            </a:pPr>
            <a:r>
              <a:rPr lang="zh-CN" altLang="en-US" sz="2000" b="1" dirty="0" smtClean="0">
                <a:solidFill>
                  <a:schemeClr val="tx1">
                    <a:lumMod val="95000"/>
                    <a:lumOff val="5000"/>
                  </a:schemeClr>
                </a:solidFill>
                <a:latin typeface="微软雅黑" panose="020B0503020204020204" pitchFamily="34" charset="-122"/>
                <a:ea typeface="微软雅黑" panose="020B0503020204020204" pitchFamily="34" charset="-122"/>
                <a:sym typeface="+mn-ea"/>
              </a:rPr>
              <a:t>可靠消息最终一致性方案</a:t>
            </a:r>
            <a:r>
              <a:rPr lang="en-US" altLang="zh-CN" sz="2000" b="1" dirty="0" smtClean="0">
                <a:solidFill>
                  <a:schemeClr val="tx1">
                    <a:lumMod val="95000"/>
                    <a:lumOff val="5000"/>
                  </a:schemeClr>
                </a:solidFill>
                <a:latin typeface="微软雅黑" panose="020B0503020204020204" pitchFamily="34" charset="-122"/>
                <a:ea typeface="微软雅黑" panose="020B0503020204020204" pitchFamily="34" charset="-122"/>
                <a:sym typeface="+mn-ea"/>
              </a:rPr>
              <a:t>:</a:t>
            </a:r>
            <a:r>
              <a:rPr lang="zh-CN" altLang="en-US" sz="2000" b="1" dirty="0" smtClean="0">
                <a:solidFill>
                  <a:schemeClr val="tx1">
                    <a:lumMod val="95000"/>
                    <a:lumOff val="5000"/>
                  </a:schemeClr>
                </a:solidFill>
                <a:latin typeface="微软雅黑" panose="020B0503020204020204" pitchFamily="34" charset="-122"/>
                <a:ea typeface="微软雅黑" panose="020B0503020204020204" pitchFamily="34" charset="-122"/>
                <a:sym typeface="+mn-ea"/>
              </a:rPr>
              <a:t>柔性事务</a:t>
            </a:r>
          </a:p>
        </p:txBody>
      </p:sp>
      <p:sp>
        <p:nvSpPr>
          <p:cNvPr id="8" name="TextBox 1"/>
          <p:cNvSpPr txBox="1"/>
          <p:nvPr/>
        </p:nvSpPr>
        <p:spPr>
          <a:xfrm>
            <a:off x="418436" y="621813"/>
            <a:ext cx="6300454" cy="34925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400" b="1" dirty="0" smtClean="0">
                <a:solidFill>
                  <a:schemeClr val="tx1">
                    <a:lumMod val="95000"/>
                    <a:lumOff val="5000"/>
                  </a:schemeClr>
                </a:solidFill>
                <a:latin typeface="微软雅黑" panose="020B0503020204020204" pitchFamily="34" charset="-122"/>
                <a:ea typeface="微软雅黑" panose="020B0503020204020204" pitchFamily="34" charset="-122"/>
              </a:rPr>
              <a:t>异步确保型</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 name="矩形 1"/>
          <p:cNvSpPr/>
          <p:nvPr/>
        </p:nvSpPr>
        <p:spPr>
          <a:xfrm>
            <a:off x="511175" y="970915"/>
            <a:ext cx="1353185" cy="3808095"/>
          </a:xfrm>
          <a:prstGeom prst="rect">
            <a:avLst/>
          </a:prstGeom>
          <a:ln>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725805" y="1106170"/>
            <a:ext cx="893445" cy="275590"/>
          </a:xfrm>
          <a:prstGeom prst="rect">
            <a:avLst/>
          </a:prstGeom>
          <a:noFill/>
        </p:spPr>
        <p:txBody>
          <a:bodyPr wrap="square" rtlCol="0">
            <a:spAutoFit/>
          </a:bodyPr>
          <a:lstStyle/>
          <a:p>
            <a:r>
              <a:rPr lang="zh-CN" altLang="en-US" sz="1200"/>
              <a:t>请求应用</a:t>
            </a:r>
          </a:p>
        </p:txBody>
      </p:sp>
      <p:sp>
        <p:nvSpPr>
          <p:cNvPr id="5" name="矩形 4"/>
          <p:cNvSpPr/>
          <p:nvPr/>
        </p:nvSpPr>
        <p:spPr>
          <a:xfrm>
            <a:off x="611505" y="1419225"/>
            <a:ext cx="1151890" cy="2159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a:t>预发消息</a:t>
            </a:r>
          </a:p>
        </p:txBody>
      </p:sp>
      <p:sp>
        <p:nvSpPr>
          <p:cNvPr id="6" name="矩形 5"/>
          <p:cNvSpPr/>
          <p:nvPr/>
        </p:nvSpPr>
        <p:spPr>
          <a:xfrm>
            <a:off x="611505" y="2899410"/>
            <a:ext cx="1152525" cy="29845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a:t>业务操作 </a:t>
            </a:r>
          </a:p>
        </p:txBody>
      </p:sp>
      <p:sp>
        <p:nvSpPr>
          <p:cNvPr id="9" name="矩形 8"/>
          <p:cNvSpPr/>
          <p:nvPr/>
        </p:nvSpPr>
        <p:spPr>
          <a:xfrm>
            <a:off x="3268345" y="970915"/>
            <a:ext cx="1353185" cy="3808095"/>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a:p>
        </p:txBody>
      </p:sp>
      <p:sp>
        <p:nvSpPr>
          <p:cNvPr id="10" name="圆角矩形 9"/>
          <p:cNvSpPr/>
          <p:nvPr/>
        </p:nvSpPr>
        <p:spPr>
          <a:xfrm>
            <a:off x="3563620" y="1419225"/>
            <a:ext cx="864235" cy="64833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MQ</a:t>
            </a:r>
          </a:p>
        </p:txBody>
      </p:sp>
      <p:sp>
        <p:nvSpPr>
          <p:cNvPr id="11" name="圆柱形 10"/>
          <p:cNvSpPr/>
          <p:nvPr/>
        </p:nvSpPr>
        <p:spPr>
          <a:xfrm>
            <a:off x="3563620" y="3507740"/>
            <a:ext cx="864235" cy="648335"/>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t>save</a:t>
            </a:r>
            <a:r>
              <a:rPr lang="zh-CN" altLang="en-US" sz="1200"/>
              <a:t>消息</a:t>
            </a:r>
          </a:p>
        </p:txBody>
      </p:sp>
      <p:sp>
        <p:nvSpPr>
          <p:cNvPr id="12" name="矩形 11"/>
          <p:cNvSpPr/>
          <p:nvPr/>
        </p:nvSpPr>
        <p:spPr>
          <a:xfrm>
            <a:off x="6371590" y="970915"/>
            <a:ext cx="1296035" cy="374459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13" name="同侧圆角矩形 12"/>
          <p:cNvSpPr/>
          <p:nvPr/>
        </p:nvSpPr>
        <p:spPr>
          <a:xfrm>
            <a:off x="6659880" y="1419225"/>
            <a:ext cx="720090" cy="936625"/>
          </a:xfrm>
          <a:prstGeom prst="round2Same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200"/>
              <a:t>第三方应用</a:t>
            </a:r>
          </a:p>
        </p:txBody>
      </p:sp>
      <p:cxnSp>
        <p:nvCxnSpPr>
          <p:cNvPr id="14" name="肘形连接符 13"/>
          <p:cNvCxnSpPr>
            <a:stCxn id="5" idx="3"/>
          </p:cNvCxnSpPr>
          <p:nvPr/>
        </p:nvCxnSpPr>
        <p:spPr>
          <a:xfrm>
            <a:off x="1763395" y="1527175"/>
            <a:ext cx="1800860" cy="10795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肘形连接符 14"/>
          <p:cNvCxnSpPr>
            <a:stCxn id="10" idx="3"/>
            <a:endCxn id="13" idx="2"/>
          </p:cNvCxnSpPr>
          <p:nvPr/>
        </p:nvCxnSpPr>
        <p:spPr>
          <a:xfrm>
            <a:off x="4427855" y="1743710"/>
            <a:ext cx="2232025" cy="144145"/>
          </a:xfrm>
          <a:prstGeom prst="bentConnector3">
            <a:avLst>
              <a:gd name="adj1" fmla="val 50014"/>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肘形连接符 15"/>
          <p:cNvCxnSpPr/>
          <p:nvPr/>
        </p:nvCxnSpPr>
        <p:spPr>
          <a:xfrm rot="10800000" flipV="1">
            <a:off x="1188085" y="1779270"/>
            <a:ext cx="2375535" cy="1120140"/>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肘形连接符 16"/>
          <p:cNvCxnSpPr>
            <a:endCxn id="6" idx="3"/>
          </p:cNvCxnSpPr>
          <p:nvPr/>
        </p:nvCxnSpPr>
        <p:spPr>
          <a:xfrm rot="10800000" flipV="1">
            <a:off x="1764030" y="2066925"/>
            <a:ext cx="1871980" cy="981075"/>
          </a:xfrm>
          <a:prstGeom prst="bentConnector3">
            <a:avLst>
              <a:gd name="adj1" fmla="val 50000"/>
            </a:avLst>
          </a:prstGeom>
          <a:ln>
            <a:headEnd type="arrow" w="med" len="med"/>
            <a:tailEnd type="non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flipH="1">
            <a:off x="3707765" y="2087245"/>
            <a:ext cx="2540" cy="149225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flipH="1">
            <a:off x="4210685" y="2066925"/>
            <a:ext cx="2540" cy="149225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1926590" y="1044575"/>
            <a:ext cx="1784350" cy="245110"/>
          </a:xfrm>
          <a:prstGeom prst="rect">
            <a:avLst/>
          </a:prstGeom>
          <a:noFill/>
          <a:ln>
            <a:noFill/>
          </a:ln>
        </p:spPr>
        <p:txBody>
          <a:bodyPr wrap="square" rtlCol="0">
            <a:spAutoFit/>
          </a:bodyPr>
          <a:lstStyle/>
          <a:p>
            <a:r>
              <a:rPr lang="en-US" altLang="zh-CN" sz="1000"/>
              <a:t>1,</a:t>
            </a:r>
            <a:r>
              <a:rPr lang="zh-CN" altLang="en-US" sz="1000"/>
              <a:t>发送状态为待确认的消息</a:t>
            </a:r>
          </a:p>
        </p:txBody>
      </p:sp>
      <p:sp>
        <p:nvSpPr>
          <p:cNvPr id="22" name="文本框 21"/>
          <p:cNvSpPr txBox="1"/>
          <p:nvPr/>
        </p:nvSpPr>
        <p:spPr>
          <a:xfrm>
            <a:off x="2837180" y="2710815"/>
            <a:ext cx="1784350" cy="245110"/>
          </a:xfrm>
          <a:prstGeom prst="rect">
            <a:avLst/>
          </a:prstGeom>
          <a:noFill/>
          <a:ln>
            <a:noFill/>
          </a:ln>
        </p:spPr>
        <p:txBody>
          <a:bodyPr wrap="square" rtlCol="0">
            <a:spAutoFit/>
          </a:bodyPr>
          <a:lstStyle/>
          <a:p>
            <a:r>
              <a:rPr lang="en-US" altLang="zh-CN" sz="1000"/>
              <a:t>2,</a:t>
            </a:r>
            <a:r>
              <a:rPr lang="zh-CN" altLang="en-US" sz="1000"/>
              <a:t>存储消息消息</a:t>
            </a:r>
          </a:p>
        </p:txBody>
      </p:sp>
      <p:sp>
        <p:nvSpPr>
          <p:cNvPr id="23" name="文本框 22"/>
          <p:cNvSpPr txBox="1"/>
          <p:nvPr/>
        </p:nvSpPr>
        <p:spPr>
          <a:xfrm>
            <a:off x="725805" y="2066925"/>
            <a:ext cx="1784350" cy="553085"/>
          </a:xfrm>
          <a:prstGeom prst="rect">
            <a:avLst/>
          </a:prstGeom>
          <a:noFill/>
          <a:ln>
            <a:noFill/>
          </a:ln>
        </p:spPr>
        <p:txBody>
          <a:bodyPr wrap="square" rtlCol="0">
            <a:spAutoFit/>
          </a:bodyPr>
          <a:lstStyle/>
          <a:p>
            <a:r>
              <a:rPr lang="en-US" altLang="zh-CN" sz="1000"/>
              <a:t>3,</a:t>
            </a:r>
            <a:r>
              <a:rPr lang="zh-CN" altLang="en-US" sz="1000"/>
              <a:t>返回消息存储结果</a:t>
            </a:r>
          </a:p>
          <a:p>
            <a:r>
              <a:rPr lang="zh-CN" altLang="en-US" sz="1000"/>
              <a:t>成功：执行</a:t>
            </a:r>
          </a:p>
          <a:p>
            <a:r>
              <a:rPr lang="zh-CN" altLang="en-US" sz="1000"/>
              <a:t>失败：不执行</a:t>
            </a:r>
          </a:p>
        </p:txBody>
      </p:sp>
      <p:sp>
        <p:nvSpPr>
          <p:cNvPr id="24" name="文本框 23"/>
          <p:cNvSpPr txBox="1"/>
          <p:nvPr/>
        </p:nvSpPr>
        <p:spPr>
          <a:xfrm>
            <a:off x="1764030" y="3197860"/>
            <a:ext cx="1407160" cy="398780"/>
          </a:xfrm>
          <a:prstGeom prst="rect">
            <a:avLst/>
          </a:prstGeom>
          <a:noFill/>
          <a:ln>
            <a:noFill/>
          </a:ln>
        </p:spPr>
        <p:txBody>
          <a:bodyPr wrap="square" rtlCol="0">
            <a:spAutoFit/>
          </a:bodyPr>
          <a:lstStyle/>
          <a:p>
            <a:r>
              <a:rPr lang="en-US" altLang="zh-CN" sz="1000"/>
              <a:t>4,</a:t>
            </a:r>
            <a:r>
              <a:rPr lang="zh-CN" altLang="en-US" sz="1000"/>
              <a:t>发送业务执行结果（成功</a:t>
            </a:r>
            <a:r>
              <a:rPr lang="en-US" altLang="zh-CN" sz="1000"/>
              <a:t>/</a:t>
            </a:r>
            <a:r>
              <a:rPr lang="zh-CN" altLang="en-US" sz="1000"/>
              <a:t>失败）</a:t>
            </a:r>
          </a:p>
        </p:txBody>
      </p:sp>
      <p:sp>
        <p:nvSpPr>
          <p:cNvPr id="25" name="文本框 24"/>
          <p:cNvSpPr txBox="1"/>
          <p:nvPr/>
        </p:nvSpPr>
        <p:spPr>
          <a:xfrm>
            <a:off x="4213225" y="2620010"/>
            <a:ext cx="1927860" cy="706755"/>
          </a:xfrm>
          <a:prstGeom prst="rect">
            <a:avLst/>
          </a:prstGeom>
          <a:noFill/>
          <a:ln>
            <a:noFill/>
          </a:ln>
        </p:spPr>
        <p:txBody>
          <a:bodyPr wrap="square" rtlCol="0">
            <a:spAutoFit/>
          </a:bodyPr>
          <a:lstStyle/>
          <a:p>
            <a:r>
              <a:rPr lang="en-US" altLang="zh-CN" sz="1000"/>
              <a:t>5,</a:t>
            </a:r>
            <a:r>
              <a:rPr lang="zh-CN" altLang="en-US" sz="1000"/>
              <a:t>根据业务处理结果处理消息</a:t>
            </a:r>
          </a:p>
          <a:p>
            <a:r>
              <a:rPr lang="zh-CN" altLang="en-US" sz="1000"/>
              <a:t>失败：删除消息</a:t>
            </a:r>
          </a:p>
          <a:p>
            <a:r>
              <a:rPr lang="zh-CN" altLang="en-US" sz="1000"/>
              <a:t>成功：更新消息状态，并且执行投递消息</a:t>
            </a:r>
          </a:p>
        </p:txBody>
      </p:sp>
      <p:sp>
        <p:nvSpPr>
          <p:cNvPr id="26" name="文本框 25"/>
          <p:cNvSpPr txBox="1"/>
          <p:nvPr/>
        </p:nvSpPr>
        <p:spPr>
          <a:xfrm>
            <a:off x="4934585" y="1289685"/>
            <a:ext cx="1784350" cy="245110"/>
          </a:xfrm>
          <a:prstGeom prst="rect">
            <a:avLst/>
          </a:prstGeom>
          <a:noFill/>
          <a:ln>
            <a:noFill/>
          </a:ln>
        </p:spPr>
        <p:txBody>
          <a:bodyPr wrap="square" rtlCol="0">
            <a:spAutoFit/>
          </a:bodyPr>
          <a:lstStyle/>
          <a:p>
            <a:r>
              <a:rPr lang="en-US" altLang="zh-CN" sz="1000"/>
              <a:t>6,</a:t>
            </a:r>
            <a:r>
              <a:rPr lang="zh-CN" altLang="en-US" sz="1000"/>
              <a:t>投递消息</a:t>
            </a:r>
          </a:p>
        </p:txBody>
      </p:sp>
      <p:cxnSp>
        <p:nvCxnSpPr>
          <p:cNvPr id="18" name="肘形连接符 17"/>
          <p:cNvCxnSpPr>
            <a:stCxn id="13" idx="3"/>
            <a:endCxn id="10" idx="0"/>
          </p:cNvCxnSpPr>
          <p:nvPr/>
        </p:nvCxnSpPr>
        <p:spPr>
          <a:xfrm rot="16200000" flipV="1">
            <a:off x="5507990" y="-92710"/>
            <a:ext cx="3175" cy="3023870"/>
          </a:xfrm>
          <a:prstGeom prst="bentConnector3">
            <a:avLst>
              <a:gd name="adj1" fmla="val 7550000"/>
            </a:avLst>
          </a:prstGeom>
          <a:ln>
            <a:tailEnd type="arrow"/>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4875530" y="861060"/>
            <a:ext cx="1784350" cy="245110"/>
          </a:xfrm>
          <a:prstGeom prst="rect">
            <a:avLst/>
          </a:prstGeom>
          <a:noFill/>
          <a:ln>
            <a:noFill/>
          </a:ln>
        </p:spPr>
        <p:txBody>
          <a:bodyPr wrap="square" rtlCol="0">
            <a:spAutoFit/>
          </a:bodyPr>
          <a:lstStyle/>
          <a:p>
            <a:r>
              <a:rPr lang="en-US" altLang="zh-CN" sz="1000"/>
              <a:t>7,ACK</a:t>
            </a:r>
            <a:r>
              <a:rPr lang="zh-CN" altLang="en-US" sz="1000"/>
              <a:t>消息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1+#ppt_w/2"/>
                                          </p:val>
                                        </p:tav>
                                        <p:tav tm="100000">
                                          <p:val>
                                            <p:strVal val="#ppt_x"/>
                                          </p:val>
                                        </p:tav>
                                      </p:tavLst>
                                    </p:anim>
                                    <p:anim calcmode="lin" valueType="num">
                                      <p:cBhvr>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autoUpdateAnimBg="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D:\MyConfiguration\zxp09284\Desktop\同程艺龙PPT内页.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4849"/>
            <a:ext cx="9144000" cy="514324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p:cNvSpPr>
            <a:spLocks noGrp="1" noChangeArrowheads="1"/>
          </p:cNvSpPr>
          <p:nvPr>
            <p:ph type="ctrTitle" idx="4294967295"/>
          </p:nvPr>
        </p:nvSpPr>
        <p:spPr>
          <a:xfrm>
            <a:off x="323528" y="14737"/>
            <a:ext cx="3240360" cy="798993"/>
          </a:xfrm>
        </p:spPr>
        <p:txBody>
          <a:bodyPr>
            <a:noAutofit/>
          </a:bodyPr>
          <a:lstStyle/>
          <a:p>
            <a:pPr algn="l">
              <a:lnSpc>
                <a:spcPct val="120000"/>
              </a:lnSpc>
            </a:pPr>
            <a:r>
              <a:rPr lang="zh-CN" altLang="en-US" sz="2000" b="1" dirty="0" smtClean="0">
                <a:solidFill>
                  <a:schemeClr val="tx1">
                    <a:lumMod val="95000"/>
                    <a:lumOff val="5000"/>
                  </a:schemeClr>
                </a:solidFill>
                <a:latin typeface="微软雅黑" panose="020B0503020204020204" pitchFamily="34" charset="-122"/>
                <a:ea typeface="微软雅黑" panose="020B0503020204020204" pitchFamily="34" charset="-122"/>
                <a:sym typeface="+mn-ea"/>
              </a:rPr>
              <a:t>最终一致性方案</a:t>
            </a:r>
          </a:p>
        </p:txBody>
      </p:sp>
      <p:sp>
        <p:nvSpPr>
          <p:cNvPr id="8" name="TextBox 1"/>
          <p:cNvSpPr txBox="1"/>
          <p:nvPr/>
        </p:nvSpPr>
        <p:spPr>
          <a:xfrm>
            <a:off x="631796" y="987573"/>
            <a:ext cx="6300454" cy="16414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400" b="1" dirty="0" smtClean="0">
                <a:solidFill>
                  <a:schemeClr val="tx1">
                    <a:lumMod val="95000"/>
                    <a:lumOff val="5000"/>
                  </a:schemeClr>
                </a:solidFill>
                <a:latin typeface="微软雅黑" panose="020B0503020204020204" pitchFamily="34" charset="-122"/>
                <a:ea typeface="微软雅黑" panose="020B0503020204020204" pitchFamily="34" charset="-122"/>
              </a:rPr>
              <a:t>问题 ： 消息发送一致性</a:t>
            </a:r>
          </a:p>
          <a:p>
            <a:pPr>
              <a:lnSpc>
                <a:spcPct val="120000"/>
              </a:lnSpc>
            </a:pPr>
            <a:r>
              <a:rPr lang="en-US" altLang="zh-CN" sz="1400" dirty="0">
                <a:latin typeface="微软雅黑" panose="020B0503020204020204" pitchFamily="34" charset="-122"/>
                <a:ea typeface="微软雅黑" panose="020B0503020204020204" pitchFamily="34" charset="-122"/>
              </a:rPr>
              <a:t>如果业务操作成功，那么由这个业务操作所产生的消息一定要成功投递出去，否则就丢消息</a:t>
            </a:r>
          </a:p>
          <a:p>
            <a:pPr>
              <a:lnSpc>
                <a:spcPct val="120000"/>
              </a:lnSpc>
            </a:pPr>
            <a:endParaRPr lang="en-US" altLang="zh-CN" sz="1400" dirty="0">
              <a:latin typeface="微软雅黑" panose="020B0503020204020204" pitchFamily="34" charset="-122"/>
              <a:ea typeface="微软雅黑" panose="020B0503020204020204" pitchFamily="34" charset="-122"/>
            </a:endParaRPr>
          </a:p>
          <a:p>
            <a:pPr>
              <a:lnSpc>
                <a:spcPct val="120000"/>
              </a:lnSpc>
            </a:pPr>
            <a:r>
              <a:rPr lang="zh-CN" altLang="en-US" sz="1400" b="1" dirty="0" smtClean="0">
                <a:solidFill>
                  <a:schemeClr val="tx1">
                    <a:lumMod val="95000"/>
                    <a:lumOff val="5000"/>
                  </a:schemeClr>
                </a:solidFill>
                <a:latin typeface="微软雅黑" panose="020B0503020204020204" pitchFamily="34" charset="-122"/>
                <a:ea typeface="微软雅黑" panose="020B0503020204020204" pitchFamily="34" charset="-122"/>
              </a:rPr>
              <a:t>异常流程怎么处理</a:t>
            </a:r>
          </a:p>
          <a:p>
            <a:pPr>
              <a:lnSpc>
                <a:spcPct val="120000"/>
              </a:lnSpc>
            </a:pPr>
            <a:endParaRPr lang="en-US" altLang="zh-CN" sz="1400" b="1" dirty="0" smtClean="0">
              <a:solidFill>
                <a:schemeClr val="tx1">
                  <a:lumMod val="95000"/>
                  <a:lumOff val="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1+#ppt_w/2"/>
                                          </p:val>
                                        </p:tav>
                                        <p:tav tm="100000">
                                          <p:val>
                                            <p:strVal val="#ppt_x"/>
                                          </p:val>
                                        </p:tav>
                                      </p:tavLst>
                                    </p:anim>
                                    <p:anim calcmode="lin" valueType="num">
                                      <p:cBhvr>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autoUpdateAnimBg="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D:\MyConfiguration\zxp09284\Desktop\同程艺龙PPT内页.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244"/>
            <a:ext cx="9144000" cy="514324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p:cNvSpPr>
            <a:spLocks noGrp="1" noChangeArrowheads="1"/>
          </p:cNvSpPr>
          <p:nvPr>
            <p:ph type="ctrTitle" idx="4294967295"/>
          </p:nvPr>
        </p:nvSpPr>
        <p:spPr>
          <a:xfrm>
            <a:off x="323528" y="14737"/>
            <a:ext cx="3240360" cy="798993"/>
          </a:xfrm>
        </p:spPr>
        <p:txBody>
          <a:bodyPr>
            <a:noAutofit/>
          </a:bodyPr>
          <a:lstStyle/>
          <a:p>
            <a:pPr algn="l">
              <a:lnSpc>
                <a:spcPct val="120000"/>
              </a:lnSpc>
            </a:pPr>
            <a:r>
              <a:rPr lang="zh-CN" altLang="en-US" sz="2000" b="1" dirty="0">
                <a:solidFill>
                  <a:srgbClr val="FF6801"/>
                </a:solidFill>
                <a:latin typeface="微软雅黑" panose="020B0503020204020204" pitchFamily="34" charset="-122"/>
                <a:ea typeface="微软雅黑" panose="020B0503020204020204" pitchFamily="34" charset="-122"/>
                <a:sym typeface="微软雅黑" panose="020B0503020204020204" pitchFamily="34" charset="-122"/>
              </a:rPr>
              <a:t>扩展</a:t>
            </a:r>
          </a:p>
        </p:txBody>
      </p:sp>
      <p:pic>
        <p:nvPicPr>
          <p:cNvPr id="4" name="图片 3"/>
          <p:cNvPicPr>
            <a:picLocks noChangeAspect="1"/>
          </p:cNvPicPr>
          <p:nvPr/>
        </p:nvPicPr>
        <p:blipFill>
          <a:blip r:embed="rId3"/>
          <a:stretch>
            <a:fillRect/>
          </a:stretch>
        </p:blipFill>
        <p:spPr>
          <a:xfrm>
            <a:off x="1002030" y="14605"/>
            <a:ext cx="7711440" cy="513016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1+#ppt_w/2"/>
                                          </p:val>
                                        </p:tav>
                                        <p:tav tm="100000">
                                          <p:val>
                                            <p:strVal val="#ppt_x"/>
                                          </p:val>
                                        </p:tav>
                                      </p:tavLst>
                                    </p:anim>
                                    <p:anim calcmode="lin" valueType="num">
                                      <p:cBhvr>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D:\MyConfiguration\zxp09284\Desktop\同程艺龙PPT内页.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7229"/>
            <a:ext cx="9144000" cy="514324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p:cNvSpPr>
            <a:spLocks noGrp="1" noChangeArrowheads="1"/>
          </p:cNvSpPr>
          <p:nvPr>
            <p:ph type="ctrTitle" idx="4294967295"/>
          </p:nvPr>
        </p:nvSpPr>
        <p:spPr>
          <a:xfrm>
            <a:off x="323528" y="14737"/>
            <a:ext cx="3240360" cy="798993"/>
          </a:xfrm>
        </p:spPr>
        <p:txBody>
          <a:bodyPr>
            <a:noAutofit/>
          </a:bodyPr>
          <a:lstStyle/>
          <a:p>
            <a:pPr algn="l">
              <a:lnSpc>
                <a:spcPct val="120000"/>
              </a:lnSpc>
            </a:pPr>
            <a:r>
              <a:rPr lang="zh-CN" altLang="en-US" sz="2000" b="1" dirty="0">
                <a:solidFill>
                  <a:srgbClr val="FF6801"/>
                </a:solidFill>
                <a:latin typeface="微软雅黑" panose="020B0503020204020204" pitchFamily="34" charset="-122"/>
                <a:ea typeface="微软雅黑" panose="020B0503020204020204" pitchFamily="34" charset="-122"/>
                <a:sym typeface="微软雅黑" panose="020B0503020204020204" pitchFamily="34" charset="-122"/>
              </a:rPr>
              <a:t>中间件</a:t>
            </a:r>
          </a:p>
        </p:txBody>
      </p:sp>
      <p:sp>
        <p:nvSpPr>
          <p:cNvPr id="2" name="文本框 1"/>
          <p:cNvSpPr txBox="1"/>
          <p:nvPr/>
        </p:nvSpPr>
        <p:spPr>
          <a:xfrm>
            <a:off x="532765" y="813435"/>
            <a:ext cx="6954520" cy="1753235"/>
          </a:xfrm>
          <a:prstGeom prst="rect">
            <a:avLst/>
          </a:prstGeom>
          <a:noFill/>
        </p:spPr>
        <p:txBody>
          <a:bodyPr wrap="square" rtlCol="0">
            <a:spAutoFit/>
          </a:bodyPr>
          <a:lstStyle/>
          <a:p>
            <a:r>
              <a:rPr lang="en-US" altLang="zh-CN"/>
              <a:t>1 消息中间件在分布式系统中的主要作用：异步通讯、解耦、并发缓冲</a:t>
            </a:r>
            <a:r>
              <a:rPr lang="zh-CN" altLang="en-US"/>
              <a:t>；通过引入消息中间件来解耦应用间（服务间）的直接调用，同时也会起到异步通讯和缓冲并发的作用</a:t>
            </a:r>
          </a:p>
          <a:p>
            <a:r>
              <a:rPr lang="en-US" altLang="zh-CN"/>
              <a:t>2 分布式部署环境下，需要通过网络进行通讯，就引入了数据传输的不确定性</a:t>
            </a:r>
            <a:r>
              <a:rPr lang="zh-CN" altLang="en-US"/>
              <a:t>也就是CAP理论中的P（分区容错性的问题）</a:t>
            </a:r>
          </a:p>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1+#ppt_w/2"/>
                                          </p:val>
                                        </p:tav>
                                        <p:tav tm="100000">
                                          <p:val>
                                            <p:strVal val="#ppt_x"/>
                                          </p:val>
                                        </p:tav>
                                      </p:tavLst>
                                    </p:anim>
                                    <p:anim calcmode="lin" valueType="num">
                                      <p:cBhvr>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D:\MyConfiguration\zxp09284\Desktop\同程艺龙PPT内页.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244"/>
            <a:ext cx="9144000" cy="514324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p:cNvSpPr>
            <a:spLocks noGrp="1" noChangeArrowheads="1"/>
          </p:cNvSpPr>
          <p:nvPr>
            <p:ph type="ctrTitle" idx="4294967295"/>
          </p:nvPr>
        </p:nvSpPr>
        <p:spPr>
          <a:xfrm>
            <a:off x="323215" y="14605"/>
            <a:ext cx="5036185" cy="798830"/>
          </a:xfrm>
        </p:spPr>
        <p:txBody>
          <a:bodyPr>
            <a:noAutofit/>
          </a:bodyPr>
          <a:lstStyle/>
          <a:p>
            <a:pPr algn="l">
              <a:lnSpc>
                <a:spcPct val="120000"/>
              </a:lnSpc>
            </a:pPr>
            <a:r>
              <a:rPr lang="zh-CN" altLang="en-US" sz="2000" b="1" dirty="0" smtClean="0">
                <a:solidFill>
                  <a:schemeClr val="tx1">
                    <a:lumMod val="95000"/>
                    <a:lumOff val="5000"/>
                  </a:schemeClr>
                </a:solidFill>
                <a:latin typeface="微软雅黑" panose="020B0503020204020204" pitchFamily="34" charset="-122"/>
                <a:ea typeface="微软雅黑" panose="020B0503020204020204" pitchFamily="34" charset="-122"/>
                <a:sym typeface="+mn-ea"/>
              </a:rPr>
              <a:t>可靠消息最终一致性方案</a:t>
            </a:r>
            <a:r>
              <a:rPr lang="en-US" altLang="zh-CN" sz="2000" b="1" dirty="0" smtClean="0">
                <a:solidFill>
                  <a:schemeClr val="tx1">
                    <a:lumMod val="95000"/>
                    <a:lumOff val="5000"/>
                  </a:schemeClr>
                </a:solidFill>
                <a:latin typeface="微软雅黑" panose="020B0503020204020204" pitchFamily="34" charset="-122"/>
                <a:ea typeface="微软雅黑" panose="020B0503020204020204" pitchFamily="34" charset="-122"/>
                <a:sym typeface="+mn-ea"/>
              </a:rPr>
              <a:t>—</a:t>
            </a:r>
            <a:r>
              <a:rPr lang="zh-CN" altLang="en-US" sz="2000" b="1" dirty="0" smtClean="0">
                <a:solidFill>
                  <a:schemeClr val="tx1">
                    <a:lumMod val="95000"/>
                    <a:lumOff val="5000"/>
                  </a:schemeClr>
                </a:solidFill>
                <a:latin typeface="微软雅黑" panose="020B0503020204020204" pitchFamily="34" charset="-122"/>
                <a:ea typeface="微软雅黑" panose="020B0503020204020204" pitchFamily="34" charset="-122"/>
                <a:sym typeface="+mn-ea"/>
              </a:rPr>
              <a:t>独立子系统</a:t>
            </a:r>
          </a:p>
        </p:txBody>
      </p:sp>
      <p:sp>
        <p:nvSpPr>
          <p:cNvPr id="2" name="文本框 1"/>
          <p:cNvSpPr txBox="1"/>
          <p:nvPr/>
        </p:nvSpPr>
        <p:spPr>
          <a:xfrm>
            <a:off x="532765" y="813435"/>
            <a:ext cx="6954520" cy="4154170"/>
          </a:xfrm>
          <a:prstGeom prst="rect">
            <a:avLst/>
          </a:prstGeom>
          <a:solidFill>
            <a:schemeClr val="tx1">
              <a:lumMod val="95000"/>
              <a:lumOff val="5000"/>
            </a:schemeClr>
          </a:solidFill>
        </p:spPr>
        <p:txBody>
          <a:bodyPr wrap="square" rtlCol="0">
            <a:spAutoFit/>
          </a:bodyPr>
          <a:lstStyle/>
          <a:p>
            <a:r>
              <a:rPr lang="zh-CN" altLang="en-US" sz="1200"/>
              <a:t>C</a:t>
            </a:r>
            <a:r>
              <a:rPr lang="zh-CN" altLang="en-US" sz="1200" b="1">
                <a:solidFill>
                  <a:srgbClr val="FFFFFF"/>
                </a:solidFill>
                <a:uFillTx/>
              </a:rPr>
              <a:t>REATE TABLE `transaction_message` (</a:t>
            </a:r>
          </a:p>
          <a:p>
            <a:r>
              <a:rPr lang="zh-CN" altLang="en-US" sz="1200" b="1">
                <a:solidFill>
                  <a:srgbClr val="FFFFFF"/>
                </a:solidFill>
                <a:uFillTx/>
              </a:rPr>
              <a:t>  `id` varchar(50) NOT NULL DEFAULT '' COMMENT '主键ID',</a:t>
            </a:r>
          </a:p>
          <a:p>
            <a:r>
              <a:rPr lang="zh-CN" altLang="en-US" sz="1200" b="1">
                <a:solidFill>
                  <a:srgbClr val="FFFFFF"/>
                </a:solidFill>
                <a:uFillTx/>
              </a:rPr>
              <a:t>  `version` int(11) NOT NULL DEFAULT '0' COMMENT '版本号',</a:t>
            </a:r>
          </a:p>
          <a:p>
            <a:r>
              <a:rPr lang="zh-CN" altLang="en-US" sz="1200" b="1">
                <a:solidFill>
                  <a:srgbClr val="FFFFFF"/>
                </a:solidFill>
                <a:uFillTx/>
              </a:rPr>
              <a:t>  `editor` varchar(100) DEFAULT NULL COMMENT '修改者',</a:t>
            </a:r>
          </a:p>
          <a:p>
            <a:r>
              <a:rPr lang="zh-CN" altLang="en-US" sz="1200" b="1">
                <a:solidFill>
                  <a:srgbClr val="FFFFFF"/>
                </a:solidFill>
                <a:uFillTx/>
              </a:rPr>
              <a:t>  `creater` varchar(100) DEFAULT NULL COMMENT '创建者',</a:t>
            </a:r>
          </a:p>
          <a:p>
            <a:r>
              <a:rPr lang="zh-CN" altLang="en-US" sz="1200" b="1">
                <a:solidFill>
                  <a:srgbClr val="FFFFFF"/>
                </a:solidFill>
                <a:uFillTx/>
              </a:rPr>
              <a:t>  `edit_time` datetime DEFAULT NULL COMMENT '最后修改时间',</a:t>
            </a:r>
          </a:p>
          <a:p>
            <a:r>
              <a:rPr lang="zh-CN" altLang="en-US" sz="1200" b="1">
                <a:solidFill>
                  <a:srgbClr val="FFFFFF"/>
                </a:solidFill>
                <a:uFillTx/>
              </a:rPr>
              <a:t>  `create_time` datetime NOT NULL DEFAULT '0000-00-00 00:00:00' COMMENT '创建时间',</a:t>
            </a:r>
          </a:p>
          <a:p>
            <a:r>
              <a:rPr lang="zh-CN" altLang="en-US" sz="1200" b="1">
                <a:solidFill>
                  <a:srgbClr val="FFFFFF"/>
                </a:solidFill>
                <a:uFillTx/>
              </a:rPr>
              <a:t>  `message_id` varchar(50) NOT NULL DEFAULT '' COMMENT '消息ID',</a:t>
            </a:r>
          </a:p>
          <a:p>
            <a:r>
              <a:rPr lang="zh-CN" altLang="en-US" sz="1200" b="1">
                <a:solidFill>
                  <a:srgbClr val="FFFFFF"/>
                </a:solidFill>
                <a:uFillTx/>
              </a:rPr>
              <a:t>  `message_body` longtext NOT NULL COMMENT '消息内容',</a:t>
            </a:r>
          </a:p>
          <a:p>
            <a:r>
              <a:rPr lang="zh-CN" altLang="en-US" sz="1200" b="1">
                <a:solidFill>
                  <a:srgbClr val="FFFFFF"/>
                </a:solidFill>
                <a:uFillTx/>
              </a:rPr>
              <a:t>  `message_data_type` varchar(50) DEFAULT NULL COMMENT '消息数据类型JSON/Other',</a:t>
            </a:r>
          </a:p>
          <a:p>
            <a:r>
              <a:rPr lang="zh-CN" altLang="en-US" sz="1200" b="1">
                <a:solidFill>
                  <a:srgbClr val="FFFFFF"/>
                </a:solidFill>
                <a:uFillTx/>
              </a:rPr>
              <a:t>  `consumer_queue` varchar(100) NOT NULL DEFAULT '' COMMENT '消费队列',</a:t>
            </a:r>
          </a:p>
          <a:p>
            <a:r>
              <a:rPr lang="zh-CN" altLang="en-US" sz="1200" b="1">
                <a:solidFill>
                  <a:srgbClr val="FFFFFF"/>
                </a:solidFill>
                <a:uFillTx/>
              </a:rPr>
              <a:t>  `message_send_times` smallint(6) NOT NULL DEFAULT '</a:t>
            </a:r>
            <a:r>
              <a:rPr lang="en-US" altLang="zh-CN" sz="1200" b="1">
                <a:solidFill>
                  <a:srgbClr val="FFFFFF"/>
                </a:solidFill>
                <a:uFillTx/>
              </a:rPr>
              <a:t>1</a:t>
            </a:r>
            <a:r>
              <a:rPr lang="zh-CN" altLang="en-US" sz="1200" b="1">
                <a:solidFill>
                  <a:srgbClr val="FFFFFF"/>
                </a:solidFill>
                <a:uFillTx/>
              </a:rPr>
              <a:t>' COMMENT '消息重发次数',</a:t>
            </a:r>
          </a:p>
          <a:p>
            <a:r>
              <a:rPr lang="zh-CN" altLang="en-US" sz="1200" b="1">
                <a:solidFill>
                  <a:srgbClr val="FFFFFF"/>
                </a:solidFill>
                <a:uFillTx/>
              </a:rPr>
              <a:t>  `areadly_dead` varchar(20) NOT NULL DEFAULT '' COMMENT '是否死亡，避免无限次的重发，重发数次不成功，标记死亡',</a:t>
            </a:r>
          </a:p>
          <a:p>
            <a:r>
              <a:rPr lang="zh-CN" altLang="en-US" sz="1200" b="1">
                <a:solidFill>
                  <a:srgbClr val="FFFFFF"/>
                </a:solidFill>
                <a:uFillTx/>
              </a:rPr>
              <a:t>  `status` varchar(20) NOT NULL DEFAULT '' COMMENT '状态',</a:t>
            </a:r>
          </a:p>
          <a:p>
            <a:r>
              <a:rPr lang="zh-CN" altLang="en-US" sz="1200" b="1">
                <a:solidFill>
                  <a:srgbClr val="FFFFFF"/>
                </a:solidFill>
                <a:uFillTx/>
              </a:rPr>
              <a:t>  `remark` varchar(200) DEFAULT NULL COMMENT '备注',</a:t>
            </a:r>
          </a:p>
          <a:p>
            <a:r>
              <a:rPr lang="zh-CN" altLang="en-US" sz="1200" b="1">
                <a:solidFill>
                  <a:srgbClr val="FFFFFF"/>
                </a:solidFill>
                <a:uFillTx/>
              </a:rPr>
              <a:t>  `field1` varchar(200) DEFAULT NULL COMMENT '扩展字段1</a:t>
            </a:r>
            <a:r>
              <a:rPr lang="en-US" altLang="zh-CN" sz="1200" b="1">
                <a:solidFill>
                  <a:srgbClr val="FFFFFF"/>
                </a:solidFill>
                <a:uFillTx/>
              </a:rPr>
              <a:t>--</a:t>
            </a:r>
            <a:r>
              <a:rPr lang="zh-CN" altLang="en-US" sz="1200" b="1">
                <a:solidFill>
                  <a:srgbClr val="FFFFFF"/>
                </a:solidFill>
                <a:uFillTx/>
              </a:rPr>
              <a:t>可以用做状态回查的字段',</a:t>
            </a:r>
          </a:p>
          <a:p>
            <a:r>
              <a:rPr lang="zh-CN" altLang="en-US" sz="1200" b="1">
                <a:solidFill>
                  <a:srgbClr val="FFFFFF"/>
                </a:solidFill>
                <a:uFillTx/>
              </a:rPr>
              <a:t>  `field2` varchar(200) DEFAULT NULL COMMENT '扩展字段2</a:t>
            </a:r>
            <a:r>
              <a:rPr lang="en-US" altLang="zh-CN" sz="1200" b="1">
                <a:solidFill>
                  <a:srgbClr val="FFFFFF"/>
                </a:solidFill>
                <a:uFillTx/>
              </a:rPr>
              <a:t>--</a:t>
            </a:r>
            <a:r>
              <a:rPr lang="zh-CN" altLang="en-US" sz="1200" b="1">
                <a:solidFill>
                  <a:srgbClr val="FFFFFF"/>
                </a:solidFill>
                <a:uFillTx/>
                <a:sym typeface="+mn-ea"/>
              </a:rPr>
              <a:t>可以用做状态回查的字段</a:t>
            </a:r>
            <a:r>
              <a:rPr lang="zh-CN" altLang="en-US" sz="1200" b="1">
                <a:solidFill>
                  <a:srgbClr val="FFFFFF"/>
                </a:solidFill>
                <a:uFillTx/>
              </a:rPr>
              <a:t>',</a:t>
            </a:r>
          </a:p>
          <a:p>
            <a:r>
              <a:rPr lang="zh-CN" altLang="en-US" sz="1200" b="1">
                <a:solidFill>
                  <a:srgbClr val="FFFFFF"/>
                </a:solidFill>
                <a:uFillTx/>
              </a:rPr>
              <a:t>  `field3` varchar(200) DEFAULT NULL COMMENT '扩展字段3</a:t>
            </a:r>
            <a:r>
              <a:rPr lang="en-US" altLang="zh-CN" sz="1200" b="1">
                <a:solidFill>
                  <a:srgbClr val="FFFFFF"/>
                </a:solidFill>
                <a:uFillTx/>
              </a:rPr>
              <a:t>--</a:t>
            </a:r>
            <a:r>
              <a:rPr lang="zh-CN" altLang="en-US" sz="1200" b="1">
                <a:solidFill>
                  <a:srgbClr val="FFFFFF"/>
                </a:solidFill>
                <a:uFillTx/>
                <a:sym typeface="+mn-ea"/>
              </a:rPr>
              <a:t>可以用做状态回查的字段</a:t>
            </a:r>
            <a:r>
              <a:rPr lang="zh-CN" altLang="en-US" sz="1200" b="1">
                <a:solidFill>
                  <a:srgbClr val="FFFFFF"/>
                </a:solidFill>
                <a:uFillTx/>
              </a:rPr>
              <a:t>',</a:t>
            </a:r>
          </a:p>
          <a:p>
            <a:r>
              <a:rPr lang="zh-CN" altLang="en-US" sz="1200" b="1">
                <a:solidFill>
                  <a:srgbClr val="FFFFFF"/>
                </a:solidFill>
                <a:uFillTx/>
              </a:rPr>
              <a:t>  PRIMARY KEY (`id`),</a:t>
            </a:r>
          </a:p>
          <a:p>
            <a:r>
              <a:rPr lang="zh-CN" altLang="en-US" sz="1200" b="1">
                <a:solidFill>
                  <a:srgbClr val="FFFFFF"/>
                </a:solidFill>
                <a:uFillTx/>
              </a:rPr>
              <a:t>  KEY `AK_Key_2` (`message_id`)</a:t>
            </a:r>
          </a:p>
          <a:p>
            <a:r>
              <a:rPr lang="zh-CN" altLang="en-US" sz="1200" b="1">
                <a:solidFill>
                  <a:srgbClr val="FFFFFF"/>
                </a:solidFill>
                <a:uFillTx/>
              </a:rPr>
              <a:t>) ENGINE=InnoDB DEFAULT CHARSET=utf8;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1+#ppt_w/2"/>
                                          </p:val>
                                        </p:tav>
                                        <p:tav tm="100000">
                                          <p:val>
                                            <p:strVal val="#ppt_x"/>
                                          </p:val>
                                        </p:tav>
                                      </p:tavLst>
                                    </p:anim>
                                    <p:anim calcmode="lin" valueType="num">
                                      <p:cBhvr>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D:\MyConfiguration\zxp09284\Desktop\同程艺龙PPT内页.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7229"/>
            <a:ext cx="9144000" cy="514324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p:cNvSpPr>
            <a:spLocks noGrp="1" noChangeArrowheads="1"/>
          </p:cNvSpPr>
          <p:nvPr>
            <p:ph type="ctrTitle" idx="4294967295"/>
          </p:nvPr>
        </p:nvSpPr>
        <p:spPr>
          <a:xfrm>
            <a:off x="323528" y="14737"/>
            <a:ext cx="3240360" cy="798993"/>
          </a:xfrm>
        </p:spPr>
        <p:txBody>
          <a:bodyPr>
            <a:noAutofit/>
          </a:bodyPr>
          <a:lstStyle/>
          <a:p>
            <a:pPr algn="l">
              <a:lnSpc>
                <a:spcPct val="120000"/>
              </a:lnSpc>
            </a:pPr>
            <a:r>
              <a:rPr lang="zh-CN" altLang="en-US" sz="2000" b="1" dirty="0" smtClean="0">
                <a:solidFill>
                  <a:schemeClr val="tx1">
                    <a:lumMod val="95000"/>
                    <a:lumOff val="5000"/>
                  </a:schemeClr>
                </a:solidFill>
                <a:latin typeface="微软雅黑" panose="020B0503020204020204" pitchFamily="34" charset="-122"/>
                <a:ea typeface="微软雅黑" panose="020B0503020204020204" pitchFamily="34" charset="-122"/>
                <a:sym typeface="+mn-ea"/>
              </a:rPr>
              <a:t>优点</a:t>
            </a:r>
            <a:endParaRPr lang="en-US" altLang="zh-CN" sz="2000" b="1" dirty="0">
              <a:solidFill>
                <a:srgbClr val="FF680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文本框 1"/>
          <p:cNvSpPr txBox="1"/>
          <p:nvPr/>
        </p:nvSpPr>
        <p:spPr>
          <a:xfrm>
            <a:off x="532765" y="813435"/>
            <a:ext cx="6954520" cy="2306955"/>
          </a:xfrm>
          <a:prstGeom prst="rect">
            <a:avLst/>
          </a:prstGeom>
          <a:noFill/>
        </p:spPr>
        <p:txBody>
          <a:bodyPr wrap="square" rtlCol="0">
            <a:spAutoFit/>
          </a:bodyPr>
          <a:lstStyle/>
          <a:p>
            <a:r>
              <a:rPr lang="en-US" altLang="zh-CN"/>
              <a:t>1 </a:t>
            </a:r>
            <a:r>
              <a:rPr lang="zh-CN" altLang="en-US"/>
              <a:t>消息服务独立部署、独立维护、独立伸缩</a:t>
            </a:r>
          </a:p>
          <a:p>
            <a:endParaRPr lang="zh-CN" altLang="en-US"/>
          </a:p>
          <a:p>
            <a:r>
              <a:rPr lang="en-US" altLang="zh-CN"/>
              <a:t>2</a:t>
            </a:r>
            <a:r>
              <a:rPr lang="zh-CN" altLang="en-US"/>
              <a:t> 消息存储可以按照需求来选择存储的数据库</a:t>
            </a:r>
          </a:p>
          <a:p>
            <a:r>
              <a:rPr lang="zh-CN" altLang="en-US"/>
              <a:t> </a:t>
            </a:r>
          </a:p>
          <a:p>
            <a:r>
              <a:rPr lang="en-US" altLang="zh-CN"/>
              <a:t>3</a:t>
            </a:r>
            <a:r>
              <a:rPr lang="zh-CN" altLang="en-US"/>
              <a:t> 消息服务可以被相同的场景公用，弱化对</a:t>
            </a:r>
            <a:r>
              <a:rPr lang="en-US" altLang="zh-CN"/>
              <a:t>MQ</a:t>
            </a:r>
            <a:r>
              <a:rPr lang="zh-CN" altLang="en-US"/>
              <a:t>中间件的依赖</a:t>
            </a:r>
          </a:p>
          <a:p>
            <a:endParaRPr lang="zh-CN" altLang="en-US"/>
          </a:p>
          <a:p>
            <a:r>
              <a:rPr lang="en-US" altLang="zh-CN">
                <a:sym typeface="+mn-ea"/>
              </a:rPr>
              <a:t>5</a:t>
            </a:r>
            <a:r>
              <a:rPr lang="zh-CN" altLang="en-US">
                <a:sym typeface="+mn-ea"/>
              </a:rPr>
              <a:t> 降低业务系统和消息系统的耦合</a:t>
            </a:r>
            <a:endParaRPr lang="zh-CN" altLang="en-US"/>
          </a:p>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1+#ppt_w/2"/>
                                          </p:val>
                                        </p:tav>
                                        <p:tav tm="100000">
                                          <p:val>
                                            <p:strVal val="#ppt_x"/>
                                          </p:val>
                                        </p:tav>
                                      </p:tavLst>
                                    </p:anim>
                                    <p:anim calcmode="lin" valueType="num">
                                      <p:cBhvr>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D:\MyConfiguration\zxp09284\Desktop\同程艺龙PPT内页.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7229"/>
            <a:ext cx="9144000" cy="514324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p:cNvSpPr>
            <a:spLocks noGrp="1" noChangeArrowheads="1"/>
          </p:cNvSpPr>
          <p:nvPr>
            <p:ph type="ctrTitle" idx="4294967295"/>
          </p:nvPr>
        </p:nvSpPr>
        <p:spPr>
          <a:xfrm>
            <a:off x="323528" y="14737"/>
            <a:ext cx="3240360" cy="798993"/>
          </a:xfrm>
        </p:spPr>
        <p:txBody>
          <a:bodyPr>
            <a:noAutofit/>
          </a:bodyPr>
          <a:lstStyle/>
          <a:p>
            <a:pPr algn="l">
              <a:lnSpc>
                <a:spcPct val="120000"/>
              </a:lnSpc>
            </a:pPr>
            <a:r>
              <a:rPr lang="zh-CN" altLang="en-US" sz="2000" b="1" dirty="0" smtClean="0">
                <a:solidFill>
                  <a:schemeClr val="tx1">
                    <a:lumMod val="95000"/>
                    <a:lumOff val="5000"/>
                  </a:schemeClr>
                </a:solidFill>
                <a:latin typeface="微软雅黑" panose="020B0503020204020204" pitchFamily="34" charset="-122"/>
                <a:ea typeface="微软雅黑" panose="020B0503020204020204" pitchFamily="34" charset="-122"/>
                <a:sym typeface="+mn-ea"/>
              </a:rPr>
              <a:t>缺点</a:t>
            </a:r>
            <a:endParaRPr lang="en-US" altLang="zh-CN" sz="2000" b="1" dirty="0">
              <a:solidFill>
                <a:srgbClr val="FF680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文本框 1"/>
          <p:cNvSpPr txBox="1"/>
          <p:nvPr/>
        </p:nvSpPr>
        <p:spPr>
          <a:xfrm>
            <a:off x="532765" y="813435"/>
            <a:ext cx="6954520" cy="1476375"/>
          </a:xfrm>
          <a:prstGeom prst="rect">
            <a:avLst/>
          </a:prstGeom>
          <a:noFill/>
        </p:spPr>
        <p:txBody>
          <a:bodyPr wrap="square" rtlCol="0">
            <a:spAutoFit/>
          </a:bodyPr>
          <a:lstStyle/>
          <a:p>
            <a:r>
              <a:rPr lang="en-US" altLang="zh-CN"/>
              <a:t>1 </a:t>
            </a:r>
            <a:r>
              <a:rPr lang="zh-CN" altLang="en-US"/>
              <a:t>一次消息需要发送两次请求</a:t>
            </a:r>
            <a:r>
              <a:rPr lang="en-US" altLang="zh-CN"/>
              <a:t>/</a:t>
            </a:r>
            <a:r>
              <a:rPr lang="zh-CN" altLang="en-US"/>
              <a:t>耗时多一点</a:t>
            </a:r>
          </a:p>
          <a:p>
            <a:endParaRPr lang="zh-CN" altLang="en-US"/>
          </a:p>
          <a:p>
            <a:r>
              <a:rPr lang="en-US" altLang="zh-CN"/>
              <a:t>2</a:t>
            </a:r>
            <a:r>
              <a:rPr lang="zh-CN" altLang="en-US"/>
              <a:t> 主动方</a:t>
            </a:r>
            <a:r>
              <a:rPr lang="en-US" altLang="zh-CN"/>
              <a:t>/</a:t>
            </a:r>
            <a:r>
              <a:rPr lang="zh-CN" altLang="en-US"/>
              <a:t>被动方 需要提供查询业务状态的接口</a:t>
            </a:r>
          </a:p>
          <a:p>
            <a:r>
              <a:rPr lang="zh-CN" altLang="en-US"/>
              <a:t> </a:t>
            </a:r>
          </a:p>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1+#ppt_w/2"/>
                                          </p:val>
                                        </p:tav>
                                        <p:tav tm="100000">
                                          <p:val>
                                            <p:strVal val="#ppt_x"/>
                                          </p:val>
                                        </p:tav>
                                      </p:tavLst>
                                    </p:anim>
                                    <p:anim calcmode="lin" valueType="num">
                                      <p:cBhvr>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D:\MyConfiguration\zxp09284\Desktop\同程艺龙PPT内页.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7229"/>
            <a:ext cx="9144000" cy="5143244"/>
          </a:xfrm>
          <a:prstGeom prst="rect">
            <a:avLst/>
          </a:prstGeom>
          <a:noFill/>
          <a:extLst>
            <a:ext uri="{909E8E84-426E-40DD-AFC4-6F175D3DCCD1}">
              <a14:hiddenFill xmlns:a14="http://schemas.microsoft.com/office/drawing/2010/main">
                <a:solidFill>
                  <a:srgbClr val="FFFFFF"/>
                </a:solidFill>
              </a14:hiddenFill>
            </a:ext>
          </a:extLst>
        </p:spPr>
      </p:pic>
      <p:sp>
        <p:nvSpPr>
          <p:cNvPr id="33" name="Rectangle 3"/>
          <p:cNvSpPr>
            <a:spLocks noGrp="1" noChangeArrowheads="1"/>
          </p:cNvSpPr>
          <p:nvPr>
            <p:ph type="ctrTitle" idx="4294967295"/>
          </p:nvPr>
        </p:nvSpPr>
        <p:spPr>
          <a:xfrm>
            <a:off x="1763688" y="1275606"/>
            <a:ext cx="5256583" cy="1296144"/>
          </a:xfrm>
        </p:spPr>
        <p:txBody>
          <a:bodyPr>
            <a:noAutofit/>
          </a:bodyPr>
          <a:lstStyle/>
          <a:p>
            <a:pPr>
              <a:lnSpc>
                <a:spcPct val="120000"/>
              </a:lnSpc>
            </a:pPr>
            <a:r>
              <a:rPr lang="zh-CN" altLang="en-US" sz="4000" b="1" dirty="0" smtClean="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谢谢观赏</a:t>
            </a:r>
            <a:endParaRPr lang="en-US" altLang="zh-CN" sz="4000" b="1"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Rectangle 3"/>
          <p:cNvSpPr>
            <a:spLocks noGrp="1" noChangeArrowheads="1"/>
          </p:cNvSpPr>
          <p:nvPr>
            <p:ph type="ctrTitle" idx="4294967295"/>
          </p:nvPr>
        </p:nvSpPr>
        <p:spPr>
          <a:xfrm>
            <a:off x="2987824" y="2067694"/>
            <a:ext cx="2686136" cy="792088"/>
          </a:xfrm>
        </p:spPr>
        <p:txBody>
          <a:bodyPr>
            <a:noAutofit/>
          </a:bodyPr>
          <a:lstStyle/>
          <a:p>
            <a:pPr>
              <a:lnSpc>
                <a:spcPct val="90000"/>
              </a:lnSpc>
            </a:pPr>
            <a:r>
              <a:rPr lang="en-US" altLang="zh-CN" sz="1800" dirty="0" smtClean="0">
                <a:solidFill>
                  <a:schemeClr val="bg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Thank you</a:t>
            </a:r>
            <a:r>
              <a:rPr lang="zh-CN" altLang="en-US" sz="1800" dirty="0" smtClean="0">
                <a:solidFill>
                  <a:schemeClr val="bg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sz="1800" dirty="0">
              <a:solidFill>
                <a:schemeClr val="bg1">
                  <a:lumMod val="7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1000"/>
                                        <p:tgtEl>
                                          <p:spTgt spid="33"/>
                                        </p:tgtEl>
                                      </p:cBhvr>
                                    </p:animEffect>
                                    <p:anim calcmode="lin" valueType="num">
                                      <p:cBhvr>
                                        <p:cTn id="8" dur="1000" fill="hold"/>
                                        <p:tgtEl>
                                          <p:spTgt spid="33"/>
                                        </p:tgtEl>
                                        <p:attrNameLst>
                                          <p:attrName>ppt_x</p:attrName>
                                        </p:attrNameLst>
                                      </p:cBhvr>
                                      <p:tavLst>
                                        <p:tav tm="0">
                                          <p:val>
                                            <p:strVal val="#ppt_x"/>
                                          </p:val>
                                        </p:tav>
                                        <p:tav tm="100000">
                                          <p:val>
                                            <p:strVal val="#ppt_x"/>
                                          </p:val>
                                        </p:tav>
                                      </p:tavLst>
                                    </p:anim>
                                    <p:anim calcmode="lin" valueType="num">
                                      <p:cBhvr>
                                        <p:cTn id="9" dur="1000" fill="hold"/>
                                        <p:tgtEl>
                                          <p:spTgt spid="3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0"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6"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KSO_WM_SLIDE_MODEL_TYPE" val="cover"/>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121</TotalTime>
  <Words>1583</Words>
  <Application>Microsoft Office PowerPoint</Application>
  <PresentationFormat>全屏显示(16:9)</PresentationFormat>
  <Paragraphs>147</Paragraphs>
  <Slides>22</Slides>
  <Notes>7</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22</vt:i4>
      </vt:variant>
    </vt:vector>
  </HeadingPairs>
  <TitlesOfParts>
    <vt:vector size="27" baseType="lpstr">
      <vt:lpstr>宋体</vt:lpstr>
      <vt:lpstr>微软雅黑</vt:lpstr>
      <vt:lpstr>Arial</vt:lpstr>
      <vt:lpstr>Calibri</vt:lpstr>
      <vt:lpstr>Office 主题</vt:lpstr>
      <vt:lpstr>分布式事务 </vt:lpstr>
      <vt:lpstr>目录</vt:lpstr>
      <vt:lpstr>分布式事务场景</vt:lpstr>
      <vt:lpstr>数据库本地事务</vt:lpstr>
      <vt:lpstr>InnoDB实现原理</vt:lpstr>
      <vt:lpstr>InnoDB实现原理</vt:lpstr>
      <vt:lpstr>分布式事务产生的原因</vt:lpstr>
      <vt:lpstr>分布式事务产生的原因</vt:lpstr>
      <vt:lpstr>分布式事务产生的原因</vt:lpstr>
      <vt:lpstr>分布式事务困扰</vt:lpstr>
      <vt:lpstr>分布式事务问题困扰</vt:lpstr>
      <vt:lpstr>分布式事务方案</vt:lpstr>
      <vt:lpstr>分布式事务解决方案</vt:lpstr>
      <vt:lpstr>最终一致性方案:柔性事务</vt:lpstr>
      <vt:lpstr>可靠消息最终一致性方案:柔性事务</vt:lpstr>
      <vt:lpstr>最终一致性方案</vt:lpstr>
      <vt:lpstr>扩展</vt:lpstr>
      <vt:lpstr>中间件</vt:lpstr>
      <vt:lpstr>可靠消息最终一致性方案—独立子系统</vt:lpstr>
      <vt:lpstr>优点</vt:lpstr>
      <vt:lpstr>缺点</vt:lpstr>
      <vt:lpstr>谢谢观赏</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通用型报告模板</dc:title>
  <dc:creator>研发序列网站设计部—宋从磊</dc:creator>
  <cp:lastModifiedBy>研发中心-徐嘉滨</cp:lastModifiedBy>
  <cp:revision>346</cp:revision>
  <dcterms:created xsi:type="dcterms:W3CDTF">2014-10-22T10:42:00Z</dcterms:created>
  <dcterms:modified xsi:type="dcterms:W3CDTF">2019-12-09T08:05:10Z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2052-11.1.0.9141</vt:lpwstr>
  </property>
</Properties>
</file>