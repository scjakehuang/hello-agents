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88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90" r:id="rId23"/>
    <p:sldId id="289" r:id="rId24"/>
    <p:sldId id="277" r:id="rId25"/>
    <p:sldId id="278" r:id="rId26"/>
    <p:sldId id="279" r:id="rId27"/>
    <p:sldId id="291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-128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printerSettings" Target="printerSettings/printerSettings1.bin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3F4589-7F99-F642-9721-4F4F7B2B9BDC}" type="doc">
      <dgm:prSet loTypeId="urn:microsoft.com/office/officeart/2008/layout/RadialCluster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AB7E920-FC73-9948-816B-E2B259B3EBBF}">
      <dgm:prSet phldrT="[文本]"/>
      <dgm:spPr/>
      <dgm:t>
        <a:bodyPr/>
        <a:lstStyle/>
        <a:p>
          <a:r>
            <a:rPr lang="en-US" altLang="zh-CN" dirty="0" err="1" smtClean="0"/>
            <a:t>haproxy</a:t>
          </a:r>
          <a:endParaRPr lang="zh-CN" altLang="en-US" dirty="0"/>
        </a:p>
      </dgm:t>
    </dgm:pt>
    <dgm:pt modelId="{AF69BDB9-5879-4849-8D42-4318E6A15681}" type="parTrans" cxnId="{4A42CEC3-8EAF-7047-A8A2-3A47715E2B4A}">
      <dgm:prSet/>
      <dgm:spPr/>
      <dgm:t>
        <a:bodyPr/>
        <a:lstStyle/>
        <a:p>
          <a:endParaRPr lang="zh-CN" altLang="en-US"/>
        </a:p>
      </dgm:t>
    </dgm:pt>
    <dgm:pt modelId="{0010A8EC-7449-F544-8C3B-72DC23648B3C}" type="sibTrans" cxnId="{4A42CEC3-8EAF-7047-A8A2-3A47715E2B4A}">
      <dgm:prSet/>
      <dgm:spPr/>
      <dgm:t>
        <a:bodyPr/>
        <a:lstStyle/>
        <a:p>
          <a:endParaRPr lang="zh-CN" altLang="en-US"/>
        </a:p>
      </dgm:t>
    </dgm:pt>
    <dgm:pt modelId="{0D3EAB23-E5F9-F546-8622-8FFE93BC7D85}">
      <dgm:prSet phldrT="[文本]"/>
      <dgm:spPr/>
      <dgm:t>
        <a:bodyPr/>
        <a:lstStyle/>
        <a:p>
          <a:r>
            <a:rPr lang="en-US" altLang="zh-CN" dirty="0" smtClean="0"/>
            <a:t>client</a:t>
          </a:r>
          <a:endParaRPr lang="zh-CN" altLang="en-US" dirty="0"/>
        </a:p>
      </dgm:t>
    </dgm:pt>
    <dgm:pt modelId="{AE9F1ACD-5808-2646-A0AA-114E364EC108}" type="parTrans" cxnId="{7A5814BC-A34A-5D41-9D59-92DA1F5EF335}">
      <dgm:prSet/>
      <dgm:spPr/>
      <dgm:t>
        <a:bodyPr/>
        <a:lstStyle/>
        <a:p>
          <a:endParaRPr lang="zh-CN" altLang="en-US"/>
        </a:p>
      </dgm:t>
    </dgm:pt>
    <dgm:pt modelId="{0B53D54F-F050-8E4C-85D2-5BAEBB83ACFA}" type="sibTrans" cxnId="{7A5814BC-A34A-5D41-9D59-92DA1F5EF335}">
      <dgm:prSet/>
      <dgm:spPr/>
      <dgm:t>
        <a:bodyPr/>
        <a:lstStyle/>
        <a:p>
          <a:endParaRPr lang="zh-CN" altLang="en-US"/>
        </a:p>
      </dgm:t>
    </dgm:pt>
    <dgm:pt modelId="{1CED7E1E-1635-1749-88FB-16B342E0794D}">
      <dgm:prSet phldrT="[文本]"/>
      <dgm:spPr/>
      <dgm:t>
        <a:bodyPr/>
        <a:lstStyle/>
        <a:p>
          <a:r>
            <a:rPr lang="en-US" altLang="zh-CN" dirty="0" smtClean="0"/>
            <a:t>backup</a:t>
          </a:r>
          <a:endParaRPr lang="zh-CN" altLang="en-US" dirty="0"/>
        </a:p>
      </dgm:t>
    </dgm:pt>
    <dgm:pt modelId="{611F432E-DAC4-A945-8808-FB15A6FFB758}" type="parTrans" cxnId="{6B8E33D0-ABB3-E340-B564-B62005C63244}">
      <dgm:prSet/>
      <dgm:spPr/>
      <dgm:t>
        <a:bodyPr/>
        <a:lstStyle/>
        <a:p>
          <a:endParaRPr lang="zh-CN" altLang="en-US"/>
        </a:p>
      </dgm:t>
    </dgm:pt>
    <dgm:pt modelId="{0953CEEA-AE7D-764C-BC19-D7CDAF99ABE5}" type="sibTrans" cxnId="{6B8E33D0-ABB3-E340-B564-B62005C63244}">
      <dgm:prSet/>
      <dgm:spPr/>
      <dgm:t>
        <a:bodyPr/>
        <a:lstStyle/>
        <a:p>
          <a:endParaRPr lang="zh-CN" altLang="en-US"/>
        </a:p>
      </dgm:t>
    </dgm:pt>
    <dgm:pt modelId="{A5430271-2A8E-B24E-B74C-11036A6E7CAB}">
      <dgm:prSet phldrT="[文本]"/>
      <dgm:spPr/>
      <dgm:t>
        <a:bodyPr/>
        <a:lstStyle/>
        <a:p>
          <a:r>
            <a:rPr lang="en-US" altLang="zh-CN" dirty="0" smtClean="0"/>
            <a:t>master</a:t>
          </a:r>
          <a:endParaRPr lang="zh-CN" altLang="en-US" dirty="0"/>
        </a:p>
      </dgm:t>
    </dgm:pt>
    <dgm:pt modelId="{28500613-D59A-FE46-BF71-55652B18A659}" type="parTrans" cxnId="{43080F9C-220F-7343-8985-16D1358C240A}">
      <dgm:prSet/>
      <dgm:spPr/>
      <dgm:t>
        <a:bodyPr/>
        <a:lstStyle/>
        <a:p>
          <a:endParaRPr lang="zh-CN" altLang="en-US"/>
        </a:p>
      </dgm:t>
    </dgm:pt>
    <dgm:pt modelId="{C5C37059-518D-9747-B7E6-79FB91CFC65D}" type="sibTrans" cxnId="{43080F9C-220F-7343-8985-16D1358C240A}">
      <dgm:prSet/>
      <dgm:spPr/>
      <dgm:t>
        <a:bodyPr/>
        <a:lstStyle/>
        <a:p>
          <a:endParaRPr lang="zh-CN" altLang="en-US"/>
        </a:p>
      </dgm:t>
    </dgm:pt>
    <dgm:pt modelId="{211F5FF9-676B-5640-8363-02DB40634B1E}" type="pres">
      <dgm:prSet presAssocID="{F93F4589-7F99-F642-9721-4F4F7B2B9BD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55E8D7C4-DF05-654C-8DB4-1BC98E5FB02D}" type="pres">
      <dgm:prSet presAssocID="{EAB7E920-FC73-9948-816B-E2B259B3EBBF}" presName="singleCycle" presStyleCnt="0"/>
      <dgm:spPr/>
    </dgm:pt>
    <dgm:pt modelId="{50140BE7-F9E0-A946-A706-170A0C4DAEAB}" type="pres">
      <dgm:prSet presAssocID="{EAB7E920-FC73-9948-816B-E2B259B3EBBF}" presName="singleCenter" presStyleLbl="node1" presStyleIdx="0" presStyleCnt="4" custScaleX="147399" custLinFactNeighborY="-9192">
        <dgm:presLayoutVars>
          <dgm:chMax val="7"/>
          <dgm:chPref val="7"/>
        </dgm:presLayoutVars>
      </dgm:prSet>
      <dgm:spPr/>
      <dgm:t>
        <a:bodyPr/>
        <a:lstStyle/>
        <a:p>
          <a:endParaRPr lang="zh-CN" altLang="en-US"/>
        </a:p>
      </dgm:t>
    </dgm:pt>
    <dgm:pt modelId="{7144C52F-84F0-614B-B6C0-F29EA6A215F9}" type="pres">
      <dgm:prSet presAssocID="{AE9F1ACD-5808-2646-A0AA-114E364EC108}" presName="Name56" presStyleLbl="parChTrans1D2" presStyleIdx="0" presStyleCnt="3"/>
      <dgm:spPr/>
      <dgm:t>
        <a:bodyPr/>
        <a:lstStyle/>
        <a:p>
          <a:endParaRPr lang="zh-CN" altLang="en-US"/>
        </a:p>
      </dgm:t>
    </dgm:pt>
    <dgm:pt modelId="{20890C79-C646-6941-81C0-106B44A6C266}" type="pres">
      <dgm:prSet presAssocID="{0D3EAB23-E5F9-F546-8622-8FFE93BC7D85}" presName="text0" presStyleLbl="node1" presStyleIdx="1" presStyleCnt="4" custScaleX="298464" custRadScaleRad="9425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2E44EE5-0F8D-9042-9B38-9E7AB18F0663}" type="pres">
      <dgm:prSet presAssocID="{611F432E-DAC4-A945-8808-FB15A6FFB758}" presName="Name56" presStyleLbl="parChTrans1D2" presStyleIdx="1" presStyleCnt="3"/>
      <dgm:spPr/>
      <dgm:t>
        <a:bodyPr/>
        <a:lstStyle/>
        <a:p>
          <a:endParaRPr lang="zh-CN" altLang="en-US"/>
        </a:p>
      </dgm:t>
    </dgm:pt>
    <dgm:pt modelId="{C934A02B-F5DD-744D-91CA-67E744DA1CCB}" type="pres">
      <dgm:prSet presAssocID="{1CED7E1E-1635-1749-88FB-16B342E0794D}" presName="text0" presStyleLbl="node1" presStyleIdx="2" presStyleCnt="4" custScaleX="21739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CD72B7B-9463-D440-9BB3-DFC1AE2ADF1C}" type="pres">
      <dgm:prSet presAssocID="{28500613-D59A-FE46-BF71-55652B18A659}" presName="Name56" presStyleLbl="parChTrans1D2" presStyleIdx="2" presStyleCnt="3"/>
      <dgm:spPr/>
      <dgm:t>
        <a:bodyPr/>
        <a:lstStyle/>
        <a:p>
          <a:endParaRPr lang="zh-CN" altLang="en-US"/>
        </a:p>
      </dgm:t>
    </dgm:pt>
    <dgm:pt modelId="{D424C157-31D4-384B-9FBB-715EE303255E}" type="pres">
      <dgm:prSet presAssocID="{A5430271-2A8E-B24E-B74C-11036A6E7CAB}" presName="text0" presStyleLbl="node1" presStyleIdx="3" presStyleCnt="4" custScaleX="22674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A5814BC-A34A-5D41-9D59-92DA1F5EF335}" srcId="{EAB7E920-FC73-9948-816B-E2B259B3EBBF}" destId="{0D3EAB23-E5F9-F546-8622-8FFE93BC7D85}" srcOrd="0" destOrd="0" parTransId="{AE9F1ACD-5808-2646-A0AA-114E364EC108}" sibTransId="{0B53D54F-F050-8E4C-85D2-5BAEBB83ACFA}"/>
    <dgm:cxn modelId="{694EC528-407E-C147-BA57-777728AED6A0}" type="presOf" srcId="{A5430271-2A8E-B24E-B74C-11036A6E7CAB}" destId="{D424C157-31D4-384B-9FBB-715EE303255E}" srcOrd="0" destOrd="0" presId="urn:microsoft.com/office/officeart/2008/layout/RadialCluster"/>
    <dgm:cxn modelId="{4A42CEC3-8EAF-7047-A8A2-3A47715E2B4A}" srcId="{F93F4589-7F99-F642-9721-4F4F7B2B9BDC}" destId="{EAB7E920-FC73-9948-816B-E2B259B3EBBF}" srcOrd="0" destOrd="0" parTransId="{AF69BDB9-5879-4849-8D42-4318E6A15681}" sibTransId="{0010A8EC-7449-F544-8C3B-72DC23648B3C}"/>
    <dgm:cxn modelId="{88A5070A-326E-734A-8C66-44891DEC773D}" type="presOf" srcId="{0D3EAB23-E5F9-F546-8622-8FFE93BC7D85}" destId="{20890C79-C646-6941-81C0-106B44A6C266}" srcOrd="0" destOrd="0" presId="urn:microsoft.com/office/officeart/2008/layout/RadialCluster"/>
    <dgm:cxn modelId="{52DA3199-3099-CE46-814A-2C2FA0A2945A}" type="presOf" srcId="{AE9F1ACD-5808-2646-A0AA-114E364EC108}" destId="{7144C52F-84F0-614B-B6C0-F29EA6A215F9}" srcOrd="0" destOrd="0" presId="urn:microsoft.com/office/officeart/2008/layout/RadialCluster"/>
    <dgm:cxn modelId="{754641A1-8636-8C4C-A71E-7A3A750E8325}" type="presOf" srcId="{1CED7E1E-1635-1749-88FB-16B342E0794D}" destId="{C934A02B-F5DD-744D-91CA-67E744DA1CCB}" srcOrd="0" destOrd="0" presId="urn:microsoft.com/office/officeart/2008/layout/RadialCluster"/>
    <dgm:cxn modelId="{09BCF97A-6485-B344-94D6-9CE7C0932C80}" type="presOf" srcId="{F93F4589-7F99-F642-9721-4F4F7B2B9BDC}" destId="{211F5FF9-676B-5640-8363-02DB40634B1E}" srcOrd="0" destOrd="0" presId="urn:microsoft.com/office/officeart/2008/layout/RadialCluster"/>
    <dgm:cxn modelId="{6B8E33D0-ABB3-E340-B564-B62005C63244}" srcId="{EAB7E920-FC73-9948-816B-E2B259B3EBBF}" destId="{1CED7E1E-1635-1749-88FB-16B342E0794D}" srcOrd="1" destOrd="0" parTransId="{611F432E-DAC4-A945-8808-FB15A6FFB758}" sibTransId="{0953CEEA-AE7D-764C-BC19-D7CDAF99ABE5}"/>
    <dgm:cxn modelId="{1B730AC0-D709-FC4C-84F5-4A6EE1ECEE61}" type="presOf" srcId="{28500613-D59A-FE46-BF71-55652B18A659}" destId="{ECD72B7B-9463-D440-9BB3-DFC1AE2ADF1C}" srcOrd="0" destOrd="0" presId="urn:microsoft.com/office/officeart/2008/layout/RadialCluster"/>
    <dgm:cxn modelId="{EC81A60A-6816-8B43-8F47-56701E705B36}" type="presOf" srcId="{EAB7E920-FC73-9948-816B-E2B259B3EBBF}" destId="{50140BE7-F9E0-A946-A706-170A0C4DAEAB}" srcOrd="0" destOrd="0" presId="urn:microsoft.com/office/officeart/2008/layout/RadialCluster"/>
    <dgm:cxn modelId="{F9FC921B-0E09-7F44-AA1B-FA3D7CDD3534}" type="presOf" srcId="{611F432E-DAC4-A945-8808-FB15A6FFB758}" destId="{A2E44EE5-0F8D-9042-9B38-9E7AB18F0663}" srcOrd="0" destOrd="0" presId="urn:microsoft.com/office/officeart/2008/layout/RadialCluster"/>
    <dgm:cxn modelId="{43080F9C-220F-7343-8985-16D1358C240A}" srcId="{EAB7E920-FC73-9948-816B-E2B259B3EBBF}" destId="{A5430271-2A8E-B24E-B74C-11036A6E7CAB}" srcOrd="2" destOrd="0" parTransId="{28500613-D59A-FE46-BF71-55652B18A659}" sibTransId="{C5C37059-518D-9747-B7E6-79FB91CFC65D}"/>
    <dgm:cxn modelId="{DDA20B55-6337-CF44-92B2-A3CD39600149}" type="presParOf" srcId="{211F5FF9-676B-5640-8363-02DB40634B1E}" destId="{55E8D7C4-DF05-654C-8DB4-1BC98E5FB02D}" srcOrd="0" destOrd="0" presId="urn:microsoft.com/office/officeart/2008/layout/RadialCluster"/>
    <dgm:cxn modelId="{133B2B12-54CB-8646-B097-E4AACCCED06F}" type="presParOf" srcId="{55E8D7C4-DF05-654C-8DB4-1BC98E5FB02D}" destId="{50140BE7-F9E0-A946-A706-170A0C4DAEAB}" srcOrd="0" destOrd="0" presId="urn:microsoft.com/office/officeart/2008/layout/RadialCluster"/>
    <dgm:cxn modelId="{E7CA03DD-48A6-1B48-B439-450FA6C2D978}" type="presParOf" srcId="{55E8D7C4-DF05-654C-8DB4-1BC98E5FB02D}" destId="{7144C52F-84F0-614B-B6C0-F29EA6A215F9}" srcOrd="1" destOrd="0" presId="urn:microsoft.com/office/officeart/2008/layout/RadialCluster"/>
    <dgm:cxn modelId="{7B9DFC4B-2631-7745-8921-8F8551A2F505}" type="presParOf" srcId="{55E8D7C4-DF05-654C-8DB4-1BC98E5FB02D}" destId="{20890C79-C646-6941-81C0-106B44A6C266}" srcOrd="2" destOrd="0" presId="urn:microsoft.com/office/officeart/2008/layout/RadialCluster"/>
    <dgm:cxn modelId="{FE2EA4A6-6169-0446-83FF-61BB56D933C6}" type="presParOf" srcId="{55E8D7C4-DF05-654C-8DB4-1BC98E5FB02D}" destId="{A2E44EE5-0F8D-9042-9B38-9E7AB18F0663}" srcOrd="3" destOrd="0" presId="urn:microsoft.com/office/officeart/2008/layout/RadialCluster"/>
    <dgm:cxn modelId="{E1E79D74-F1D4-C64C-8E80-04351FDDB585}" type="presParOf" srcId="{55E8D7C4-DF05-654C-8DB4-1BC98E5FB02D}" destId="{C934A02B-F5DD-744D-91CA-67E744DA1CCB}" srcOrd="4" destOrd="0" presId="urn:microsoft.com/office/officeart/2008/layout/RadialCluster"/>
    <dgm:cxn modelId="{A4740C2E-140E-E441-8311-BBD4DBF5D09D}" type="presParOf" srcId="{55E8D7C4-DF05-654C-8DB4-1BC98E5FB02D}" destId="{ECD72B7B-9463-D440-9BB3-DFC1AE2ADF1C}" srcOrd="5" destOrd="0" presId="urn:microsoft.com/office/officeart/2008/layout/RadialCluster"/>
    <dgm:cxn modelId="{C1AF907D-B8F9-1A41-85E1-40B4084675A9}" type="presParOf" srcId="{55E8D7C4-DF05-654C-8DB4-1BC98E5FB02D}" destId="{D424C157-31D4-384B-9FBB-715EE303255E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140BE7-F9E0-A946-A706-170A0C4DAEAB}">
      <dsp:nvSpPr>
        <dsp:cNvPr id="0" name=""/>
        <dsp:cNvSpPr/>
      </dsp:nvSpPr>
      <dsp:spPr>
        <a:xfrm>
          <a:off x="2168539" y="1546334"/>
          <a:ext cx="1797088" cy="1219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1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accent1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300" kern="1200" dirty="0" err="1" smtClean="0"/>
            <a:t>haproxy</a:t>
          </a:r>
          <a:endParaRPr lang="zh-CN" altLang="en-US" sz="3300" kern="1200" dirty="0"/>
        </a:p>
      </dsp:txBody>
      <dsp:txXfrm>
        <a:off x="2228055" y="1605850"/>
        <a:ext cx="1678056" cy="1100168"/>
      </dsp:txXfrm>
    </dsp:sp>
    <dsp:sp modelId="{7144C52F-84F0-614B-B6C0-F29EA6A215F9}">
      <dsp:nvSpPr>
        <dsp:cNvPr id="0" name=""/>
        <dsp:cNvSpPr/>
      </dsp:nvSpPr>
      <dsp:spPr>
        <a:xfrm rot="16200000">
          <a:off x="2865473" y="1344723"/>
          <a:ext cx="40322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03221" y="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890C79-C646-6941-81C0-106B44A6C266}">
      <dsp:nvSpPr>
        <dsp:cNvPr id="0" name=""/>
        <dsp:cNvSpPr/>
      </dsp:nvSpPr>
      <dsp:spPr>
        <a:xfrm>
          <a:off x="1848061" y="326248"/>
          <a:ext cx="2438044" cy="81686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1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accent1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500" kern="1200" dirty="0" smtClean="0"/>
            <a:t>client</a:t>
          </a:r>
          <a:endParaRPr lang="zh-CN" altLang="en-US" sz="3500" kern="1200" dirty="0"/>
        </a:p>
      </dsp:txBody>
      <dsp:txXfrm>
        <a:off x="1887937" y="366124"/>
        <a:ext cx="2358292" cy="737112"/>
      </dsp:txXfrm>
    </dsp:sp>
    <dsp:sp modelId="{A2E44EE5-0F8D-9042-9B38-9E7AB18F0663}">
      <dsp:nvSpPr>
        <dsp:cNvPr id="0" name=""/>
        <dsp:cNvSpPr/>
      </dsp:nvSpPr>
      <dsp:spPr>
        <a:xfrm rot="2297742">
          <a:off x="3793436" y="2897019"/>
          <a:ext cx="42433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24338" y="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34A02B-F5DD-744D-91CA-67E744DA1CCB}">
      <dsp:nvSpPr>
        <dsp:cNvPr id="0" name=""/>
        <dsp:cNvSpPr/>
      </dsp:nvSpPr>
      <dsp:spPr>
        <a:xfrm>
          <a:off x="3801443" y="3028505"/>
          <a:ext cx="1775845" cy="81686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1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accent1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500" kern="1200" dirty="0" smtClean="0"/>
            <a:t>backup</a:t>
          </a:r>
          <a:endParaRPr lang="zh-CN" altLang="en-US" sz="3500" kern="1200" dirty="0"/>
        </a:p>
      </dsp:txBody>
      <dsp:txXfrm>
        <a:off x="3841319" y="3068381"/>
        <a:ext cx="1696093" cy="737112"/>
      </dsp:txXfrm>
    </dsp:sp>
    <dsp:sp modelId="{ECD72B7B-9463-D440-9BB3-DFC1AE2ADF1C}">
      <dsp:nvSpPr>
        <dsp:cNvPr id="0" name=""/>
        <dsp:cNvSpPr/>
      </dsp:nvSpPr>
      <dsp:spPr>
        <a:xfrm rot="8502258">
          <a:off x="1916392" y="2897019"/>
          <a:ext cx="42433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24338" y="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24C157-31D4-384B-9FBB-715EE303255E}">
      <dsp:nvSpPr>
        <dsp:cNvPr id="0" name=""/>
        <dsp:cNvSpPr/>
      </dsp:nvSpPr>
      <dsp:spPr>
        <a:xfrm>
          <a:off x="518710" y="3028505"/>
          <a:ext cx="1852181" cy="81686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1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accent1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500" kern="1200" dirty="0" smtClean="0"/>
            <a:t>master</a:t>
          </a:r>
          <a:endParaRPr lang="zh-CN" altLang="en-US" sz="3500" kern="1200" dirty="0"/>
        </a:p>
      </dsp:txBody>
      <dsp:txXfrm>
        <a:off x="558586" y="3068381"/>
        <a:ext cx="1772429" cy="7371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任意形状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18/1/24</a:t>
            </a:fld>
            <a:endParaRPr 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幻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二级</a:t>
            </a:r>
          </a:p>
          <a:p>
            <a:pPr lvl="2" eaLnBrk="1" latinLnBrk="0" hangingPunct="1"/>
            <a:r>
              <a:rPr lang="zh-CN" altLang="en-US" smtClean="0"/>
              <a:t>三级</a:t>
            </a:r>
          </a:p>
          <a:p>
            <a:pPr lvl="3" eaLnBrk="1" latinLnBrk="0" hangingPunct="1"/>
            <a:r>
              <a:rPr lang="zh-CN" altLang="en-US" smtClean="0"/>
              <a:t>四级</a:t>
            </a:r>
          </a:p>
          <a:p>
            <a:pPr lvl="4" eaLnBrk="1" latinLnBrk="0" hangingPunct="1"/>
            <a:r>
              <a:rPr lang="zh-CN" altLang="en-US" smtClean="0"/>
              <a:t>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18/1/24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任意形状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18/1/24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二级</a:t>
            </a:r>
          </a:p>
          <a:p>
            <a:pPr lvl="2" eaLnBrk="1" latinLnBrk="0" hangingPunct="1"/>
            <a:r>
              <a:rPr lang="zh-CN" altLang="en-US" smtClean="0"/>
              <a:t>三级</a:t>
            </a:r>
          </a:p>
          <a:p>
            <a:pPr lvl="3" eaLnBrk="1" latinLnBrk="0" hangingPunct="1"/>
            <a:r>
              <a:rPr lang="zh-CN" altLang="en-US" smtClean="0"/>
              <a:t>四级</a:t>
            </a:r>
          </a:p>
          <a:p>
            <a:pPr lvl="4" eaLnBrk="1" latinLnBrk="0" hangingPunct="1"/>
            <a:r>
              <a:rPr lang="zh-CN" altLang="en-US" smtClean="0"/>
              <a:t>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二级</a:t>
            </a:r>
          </a:p>
          <a:p>
            <a:pPr lvl="2" eaLnBrk="1" latinLnBrk="0" hangingPunct="1"/>
            <a:r>
              <a:rPr lang="zh-CN" altLang="en-US" smtClean="0"/>
              <a:t>三级</a:t>
            </a:r>
          </a:p>
          <a:p>
            <a:pPr lvl="3" eaLnBrk="1" latinLnBrk="0" hangingPunct="1"/>
            <a:r>
              <a:rPr lang="zh-CN" altLang="en-US" smtClean="0"/>
              <a:t>四级</a:t>
            </a:r>
          </a:p>
          <a:p>
            <a:pPr lvl="4" eaLnBrk="1" latinLnBrk="0" hangingPunct="1"/>
            <a:r>
              <a:rPr lang="zh-CN" altLang="en-US" smtClean="0"/>
              <a:t>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18/1/24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二级</a:t>
            </a:r>
          </a:p>
          <a:p>
            <a:pPr lvl="2" eaLnBrk="1" latinLnBrk="0" hangingPunct="1"/>
            <a:r>
              <a:rPr lang="zh-CN" altLang="en-US" smtClean="0"/>
              <a:t>三级</a:t>
            </a:r>
          </a:p>
          <a:p>
            <a:pPr lvl="3" eaLnBrk="1" latinLnBrk="0" hangingPunct="1"/>
            <a:r>
              <a:rPr lang="zh-CN" altLang="en-US" smtClean="0"/>
              <a:t>四级</a:t>
            </a:r>
          </a:p>
          <a:p>
            <a:pPr lvl="4" eaLnBrk="1" latinLnBrk="0" hangingPunct="1"/>
            <a:r>
              <a:rPr lang="zh-CN" altLang="en-US" smtClean="0"/>
              <a:t>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二级</a:t>
            </a:r>
          </a:p>
          <a:p>
            <a:pPr lvl="2" eaLnBrk="1" latinLnBrk="0" hangingPunct="1"/>
            <a:r>
              <a:rPr lang="zh-CN" altLang="en-US" smtClean="0"/>
              <a:t>三级</a:t>
            </a:r>
          </a:p>
          <a:p>
            <a:pPr lvl="3" eaLnBrk="1" latinLnBrk="0" hangingPunct="1"/>
            <a:r>
              <a:rPr lang="zh-CN" altLang="en-US" smtClean="0"/>
              <a:t>四级</a:t>
            </a:r>
          </a:p>
          <a:p>
            <a:pPr lvl="4" eaLnBrk="1" latinLnBrk="0" hangingPunct="1"/>
            <a:r>
              <a:rPr lang="zh-CN" altLang="en-US" smtClean="0"/>
              <a:t>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18/1/24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18/1/24</a:t>
            </a:fld>
            <a:endParaRPr lang="en-US"/>
          </a:p>
        </p:txBody>
      </p:sp>
      <p:sp>
        <p:nvSpPr>
          <p:cNvPr id="8" name="幻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18/1/24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二级</a:t>
            </a:r>
          </a:p>
          <a:p>
            <a:pPr lvl="2" eaLnBrk="1" latinLnBrk="0" hangingPunct="1"/>
            <a:r>
              <a:rPr lang="zh-CN" altLang="en-US" smtClean="0"/>
              <a:t>三级</a:t>
            </a:r>
          </a:p>
          <a:p>
            <a:pPr lvl="3" eaLnBrk="1" latinLnBrk="0" hangingPunct="1"/>
            <a:r>
              <a:rPr lang="zh-CN" altLang="en-US" smtClean="0"/>
              <a:t>四级</a:t>
            </a:r>
          </a:p>
          <a:p>
            <a:pPr lvl="4" eaLnBrk="1" latinLnBrk="0" hangingPunct="1"/>
            <a:r>
              <a:rPr lang="zh-CN" altLang="en-US" smtClean="0"/>
              <a:t>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18/1/24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将图片拖动到占位符，或单击添加图标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18/1/24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二级</a:t>
            </a:r>
          </a:p>
          <a:p>
            <a:pPr lvl="2" eaLnBrk="1" latinLnBrk="0" hangingPunct="1"/>
            <a:r>
              <a:rPr lang="zh-CN" altLang="en-US" smtClean="0"/>
              <a:t>三级</a:t>
            </a:r>
          </a:p>
          <a:p>
            <a:pPr lvl="3" eaLnBrk="1" latinLnBrk="0" hangingPunct="1"/>
            <a:r>
              <a:rPr lang="zh-CN" altLang="en-US" smtClean="0"/>
              <a:t>四级</a:t>
            </a:r>
          </a:p>
          <a:p>
            <a:pPr lvl="4" eaLnBrk="1" latinLnBrk="0" hangingPunct="1"/>
            <a:r>
              <a:rPr lang="zh-CN" altLang="en-US" smtClean="0"/>
              <a:t>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18/1/24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二级</a:t>
            </a:r>
          </a:p>
          <a:p>
            <a:pPr lvl="2" eaLnBrk="1" latinLnBrk="0" hangingPunct="1"/>
            <a:r>
              <a:rPr lang="zh-CN" altLang="en-US" smtClean="0"/>
              <a:t>三级</a:t>
            </a:r>
          </a:p>
          <a:p>
            <a:pPr lvl="3" eaLnBrk="1" latinLnBrk="0" hangingPunct="1"/>
            <a:r>
              <a:rPr lang="zh-CN" altLang="en-US" smtClean="0"/>
              <a:t>四级</a:t>
            </a:r>
          </a:p>
          <a:p>
            <a:pPr lvl="4" eaLnBrk="1" latinLnBrk="0" hangingPunct="1"/>
            <a:r>
              <a:rPr lang="zh-CN" altLang="en-US" smtClean="0"/>
              <a:t>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18/1/24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形状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任意形状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二级</a:t>
            </a:r>
          </a:p>
          <a:p>
            <a:pPr lvl="2" eaLnBrk="1" latinLnBrk="0" hangingPunct="1"/>
            <a:r>
              <a:rPr kumimoji="0" lang="zh-CN" altLang="en-US" smtClean="0"/>
              <a:t>三级</a:t>
            </a:r>
          </a:p>
          <a:p>
            <a:pPr lvl="3" eaLnBrk="1" latinLnBrk="0" hangingPunct="1"/>
            <a:r>
              <a:rPr kumimoji="0" lang="zh-CN" altLang="en-US" smtClean="0"/>
              <a:t>四级</a:t>
            </a:r>
          </a:p>
          <a:p>
            <a:pPr lvl="4" eaLnBrk="1" latinLnBrk="0" hangingPunct="1"/>
            <a:r>
              <a:rPr kumimoji="0" lang="zh-CN" altLang="en-US" smtClean="0"/>
              <a:t>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18/1/24</a:t>
            </a:fld>
            <a:endParaRPr lang="en-US" sz="1000">
              <a:solidFill>
                <a:schemeClr val="tx2">
                  <a:shade val="50000"/>
                </a:schemeClr>
              </a:solidFill>
            </a:endParaRPr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algn="ctr" eaLnBrk="1" latinLnBrk="0" hangingPunct="1"/>
            <a:endParaRPr kumimoji="0" lang="en-US" sz="1000" dirty="0">
              <a:solidFill>
                <a:schemeClr val="tx2">
                  <a:shade val="50000"/>
                </a:schemeClr>
              </a:solidFill>
            </a:endParaRPr>
          </a:p>
        </p:txBody>
      </p:sp>
      <p:sp>
        <p:nvSpPr>
          <p:cNvPr id="18" name="幻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 sz="1000" dirty="0">
              <a:solidFill>
                <a:schemeClr val="tx2">
                  <a:shade val="50000"/>
                </a:scheme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/>
              <a:t>同步技术这两年（上）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fengw@keruyun.com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5183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2188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引子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07210"/>
            <a:ext cx="8004540" cy="4718954"/>
          </a:xfrm>
        </p:spPr>
        <p:txBody>
          <a:bodyPr/>
          <a:lstStyle/>
          <a:p>
            <a:r>
              <a:rPr kumimoji="1" lang="zh-CN" altLang="en-US" dirty="0" smtClean="0"/>
              <a:t>古有淘宝技术十年，今有同步技术两年</a:t>
            </a:r>
            <a:endParaRPr kumimoji="1" lang="en-US" altLang="zh-CN" dirty="0" smtClean="0"/>
          </a:p>
          <a:p>
            <a:endParaRPr kumimoji="1" lang="en-US" altLang="zh-CN" dirty="0" smtClean="0"/>
          </a:p>
          <a:p>
            <a:r>
              <a:rPr kumimoji="1" lang="zh-CN" altLang="en-US" dirty="0" smtClean="0"/>
              <a:t>总结过去</a:t>
            </a:r>
            <a:endParaRPr kumimoji="1" lang="en-US" altLang="zh-CN" dirty="0" smtClean="0"/>
          </a:p>
          <a:p>
            <a:r>
              <a:rPr kumimoji="1" lang="zh-CN" altLang="en-US" smtClean="0"/>
              <a:t>一些思考</a:t>
            </a:r>
            <a:endParaRPr kumimoji="1" lang="en-US" altLang="zh-CN"/>
          </a:p>
          <a:p>
            <a:r>
              <a:rPr kumimoji="1" lang="zh-CN" altLang="en-US" dirty="0" smtClean="0"/>
              <a:t>展望未来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08077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17739"/>
          </a:xfrm>
        </p:spPr>
        <p:txBody>
          <a:bodyPr>
            <a:normAutofit fontScale="90000"/>
          </a:bodyPr>
          <a:lstStyle/>
          <a:p>
            <a:r>
              <a:rPr kumimoji="1" lang="en-US" altLang="zh-CN" sz="3600" dirty="0" smtClean="0"/>
              <a:t>2015</a:t>
            </a:r>
            <a:endParaRPr kumimoji="1"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84116"/>
            <a:ext cx="7467600" cy="4942048"/>
          </a:xfrm>
        </p:spPr>
        <p:txBody>
          <a:bodyPr/>
          <a:lstStyle/>
          <a:p>
            <a:r>
              <a:rPr kumimoji="1" lang="en-US" altLang="zh-CN" dirty="0"/>
              <a:t>p</a:t>
            </a:r>
            <a:r>
              <a:rPr kumimoji="1" lang="en-US" altLang="zh-CN" dirty="0" smtClean="0"/>
              <a:t>ush</a:t>
            </a:r>
            <a:r>
              <a:rPr kumimoji="1" lang="zh-CN" altLang="en-US" dirty="0" smtClean="0"/>
              <a:t>上线</a:t>
            </a:r>
            <a:endParaRPr kumimoji="1" lang="en-US" altLang="zh-CN" dirty="0" smtClean="0"/>
          </a:p>
          <a:p>
            <a:r>
              <a:rPr kumimoji="1" lang="zh-CN" altLang="en-US" dirty="0" smtClean="0"/>
              <a:t>使用</a:t>
            </a:r>
            <a:r>
              <a:rPr kumimoji="1" lang="en-US" altLang="zh-CN" dirty="0" smtClean="0"/>
              <a:t>ONEAPM</a:t>
            </a:r>
          </a:p>
          <a:p>
            <a:r>
              <a:rPr kumimoji="1" lang="en-US" altLang="zh-CN" dirty="0" smtClean="0"/>
              <a:t>V5</a:t>
            </a:r>
            <a:r>
              <a:rPr kumimoji="1" lang="zh-CN" altLang="en-US" dirty="0" smtClean="0"/>
              <a:t>同步下行并行化</a:t>
            </a:r>
            <a:endParaRPr kumimoji="1" lang="en-US" altLang="zh-CN" dirty="0" smtClean="0"/>
          </a:p>
          <a:p>
            <a:r>
              <a:rPr kumimoji="1" lang="en-US" altLang="zh-CN" dirty="0" smtClean="0"/>
              <a:t>Quartz cluster</a:t>
            </a:r>
          </a:p>
          <a:p>
            <a:r>
              <a:rPr kumimoji="1" lang="zh-CN" altLang="en-US" dirty="0" smtClean="0"/>
              <a:t>云拍档升级为</a:t>
            </a:r>
            <a:r>
              <a:rPr kumimoji="1" lang="en-US" altLang="zh-CN" dirty="0" smtClean="0"/>
              <a:t>mobile</a:t>
            </a:r>
            <a:r>
              <a:rPr kumimoji="1" lang="zh-CN" altLang="en-US" dirty="0" smtClean="0"/>
              <a:t>产品线</a:t>
            </a:r>
            <a:endParaRPr kumimoji="1" lang="en-US" altLang="zh-CN" dirty="0" smtClean="0"/>
          </a:p>
          <a:p>
            <a:r>
              <a:rPr kumimoji="1" lang="zh-CN" altLang="en-US" dirty="0" smtClean="0"/>
              <a:t>确定选用微服务的架构方向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34601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833"/>
            <a:ext cx="7467600" cy="755027"/>
          </a:xfrm>
        </p:spPr>
        <p:txBody>
          <a:bodyPr>
            <a:normAutofit/>
          </a:bodyPr>
          <a:lstStyle/>
          <a:p>
            <a:r>
              <a:rPr kumimoji="1" lang="en-US" altLang="zh-CN" sz="3600" dirty="0" smtClean="0"/>
              <a:t>2015</a:t>
            </a:r>
            <a:endParaRPr kumimoji="1"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9794"/>
            <a:ext cx="8330652" cy="4976370"/>
          </a:xfrm>
        </p:spPr>
        <p:txBody>
          <a:bodyPr/>
          <a:lstStyle/>
          <a:p>
            <a:r>
              <a:rPr kumimoji="1" lang="zh-CN" altLang="en-US" dirty="0" smtClean="0"/>
              <a:t>“轻松”</a:t>
            </a:r>
            <a:endParaRPr kumimoji="1" lang="en-US" altLang="zh-CN" dirty="0" smtClean="0"/>
          </a:p>
          <a:p>
            <a:pPr lvl="1"/>
            <a:r>
              <a:rPr kumimoji="1" lang="zh-CN" altLang="zh-CN" dirty="0" smtClean="0"/>
              <a:t>2</a:t>
            </a:r>
            <a:r>
              <a:rPr kumimoji="1" lang="zh-CN" altLang="en-US" dirty="0" smtClean="0"/>
              <a:t>周一迭代，几乎不加班，迭代需求</a:t>
            </a:r>
            <a:r>
              <a:rPr kumimoji="1" lang="en-US" altLang="zh-CN" dirty="0" smtClean="0"/>
              <a:t>1</a:t>
            </a:r>
            <a:r>
              <a:rPr kumimoji="1" lang="zh-CN" altLang="en-US" dirty="0" smtClean="0"/>
              <a:t>天设计</a:t>
            </a:r>
            <a:r>
              <a:rPr kumimoji="1" lang="en-US" altLang="zh-CN" dirty="0" smtClean="0"/>
              <a:t>2</a:t>
            </a:r>
            <a:r>
              <a:rPr kumimoji="1" lang="zh-CN" altLang="en-US" dirty="0" smtClean="0"/>
              <a:t>天开发</a:t>
            </a:r>
            <a:r>
              <a:rPr kumimoji="1" lang="zh-CN" altLang="zh-CN" dirty="0" smtClean="0"/>
              <a:t>2</a:t>
            </a:r>
            <a:r>
              <a:rPr kumimoji="1" lang="zh-CN" altLang="en-US" dirty="0" smtClean="0"/>
              <a:t>天联调</a:t>
            </a:r>
            <a:r>
              <a:rPr kumimoji="1" lang="en-US" altLang="zh-CN" dirty="0" smtClean="0"/>
              <a:t>5</a:t>
            </a:r>
            <a:r>
              <a:rPr kumimoji="1" lang="zh-CN" altLang="en-US" dirty="0" smtClean="0"/>
              <a:t>天测试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r>
              <a:rPr kumimoji="1" lang="zh-CN" altLang="en-US" dirty="0" smtClean="0"/>
              <a:t>“沉重”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商户数量远未达标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在不到</a:t>
            </a:r>
            <a:r>
              <a:rPr kumimoji="1" lang="en-US" altLang="zh-CN" dirty="0"/>
              <a:t>2</a:t>
            </a:r>
            <a:r>
              <a:rPr kumimoji="1" lang="en-US" altLang="zh-CN" dirty="0" smtClean="0"/>
              <a:t>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CPM</a:t>
            </a:r>
            <a:r>
              <a:rPr kumimoji="1" lang="zh-CN" altLang="en-US" dirty="0" smtClean="0"/>
              <a:t>的情况下，整个同步服务响应时间居高不下（</a:t>
            </a:r>
            <a:r>
              <a:rPr kumimoji="1" lang="en-US" altLang="zh-CN" dirty="0" smtClean="0"/>
              <a:t>500MS</a:t>
            </a:r>
            <a:r>
              <a:rPr kumimoji="1" lang="en-US" altLang="zh-CN" dirty="0" smtClean="0">
                <a:sym typeface="Wingdings"/>
              </a:rPr>
              <a:t>300MS</a:t>
            </a:r>
            <a:r>
              <a:rPr kumimoji="1" lang="zh-CN" altLang="en-US" dirty="0" smtClean="0">
                <a:sym typeface="Wingdings"/>
              </a:rPr>
              <a:t>）</a:t>
            </a:r>
            <a:endParaRPr kumimoji="1" lang="en-US" altLang="zh-CN" dirty="0" smtClean="0">
              <a:sym typeface="Wingdings"/>
            </a:endParaRPr>
          </a:p>
          <a:p>
            <a:pPr lvl="1"/>
            <a:endParaRPr kumimoji="1" lang="en-US" altLang="zh-CN" dirty="0" smtClean="0"/>
          </a:p>
          <a:p>
            <a:pPr marL="36576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3405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7467600" cy="617739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 smtClean="0"/>
              <a:t>Push</a:t>
            </a:r>
            <a:r>
              <a:rPr kumimoji="1" lang="zh-CN" altLang="en-US" dirty="0" smtClean="0"/>
              <a:t>支持</a:t>
            </a:r>
            <a:r>
              <a:rPr kumimoji="1" lang="en-US" altLang="zh-CN" dirty="0" smtClean="0"/>
              <a:t>cluster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157646"/>
            <a:ext cx="8210505" cy="1532821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 smtClean="0"/>
              <a:t>作为直接基于</a:t>
            </a:r>
            <a:r>
              <a:rPr kumimoji="1" lang="en-US" altLang="zh-CN" dirty="0" err="1" smtClean="0"/>
              <a:t>netty</a:t>
            </a:r>
            <a:r>
              <a:rPr kumimoji="1" lang="zh-CN" altLang="en-US" dirty="0" smtClean="0"/>
              <a:t>开发的服务，并不具备</a:t>
            </a:r>
            <a:r>
              <a:rPr kumimoji="1" lang="en-US" altLang="zh-CN" dirty="0" smtClean="0"/>
              <a:t>cluster</a:t>
            </a:r>
            <a:r>
              <a:rPr kumimoji="1" lang="zh-CN" altLang="en-US" dirty="0" smtClean="0"/>
              <a:t>能力</a:t>
            </a:r>
            <a:endParaRPr kumimoji="1" lang="en-US" altLang="zh-CN" dirty="0" smtClean="0"/>
          </a:p>
          <a:p>
            <a:r>
              <a:rPr kumimoji="1" lang="zh-CN" altLang="en-US" dirty="0" smtClean="0"/>
              <a:t>和短连接不同，长连接是有状态的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  <p:graphicFrame>
        <p:nvGraphicFramePr>
          <p:cNvPr id="5" name="图表 4"/>
          <p:cNvGraphicFramePr/>
          <p:nvPr>
            <p:extLst>
              <p:ext uri="{D42A27DB-BD31-4B8C-83A1-F6EECF244321}">
                <p14:modId xmlns:p14="http://schemas.microsoft.com/office/powerpoint/2010/main" val="478586325"/>
              </p:ext>
            </p:extLst>
          </p:nvPr>
        </p:nvGraphicFramePr>
        <p:xfrm>
          <a:off x="1524000" y="253517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54570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3970"/>
            <a:ext cx="7467600" cy="650883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Push</a:t>
            </a:r>
            <a:r>
              <a:rPr kumimoji="1" lang="zh-CN" altLang="en-US" dirty="0"/>
              <a:t>支持</a:t>
            </a:r>
            <a:r>
              <a:rPr kumimoji="1" lang="en-US" altLang="zh-CN" dirty="0"/>
              <a:t>cluster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033136"/>
            <a:ext cx="8218567" cy="1140757"/>
          </a:xfrm>
        </p:spPr>
        <p:txBody>
          <a:bodyPr>
            <a:normAutofit/>
          </a:bodyPr>
          <a:lstStyle/>
          <a:p>
            <a:r>
              <a:rPr kumimoji="1" lang="zh-CN" altLang="en-US" dirty="0" smtClean="0"/>
              <a:t>不同的</a:t>
            </a:r>
            <a:r>
              <a:rPr kumimoji="1" lang="en-US" altLang="zh-CN" dirty="0" smtClean="0"/>
              <a:t>client</a:t>
            </a:r>
            <a:r>
              <a:rPr kumimoji="1" lang="zh-CN" altLang="en-US" dirty="0" smtClean="0"/>
              <a:t>会链接到不同的节点</a:t>
            </a:r>
            <a:endParaRPr kumimoji="1" lang="en-US" altLang="zh-CN" dirty="0" smtClean="0"/>
          </a:p>
          <a:p>
            <a:r>
              <a:rPr kumimoji="1" lang="zh-CN" altLang="en-US" dirty="0" smtClean="0"/>
              <a:t>节点间需要相互感知</a:t>
            </a:r>
            <a:r>
              <a:rPr kumimoji="1" lang="en-US" altLang="zh-CN" dirty="0" smtClean="0"/>
              <a:t>&amp;</a:t>
            </a:r>
            <a:r>
              <a:rPr kumimoji="1" lang="zh-CN" altLang="en-US" dirty="0" smtClean="0"/>
              <a:t>通讯</a:t>
            </a:r>
            <a:endParaRPr kumimoji="1"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516131" y="3083096"/>
            <a:ext cx="1442373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client</a:t>
            </a:r>
            <a:endParaRPr kumimoji="1"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3207666" y="3083096"/>
            <a:ext cx="1356261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haproxy</a:t>
            </a:r>
            <a:endParaRPr kumimoji="1" lang="zh-CN" altLang="en-US" dirty="0"/>
          </a:p>
        </p:txBody>
      </p:sp>
      <p:sp>
        <p:nvSpPr>
          <p:cNvPr id="15" name="椭圆 14"/>
          <p:cNvSpPr/>
          <p:nvPr/>
        </p:nvSpPr>
        <p:spPr>
          <a:xfrm>
            <a:off x="6113940" y="2819609"/>
            <a:ext cx="1983083" cy="1700376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>
                <a:solidFill>
                  <a:schemeClr val="tx1"/>
                </a:solidFill>
              </a:rPr>
              <a:t>hazelcast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2154500" y="3418077"/>
            <a:ext cx="880942" cy="322859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4696508" y="3398285"/>
            <a:ext cx="880942" cy="322859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5554213" y="4519985"/>
            <a:ext cx="1162510" cy="77485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>
                <a:solidFill>
                  <a:schemeClr val="tx1"/>
                </a:solidFill>
              </a:rPr>
              <a:t>node1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201757" y="1895809"/>
            <a:ext cx="1182334" cy="816185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>
                <a:solidFill>
                  <a:schemeClr val="tx1"/>
                </a:solidFill>
              </a:rPr>
              <a:t>node2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7685480" y="2223881"/>
            <a:ext cx="1162510" cy="77485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>
                <a:solidFill>
                  <a:schemeClr val="tx1"/>
                </a:solidFill>
              </a:rPr>
              <a:t>node3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278153" y="4672385"/>
            <a:ext cx="1333029" cy="77485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n</a:t>
            </a:r>
            <a:r>
              <a:rPr kumimoji="1" lang="en-US" altLang="zh-CN" dirty="0" err="1" smtClean="0">
                <a:solidFill>
                  <a:schemeClr val="tx1"/>
                </a:solidFill>
              </a:rPr>
              <a:t>ode.n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392615" y="5470493"/>
            <a:ext cx="8218567" cy="114075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420624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2376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○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37744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047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-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截止到</a:t>
            </a:r>
            <a:r>
              <a:rPr kumimoji="1" lang="en-US" altLang="zh-CN" dirty="0" smtClean="0"/>
              <a:t>17</a:t>
            </a:r>
            <a:r>
              <a:rPr kumimoji="1" lang="zh-CN" altLang="en-US" dirty="0" smtClean="0"/>
              <a:t>年</a:t>
            </a:r>
            <a:r>
              <a:rPr kumimoji="1" lang="en-US" altLang="zh-CN" dirty="0" smtClean="0"/>
              <a:t>11</a:t>
            </a:r>
            <a:r>
              <a:rPr kumimoji="1" lang="zh-CN" altLang="en-US" dirty="0" smtClean="0"/>
              <a:t>月，共</a:t>
            </a:r>
            <a:r>
              <a:rPr kumimoji="1" lang="zh-CN" altLang="zh-CN" dirty="0" smtClean="0"/>
              <a:t>8</a:t>
            </a:r>
            <a:r>
              <a:rPr kumimoji="1" lang="en-US" altLang="zh-CN" dirty="0" smtClean="0"/>
              <a:t>W+</a:t>
            </a:r>
            <a:r>
              <a:rPr kumimoji="1" lang="zh-CN" altLang="en-US" dirty="0" smtClean="0"/>
              <a:t>设备，</a:t>
            </a:r>
            <a:r>
              <a:rPr kumimoji="1" lang="zh-CN" altLang="zh-CN" dirty="0" smtClean="0"/>
              <a:t>3</a:t>
            </a:r>
            <a:r>
              <a:rPr kumimoji="1" lang="zh-CN" altLang="en-US" dirty="0" smtClean="0"/>
              <a:t>个节点，</a:t>
            </a:r>
            <a:r>
              <a:rPr kumimoji="1" lang="en-US" altLang="zh-CN" dirty="0" smtClean="0"/>
              <a:t>CPM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70W+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77333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5" grpId="0" animBg="1"/>
      <p:bldP spid="17" grpId="0" animBg="1"/>
      <p:bldP spid="18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2</a:t>
            </a:r>
            <a:r>
              <a:rPr kumimoji="1" lang="en-US" altLang="zh-CN" dirty="0" smtClean="0"/>
              <a:t>016.2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8"/>
            <a:ext cx="7852592" cy="253980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</a:t>
            </a:r>
            <a:r>
              <a:rPr kumimoji="1" lang="en-US" altLang="zh-CN" dirty="0" smtClean="0"/>
              <a:t>ync.v4</a:t>
            </a:r>
            <a:r>
              <a:rPr kumimoji="1" lang="zh-CN" altLang="en-US" dirty="0" smtClean="0"/>
              <a:t>并行化，响应时间</a:t>
            </a:r>
            <a:r>
              <a:rPr kumimoji="1" lang="en-US" altLang="zh-CN" dirty="0"/>
              <a:t>3</a:t>
            </a:r>
            <a:r>
              <a:rPr kumimoji="1" lang="en-US" altLang="zh-CN" dirty="0" smtClean="0"/>
              <a:t>00ms</a:t>
            </a:r>
            <a:r>
              <a:rPr kumimoji="1" lang="en-US" altLang="zh-CN" dirty="0" smtClean="0">
                <a:sym typeface="Wingdings"/>
              </a:rPr>
              <a:t>220ms</a:t>
            </a:r>
          </a:p>
          <a:p>
            <a:r>
              <a:rPr kumimoji="1" lang="en-US" altLang="zh-CN" dirty="0" smtClean="0">
                <a:sym typeface="Wingdings"/>
              </a:rPr>
              <a:t>Hibernate validator</a:t>
            </a:r>
            <a:endParaRPr kumimoji="1" lang="en-US" altLang="zh-CN" dirty="0">
              <a:sym typeface="Wingdings"/>
            </a:endParaRPr>
          </a:p>
          <a:p>
            <a:r>
              <a:rPr lang="en-US" altLang="zh-CN" dirty="0" err="1"/>
              <a:t>m</a:t>
            </a:r>
            <a:r>
              <a:rPr lang="en-US" altLang="zh-CN" dirty="0" err="1" smtClean="0"/>
              <a:t>emcached</a:t>
            </a:r>
            <a:r>
              <a:rPr lang="en-US" altLang="zh-CN" dirty="0" smtClean="0"/>
              <a:t> lock</a:t>
            </a:r>
          </a:p>
          <a:p>
            <a:r>
              <a:rPr kumimoji="1" lang="en-US" altLang="zh-CN" dirty="0">
                <a:sym typeface="Wingdings"/>
              </a:rPr>
              <a:t>checkout</a:t>
            </a:r>
            <a:r>
              <a:rPr kumimoji="1" lang="zh-CN" altLang="en-US" dirty="0">
                <a:sym typeface="Wingdings"/>
              </a:rPr>
              <a:t>并入同步组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56738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58501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 smtClean="0"/>
              <a:t>CHECKOUT</a:t>
            </a:r>
            <a:r>
              <a:rPr kumimoji="1" lang="zh-CN" altLang="en-US" dirty="0" smtClean="0"/>
              <a:t>并入同步组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39" y="1428008"/>
            <a:ext cx="7063682" cy="491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925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微服务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8"/>
            <a:ext cx="8283151" cy="5359410"/>
          </a:xfrm>
        </p:spPr>
        <p:txBody>
          <a:bodyPr>
            <a:normAutofit/>
          </a:bodyPr>
          <a:lstStyle/>
          <a:p>
            <a:r>
              <a:rPr kumimoji="1" lang="en-US" altLang="zh-CN" dirty="0" smtClean="0">
                <a:sym typeface="Wingdings"/>
              </a:rPr>
              <a:t>2016.3</a:t>
            </a:r>
            <a:r>
              <a:rPr kumimoji="1" lang="zh-CN" altLang="en-US" dirty="0" smtClean="0">
                <a:sym typeface="Wingdings"/>
              </a:rPr>
              <a:t> 开始实施微服务改造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为工程添加</a:t>
            </a:r>
            <a:r>
              <a:rPr kumimoji="1" lang="en-US" altLang="zh-CN" dirty="0" smtClean="0">
                <a:sym typeface="Wingdings"/>
              </a:rPr>
              <a:t>jar</a:t>
            </a:r>
            <a:r>
              <a:rPr kumimoji="1" lang="zh-CN" altLang="en-US" dirty="0" smtClean="0">
                <a:sym typeface="Wingdings"/>
              </a:rPr>
              <a:t>包构建模块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联调、测试环境使用微服务部署，线上仍然为一个</a:t>
            </a:r>
            <a:r>
              <a:rPr kumimoji="1" lang="en-US" altLang="zh-CN" dirty="0" smtClean="0">
                <a:sym typeface="Wingdings"/>
              </a:rPr>
              <a:t>war</a:t>
            </a:r>
            <a:r>
              <a:rPr kumimoji="1" lang="zh-CN" altLang="en-US" dirty="0" smtClean="0">
                <a:sym typeface="Wingdings"/>
              </a:rPr>
              <a:t>包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2016.5</a:t>
            </a:r>
            <a:r>
              <a:rPr kumimoji="1" lang="zh-CN" altLang="en-US" dirty="0" smtClean="0">
                <a:sym typeface="Wingdings"/>
              </a:rPr>
              <a:t> 上线一个微服务节点，通过</a:t>
            </a:r>
            <a:r>
              <a:rPr kumimoji="1" lang="en-US" altLang="zh-CN" dirty="0" smtClean="0">
                <a:sym typeface="Wingdings"/>
              </a:rPr>
              <a:t>NGINX</a:t>
            </a:r>
            <a:r>
              <a:rPr kumimoji="1" lang="zh-CN" altLang="en-US" dirty="0" smtClean="0">
                <a:sym typeface="Wingdings"/>
              </a:rPr>
              <a:t>引流进行蓝绿测试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2016.7</a:t>
            </a:r>
            <a:r>
              <a:rPr kumimoji="1" lang="zh-CN" altLang="en-US" dirty="0" smtClean="0">
                <a:sym typeface="Wingdings"/>
              </a:rPr>
              <a:t> 上线</a:t>
            </a:r>
            <a:r>
              <a:rPr kumimoji="1" lang="en-US" altLang="zh-CN" dirty="0" smtClean="0">
                <a:sym typeface="Wingdings"/>
              </a:rPr>
              <a:t>mobile</a:t>
            </a:r>
            <a:r>
              <a:rPr kumimoji="1" lang="zh-CN" altLang="en-US" dirty="0" smtClean="0">
                <a:sym typeface="Wingdings"/>
              </a:rPr>
              <a:t>和</a:t>
            </a:r>
            <a:r>
              <a:rPr kumimoji="1" lang="en-US" altLang="zh-CN" dirty="0" smtClean="0">
                <a:sym typeface="Wingdings"/>
              </a:rPr>
              <a:t>sync.v5</a:t>
            </a:r>
          </a:p>
          <a:p>
            <a:r>
              <a:rPr kumimoji="1" lang="en-US" altLang="zh-CN" dirty="0" smtClean="0">
                <a:sym typeface="Wingdings"/>
              </a:rPr>
              <a:t>2016.8  </a:t>
            </a:r>
            <a:r>
              <a:rPr kumimoji="1" lang="zh-CN" altLang="en-US" dirty="0" smtClean="0">
                <a:sym typeface="Wingdings"/>
              </a:rPr>
              <a:t>拆分</a:t>
            </a:r>
            <a:r>
              <a:rPr kumimoji="1" lang="en-US" altLang="zh-CN" dirty="0" smtClean="0">
                <a:sym typeface="Wingdings"/>
              </a:rPr>
              <a:t>sync.v5 </a:t>
            </a:r>
            <a:r>
              <a:rPr kumimoji="1" lang="en-US" altLang="zh-CN" dirty="0" err="1" smtClean="0">
                <a:sym typeface="Wingdings"/>
              </a:rPr>
              <a:t>git</a:t>
            </a:r>
            <a:r>
              <a:rPr kumimoji="1" lang="en-US" altLang="zh-CN" dirty="0" smtClean="0">
                <a:sym typeface="Wingdings"/>
              </a:rPr>
              <a:t> repo</a:t>
            </a:r>
          </a:p>
          <a:p>
            <a:r>
              <a:rPr kumimoji="1" lang="zh-CN" altLang="en-US" dirty="0" smtClean="0">
                <a:sym typeface="Wingdings"/>
              </a:rPr>
              <a:t>截止到</a:t>
            </a:r>
            <a:r>
              <a:rPr kumimoji="1" lang="en-US" altLang="zh-CN" dirty="0" smtClean="0">
                <a:sym typeface="Wingdings"/>
              </a:rPr>
              <a:t>17</a:t>
            </a:r>
            <a:r>
              <a:rPr kumimoji="1" lang="zh-CN" altLang="en-US" dirty="0" smtClean="0">
                <a:sym typeface="Wingdings"/>
              </a:rPr>
              <a:t>年底，一共</a:t>
            </a:r>
            <a:r>
              <a:rPr kumimoji="1" lang="en-US" altLang="zh-CN" dirty="0" smtClean="0">
                <a:sym typeface="Wingdings"/>
              </a:rPr>
              <a:t>9</a:t>
            </a:r>
            <a:r>
              <a:rPr kumimoji="1" lang="zh-CN" altLang="en-US" dirty="0" smtClean="0">
                <a:sym typeface="Wingdings"/>
              </a:rPr>
              <a:t>个微服务，</a:t>
            </a:r>
            <a:r>
              <a:rPr kumimoji="1" lang="en-US" altLang="zh-CN" dirty="0">
                <a:sym typeface="Wingdings"/>
              </a:rPr>
              <a:t>6</a:t>
            </a:r>
            <a:r>
              <a:rPr kumimoji="1" lang="zh-CN" altLang="en-US" dirty="0" smtClean="0">
                <a:sym typeface="Wingdings"/>
              </a:rPr>
              <a:t>个</a:t>
            </a:r>
            <a:r>
              <a:rPr kumimoji="1" lang="en-US" altLang="zh-CN" dirty="0" err="1" smtClean="0">
                <a:sym typeface="Wingdings"/>
              </a:rPr>
              <a:t>git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pPr marL="36576" indent="0">
              <a:buNone/>
            </a:pP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69885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微服务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8"/>
            <a:ext cx="8455374" cy="990092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 smtClean="0">
                <a:sym typeface="Wingdings"/>
              </a:rPr>
              <a:t>使用</a:t>
            </a:r>
            <a:r>
              <a:rPr kumimoji="1" lang="en-US" altLang="zh-CN" dirty="0" smtClean="0">
                <a:sym typeface="Wingdings"/>
              </a:rPr>
              <a:t>proxy</a:t>
            </a:r>
            <a:r>
              <a:rPr kumimoji="1" lang="zh-CN" altLang="en-US" dirty="0" smtClean="0">
                <a:sym typeface="Wingdings"/>
              </a:rPr>
              <a:t>充当</a:t>
            </a:r>
            <a:r>
              <a:rPr kumimoji="1" lang="en-US" altLang="zh-CN" dirty="0" err="1" smtClean="0">
                <a:sym typeface="Wingdings"/>
              </a:rPr>
              <a:t>api</a:t>
            </a:r>
            <a:r>
              <a:rPr kumimoji="1" lang="en-US" altLang="zh-CN" dirty="0" smtClean="0">
                <a:sym typeface="Wingdings"/>
              </a:rPr>
              <a:t> gateway</a:t>
            </a:r>
            <a:r>
              <a:rPr kumimoji="1" lang="zh-CN" altLang="en-US" dirty="0" smtClean="0">
                <a:sym typeface="Wingdings"/>
              </a:rPr>
              <a:t>，用以对外屏蔽接口路由变化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pPr marL="36576" indent="0">
              <a:buNone/>
            </a:pPr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2454187" y="2238464"/>
            <a:ext cx="1162510" cy="6026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nginx</a:t>
            </a:r>
            <a:endParaRPr kumimoji="1"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2238908" y="3768400"/>
            <a:ext cx="1573245" cy="6026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Proxy(</a:t>
            </a:r>
            <a:r>
              <a:rPr kumimoji="1" lang="en-US" altLang="zh-CN" dirty="0" err="1" smtClean="0"/>
              <a:t>zuul</a:t>
            </a:r>
            <a:r>
              <a:rPr kumimoji="1" lang="en-US" altLang="zh-CN" dirty="0" smtClean="0"/>
              <a:t>)</a:t>
            </a:r>
            <a:endParaRPr kumimoji="1"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5771203" y="3789924"/>
            <a:ext cx="1162510" cy="6026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eureka</a:t>
            </a:r>
            <a:endParaRPr kumimoji="1" lang="zh-CN" altLang="en-US" dirty="0"/>
          </a:p>
        </p:txBody>
      </p:sp>
      <p:sp>
        <p:nvSpPr>
          <p:cNvPr id="13" name="圆角矩形 12"/>
          <p:cNvSpPr/>
          <p:nvPr/>
        </p:nvSpPr>
        <p:spPr>
          <a:xfrm>
            <a:off x="2522179" y="5362908"/>
            <a:ext cx="1162510" cy="6026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mapp</a:t>
            </a:r>
            <a:endParaRPr kumimoji="1" lang="zh-CN" altLang="en-US" dirty="0"/>
          </a:p>
        </p:txBody>
      </p:sp>
      <p:cxnSp>
        <p:nvCxnSpPr>
          <p:cNvPr id="15" name="直线箭头连接符 14"/>
          <p:cNvCxnSpPr/>
          <p:nvPr/>
        </p:nvCxnSpPr>
        <p:spPr>
          <a:xfrm flipV="1">
            <a:off x="3898265" y="4067986"/>
            <a:ext cx="1743770" cy="174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/>
          <p:nvPr/>
        </p:nvCxnSpPr>
        <p:spPr>
          <a:xfrm flipV="1">
            <a:off x="3838794" y="4371064"/>
            <a:ext cx="1717129" cy="105641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>
            <a:off x="3025531" y="2991799"/>
            <a:ext cx="0" cy="7550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/>
          <p:cNvCxnSpPr/>
          <p:nvPr/>
        </p:nvCxnSpPr>
        <p:spPr>
          <a:xfrm>
            <a:off x="3060378" y="4500211"/>
            <a:ext cx="0" cy="7550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4073897" y="3594464"/>
            <a:ext cx="1329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Heart beat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226297" y="4780016"/>
            <a:ext cx="1329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Heart beat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9245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微服务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7"/>
            <a:ext cx="8412320" cy="5294839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ym typeface="Wingdings"/>
              </a:rPr>
              <a:t>p</a:t>
            </a:r>
            <a:r>
              <a:rPr kumimoji="1" lang="en-US" altLang="zh-CN" dirty="0" smtClean="0">
                <a:sym typeface="Wingdings"/>
              </a:rPr>
              <a:t>roxy</a:t>
            </a:r>
            <a:r>
              <a:rPr kumimoji="1" lang="zh-CN" altLang="en-US" dirty="0" smtClean="0">
                <a:sym typeface="Wingdings"/>
              </a:rPr>
              <a:t>感知延迟：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en-US" altLang="zh-CN" dirty="0" err="1" smtClean="0">
                <a:sym typeface="Wingdings"/>
              </a:rPr>
              <a:t>mapp</a:t>
            </a:r>
            <a:r>
              <a:rPr kumimoji="1" lang="zh-CN" altLang="en-US" dirty="0" smtClean="0">
                <a:sym typeface="Wingdings"/>
              </a:rPr>
              <a:t>和</a:t>
            </a:r>
            <a:r>
              <a:rPr kumimoji="1" lang="en-US" altLang="zh-CN" dirty="0" smtClean="0">
                <a:sym typeface="Wingdings"/>
              </a:rPr>
              <a:t>discovery </a:t>
            </a:r>
            <a:r>
              <a:rPr kumimoji="1" lang="en-US" altLang="zh-CN" dirty="0" err="1" smtClean="0">
                <a:sym typeface="Wingdings"/>
              </a:rPr>
              <a:t>server</a:t>
            </a:r>
            <a:r>
              <a:rPr kumimoji="1" lang="en-US" altLang="en-US" dirty="0" err="1" smtClean="0">
                <a:sym typeface="Wingdings"/>
              </a:rPr>
              <a:t>通过心跳维护状态</a:t>
            </a:r>
            <a:endParaRPr kumimoji="1" lang="en-US" altLang="en-US" dirty="0" smtClean="0">
              <a:sym typeface="Wingdings"/>
            </a:endParaRPr>
          </a:p>
          <a:p>
            <a:pPr lvl="1"/>
            <a:r>
              <a:rPr kumimoji="1" lang="en-US" altLang="zh-CN" dirty="0" smtClean="0">
                <a:sym typeface="Wingdings"/>
              </a:rPr>
              <a:t>proxy</a:t>
            </a:r>
            <a:r>
              <a:rPr kumimoji="1" lang="zh-CN" altLang="en-US" dirty="0" smtClean="0">
                <a:sym typeface="Wingdings"/>
              </a:rPr>
              <a:t>作为一个特殊</a:t>
            </a:r>
            <a:r>
              <a:rPr kumimoji="1" lang="en-US" altLang="zh-CN" dirty="0" err="1" smtClean="0">
                <a:sym typeface="Wingdings"/>
              </a:rPr>
              <a:t>mapp</a:t>
            </a:r>
            <a:r>
              <a:rPr kumimoji="1" lang="zh-CN" altLang="en-US" dirty="0" smtClean="0">
                <a:sym typeface="Wingdings"/>
              </a:rPr>
              <a:t>，同样有心跳机制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但是</a:t>
            </a:r>
            <a:r>
              <a:rPr kumimoji="1" lang="en-US" altLang="zh-CN" dirty="0" err="1" smtClean="0">
                <a:sym typeface="Wingdings"/>
              </a:rPr>
              <a:t>proxy</a:t>
            </a:r>
            <a:r>
              <a:rPr kumimoji="1" lang="en-US" altLang="en-US" dirty="0" err="1" smtClean="0">
                <a:sym typeface="Wingdings"/>
              </a:rPr>
              <a:t>作为一个api</a:t>
            </a:r>
            <a:r>
              <a:rPr kumimoji="1" lang="en-US" altLang="en-US" dirty="0" smtClean="0">
                <a:sym typeface="Wingdings"/>
              </a:rPr>
              <a:t> gateway</a:t>
            </a:r>
            <a:r>
              <a:rPr kumimoji="1" lang="zh-CN" altLang="en-US" dirty="0" smtClean="0">
                <a:sym typeface="Wingdings"/>
              </a:rPr>
              <a:t>，需要感知其他</a:t>
            </a:r>
            <a:r>
              <a:rPr kumimoji="1" lang="en-US" altLang="zh-CN" dirty="0" err="1" smtClean="0">
                <a:sym typeface="Wingdings"/>
              </a:rPr>
              <a:t>mapp</a:t>
            </a:r>
            <a:r>
              <a:rPr kumimoji="1" lang="zh-CN" altLang="en-US" dirty="0" smtClean="0">
                <a:sym typeface="Wingdings"/>
              </a:rPr>
              <a:t>的状态</a:t>
            </a:r>
            <a:endParaRPr kumimoji="1" lang="en-US" altLang="zh-CN" dirty="0">
              <a:sym typeface="Wingdings"/>
            </a:endParaRPr>
          </a:p>
          <a:p>
            <a:pPr marL="448056" lvl="1" indent="0">
              <a:buNone/>
            </a:pPr>
            <a:endParaRPr kumimoji="1" lang="en-US" altLang="zh-CN" dirty="0">
              <a:sym typeface="Wingdings"/>
            </a:endParaRPr>
          </a:p>
          <a:p>
            <a:r>
              <a:rPr lang="en-US" altLang="zh-CN" dirty="0"/>
              <a:t>p</a:t>
            </a:r>
            <a:r>
              <a:rPr lang="en-US" altLang="zh-CN" dirty="0" smtClean="0"/>
              <a:t>roxy</a:t>
            </a:r>
            <a:r>
              <a:rPr lang="zh-CN" altLang="en-US" dirty="0" smtClean="0"/>
              <a:t>的熔断级别</a:t>
            </a:r>
            <a:endParaRPr lang="en-US" altLang="zh-CN" dirty="0" smtClean="0"/>
          </a:p>
          <a:p>
            <a:pPr lvl="1"/>
            <a:r>
              <a:rPr lang="zh-CN" altLang="en-US" dirty="0"/>
              <a:t>针对</a:t>
            </a:r>
            <a:r>
              <a:rPr lang="en-US" altLang="zh-CN" dirty="0" err="1"/>
              <a:t>mapp</a:t>
            </a:r>
            <a:r>
              <a:rPr lang="zh-CN" altLang="en-US" dirty="0"/>
              <a:t>级别，不能针对</a:t>
            </a:r>
            <a:r>
              <a:rPr lang="en-US" altLang="zh-CN" dirty="0" err="1"/>
              <a:t>api</a:t>
            </a:r>
            <a:r>
              <a:rPr lang="zh-CN" altLang="en-US" dirty="0"/>
              <a:t>粒度（服务粒度细化）</a:t>
            </a:r>
            <a:endParaRPr lang="en-US" altLang="zh-CN" dirty="0"/>
          </a:p>
          <a:p>
            <a:pPr lvl="1"/>
            <a:r>
              <a:rPr lang="zh-CN" altLang="en-US" dirty="0"/>
              <a:t>基于</a:t>
            </a:r>
            <a:r>
              <a:rPr lang="en-US" altLang="zh-CN" dirty="0"/>
              <a:t>java</a:t>
            </a:r>
            <a:r>
              <a:rPr lang="zh-CN" altLang="en-US" dirty="0"/>
              <a:t>多线程机制，容易产生雪崩效应（堆砌节点数量）</a:t>
            </a:r>
            <a:endParaRPr lang="en-US" altLang="zh-CN" dirty="0" smtClean="0"/>
          </a:p>
          <a:p>
            <a:r>
              <a:rPr lang="zh-CN" altLang="en-US" dirty="0" smtClean="0"/>
              <a:t>截止</a:t>
            </a:r>
            <a:r>
              <a:rPr lang="en-US" altLang="zh-CN" dirty="0" smtClean="0"/>
              <a:t>17</a:t>
            </a:r>
            <a:r>
              <a:rPr lang="zh-CN" altLang="en-US" dirty="0" smtClean="0"/>
              <a:t>年底，所有核心接口均不再经过</a:t>
            </a:r>
            <a:r>
              <a:rPr lang="en-US" altLang="zh-CN" dirty="0" smtClean="0"/>
              <a:t>proxy</a:t>
            </a:r>
          </a:p>
          <a:p>
            <a:pPr lvl="1"/>
            <a:endParaRPr lang="en-US" altLang="zh-CN" dirty="0" smtClean="0"/>
          </a:p>
          <a:p>
            <a:pPr marL="448056" lvl="1" indent="0">
              <a:buNone/>
            </a:pPr>
            <a:endParaRPr lang="en-US" altLang="zh-CN" dirty="0" smtClean="0"/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9245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云打印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9"/>
            <a:ext cx="7852592" cy="817901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dirty="0" smtClean="0">
                <a:sym typeface="Wingdings"/>
              </a:rPr>
              <a:t>背景：非</a:t>
            </a:r>
            <a:r>
              <a:rPr kumimoji="1" lang="en-US" altLang="zh-CN" dirty="0" smtClean="0">
                <a:sym typeface="Wingdings"/>
              </a:rPr>
              <a:t>POS</a:t>
            </a:r>
            <a:r>
              <a:rPr kumimoji="1" lang="zh-CN" altLang="en-US" dirty="0" smtClean="0">
                <a:sym typeface="Wingdings"/>
              </a:rPr>
              <a:t>设备需要控制打印设备出单（</a:t>
            </a:r>
            <a:r>
              <a:rPr kumimoji="1" lang="en-US" altLang="zh-CN" dirty="0" smtClean="0">
                <a:sym typeface="Wingdings"/>
              </a:rPr>
              <a:t>2016.4</a:t>
            </a:r>
            <a:r>
              <a:rPr kumimoji="1" lang="zh-CN" altLang="en-US" dirty="0" smtClean="0">
                <a:sym typeface="Wingdings"/>
              </a:rPr>
              <a:t>）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548961" y="2281517"/>
            <a:ext cx="1571541" cy="66723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unpos</a:t>
            </a:r>
            <a:endParaRPr kumimoji="1"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593721" y="4048217"/>
            <a:ext cx="1571541" cy="66723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Sync </a:t>
            </a:r>
            <a:r>
              <a:rPr kumimoji="1" lang="en-US" altLang="zh-CN" dirty="0" err="1" smtClean="0"/>
              <a:t>api</a:t>
            </a:r>
            <a:endParaRPr kumimoji="1"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3006560" y="2283268"/>
            <a:ext cx="1571541" cy="66723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push</a:t>
            </a:r>
            <a:endParaRPr kumimoji="1"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3049616" y="3983645"/>
            <a:ext cx="1571541" cy="66723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pos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5963245" y="5727068"/>
            <a:ext cx="1571541" cy="66723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Sync.v5</a:t>
            </a:r>
            <a:endParaRPr kumimoji="1"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2922151" y="5728803"/>
            <a:ext cx="1813998" cy="66723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rds</a:t>
            </a:r>
            <a:endParaRPr kumimoji="1"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7190339" y="3852751"/>
            <a:ext cx="1571541" cy="86619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printDevice</a:t>
            </a:r>
            <a:endParaRPr kumimoji="1" lang="zh-CN" altLang="en-US" dirty="0"/>
          </a:p>
        </p:txBody>
      </p:sp>
      <p:cxnSp>
        <p:nvCxnSpPr>
          <p:cNvPr id="12" name="直线箭头连接符 11"/>
          <p:cNvCxnSpPr/>
          <p:nvPr/>
        </p:nvCxnSpPr>
        <p:spPr>
          <a:xfrm>
            <a:off x="1497894" y="4761991"/>
            <a:ext cx="1257683" cy="10494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/>
          <p:cNvCxnSpPr/>
          <p:nvPr/>
        </p:nvCxnSpPr>
        <p:spPr>
          <a:xfrm>
            <a:off x="1463901" y="3122652"/>
            <a:ext cx="1" cy="86099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/>
          <p:nvPr/>
        </p:nvCxnSpPr>
        <p:spPr>
          <a:xfrm flipV="1">
            <a:off x="2120502" y="2948753"/>
            <a:ext cx="1103042" cy="10348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/>
          <p:nvPr/>
        </p:nvCxnSpPr>
        <p:spPr>
          <a:xfrm>
            <a:off x="4092016" y="3101128"/>
            <a:ext cx="1" cy="86099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/>
          <p:nvPr/>
        </p:nvCxnSpPr>
        <p:spPr>
          <a:xfrm>
            <a:off x="4656859" y="4349548"/>
            <a:ext cx="236125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270149" y="355141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1</a:t>
            </a:r>
            <a:endParaRPr kumimoji="1"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1797582" y="5124382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2475713" y="3334484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3790625" y="3334484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5168414" y="5727068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6</a:t>
            </a:r>
            <a:endParaRPr kumimoji="1"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5059069" y="4939716"/>
            <a:ext cx="3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5324935" y="3832977"/>
            <a:ext cx="1865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7 </a:t>
            </a:r>
            <a:r>
              <a:rPr kumimoji="1" lang="zh-CN" altLang="en-US" dirty="0" smtClean="0"/>
              <a:t>局域网</a:t>
            </a:r>
            <a:r>
              <a:rPr kumimoji="1" lang="en-US" altLang="zh-CN" dirty="0" smtClean="0"/>
              <a:t>http</a:t>
            </a:r>
            <a:endParaRPr kumimoji="1" lang="zh-CN" altLang="en-US" dirty="0"/>
          </a:p>
        </p:txBody>
      </p:sp>
      <p:cxnSp>
        <p:nvCxnSpPr>
          <p:cNvPr id="42" name="直线箭头连接符 41"/>
          <p:cNvCxnSpPr/>
          <p:nvPr/>
        </p:nvCxnSpPr>
        <p:spPr>
          <a:xfrm>
            <a:off x="4524002" y="4763661"/>
            <a:ext cx="1310075" cy="914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/>
          <p:cNvCxnSpPr/>
          <p:nvPr/>
        </p:nvCxnSpPr>
        <p:spPr>
          <a:xfrm>
            <a:off x="4757677" y="6062421"/>
            <a:ext cx="109792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245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 smtClean="0"/>
              <a:t>V3</a:t>
            </a:r>
            <a:r>
              <a:rPr kumimoji="1" lang="zh-CN" altLang="en-US" dirty="0" smtClean="0"/>
              <a:t>收银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7"/>
            <a:ext cx="8283151" cy="5467029"/>
          </a:xfrm>
        </p:spPr>
        <p:txBody>
          <a:bodyPr>
            <a:normAutofit/>
          </a:bodyPr>
          <a:lstStyle/>
          <a:p>
            <a:r>
              <a:rPr kumimoji="1" lang="en-US" altLang="zh-CN" dirty="0" smtClean="0">
                <a:sym typeface="Wingdings"/>
              </a:rPr>
              <a:t>2016.7</a:t>
            </a:r>
            <a:r>
              <a:rPr kumimoji="1" lang="zh-CN" altLang="en-US" dirty="0" smtClean="0">
                <a:sym typeface="Wingdings"/>
              </a:rPr>
              <a:t> </a:t>
            </a:r>
            <a:r>
              <a:rPr kumimoji="1" lang="en-US" altLang="zh-CN" dirty="0" smtClean="0">
                <a:sym typeface="Wingdings"/>
              </a:rPr>
              <a:t>POS</a:t>
            </a:r>
            <a:r>
              <a:rPr kumimoji="1" lang="zh-CN" altLang="en-US" dirty="0" smtClean="0">
                <a:sym typeface="Wingdings"/>
              </a:rPr>
              <a:t>提出组合支付需求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交互流程为分布支付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在正常流程中会产生多个</a:t>
            </a:r>
            <a:r>
              <a:rPr kumimoji="1" lang="en-US" altLang="zh-CN" dirty="0" err="1" smtClean="0">
                <a:sym typeface="Wingdings"/>
              </a:rPr>
              <a:t>payment_item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采用流程控制者</a:t>
            </a:r>
            <a:r>
              <a:rPr kumimoji="1" lang="en-US" altLang="zh-CN" dirty="0" smtClean="0">
                <a:sym typeface="Wingdings"/>
              </a:rPr>
              <a:t>+</a:t>
            </a:r>
            <a:r>
              <a:rPr kumimoji="1" lang="zh-CN" altLang="en-US" dirty="0" smtClean="0">
                <a:sym typeface="Wingdings"/>
              </a:rPr>
              <a:t>流程实现者的设计初衷，第一次在业务功能中进行抽象设计，第一次在业务功能实现中向</a:t>
            </a:r>
            <a:r>
              <a:rPr kumimoji="1" lang="en-US" altLang="zh-CN" dirty="0" smtClean="0">
                <a:sym typeface="Wingdings"/>
              </a:rPr>
              <a:t>OOD</a:t>
            </a:r>
            <a:r>
              <a:rPr kumimoji="1" lang="zh-CN" altLang="en-US" dirty="0" smtClean="0">
                <a:sym typeface="Wingdings"/>
              </a:rPr>
              <a:t>迈了一小步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从服务</a:t>
            </a:r>
            <a:r>
              <a:rPr kumimoji="1" lang="en-US" altLang="zh-CN" dirty="0" smtClean="0">
                <a:sym typeface="Wingdings"/>
              </a:rPr>
              <a:t>SLA</a:t>
            </a:r>
            <a:r>
              <a:rPr kumimoji="1" lang="zh-CN" altLang="en-US" dirty="0" smtClean="0">
                <a:sym typeface="Wingdings"/>
              </a:rPr>
              <a:t>最小粒度出发，我们将来需要更多的</a:t>
            </a:r>
            <a:r>
              <a:rPr kumimoji="1" lang="en-US" altLang="zh-CN" dirty="0" smtClean="0">
                <a:sym typeface="Wingdings"/>
              </a:rPr>
              <a:t>V3</a:t>
            </a:r>
            <a:r>
              <a:rPr kumimoji="1" lang="zh-CN" altLang="en-US" dirty="0" smtClean="0">
                <a:sym typeface="Wingdings"/>
              </a:rPr>
              <a:t>收银入口（参考大客户</a:t>
            </a:r>
            <a:r>
              <a:rPr kumimoji="1" lang="en-US" altLang="zh-CN" dirty="0" smtClean="0">
                <a:sym typeface="Wingdings"/>
              </a:rPr>
              <a:t>V3</a:t>
            </a:r>
            <a:r>
              <a:rPr kumimoji="1" lang="zh-CN" altLang="en-US" dirty="0" smtClean="0">
                <a:sym typeface="Wingdings"/>
              </a:rPr>
              <a:t>收银）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9245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同步透明化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8"/>
            <a:ext cx="8498430" cy="5617695"/>
          </a:xfrm>
        </p:spPr>
        <p:txBody>
          <a:bodyPr>
            <a:normAutofit/>
          </a:bodyPr>
          <a:lstStyle/>
          <a:p>
            <a:r>
              <a:rPr kumimoji="1" lang="zh-CN" altLang="en-US" dirty="0" smtClean="0">
                <a:sym typeface="Wingdings"/>
              </a:rPr>
              <a:t>将同步下行中属于其他域的数据下行逻辑拆分出去，通过接口调用解耦，属于</a:t>
            </a:r>
            <a:r>
              <a:rPr kumimoji="1" lang="en-US" altLang="zh-CN" dirty="0" smtClean="0">
                <a:sym typeface="Wingdings"/>
              </a:rPr>
              <a:t>DOOM</a:t>
            </a:r>
            <a:r>
              <a:rPr kumimoji="1" lang="zh-CN" altLang="en-US" dirty="0" smtClean="0">
                <a:sym typeface="Wingdings"/>
              </a:rPr>
              <a:t>的一项重要落地事项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对外提供接口规范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对外提供</a:t>
            </a:r>
            <a:r>
              <a:rPr kumimoji="1" lang="en-US" altLang="zh-CN" dirty="0" smtClean="0">
                <a:sym typeface="Wingdings"/>
              </a:rPr>
              <a:t>SLA</a:t>
            </a:r>
            <a:r>
              <a:rPr kumimoji="1" lang="zh-CN" altLang="en-US" dirty="0" smtClean="0">
                <a:sym typeface="Wingdings"/>
              </a:rPr>
              <a:t>标准</a:t>
            </a:r>
            <a:r>
              <a:rPr kumimoji="1" lang="en-US" altLang="zh-CN" dirty="0" smtClean="0">
                <a:sym typeface="Wingdings"/>
              </a:rPr>
              <a:t>&amp;SLA</a:t>
            </a:r>
            <a:r>
              <a:rPr kumimoji="1" lang="zh-CN" altLang="en-US" dirty="0" smtClean="0">
                <a:sym typeface="Wingdings"/>
              </a:rPr>
              <a:t>保障实现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2016.8</a:t>
            </a:r>
            <a:r>
              <a:rPr kumimoji="1" lang="zh-CN" altLang="en-US" dirty="0" smtClean="0">
                <a:sym typeface="Wingdings"/>
              </a:rPr>
              <a:t>完成，</a:t>
            </a:r>
            <a:r>
              <a:rPr kumimoji="1" lang="en-US" altLang="zh-CN" dirty="0" smtClean="0">
                <a:sym typeface="Wingdings"/>
              </a:rPr>
              <a:t>2017.3</a:t>
            </a:r>
            <a:r>
              <a:rPr kumimoji="1" lang="zh-CN" altLang="en-US" dirty="0" smtClean="0">
                <a:sym typeface="Wingdings"/>
              </a:rPr>
              <a:t>上线</a:t>
            </a:r>
            <a:r>
              <a:rPr kumimoji="1" lang="zh-CN" altLang="zh-CN" dirty="0">
                <a:sym typeface="Wingdings"/>
              </a:rPr>
              <a:t>。</a:t>
            </a:r>
            <a:r>
              <a:rPr kumimoji="1" lang="zh-CN" altLang="en-US" dirty="0" smtClean="0">
                <a:sym typeface="Wingdings"/>
              </a:rPr>
              <a:t>截止到</a:t>
            </a:r>
            <a:r>
              <a:rPr kumimoji="1" lang="en-US" altLang="zh-CN" dirty="0" smtClean="0">
                <a:sym typeface="Wingdings"/>
              </a:rPr>
              <a:t>17</a:t>
            </a:r>
            <a:r>
              <a:rPr kumimoji="1" lang="zh-CN" altLang="en-US" dirty="0" smtClean="0">
                <a:sym typeface="Wingdings"/>
              </a:rPr>
              <a:t>年底，共计</a:t>
            </a:r>
            <a:r>
              <a:rPr kumimoji="1" lang="zh-CN" altLang="zh-CN" dirty="0" smtClean="0">
                <a:sym typeface="Wingdings"/>
              </a:rPr>
              <a:t>7</a:t>
            </a:r>
            <a:r>
              <a:rPr kumimoji="1" lang="zh-CN" altLang="en-US" dirty="0" smtClean="0">
                <a:sym typeface="Wingdings"/>
              </a:rPr>
              <a:t>条产品线接入</a:t>
            </a:r>
            <a:r>
              <a:rPr kumimoji="1" lang="en-US" altLang="zh-CN" dirty="0" smtClean="0">
                <a:sym typeface="Wingdings"/>
              </a:rPr>
              <a:t>42</a:t>
            </a:r>
            <a:r>
              <a:rPr kumimoji="1" lang="zh-CN" altLang="en-US" dirty="0" smtClean="0">
                <a:sym typeface="Wingdings"/>
              </a:rPr>
              <a:t>个接口</a:t>
            </a:r>
            <a:endParaRPr kumimoji="1" lang="en-US" altLang="zh-CN" dirty="0">
              <a:sym typeface="Wingdings"/>
            </a:endParaRPr>
          </a:p>
          <a:p>
            <a:r>
              <a:rPr lang="zh-CN" altLang="en-US" dirty="0" smtClean="0">
                <a:sym typeface="Wingdings"/>
              </a:rPr>
              <a:t>最终目标：包括</a:t>
            </a:r>
            <a:r>
              <a:rPr lang="en-US" altLang="zh-CN" dirty="0" smtClean="0">
                <a:sym typeface="Wingdings"/>
              </a:rPr>
              <a:t>trade</a:t>
            </a:r>
            <a:r>
              <a:rPr lang="zh-CN" altLang="en-US" dirty="0" smtClean="0">
                <a:sym typeface="Wingdings"/>
              </a:rPr>
              <a:t>域在内的所有域均提供下行接口，整个同步下行成为一个不带有业务逻辑的基础组件，真正对所有模块接口的消费端和提供方呈现透明化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9245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同步透明化</a:t>
            </a:r>
            <a:endParaRPr kumimoji="1" lang="zh-CN" altLang="en-US" dirty="0"/>
          </a:p>
        </p:txBody>
      </p:sp>
      <p:sp>
        <p:nvSpPr>
          <p:cNvPr id="3" name="圆角矩形 2"/>
          <p:cNvSpPr/>
          <p:nvPr/>
        </p:nvSpPr>
        <p:spPr>
          <a:xfrm>
            <a:off x="172222" y="3077898"/>
            <a:ext cx="882648" cy="4519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client</a:t>
            </a:r>
            <a:endParaRPr kumimoji="1"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2177732" y="2455088"/>
            <a:ext cx="1718828" cy="4519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API executor</a:t>
            </a:r>
            <a:endParaRPr kumimoji="1"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2220788" y="3801335"/>
            <a:ext cx="1437262" cy="4519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Calm executor</a:t>
            </a:r>
            <a:endParaRPr kumimoji="1"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4661969" y="2378370"/>
            <a:ext cx="1463902" cy="52871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SLA handler</a:t>
            </a:r>
            <a:endParaRPr kumimoji="1"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4726553" y="3805513"/>
            <a:ext cx="1291678" cy="45199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RDS</a:t>
            </a:r>
            <a:endParaRPr kumimoji="1"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6934513" y="1282038"/>
            <a:ext cx="1870421" cy="27602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圆角矩形 12"/>
          <p:cNvSpPr/>
          <p:nvPr/>
        </p:nvSpPr>
        <p:spPr>
          <a:xfrm>
            <a:off x="7192850" y="1464990"/>
            <a:ext cx="1291678" cy="451998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kds</a:t>
            </a:r>
            <a:endParaRPr kumimoji="1"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7216082" y="2047870"/>
            <a:ext cx="1291678" cy="451998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scm</a:t>
            </a:r>
            <a:endParaRPr kumimoji="1"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7235905" y="2638038"/>
            <a:ext cx="1291678" cy="451998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trade</a:t>
            </a:r>
            <a:endParaRPr kumimoji="1" lang="zh-CN" altLang="en-US" dirty="0"/>
          </a:p>
        </p:txBody>
      </p:sp>
      <p:sp>
        <p:nvSpPr>
          <p:cNvPr id="16" name="圆角矩形 15"/>
          <p:cNvSpPr/>
          <p:nvPr/>
        </p:nvSpPr>
        <p:spPr>
          <a:xfrm>
            <a:off x="7235905" y="3303897"/>
            <a:ext cx="1291678" cy="451998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mr-IN" altLang="zh-CN" dirty="0" smtClean="0"/>
              <a:t>……</a:t>
            </a:r>
            <a:endParaRPr kumimoji="1" lang="zh-CN" altLang="en-US" dirty="0"/>
          </a:p>
        </p:txBody>
      </p:sp>
      <p:sp>
        <p:nvSpPr>
          <p:cNvPr id="17" name="圆角矩形 16"/>
          <p:cNvSpPr/>
          <p:nvPr/>
        </p:nvSpPr>
        <p:spPr>
          <a:xfrm>
            <a:off x="3614994" y="1368134"/>
            <a:ext cx="1291678" cy="451998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redis</a:t>
            </a:r>
            <a:endParaRPr kumimoji="1" lang="zh-CN" altLang="en-US" dirty="0"/>
          </a:p>
        </p:txBody>
      </p:sp>
      <p:sp>
        <p:nvSpPr>
          <p:cNvPr id="19" name="右箭头 18"/>
          <p:cNvSpPr/>
          <p:nvPr/>
        </p:nvSpPr>
        <p:spPr>
          <a:xfrm>
            <a:off x="1334733" y="3088657"/>
            <a:ext cx="624310" cy="4519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右箭头 19"/>
          <p:cNvSpPr/>
          <p:nvPr/>
        </p:nvSpPr>
        <p:spPr>
          <a:xfrm>
            <a:off x="6286163" y="2456821"/>
            <a:ext cx="519182" cy="4502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箭头连接符 21"/>
          <p:cNvCxnSpPr/>
          <p:nvPr/>
        </p:nvCxnSpPr>
        <p:spPr>
          <a:xfrm>
            <a:off x="3896560" y="2638038"/>
            <a:ext cx="765409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>
            <a:stCxn id="6" idx="3"/>
          </p:cNvCxnSpPr>
          <p:nvPr/>
        </p:nvCxnSpPr>
        <p:spPr>
          <a:xfrm>
            <a:off x="3658050" y="4027334"/>
            <a:ext cx="1003919" cy="73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/>
          <p:cNvCxnSpPr/>
          <p:nvPr/>
        </p:nvCxnSpPr>
        <p:spPr>
          <a:xfrm>
            <a:off x="4906672" y="1916988"/>
            <a:ext cx="819765" cy="46138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/>
          <p:cNvCxnSpPr/>
          <p:nvPr/>
        </p:nvCxnSpPr>
        <p:spPr>
          <a:xfrm flipH="1">
            <a:off x="3186138" y="1820132"/>
            <a:ext cx="428856" cy="55823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圆角矩形 43"/>
          <p:cNvSpPr/>
          <p:nvPr/>
        </p:nvSpPr>
        <p:spPr>
          <a:xfrm>
            <a:off x="1829877" y="1464990"/>
            <a:ext cx="1184038" cy="582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Service </a:t>
            </a:r>
            <a:r>
              <a:rPr kumimoji="1" lang="en-US" altLang="zh-CN" dirty="0" err="1" smtClean="0"/>
              <a:t>config</a:t>
            </a:r>
            <a:endParaRPr kumimoji="1" lang="zh-CN" altLang="en-US" dirty="0"/>
          </a:p>
        </p:txBody>
      </p:sp>
      <p:sp>
        <p:nvSpPr>
          <p:cNvPr id="21" name="内容占位符 2"/>
          <p:cNvSpPr>
            <a:spLocks noGrp="1"/>
          </p:cNvSpPr>
          <p:nvPr>
            <p:ph idx="1"/>
          </p:nvPr>
        </p:nvSpPr>
        <p:spPr>
          <a:xfrm>
            <a:off x="172222" y="4713699"/>
            <a:ext cx="8632712" cy="1700375"/>
          </a:xfrm>
        </p:spPr>
        <p:txBody>
          <a:bodyPr/>
          <a:lstStyle/>
          <a:p>
            <a:r>
              <a:rPr kumimoji="1" lang="zh-CN" altLang="en-US" dirty="0" smtClean="0"/>
              <a:t>初始使用的</a:t>
            </a:r>
            <a:r>
              <a:rPr kumimoji="1" lang="en-US" altLang="zh-CN" dirty="0" err="1" smtClean="0"/>
              <a:t>redis</a:t>
            </a:r>
            <a:r>
              <a:rPr kumimoji="1" lang="en-US" altLang="zh-CN" dirty="0" smtClean="0"/>
              <a:t> </a:t>
            </a:r>
            <a:r>
              <a:rPr kumimoji="1" lang="en-US" altLang="zh-CN" dirty="0" err="1" smtClean="0"/>
              <a:t>api</a:t>
            </a:r>
            <a:r>
              <a:rPr kumimoji="1" lang="zh-CN" altLang="en-US" dirty="0" smtClean="0"/>
              <a:t>原子性问题导致异常情况下</a:t>
            </a:r>
            <a:r>
              <a:rPr kumimoji="1" lang="en-US" altLang="zh-CN" dirty="0" smtClean="0"/>
              <a:t>cache key</a:t>
            </a:r>
            <a:r>
              <a:rPr kumimoji="1" lang="zh-CN" altLang="en-US" dirty="0" smtClean="0"/>
              <a:t>永不过期，即永久熔断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589245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开机时间记录改造</a:t>
            </a:r>
            <a:endParaRPr kumimoji="1"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538198" y="1485127"/>
            <a:ext cx="914400" cy="4519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client</a:t>
            </a:r>
            <a:endParaRPr kumimoji="1"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2485312" y="1510119"/>
            <a:ext cx="1217496" cy="4519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Sync.v5</a:t>
            </a:r>
            <a:endParaRPr kumimoji="1"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7216977" y="1470526"/>
            <a:ext cx="914400" cy="4519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RDS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4676677" y="1510119"/>
            <a:ext cx="1609486" cy="4270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Async</a:t>
            </a:r>
            <a:r>
              <a:rPr kumimoji="1" lang="en-US" altLang="zh-CN" dirty="0" smtClean="0"/>
              <a:t> Task</a:t>
            </a:r>
            <a:endParaRPr kumimoji="1" lang="zh-CN" altLang="en-US" dirty="0"/>
          </a:p>
        </p:txBody>
      </p:sp>
      <p:sp>
        <p:nvSpPr>
          <p:cNvPr id="9" name="右箭头 8"/>
          <p:cNvSpPr/>
          <p:nvPr/>
        </p:nvSpPr>
        <p:spPr>
          <a:xfrm>
            <a:off x="1700707" y="1635803"/>
            <a:ext cx="590853" cy="25827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3915304" y="1637542"/>
            <a:ext cx="590853" cy="25827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6474349" y="1578173"/>
            <a:ext cx="590853" cy="25827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314712" y="3357703"/>
            <a:ext cx="7852592" cy="2539801"/>
          </a:xfrm>
        </p:spPr>
        <p:txBody>
          <a:bodyPr>
            <a:normAutofit/>
          </a:bodyPr>
          <a:lstStyle/>
          <a:p>
            <a:r>
              <a:rPr kumimoji="1" lang="en-US" altLang="zh-CN" dirty="0" smtClean="0">
                <a:sym typeface="Wingdings"/>
              </a:rPr>
              <a:t>2016.7</a:t>
            </a:r>
            <a:r>
              <a:rPr kumimoji="1" lang="zh-CN" altLang="en-US" dirty="0" smtClean="0">
                <a:sym typeface="Wingdings"/>
              </a:rPr>
              <a:t>，随着</a:t>
            </a:r>
            <a:r>
              <a:rPr kumimoji="1" lang="en-US" altLang="zh-CN" dirty="0" smtClean="0">
                <a:sym typeface="Wingdings"/>
              </a:rPr>
              <a:t>POS</a:t>
            </a:r>
            <a:r>
              <a:rPr kumimoji="1" lang="zh-CN" altLang="en-US" dirty="0" smtClean="0">
                <a:sym typeface="Wingdings"/>
              </a:rPr>
              <a:t>活跃设备数量增加到</a:t>
            </a:r>
            <a:r>
              <a:rPr kumimoji="1" lang="en-US" altLang="zh-CN" dirty="0" smtClean="0">
                <a:sym typeface="Wingdings"/>
              </a:rPr>
              <a:t>1W+</a:t>
            </a:r>
            <a:r>
              <a:rPr kumimoji="1" lang="zh-CN" altLang="en-US" dirty="0" smtClean="0">
                <a:sym typeface="Wingdings"/>
              </a:rPr>
              <a:t>，对</a:t>
            </a:r>
            <a:r>
              <a:rPr kumimoji="1" lang="en-US" altLang="zh-CN" dirty="0" smtClean="0">
                <a:sym typeface="Wingdings"/>
              </a:rPr>
              <a:t>visit_info</a:t>
            </a:r>
            <a:r>
              <a:rPr kumimoji="1" lang="zh-CN" altLang="en-US" dirty="0" smtClean="0">
                <a:sym typeface="Wingdings"/>
              </a:rPr>
              <a:t>表的写操作过于频繁，导致主库负载上升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9245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开机时间记录改造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3551417"/>
            <a:ext cx="8347735" cy="3077902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 smtClean="0">
                <a:sym typeface="Wingdings"/>
              </a:rPr>
              <a:t>到</a:t>
            </a:r>
            <a:r>
              <a:rPr kumimoji="1" lang="en-US" altLang="zh-CN" dirty="0" smtClean="0">
                <a:sym typeface="Wingdings"/>
              </a:rPr>
              <a:t>17</a:t>
            </a:r>
            <a:r>
              <a:rPr kumimoji="1" lang="zh-CN" altLang="en-US" dirty="0" smtClean="0">
                <a:sym typeface="Wingdings"/>
              </a:rPr>
              <a:t>年下半年，随着设备数量进一步增长，</a:t>
            </a:r>
            <a:r>
              <a:rPr kumimoji="1" lang="en-US" altLang="zh-CN" dirty="0" smtClean="0">
                <a:sym typeface="Wingdings"/>
              </a:rPr>
              <a:t>batch update</a:t>
            </a:r>
            <a:r>
              <a:rPr kumimoji="1" lang="zh-CN" altLang="en-US" dirty="0" smtClean="0">
                <a:sym typeface="Wingdings"/>
              </a:rPr>
              <a:t>开始</a:t>
            </a:r>
            <a:r>
              <a:rPr kumimoji="1" lang="en-US" altLang="en-US" dirty="0" err="1" smtClean="0">
                <a:sym typeface="Wingdings"/>
              </a:rPr>
              <a:t>出现sql超时被kill</a:t>
            </a:r>
            <a:r>
              <a:rPr kumimoji="1" lang="zh-CN" altLang="en-US" dirty="0" smtClean="0">
                <a:sym typeface="Wingdings"/>
              </a:rPr>
              <a:t>，同时数据积压时触发</a:t>
            </a:r>
            <a:r>
              <a:rPr kumimoji="1" lang="en-US" altLang="zh-CN" dirty="0" smtClean="0">
                <a:sym typeface="Wingdings"/>
              </a:rPr>
              <a:t>OOM</a:t>
            </a:r>
          </a:p>
          <a:p>
            <a:r>
              <a:rPr kumimoji="1" lang="zh-CN" altLang="en-US" dirty="0" smtClean="0">
                <a:sym typeface="Wingdings"/>
              </a:rPr>
              <a:t>解决：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配置每次更新的数量，将一个</a:t>
            </a:r>
            <a:r>
              <a:rPr kumimoji="1" lang="en-US" altLang="zh-CN" dirty="0" smtClean="0">
                <a:sym typeface="Wingdings"/>
              </a:rPr>
              <a:t>batch update</a:t>
            </a:r>
            <a:r>
              <a:rPr kumimoji="1" lang="zh-CN" altLang="en-US" dirty="0" smtClean="0">
                <a:sym typeface="Wingdings"/>
              </a:rPr>
              <a:t>拆分为多个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缩小事务粒度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pPr marL="36576" indent="0">
              <a:buNone/>
            </a:pP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236806" y="1420555"/>
            <a:ext cx="914400" cy="4519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client</a:t>
            </a:r>
            <a:endParaRPr kumimoji="1"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2162392" y="1424023"/>
            <a:ext cx="1217496" cy="4519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Sync.v5</a:t>
            </a:r>
            <a:endParaRPr kumimoji="1"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7001697" y="1384430"/>
            <a:ext cx="914400" cy="4519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RDS</a:t>
            </a:r>
            <a:endParaRPr kumimoji="1"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4353757" y="1424023"/>
            <a:ext cx="1609486" cy="4270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Async</a:t>
            </a:r>
            <a:r>
              <a:rPr kumimoji="1" lang="en-US" altLang="zh-CN" dirty="0" smtClean="0"/>
              <a:t> Task</a:t>
            </a:r>
            <a:endParaRPr kumimoji="1" lang="zh-CN" altLang="en-US" dirty="0"/>
          </a:p>
        </p:txBody>
      </p:sp>
      <p:sp>
        <p:nvSpPr>
          <p:cNvPr id="8" name="右箭头 7"/>
          <p:cNvSpPr/>
          <p:nvPr/>
        </p:nvSpPr>
        <p:spPr>
          <a:xfrm>
            <a:off x="1377787" y="1549707"/>
            <a:ext cx="590853" cy="25827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3592384" y="1551446"/>
            <a:ext cx="590853" cy="25827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194485" y="1492077"/>
            <a:ext cx="590853" cy="25827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4698201" y="2778291"/>
            <a:ext cx="914400" cy="45199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redis</a:t>
            </a:r>
            <a:endParaRPr kumimoji="1"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5920187" y="889378"/>
            <a:ext cx="1441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 smtClean="0"/>
              <a:t>极少量</a:t>
            </a:r>
            <a:r>
              <a:rPr kumimoji="1" lang="en-US" altLang="zh-CN" dirty="0" smtClean="0"/>
              <a:t>insert</a:t>
            </a:r>
            <a:endParaRPr kumimoji="1" lang="zh-CN" altLang="en-US" dirty="0"/>
          </a:p>
        </p:txBody>
      </p:sp>
      <p:sp>
        <p:nvSpPr>
          <p:cNvPr id="20" name="圆角矩形 19"/>
          <p:cNvSpPr/>
          <p:nvPr/>
        </p:nvSpPr>
        <p:spPr>
          <a:xfrm>
            <a:off x="6759035" y="2778291"/>
            <a:ext cx="1217496" cy="45199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job</a:t>
            </a:r>
            <a:endParaRPr kumimoji="1" lang="zh-CN" altLang="en-US" dirty="0"/>
          </a:p>
        </p:txBody>
      </p:sp>
      <p:sp>
        <p:nvSpPr>
          <p:cNvPr id="21" name="左右箭头 20"/>
          <p:cNvSpPr/>
          <p:nvPr/>
        </p:nvSpPr>
        <p:spPr>
          <a:xfrm>
            <a:off x="5812547" y="2905705"/>
            <a:ext cx="688152" cy="281536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上箭头 21"/>
          <p:cNvSpPr/>
          <p:nvPr/>
        </p:nvSpPr>
        <p:spPr>
          <a:xfrm>
            <a:off x="7260143" y="2087802"/>
            <a:ext cx="341737" cy="56134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514963" y="2204074"/>
            <a:ext cx="151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</a:t>
            </a:r>
            <a:r>
              <a:rPr kumimoji="1" lang="en-US" altLang="zh-CN" dirty="0" smtClean="0"/>
              <a:t>atch update</a:t>
            </a:r>
            <a:endParaRPr kumimoji="1" lang="zh-CN" altLang="en-US" dirty="0"/>
          </a:p>
        </p:txBody>
      </p:sp>
      <p:sp>
        <p:nvSpPr>
          <p:cNvPr id="24" name="下箭头 23"/>
          <p:cNvSpPr/>
          <p:nvPr/>
        </p:nvSpPr>
        <p:spPr>
          <a:xfrm>
            <a:off x="4908374" y="2074930"/>
            <a:ext cx="484632" cy="57421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9245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2</a:t>
            </a:r>
            <a:r>
              <a:rPr kumimoji="1" lang="en-US" altLang="zh-CN" dirty="0" smtClean="0"/>
              <a:t>016.7-2016.9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8"/>
            <a:ext cx="8433846" cy="3336179"/>
          </a:xfrm>
        </p:spPr>
        <p:txBody>
          <a:bodyPr>
            <a:normAutofit/>
          </a:bodyPr>
          <a:lstStyle/>
          <a:p>
            <a:r>
              <a:rPr kumimoji="1" lang="zh-CN" altLang="en-US" dirty="0" smtClean="0">
                <a:sym typeface="Wingdings"/>
              </a:rPr>
              <a:t>统一</a:t>
            </a:r>
            <a:r>
              <a:rPr kumimoji="1" lang="en-US" altLang="zh-CN" dirty="0" err="1" smtClean="0">
                <a:sym typeface="Wingdings"/>
              </a:rPr>
              <a:t>RestTemplate</a:t>
            </a:r>
            <a:r>
              <a:rPr kumimoji="1" lang="zh-CN" altLang="en-US" dirty="0" smtClean="0">
                <a:sym typeface="Wingdings"/>
              </a:rPr>
              <a:t>使用规范（严禁</a:t>
            </a:r>
            <a:r>
              <a:rPr kumimoji="1" lang="en-US" altLang="zh-CN" dirty="0" smtClean="0">
                <a:sym typeface="Wingdings"/>
              </a:rPr>
              <a:t>DEMO</a:t>
            </a:r>
            <a:r>
              <a:rPr kumimoji="1" lang="zh-CN" altLang="en-US" dirty="0" smtClean="0">
                <a:sym typeface="Wingdings"/>
              </a:rPr>
              <a:t>式使用第三方类库）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OCS</a:t>
            </a:r>
            <a:r>
              <a:rPr kumimoji="1" lang="zh-CN" altLang="en-US" dirty="0" smtClean="0">
                <a:sym typeface="Wingdings"/>
              </a:rPr>
              <a:t>替换为</a:t>
            </a:r>
            <a:r>
              <a:rPr kumimoji="1" lang="en-US" altLang="zh-CN" dirty="0" err="1" smtClean="0">
                <a:sym typeface="Wingdings"/>
              </a:rPr>
              <a:t>redis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微信加菜，数据透明化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订单操作日志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第一次在业务系统中使用</a:t>
            </a:r>
            <a:r>
              <a:rPr kumimoji="1" lang="en-US" altLang="zh-CN" dirty="0" err="1" smtClean="0">
                <a:sym typeface="Wingdings"/>
              </a:rPr>
              <a:t>kafka</a:t>
            </a:r>
            <a:endParaRPr kumimoji="1" lang="en-US" altLang="zh-CN" dirty="0" smtClean="0">
              <a:sym typeface="Wingdings"/>
            </a:endParaRPr>
          </a:p>
          <a:p>
            <a:pPr marL="448056" lvl="1" indent="0">
              <a:buNone/>
            </a:pPr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683782" y="4821310"/>
            <a:ext cx="914400" cy="69223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Client </a:t>
            </a:r>
            <a:r>
              <a:rPr kumimoji="1" lang="en-US" altLang="zh-CN" dirty="0" err="1" smtClean="0"/>
              <a:t>req</a:t>
            </a:r>
            <a:endParaRPr kumimoji="1"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7182624" y="4993506"/>
            <a:ext cx="914400" cy="365904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log4j</a:t>
            </a:r>
            <a:endParaRPr kumimoji="1"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5102126" y="6051646"/>
            <a:ext cx="914400" cy="36590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Mind</a:t>
            </a:r>
            <a:endParaRPr kumimoji="1"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2346546" y="5031001"/>
            <a:ext cx="1517183" cy="32841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interceptor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4678383" y="4950466"/>
            <a:ext cx="1521668" cy="5380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AsyncTask</a:t>
            </a:r>
            <a:endParaRPr kumimoji="1"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7182624" y="6051646"/>
            <a:ext cx="914400" cy="365904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kafka</a:t>
            </a:r>
            <a:endParaRPr kumimoji="1" lang="zh-CN" altLang="en-US" dirty="0"/>
          </a:p>
        </p:txBody>
      </p:sp>
      <p:cxnSp>
        <p:nvCxnSpPr>
          <p:cNvPr id="11" name="直线箭头连接符 10"/>
          <p:cNvCxnSpPr/>
          <p:nvPr/>
        </p:nvCxnSpPr>
        <p:spPr>
          <a:xfrm>
            <a:off x="1598182" y="5181669"/>
            <a:ext cx="6837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/>
          <p:nvPr/>
        </p:nvCxnSpPr>
        <p:spPr>
          <a:xfrm>
            <a:off x="3994603" y="5181669"/>
            <a:ext cx="6837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/>
          <p:cNvCxnSpPr/>
          <p:nvPr/>
        </p:nvCxnSpPr>
        <p:spPr>
          <a:xfrm>
            <a:off x="6412732" y="5181669"/>
            <a:ext cx="6837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/>
          <p:nvPr/>
        </p:nvCxnSpPr>
        <p:spPr>
          <a:xfrm>
            <a:off x="7642426" y="5359418"/>
            <a:ext cx="0" cy="6922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/>
          <p:nvPr/>
        </p:nvCxnSpPr>
        <p:spPr>
          <a:xfrm flipH="1">
            <a:off x="6200051" y="6241892"/>
            <a:ext cx="89646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ym typeface="Wingdings"/>
              </a:rPr>
              <a:t>同步下行读写库</a:t>
            </a:r>
            <a:r>
              <a:rPr kumimoji="1" lang="en-US" altLang="zh-CN" dirty="0">
                <a:sym typeface="Wingdings"/>
              </a:rPr>
              <a:t>LB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8"/>
            <a:ext cx="8347735" cy="5682266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sym typeface="Wingdings"/>
              </a:rPr>
              <a:t>随着设备数量增加，对从库的压力变大，</a:t>
            </a:r>
            <a:r>
              <a:rPr kumimoji="1" lang="zh-CN" altLang="en-US" dirty="0" smtClean="0">
                <a:sym typeface="Wingdings"/>
              </a:rPr>
              <a:t>需要主库分担压力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配置权重比例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en-US" altLang="en-US" dirty="0" smtClean="0">
                <a:sym typeface="Wingdings"/>
              </a:rPr>
              <a:t>确保</a:t>
            </a:r>
            <a:r>
              <a:rPr kumimoji="1" lang="zh-CN" altLang="en-US" dirty="0" smtClean="0">
                <a:sym typeface="Wingdings"/>
              </a:rPr>
              <a:t>同</a:t>
            </a:r>
            <a:r>
              <a:rPr kumimoji="1" lang="en-US" altLang="en-US" dirty="0" smtClean="0">
                <a:sym typeface="Wingdings"/>
              </a:rPr>
              <a:t>一个请求中的所有DB操作均路由到同一个库</a:t>
            </a:r>
          </a:p>
          <a:p>
            <a:pPr lvl="1"/>
            <a:r>
              <a:rPr kumimoji="1" lang="zh-CN" altLang="en-US" dirty="0" smtClean="0">
                <a:sym typeface="Wingdings"/>
              </a:rPr>
              <a:t>1</a:t>
            </a:r>
            <a:r>
              <a:rPr kumimoji="1" lang="en-US" altLang="zh-CN" dirty="0" smtClean="0">
                <a:sym typeface="Wingdings"/>
              </a:rPr>
              <a:t>8</a:t>
            </a:r>
            <a:r>
              <a:rPr kumimoji="1" lang="zh-CN" altLang="en-US" dirty="0" smtClean="0">
                <a:sym typeface="Wingdings"/>
              </a:rPr>
              <a:t>年</a:t>
            </a:r>
            <a:r>
              <a:rPr kumimoji="1" lang="en-US" altLang="zh-CN" dirty="0" smtClean="0">
                <a:sym typeface="Wingdings"/>
              </a:rPr>
              <a:t>1</a:t>
            </a:r>
            <a:r>
              <a:rPr kumimoji="1" lang="zh-CN" altLang="en-US" dirty="0" smtClean="0">
                <a:sym typeface="Wingdings"/>
              </a:rPr>
              <a:t>月去除对主库的路由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随着一个从库使用达到瓶颈，需要多个从库分担压力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人肉多从库</a:t>
            </a:r>
            <a:r>
              <a:rPr kumimoji="1" lang="en-US" altLang="zh-CN" dirty="0" smtClean="0">
                <a:sym typeface="Wingdings"/>
              </a:rPr>
              <a:t>LB</a:t>
            </a:r>
          </a:p>
          <a:p>
            <a:pPr lvl="1"/>
            <a:r>
              <a:rPr kumimoji="1" lang="zh-CN" altLang="en-US" dirty="0" smtClean="0">
                <a:sym typeface="Wingdings"/>
              </a:rPr>
              <a:t>通过人为修改配置</a:t>
            </a:r>
            <a:r>
              <a:rPr kumimoji="1" lang="en-US" altLang="zh-CN" dirty="0" smtClean="0">
                <a:sym typeface="Wingdings"/>
              </a:rPr>
              <a:t>&amp;</a:t>
            </a:r>
            <a:r>
              <a:rPr kumimoji="1" lang="zh-CN" altLang="en-US" dirty="0" smtClean="0">
                <a:sym typeface="Wingdings"/>
              </a:rPr>
              <a:t>重启部分节点实现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将来通过</a:t>
            </a:r>
            <a:r>
              <a:rPr kumimoji="1" lang="en-US" altLang="zh-CN" dirty="0" smtClean="0">
                <a:sym typeface="Wingdings"/>
              </a:rPr>
              <a:t>SJ</a:t>
            </a:r>
            <a:r>
              <a:rPr kumimoji="1" lang="zh-CN" altLang="en-US" dirty="0" smtClean="0">
                <a:sym typeface="Wingdings"/>
              </a:rPr>
              <a:t>解决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 smtClean="0"/>
              <a:t>Quartz cluster</a:t>
            </a:r>
            <a:r>
              <a:rPr kumimoji="1" lang="zh-CN" altLang="en-US" dirty="0" smtClean="0"/>
              <a:t>的隐患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8"/>
            <a:ext cx="8347735" cy="5402458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 smtClean="0">
                <a:sym typeface="Wingdings"/>
              </a:rPr>
              <a:t>2016.8</a:t>
            </a:r>
            <a:r>
              <a:rPr kumimoji="1" lang="zh-CN" altLang="en-US" dirty="0" smtClean="0">
                <a:sym typeface="Wingdings"/>
              </a:rPr>
              <a:t>开始，</a:t>
            </a:r>
            <a:r>
              <a:rPr kumimoji="1" lang="en-US" altLang="zh-CN" dirty="0" smtClean="0">
                <a:sym typeface="Wingdings"/>
              </a:rPr>
              <a:t>checkout job&amp;</a:t>
            </a:r>
            <a:r>
              <a:rPr kumimoji="1" lang="zh-CN" altLang="en-US" dirty="0" smtClean="0">
                <a:sym typeface="Wingdings"/>
              </a:rPr>
              <a:t>开机时间统计</a:t>
            </a:r>
            <a:r>
              <a:rPr kumimoji="1" lang="en-US" altLang="zh-CN" dirty="0" smtClean="0">
                <a:sym typeface="Wingdings"/>
              </a:rPr>
              <a:t>job</a:t>
            </a:r>
            <a:r>
              <a:rPr kumimoji="1" lang="zh-CN" altLang="en-US" dirty="0" smtClean="0">
                <a:sym typeface="Wingdings"/>
              </a:rPr>
              <a:t>频发异常停止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触发条件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lang="en-US" altLang="zh-CN" dirty="0" smtClean="0"/>
              <a:t>@</a:t>
            </a:r>
            <a:r>
              <a:rPr lang="en-US" altLang="zh-CN" dirty="0" err="1" smtClean="0"/>
              <a:t>DisallowConcurrentExecution</a:t>
            </a:r>
            <a:endParaRPr lang="en-US" altLang="zh-CN" dirty="0" smtClean="0"/>
          </a:p>
          <a:p>
            <a:pPr lvl="1"/>
            <a:r>
              <a:rPr kumimoji="1" lang="en-US" altLang="zh-CN" dirty="0" smtClean="0">
                <a:sym typeface="Wingdings"/>
              </a:rPr>
              <a:t>JOB</a:t>
            </a:r>
            <a:r>
              <a:rPr kumimoji="1" lang="zh-CN" altLang="en-US" dirty="0" smtClean="0">
                <a:sym typeface="Wingdings"/>
              </a:rPr>
              <a:t>真实执行时间超过</a:t>
            </a:r>
            <a:r>
              <a:rPr kumimoji="1" lang="en-US" altLang="zh-CN" dirty="0" smtClean="0">
                <a:sym typeface="Wingdings"/>
              </a:rPr>
              <a:t>JOB</a:t>
            </a:r>
            <a:r>
              <a:rPr kumimoji="1" lang="zh-CN" altLang="en-US" dirty="0" smtClean="0">
                <a:sym typeface="Wingdings"/>
              </a:rPr>
              <a:t>间隔时间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lang="en-US" altLang="zh-CN" dirty="0" err="1" smtClean="0"/>
              <a:t>misfireThreshold</a:t>
            </a:r>
            <a:r>
              <a:rPr lang="zh-CN" altLang="en-US" dirty="0" smtClean="0"/>
              <a:t>被频繁触发</a:t>
            </a:r>
            <a:endParaRPr lang="en-US" altLang="zh-CN" dirty="0" smtClean="0"/>
          </a:p>
          <a:p>
            <a:pPr lvl="1"/>
            <a:r>
              <a:rPr kumimoji="1" lang="zh-CN" altLang="en-US" dirty="0" smtClean="0">
                <a:sym typeface="Wingdings"/>
              </a:rPr>
              <a:t>更新</a:t>
            </a:r>
            <a:r>
              <a:rPr kumimoji="1" lang="en-US" altLang="zh-CN" dirty="0" smtClean="0">
                <a:sym typeface="Wingdings"/>
              </a:rPr>
              <a:t>job</a:t>
            </a:r>
            <a:r>
              <a:rPr kumimoji="1" lang="zh-CN" altLang="en-US" dirty="0" smtClean="0">
                <a:sym typeface="Wingdings"/>
              </a:rPr>
              <a:t>状态时</a:t>
            </a:r>
            <a:r>
              <a:rPr kumimoji="1" lang="en-US" altLang="zh-CN" dirty="0" smtClean="0">
                <a:sym typeface="Wingdings"/>
              </a:rPr>
              <a:t>RDS</a:t>
            </a:r>
            <a:r>
              <a:rPr kumimoji="1" lang="zh-CN" altLang="en-US" dirty="0" smtClean="0">
                <a:sym typeface="Wingdings"/>
              </a:rPr>
              <a:t>抖动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解决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优化</a:t>
            </a:r>
            <a:r>
              <a:rPr kumimoji="1" lang="en-US" altLang="zh-CN" dirty="0" smtClean="0">
                <a:sym typeface="Wingdings"/>
              </a:rPr>
              <a:t>JOB</a:t>
            </a:r>
            <a:r>
              <a:rPr kumimoji="1" lang="zh-CN" altLang="en-US" dirty="0" smtClean="0">
                <a:sym typeface="Wingdings"/>
              </a:rPr>
              <a:t>实际执行时间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增大</a:t>
            </a:r>
            <a:r>
              <a:rPr lang="en-US" altLang="zh-CN" dirty="0" err="1" smtClean="0"/>
              <a:t>misfireThreshold</a:t>
            </a:r>
            <a:endParaRPr lang="en-US" altLang="zh-CN" dirty="0" smtClean="0"/>
          </a:p>
          <a:p>
            <a:pPr lvl="1"/>
            <a:r>
              <a:rPr kumimoji="1" lang="zh-CN" altLang="en-US" dirty="0" smtClean="0">
                <a:sym typeface="Wingdings"/>
              </a:rPr>
              <a:t>间隔时间分钟及以下的</a:t>
            </a:r>
            <a:r>
              <a:rPr kumimoji="1" lang="en-US" altLang="zh-CN" dirty="0" smtClean="0">
                <a:sym typeface="Wingdings"/>
              </a:rPr>
              <a:t>JOB</a:t>
            </a:r>
            <a:r>
              <a:rPr kumimoji="1" lang="zh-CN" altLang="en-US" dirty="0" smtClean="0">
                <a:sym typeface="Wingdings"/>
              </a:rPr>
              <a:t>不再使用</a:t>
            </a:r>
            <a:r>
              <a:rPr kumimoji="1" lang="en-US" altLang="zh-CN" dirty="0" smtClean="0">
                <a:sym typeface="Wingdings"/>
              </a:rPr>
              <a:t>quartz cluster</a:t>
            </a:r>
            <a:r>
              <a:rPr kumimoji="1" lang="zh-CN" altLang="en-US" dirty="0" smtClean="0">
                <a:sym typeface="Wingdings"/>
              </a:rPr>
              <a:t>，采用</a:t>
            </a:r>
            <a:r>
              <a:rPr kumimoji="1" lang="en-US" altLang="zh-CN" dirty="0" err="1" smtClean="0">
                <a:sym typeface="Wingdings"/>
              </a:rPr>
              <a:t>redis</a:t>
            </a:r>
            <a:r>
              <a:rPr kumimoji="1" lang="en-US" altLang="zh-CN" dirty="0" smtClean="0">
                <a:sym typeface="Wingdings"/>
              </a:rPr>
              <a:t> lock</a:t>
            </a:r>
            <a:r>
              <a:rPr kumimoji="1" lang="zh-CN" altLang="en-US" dirty="0" smtClean="0">
                <a:sym typeface="Wingdings"/>
              </a:rPr>
              <a:t>实现</a:t>
            </a:r>
            <a:r>
              <a:rPr lang="en-US" altLang="zh-CN" dirty="0" err="1"/>
              <a:t>DisallowConcurrentExecution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新版</a:t>
            </a:r>
            <a:r>
              <a:rPr kumimoji="1" lang="en-US" altLang="zh-CN" dirty="0" smtClean="0"/>
              <a:t>checkout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8"/>
            <a:ext cx="8283151" cy="5251791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ym typeface="Wingdings"/>
              </a:rPr>
              <a:t>c</a:t>
            </a:r>
            <a:r>
              <a:rPr kumimoji="1" lang="en-US" altLang="zh-CN" dirty="0" smtClean="0">
                <a:sym typeface="Wingdings"/>
              </a:rPr>
              <a:t>heckout</a:t>
            </a:r>
            <a:r>
              <a:rPr kumimoji="1" lang="zh-CN" altLang="en-US" dirty="0" smtClean="0">
                <a:sym typeface="Wingdings"/>
              </a:rPr>
              <a:t>和订单解耦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在线交易粒度从订单变为支付单</a:t>
            </a:r>
            <a:r>
              <a:rPr kumimoji="1" lang="en-US" altLang="zh-CN" dirty="0">
                <a:sym typeface="Wingdings"/>
              </a:rPr>
              <a:t>(</a:t>
            </a:r>
            <a:r>
              <a:rPr kumimoji="1" lang="en-US" altLang="zh-CN" dirty="0" err="1">
                <a:sym typeface="Wingdings"/>
              </a:rPr>
              <a:t>payment_item</a:t>
            </a:r>
            <a:r>
              <a:rPr kumimoji="1" lang="en-US" altLang="zh-CN" dirty="0" smtClean="0">
                <a:sym typeface="Wingdings"/>
              </a:rPr>
              <a:t>)</a:t>
            </a:r>
            <a:r>
              <a:rPr kumimoji="1" lang="zh-CN" altLang="en-US" dirty="0" smtClean="0">
                <a:sym typeface="Wingdings"/>
              </a:rPr>
              <a:t>，包括支付、退款、对账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去除基于单号的重复支付判断（交由调用方自行按需实现）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业务上支持多次支付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@</a:t>
            </a:r>
            <a:r>
              <a:rPr kumimoji="1" lang="en-US" altLang="zh-CN" dirty="0" err="1" smtClean="0">
                <a:sym typeface="Wingdings"/>
              </a:rPr>
              <a:t>Async</a:t>
            </a:r>
            <a:r>
              <a:rPr kumimoji="1" lang="en-US" altLang="zh-CN" dirty="0" smtClean="0">
                <a:sym typeface="Wingdings"/>
              </a:rPr>
              <a:t>&amp;@</a:t>
            </a:r>
            <a:r>
              <a:rPr kumimoji="1" lang="en-US" altLang="zh-CN" dirty="0" err="1" smtClean="0">
                <a:sym typeface="Wingdings"/>
              </a:rPr>
              <a:t>AsyncExecutable</a:t>
            </a:r>
            <a:r>
              <a:rPr kumimoji="1" lang="zh-CN" altLang="en-US" dirty="0" smtClean="0">
                <a:sym typeface="Wingdings"/>
              </a:rPr>
              <a:t>支持</a:t>
            </a:r>
            <a:r>
              <a:rPr kumimoji="1" lang="en-US" altLang="zh-CN" dirty="0" smtClean="0">
                <a:sym typeface="Wingdings"/>
              </a:rPr>
              <a:t>MDC</a:t>
            </a:r>
          </a:p>
          <a:p>
            <a:r>
              <a:rPr kumimoji="1" lang="zh-CN" altLang="en-US" dirty="0" smtClean="0">
                <a:sym typeface="Wingdings"/>
              </a:rPr>
              <a:t>标记重复支付（</a:t>
            </a:r>
            <a:r>
              <a:rPr kumimoji="1" lang="en-US" altLang="zh-CN" dirty="0" smtClean="0">
                <a:sym typeface="Wingdings"/>
              </a:rPr>
              <a:t>2017.4</a:t>
            </a:r>
            <a:r>
              <a:rPr kumimoji="1" lang="zh-CN" altLang="en-US" dirty="0" smtClean="0">
                <a:sym typeface="Wingdings"/>
              </a:rPr>
              <a:t>去除）</a:t>
            </a:r>
            <a:r>
              <a:rPr kumimoji="1" lang="en-US" altLang="zh-CN" dirty="0" smtClean="0">
                <a:sym typeface="Wingdings"/>
              </a:rPr>
              <a:t>，</a:t>
            </a:r>
            <a:r>
              <a:rPr kumimoji="1" lang="zh-CN" altLang="en-US" dirty="0" smtClean="0">
                <a:sym typeface="Wingdings"/>
              </a:rPr>
              <a:t>支持部分退款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确定在线支付过程中不锁定订单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zh-CN" dirty="0" smtClean="0">
                <a:sym typeface="Wingdings"/>
              </a:rPr>
              <a:t>2</a:t>
            </a:r>
            <a:r>
              <a:rPr kumimoji="1" lang="en-US" altLang="zh-CN" dirty="0" smtClean="0">
                <a:sym typeface="Wingdings"/>
              </a:rPr>
              <a:t>016.11</a:t>
            </a:r>
            <a:r>
              <a:rPr kumimoji="1" lang="zh-CN" altLang="en-US" dirty="0" smtClean="0">
                <a:sym typeface="Wingdings"/>
              </a:rPr>
              <a:t>上线，此后一个月内大概</a:t>
            </a:r>
            <a:r>
              <a:rPr kumimoji="1" lang="en-US" altLang="zh-CN" dirty="0" smtClean="0">
                <a:sym typeface="Wingdings"/>
              </a:rPr>
              <a:t>1</a:t>
            </a:r>
            <a:r>
              <a:rPr kumimoji="1" lang="zh-CN" altLang="en-US" dirty="0" smtClean="0">
                <a:sym typeface="Wingdings"/>
              </a:rPr>
              <a:t>周</a:t>
            </a:r>
            <a:r>
              <a:rPr kumimoji="1" lang="en-US" altLang="zh-CN" dirty="0" smtClean="0">
                <a:sym typeface="Wingdings"/>
              </a:rPr>
              <a:t>1</a:t>
            </a:r>
            <a:r>
              <a:rPr kumimoji="1" lang="zh-CN" altLang="en-US" dirty="0" smtClean="0">
                <a:sym typeface="Wingdings"/>
              </a:rPr>
              <a:t>次上线</a:t>
            </a:r>
            <a:endParaRPr kumimoji="1" lang="en-US" altLang="zh-CN" dirty="0" smtClean="0">
              <a:sym typeface="Wingdings"/>
            </a:endParaRPr>
          </a:p>
          <a:p>
            <a:pPr marL="36576" indent="0">
              <a:buNone/>
            </a:pP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80025"/>
          </a:xfrm>
        </p:spPr>
        <p:txBody>
          <a:bodyPr/>
          <a:lstStyle/>
          <a:p>
            <a:r>
              <a:rPr kumimoji="1" lang="en-US" altLang="zh-CN" sz="3600" dirty="0" smtClean="0"/>
              <a:t>API</a:t>
            </a:r>
            <a:r>
              <a:rPr kumimoji="1" lang="zh-CN" altLang="en-US" sz="3600" dirty="0" smtClean="0"/>
              <a:t>安全性</a:t>
            </a:r>
            <a:endParaRPr kumimoji="1"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003287" cy="452596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 smtClean="0"/>
              <a:t>因为历史原因，同步组对外提供的</a:t>
            </a:r>
            <a:r>
              <a:rPr kumimoji="1" lang="en-US" altLang="zh-CN" dirty="0" smtClean="0"/>
              <a:t>API</a:t>
            </a:r>
            <a:r>
              <a:rPr kumimoji="1" lang="zh-CN" altLang="en-US" dirty="0" smtClean="0"/>
              <a:t>除无单收银外均没有做任何安全性设计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r>
              <a:rPr kumimoji="1" lang="zh-CN" altLang="en-US" dirty="0" smtClean="0"/>
              <a:t>数据加密</a:t>
            </a:r>
            <a:endParaRPr kumimoji="1" lang="en-US" altLang="zh-CN" dirty="0" smtClean="0"/>
          </a:p>
          <a:p>
            <a:r>
              <a:rPr kumimoji="1" lang="zh-CN" altLang="en-US" dirty="0" smtClean="0"/>
              <a:t>防伪造客户端</a:t>
            </a:r>
            <a:endParaRPr kumimoji="1" lang="en-US" altLang="zh-CN" dirty="0" smtClean="0"/>
          </a:p>
          <a:p>
            <a:r>
              <a:rPr kumimoji="1" lang="zh-CN" altLang="en-US" dirty="0" smtClean="0"/>
              <a:t>防篡改数据</a:t>
            </a:r>
            <a:endParaRPr kumimoji="1" lang="en-US" altLang="zh-CN" dirty="0" smtClean="0"/>
          </a:p>
          <a:p>
            <a:r>
              <a:rPr kumimoji="1" lang="zh-CN" altLang="en-US" dirty="0" smtClean="0"/>
              <a:t>主要针对后</a:t>
            </a:r>
            <a:r>
              <a:rPr kumimoji="1" lang="en-US" altLang="zh-CN" dirty="0" smtClean="0"/>
              <a:t>2</a:t>
            </a:r>
            <a:r>
              <a:rPr kumimoji="1" lang="zh-CN" altLang="en-US" dirty="0" smtClean="0"/>
              <a:t>者实现了一个轻量级方案</a:t>
            </a:r>
            <a:endParaRPr kumimoji="1" lang="en-US" altLang="zh-CN" dirty="0" smtClean="0"/>
          </a:p>
          <a:p>
            <a:r>
              <a:rPr kumimoji="1" lang="en-US" altLang="zh-CN" dirty="0" smtClean="0"/>
              <a:t>20</a:t>
            </a:r>
            <a:r>
              <a:rPr kumimoji="1" lang="zh-CN" altLang="zh-CN" dirty="0" smtClean="0"/>
              <a:t>1</a:t>
            </a:r>
            <a:r>
              <a:rPr kumimoji="1" lang="en-US" altLang="zh-CN" dirty="0" smtClean="0"/>
              <a:t>6.10</a:t>
            </a:r>
            <a:r>
              <a:rPr kumimoji="1" lang="zh-CN" altLang="en-US" dirty="0" smtClean="0"/>
              <a:t>启动，因为</a:t>
            </a:r>
            <a:r>
              <a:rPr kumimoji="1" lang="zh-CN" altLang="en-US" b="1" dirty="0" smtClean="0">
                <a:solidFill>
                  <a:srgbClr val="FF0000"/>
                </a:solidFill>
              </a:rPr>
              <a:t>黑色</a:t>
            </a:r>
            <a:r>
              <a:rPr kumimoji="1" lang="en-US" altLang="zh-CN" b="1" dirty="0" smtClean="0">
                <a:solidFill>
                  <a:srgbClr val="FF0000"/>
                </a:solidFill>
              </a:rPr>
              <a:t>Q4</a:t>
            </a:r>
            <a:r>
              <a:rPr kumimoji="1" lang="zh-CN" altLang="en-US" dirty="0" smtClean="0"/>
              <a:t>延迟到</a:t>
            </a:r>
            <a:r>
              <a:rPr kumimoji="1" lang="en-US" altLang="zh-CN" dirty="0" smtClean="0"/>
              <a:t>2017.5</a:t>
            </a:r>
            <a:r>
              <a:rPr kumimoji="1" lang="zh-CN" altLang="en-US" dirty="0" smtClean="0"/>
              <a:t>上线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15104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 smtClean="0"/>
              <a:t>API</a:t>
            </a:r>
            <a:r>
              <a:rPr kumimoji="1" lang="zh-CN" altLang="en-US" dirty="0" smtClean="0"/>
              <a:t>安全性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46587"/>
            <a:ext cx="7852592" cy="782927"/>
          </a:xfrm>
        </p:spPr>
        <p:txBody>
          <a:bodyPr>
            <a:normAutofit/>
          </a:bodyPr>
          <a:lstStyle/>
          <a:p>
            <a:r>
              <a:rPr kumimoji="1" lang="zh-CN" altLang="en-US" dirty="0" smtClean="0">
                <a:sym typeface="Wingdings"/>
              </a:rPr>
              <a:t>设备认证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07" y="1829514"/>
            <a:ext cx="7836176" cy="475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943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 smtClean="0"/>
              <a:t>API</a:t>
            </a:r>
            <a:r>
              <a:rPr kumimoji="1" lang="zh-CN" altLang="en-US" dirty="0" smtClean="0"/>
              <a:t>安全性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8111"/>
            <a:ext cx="7852592" cy="782927"/>
          </a:xfrm>
        </p:spPr>
        <p:txBody>
          <a:bodyPr>
            <a:normAutofit/>
          </a:bodyPr>
          <a:lstStyle/>
          <a:p>
            <a:r>
              <a:rPr kumimoji="1" lang="zh-CN" altLang="en-US" dirty="0" smtClean="0">
                <a:sym typeface="Wingdings"/>
              </a:rPr>
              <a:t>接口签名验证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13" y="1750202"/>
            <a:ext cx="7833566" cy="477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en-US" altLang="en-US" dirty="0" smtClean="0">
                <a:solidFill>
                  <a:srgbClr val="FF6600"/>
                </a:solidFill>
              </a:rPr>
              <a:t>黑色Q4</a:t>
            </a:r>
            <a:endParaRPr kumimoji="1" lang="zh-CN" altLang="en-US" dirty="0">
              <a:solidFill>
                <a:srgbClr val="FF66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8"/>
            <a:ext cx="8390791" cy="5337886"/>
          </a:xfrm>
        </p:spPr>
        <p:txBody>
          <a:bodyPr>
            <a:normAutofit fontScale="92500"/>
          </a:bodyPr>
          <a:lstStyle/>
          <a:p>
            <a:r>
              <a:rPr kumimoji="1" lang="en-US" altLang="zh-CN" dirty="0" smtClean="0">
                <a:sym typeface="Wingdings"/>
              </a:rPr>
              <a:t>Future</a:t>
            </a:r>
            <a:r>
              <a:rPr kumimoji="1" lang="zh-CN" altLang="en-US" dirty="0" smtClean="0">
                <a:sym typeface="Wingdings"/>
              </a:rPr>
              <a:t>和自定义拒绝策略一起不当使用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同步透明化熔断失效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Trade</a:t>
            </a:r>
            <a:r>
              <a:rPr kumimoji="1" lang="zh-CN" altLang="en-US" dirty="0" smtClean="0">
                <a:sym typeface="Wingdings"/>
              </a:rPr>
              <a:t>调用</a:t>
            </a:r>
            <a:r>
              <a:rPr kumimoji="1" lang="en-US" altLang="zh-CN" dirty="0" err="1" smtClean="0">
                <a:sym typeface="Wingdings"/>
              </a:rPr>
              <a:t>kafka</a:t>
            </a:r>
            <a:r>
              <a:rPr kumimoji="1" lang="en-US" altLang="en-US" dirty="0" err="1" smtClean="0">
                <a:sym typeface="Wingdings"/>
              </a:rPr>
              <a:t>报错触发递归死循环</a:t>
            </a:r>
            <a:r>
              <a:rPr kumimoji="1" lang="zh-CN" altLang="en-US" dirty="0" smtClean="0">
                <a:sym typeface="Wingdings"/>
              </a:rPr>
              <a:t>调用</a:t>
            </a:r>
            <a:r>
              <a:rPr kumimoji="1" lang="en-US" altLang="en-US" dirty="0" err="1" smtClean="0">
                <a:sym typeface="Wingdings"/>
              </a:rPr>
              <a:t>隐患，导致stackoverflow</a:t>
            </a:r>
            <a:endParaRPr kumimoji="1" lang="en-US" altLang="en-US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获取短信模板同步调用</a:t>
            </a:r>
            <a:r>
              <a:rPr kumimoji="1" lang="en-US" altLang="zh-CN" dirty="0" smtClean="0">
                <a:sym typeface="Wingdings"/>
              </a:rPr>
              <a:t>MIND</a:t>
            </a:r>
            <a:r>
              <a:rPr kumimoji="1" lang="zh-CN" altLang="en-US" dirty="0" smtClean="0">
                <a:sym typeface="Wingdings"/>
              </a:rPr>
              <a:t>接口，导致下单流程强依赖外部不稳定服务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Checkout</a:t>
            </a:r>
            <a:r>
              <a:rPr kumimoji="1" lang="zh-CN" altLang="en-US" dirty="0" smtClean="0">
                <a:sym typeface="Wingdings"/>
              </a:rPr>
              <a:t>调用第三方未设置超时时间，默认</a:t>
            </a:r>
            <a:r>
              <a:rPr kumimoji="1" lang="en-US" altLang="zh-CN" dirty="0" smtClean="0">
                <a:sym typeface="Wingdings"/>
              </a:rPr>
              <a:t>30S</a:t>
            </a:r>
            <a:r>
              <a:rPr kumimoji="1" lang="zh-CN" altLang="en-US" dirty="0" smtClean="0">
                <a:sym typeface="Wingdings"/>
              </a:rPr>
              <a:t>，威富通挂掉后导致</a:t>
            </a:r>
            <a:r>
              <a:rPr kumimoji="1" lang="en-US" altLang="zh-CN" dirty="0" smtClean="0">
                <a:sym typeface="Wingdings"/>
              </a:rPr>
              <a:t>Checkout</a:t>
            </a:r>
            <a:r>
              <a:rPr kumimoji="1" lang="zh-CN" altLang="en-US" dirty="0" smtClean="0">
                <a:sym typeface="Wingdings"/>
              </a:rPr>
              <a:t>挂掉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>
                <a:sym typeface="Wingdings"/>
              </a:rPr>
              <a:t>Checkout</a:t>
            </a:r>
            <a:r>
              <a:rPr kumimoji="1" lang="zh-CN" altLang="en-US" dirty="0">
                <a:sym typeface="Wingdings"/>
              </a:rPr>
              <a:t>的代码中事务未拆分，第三方请求超时但是实际扣款成功后丢单（从阿里云日</a:t>
            </a:r>
            <a:r>
              <a:rPr kumimoji="1" lang="zh-CN" altLang="en-US" dirty="0" smtClean="0">
                <a:sym typeface="Wingdings"/>
              </a:rPr>
              <a:t>志中恢复）</a:t>
            </a:r>
            <a:endParaRPr kumimoji="1" lang="en-US" altLang="zh-CN" dirty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平安夜</a:t>
            </a:r>
            <a:r>
              <a:rPr kumimoji="1" lang="en-US" altLang="zh-CN" dirty="0" smtClean="0">
                <a:sym typeface="Wingdings"/>
              </a:rPr>
              <a:t>MOBILE</a:t>
            </a:r>
            <a:r>
              <a:rPr kumimoji="1" lang="zh-CN" altLang="en-US" dirty="0" smtClean="0">
                <a:sym typeface="Wingdings"/>
              </a:rPr>
              <a:t>流量增长</a:t>
            </a:r>
            <a:r>
              <a:rPr kumimoji="1" lang="en-US" altLang="zh-CN" dirty="0" smtClean="0">
                <a:sym typeface="Wingdings"/>
              </a:rPr>
              <a:t>3</a:t>
            </a:r>
            <a:r>
              <a:rPr kumimoji="1" lang="zh-CN" altLang="en-US" dirty="0" smtClean="0">
                <a:sym typeface="Wingdings"/>
              </a:rPr>
              <a:t>倍，导致从库挂掉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pPr marL="36576" indent="0">
              <a:buNone/>
            </a:pP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 err="1" smtClean="0"/>
              <a:t>sharding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8"/>
            <a:ext cx="8476902" cy="2173897"/>
          </a:xfrm>
        </p:spPr>
        <p:txBody>
          <a:bodyPr>
            <a:normAutofit/>
          </a:bodyPr>
          <a:lstStyle/>
          <a:p>
            <a:r>
              <a:rPr kumimoji="1" lang="en-US" altLang="zh-CN" dirty="0" smtClean="0">
                <a:sym typeface="Wingdings"/>
              </a:rPr>
              <a:t>16</a:t>
            </a:r>
            <a:r>
              <a:rPr kumimoji="1" lang="zh-CN" altLang="en-US" dirty="0" smtClean="0">
                <a:sym typeface="Wingdings"/>
              </a:rPr>
              <a:t>年底日均订单量达到</a:t>
            </a:r>
            <a:r>
              <a:rPr kumimoji="1" lang="zh-CN" altLang="zh-CN" dirty="0">
                <a:sym typeface="Wingdings"/>
              </a:rPr>
              <a:t>3</a:t>
            </a:r>
            <a:r>
              <a:rPr kumimoji="1" lang="en-US" altLang="zh-CN" dirty="0" smtClean="0">
                <a:sym typeface="Wingdings"/>
              </a:rPr>
              <a:t>0W+</a:t>
            </a:r>
            <a:r>
              <a:rPr kumimoji="1" lang="zh-CN" altLang="en-US" dirty="0" smtClean="0">
                <a:sym typeface="Wingdings"/>
              </a:rPr>
              <a:t>，依靠升级</a:t>
            </a:r>
            <a:r>
              <a:rPr kumimoji="1" lang="en-US" altLang="zh-CN" dirty="0" smtClean="0">
                <a:sym typeface="Wingdings"/>
              </a:rPr>
              <a:t>RDS</a:t>
            </a:r>
            <a:r>
              <a:rPr kumimoji="1" lang="zh-CN" altLang="en-US" dirty="0" smtClean="0">
                <a:sym typeface="Wingdings"/>
              </a:rPr>
              <a:t>和数据归档勉强支撑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17.1</a:t>
            </a:r>
            <a:r>
              <a:rPr kumimoji="1" lang="zh-CN" altLang="en-US" dirty="0" smtClean="0">
                <a:sym typeface="Wingdings"/>
              </a:rPr>
              <a:t>调研</a:t>
            </a:r>
            <a:r>
              <a:rPr kumimoji="1" lang="en-US" altLang="zh-CN" dirty="0" smtClean="0">
                <a:sym typeface="Wingdings"/>
              </a:rPr>
              <a:t>&amp;</a:t>
            </a:r>
            <a:r>
              <a:rPr kumimoji="1" lang="zh-CN" altLang="en-US" dirty="0" smtClean="0">
                <a:sym typeface="Wingdings"/>
              </a:rPr>
              <a:t>选型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zh-CN" dirty="0" smtClean="0">
                <a:sym typeface="Wingdings"/>
              </a:rPr>
              <a:t>1</a:t>
            </a:r>
            <a:r>
              <a:rPr kumimoji="1" lang="en-US" altLang="zh-CN" dirty="0" smtClean="0">
                <a:sym typeface="Wingdings"/>
              </a:rPr>
              <a:t>7.3</a:t>
            </a:r>
            <a:r>
              <a:rPr kumimoji="1" lang="zh-CN" altLang="en-US" dirty="0" smtClean="0">
                <a:sym typeface="Wingdings"/>
              </a:rPr>
              <a:t>确认选型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305929"/>
              </p:ext>
            </p:extLst>
          </p:nvPr>
        </p:nvGraphicFramePr>
        <p:xfrm>
          <a:off x="457200" y="3207035"/>
          <a:ext cx="8153982" cy="368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994"/>
                <a:gridCol w="2717994"/>
                <a:gridCol w="2717994"/>
              </a:tblGrid>
              <a:tr h="73180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mycat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Sharding-jdbc</a:t>
                      </a:r>
                      <a:endParaRPr lang="zh-CN" altLang="en-US" dirty="0"/>
                    </a:p>
                  </a:txBody>
                  <a:tcPr/>
                </a:tc>
              </a:tr>
              <a:tr h="737707">
                <a:tc>
                  <a:txBody>
                    <a:bodyPr/>
                    <a:lstStyle/>
                    <a:p>
                      <a:r>
                        <a:rPr lang="en-US" altLang="en-US" dirty="0" smtClean="0"/>
                        <a:t>侵入性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几乎没有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少量</a:t>
                      </a:r>
                      <a:endParaRPr lang="zh-CN" altLang="en-US" dirty="0"/>
                    </a:p>
                  </a:txBody>
                  <a:tcPr/>
                </a:tc>
              </a:tr>
              <a:tr h="737707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性能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PROXY</a:t>
                      </a:r>
                      <a:r>
                        <a:rPr lang="zh-CN" altLang="en-US" dirty="0" smtClean="0"/>
                        <a:t>形式多一次网络传输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直连</a:t>
                      </a:r>
                      <a:r>
                        <a:rPr lang="en-US" altLang="zh-CN" dirty="0" smtClean="0"/>
                        <a:t>RDS</a:t>
                      </a:r>
                      <a:endParaRPr lang="zh-CN" altLang="en-US" dirty="0"/>
                    </a:p>
                  </a:txBody>
                  <a:tcPr/>
                </a:tc>
              </a:tr>
              <a:tr h="737707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运维投入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需要自行实现高可用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无</a:t>
                      </a:r>
                      <a:endParaRPr lang="en-US" altLang="zh-CN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</a:tr>
              <a:tr h="737707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二次开发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功能大而全，源码多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源码</a:t>
                      </a:r>
                      <a:r>
                        <a:rPr lang="en-US" altLang="zh-CN" dirty="0" smtClean="0"/>
                        <a:t>&amp;</a:t>
                      </a:r>
                      <a:r>
                        <a:rPr lang="zh-CN" altLang="en-US" dirty="0" smtClean="0"/>
                        <a:t>设计简单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93930"/>
          </a:xfrm>
        </p:spPr>
        <p:txBody>
          <a:bodyPr/>
          <a:lstStyle/>
          <a:p>
            <a:r>
              <a:rPr kumimoji="1" lang="en-US" altLang="zh-CN" sz="3600" dirty="0" err="1" smtClean="0"/>
              <a:t>sharding</a:t>
            </a:r>
            <a:endParaRPr kumimoji="1" lang="zh-CN" altLang="en-US" sz="3600" dirty="0"/>
          </a:p>
        </p:txBody>
      </p:sp>
      <p:sp>
        <p:nvSpPr>
          <p:cNvPr id="4" name="圆角矩形 3"/>
          <p:cNvSpPr/>
          <p:nvPr/>
        </p:nvSpPr>
        <p:spPr>
          <a:xfrm>
            <a:off x="2267744" y="1863416"/>
            <a:ext cx="2376264" cy="50405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Application server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051720" y="3928223"/>
            <a:ext cx="3312368" cy="166794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订单库</a:t>
            </a:r>
          </a:p>
        </p:txBody>
      </p:sp>
      <p:sp>
        <p:nvSpPr>
          <p:cNvPr id="6" name="椭圆 5"/>
          <p:cNvSpPr/>
          <p:nvPr/>
        </p:nvSpPr>
        <p:spPr>
          <a:xfrm>
            <a:off x="2339752" y="4072240"/>
            <a:ext cx="1043458" cy="57606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</a:t>
            </a:r>
            <a:r>
              <a:rPr lang="en-US" altLang="zh-CN" dirty="0"/>
              <a:t>b</a:t>
            </a:r>
            <a:r>
              <a:rPr lang="en-US" altLang="zh-CN" dirty="0" smtClean="0"/>
              <a:t>_0</a:t>
            </a:r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4067200" y="4813844"/>
            <a:ext cx="1121038" cy="57606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db_n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2375098" y="4921464"/>
            <a:ext cx="1008112" cy="44692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db_2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4039452" y="4072399"/>
            <a:ext cx="1191841" cy="47685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db_1</a:t>
            </a:r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827584" y="3922705"/>
            <a:ext cx="1080120" cy="64807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商品库</a:t>
            </a:r>
            <a:endParaRPr lang="zh-CN" altLang="en-US" dirty="0"/>
          </a:p>
        </p:txBody>
      </p:sp>
      <p:sp>
        <p:nvSpPr>
          <p:cNvPr id="11" name="圆角矩形 10"/>
          <p:cNvSpPr/>
          <p:nvPr/>
        </p:nvSpPr>
        <p:spPr>
          <a:xfrm>
            <a:off x="5535568" y="3973172"/>
            <a:ext cx="1080120" cy="64807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营销库</a:t>
            </a:r>
            <a:endParaRPr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5535568" y="4741836"/>
            <a:ext cx="1080120" cy="64807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XX</a:t>
            </a:r>
            <a:r>
              <a:rPr lang="zh-CN" altLang="en-US" dirty="0" smtClean="0"/>
              <a:t>库</a:t>
            </a:r>
            <a:endParaRPr lang="zh-CN" altLang="en-US" dirty="0"/>
          </a:p>
        </p:txBody>
      </p:sp>
      <p:sp>
        <p:nvSpPr>
          <p:cNvPr id="13" name="圆角矩形 12"/>
          <p:cNvSpPr/>
          <p:nvPr/>
        </p:nvSpPr>
        <p:spPr>
          <a:xfrm>
            <a:off x="827584" y="4648304"/>
            <a:ext cx="1080120" cy="64807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支付</a:t>
            </a:r>
            <a:r>
              <a:rPr lang="zh-CN" altLang="en-US" dirty="0" smtClean="0"/>
              <a:t>库</a:t>
            </a:r>
            <a:endParaRPr lang="zh-CN" altLang="en-US" dirty="0"/>
          </a:p>
        </p:txBody>
      </p:sp>
      <p:sp>
        <p:nvSpPr>
          <p:cNvPr id="14" name="下箭头 13"/>
          <p:cNvSpPr/>
          <p:nvPr/>
        </p:nvSpPr>
        <p:spPr>
          <a:xfrm>
            <a:off x="2915816" y="3424168"/>
            <a:ext cx="25268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1573203" y="3453111"/>
            <a:ext cx="25268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3998469" y="3424168"/>
            <a:ext cx="25268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5364088" y="3411588"/>
            <a:ext cx="25268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1331640" y="2943536"/>
            <a:ext cx="4536504" cy="43204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Data access layer</a:t>
            </a:r>
            <a:endParaRPr lang="zh-CN" altLang="en-US" dirty="0"/>
          </a:p>
        </p:txBody>
      </p:sp>
      <p:sp>
        <p:nvSpPr>
          <p:cNvPr id="19" name="下箭头 18"/>
          <p:cNvSpPr/>
          <p:nvPr/>
        </p:nvSpPr>
        <p:spPr>
          <a:xfrm>
            <a:off x="3383210" y="2439480"/>
            <a:ext cx="25268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3818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/>
          </a:bodyPr>
          <a:lstStyle/>
          <a:p>
            <a:r>
              <a:rPr kumimoji="1" lang="en-US" altLang="zh-CN" sz="3600" dirty="0" err="1" smtClean="0"/>
              <a:t>sharding</a:t>
            </a:r>
            <a:r>
              <a:rPr kumimoji="1" lang="en-US" altLang="zh-CN" sz="3600" dirty="0" smtClean="0"/>
              <a:t>-</a:t>
            </a:r>
            <a:r>
              <a:rPr kumimoji="1" lang="zh-CN" altLang="en-US" sz="3600" dirty="0" smtClean="0"/>
              <a:t>上线部署架构</a:t>
            </a:r>
            <a:endParaRPr kumimoji="1" lang="zh-CN" altLang="en-US" sz="3600" dirty="0"/>
          </a:p>
        </p:txBody>
      </p:sp>
      <p:sp>
        <p:nvSpPr>
          <p:cNvPr id="4" name="矩形 3"/>
          <p:cNvSpPr/>
          <p:nvPr/>
        </p:nvSpPr>
        <p:spPr>
          <a:xfrm>
            <a:off x="2497243" y="1549709"/>
            <a:ext cx="2454190" cy="42401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906276" y="2130848"/>
            <a:ext cx="1485429" cy="68876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sh1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906276" y="3273340"/>
            <a:ext cx="1485429" cy="68876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sh2</a:t>
            </a:r>
            <a:endParaRPr kumimoji="1"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2906276" y="4523451"/>
            <a:ext cx="1485429" cy="68876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g</a:t>
            </a:r>
            <a:r>
              <a:rPr kumimoji="1" lang="en-US" altLang="zh-CN" dirty="0" err="1" smtClean="0"/>
              <a:t>lobal_sh</a:t>
            </a:r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964949" y="1549709"/>
            <a:ext cx="2454190" cy="42401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373982" y="2152372"/>
            <a:ext cx="1485429" cy="68876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sh1</a:t>
            </a:r>
            <a:endParaRPr kumimoji="1"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6373982" y="3273340"/>
            <a:ext cx="1485429" cy="68876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sh2</a:t>
            </a:r>
            <a:endParaRPr kumimoji="1" lang="zh-CN" altLang="en-US" dirty="0"/>
          </a:p>
        </p:txBody>
      </p:sp>
      <p:sp>
        <p:nvSpPr>
          <p:cNvPr id="13" name="圆角矩形 12"/>
          <p:cNvSpPr/>
          <p:nvPr/>
        </p:nvSpPr>
        <p:spPr>
          <a:xfrm>
            <a:off x="6373982" y="4523451"/>
            <a:ext cx="1485429" cy="68876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g</a:t>
            </a:r>
            <a:r>
              <a:rPr kumimoji="1" lang="en-US" altLang="zh-CN" dirty="0" err="1" smtClean="0"/>
              <a:t>lobal_sh</a:t>
            </a:r>
            <a:endParaRPr kumimoji="1"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500256" y="4392588"/>
            <a:ext cx="914400" cy="9144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DTS</a:t>
            </a:r>
            <a:endParaRPr kumimoji="1" lang="zh-CN" altLang="en-US" dirty="0"/>
          </a:p>
        </p:txBody>
      </p:sp>
      <p:sp>
        <p:nvSpPr>
          <p:cNvPr id="15" name="右箭头 14"/>
          <p:cNvSpPr/>
          <p:nvPr/>
        </p:nvSpPr>
        <p:spPr>
          <a:xfrm>
            <a:off x="1636124" y="4578997"/>
            <a:ext cx="1184039" cy="484632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4693095" y="4663007"/>
            <a:ext cx="1279802" cy="484632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29169" y="1958665"/>
            <a:ext cx="1872931" cy="66723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err="1"/>
              <a:t>c</a:t>
            </a:r>
            <a:r>
              <a:rPr kumimoji="1" lang="en-US" altLang="zh-CN" sz="2400" dirty="0" err="1" smtClean="0"/>
              <a:t>lam_online</a:t>
            </a:r>
            <a:endParaRPr kumimoji="1" lang="zh-CN" altLang="en-US" sz="2400" dirty="0"/>
          </a:p>
        </p:txBody>
      </p:sp>
      <p:sp>
        <p:nvSpPr>
          <p:cNvPr id="18" name="下箭头 17"/>
          <p:cNvSpPr/>
          <p:nvPr/>
        </p:nvSpPr>
        <p:spPr>
          <a:xfrm>
            <a:off x="753478" y="2927228"/>
            <a:ext cx="484632" cy="1193643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906277" y="925518"/>
            <a:ext cx="1786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t</a:t>
            </a:r>
            <a:r>
              <a:rPr kumimoji="1" lang="en-US" altLang="zh-CN" sz="2400" dirty="0" smtClean="0"/>
              <a:t>rade-rds1</a:t>
            </a:r>
            <a:endParaRPr kumimoji="1" lang="zh-CN" altLang="en-US" sz="2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6137982" y="925518"/>
            <a:ext cx="1786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t</a:t>
            </a:r>
            <a:r>
              <a:rPr kumimoji="1" lang="en-US" altLang="zh-CN" sz="2400" dirty="0" smtClean="0"/>
              <a:t>rade-rds2</a:t>
            </a:r>
            <a:endParaRPr kumimoji="1" lang="zh-CN" altLang="en-US" sz="2400" dirty="0"/>
          </a:p>
        </p:txBody>
      </p:sp>
      <p:sp>
        <p:nvSpPr>
          <p:cNvPr id="22" name="内容占位符 2"/>
          <p:cNvSpPr>
            <a:spLocks noGrp="1"/>
          </p:cNvSpPr>
          <p:nvPr>
            <p:ph idx="1"/>
          </p:nvPr>
        </p:nvSpPr>
        <p:spPr>
          <a:xfrm>
            <a:off x="566547" y="5985350"/>
            <a:ext cx="7852592" cy="708534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ym typeface="Wingdings"/>
              </a:rPr>
              <a:t>g</a:t>
            </a:r>
            <a:r>
              <a:rPr kumimoji="1" lang="en-US" altLang="zh-CN" dirty="0" smtClean="0">
                <a:sym typeface="Wingdings"/>
              </a:rPr>
              <a:t>lobal=</a:t>
            </a:r>
            <a:r>
              <a:rPr kumimoji="1" lang="zh-CN" altLang="en-US" dirty="0" smtClean="0">
                <a:sym typeface="Wingdings"/>
              </a:rPr>
              <a:t>订单库</a:t>
            </a:r>
            <a:r>
              <a:rPr kumimoji="1" lang="en-US" altLang="zh-CN" dirty="0" smtClean="0">
                <a:sym typeface="Wingdings"/>
              </a:rPr>
              <a:t>no </a:t>
            </a:r>
            <a:r>
              <a:rPr kumimoji="1" lang="en-US" altLang="zh-CN" dirty="0" err="1" smtClean="0">
                <a:sym typeface="Wingdings"/>
              </a:rPr>
              <a:t>sharding</a:t>
            </a:r>
            <a:r>
              <a:rPr kumimoji="1" lang="en-US" altLang="zh-CN" dirty="0" smtClean="0">
                <a:sym typeface="Wingdings"/>
              </a:rPr>
              <a:t> tables+</a:t>
            </a:r>
            <a:r>
              <a:rPr kumimoji="1" lang="zh-CN" altLang="en-US" dirty="0" smtClean="0">
                <a:sym typeface="Wingdings"/>
              </a:rPr>
              <a:t>镜像表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2</a:t>
            </a:r>
            <a:r>
              <a:rPr kumimoji="1" lang="en-US" altLang="zh-CN" dirty="0" smtClean="0"/>
              <a:t>017.3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8"/>
            <a:ext cx="7852592" cy="2539801"/>
          </a:xfrm>
        </p:spPr>
        <p:txBody>
          <a:bodyPr>
            <a:normAutofit/>
          </a:bodyPr>
          <a:lstStyle/>
          <a:p>
            <a:r>
              <a:rPr kumimoji="1" lang="zh-CN" altLang="en-US" dirty="0" smtClean="0">
                <a:sym typeface="Wingdings"/>
              </a:rPr>
              <a:t>同步下行标识实时</a:t>
            </a:r>
            <a:r>
              <a:rPr kumimoji="1" lang="en-US" altLang="zh-CN" dirty="0" smtClean="0">
                <a:sym typeface="Wingdings"/>
              </a:rPr>
              <a:t>/</a:t>
            </a:r>
            <a:r>
              <a:rPr kumimoji="1" lang="zh-CN" altLang="en-US" dirty="0" smtClean="0">
                <a:sym typeface="Wingdings"/>
              </a:rPr>
              <a:t>非实时模块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共享模块</a:t>
            </a:r>
            <a:r>
              <a:rPr kumimoji="1" lang="en-US" altLang="zh-CN" dirty="0" err="1" smtClean="0">
                <a:sym typeface="Wingdings"/>
              </a:rPr>
              <a:t>git</a:t>
            </a:r>
            <a:r>
              <a:rPr kumimoji="1" lang="zh-CN" altLang="en-US" dirty="0" smtClean="0">
                <a:sym typeface="Wingdings"/>
              </a:rPr>
              <a:t>拆分</a:t>
            </a:r>
            <a:r>
              <a:rPr kumimoji="1" lang="en-US" altLang="zh-CN" dirty="0" smtClean="0">
                <a:sym typeface="Wingdings"/>
              </a:rPr>
              <a:t>&amp;maven</a:t>
            </a:r>
            <a:r>
              <a:rPr kumimoji="1" lang="zh-CN" altLang="en-US" dirty="0" smtClean="0">
                <a:sym typeface="Wingdings"/>
              </a:rPr>
              <a:t>版本管理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客户端国际化（</a:t>
            </a:r>
            <a:r>
              <a:rPr kumimoji="1" lang="en-US" altLang="zh-CN" dirty="0" err="1" smtClean="0">
                <a:sym typeface="Wingdings"/>
              </a:rPr>
              <a:t>req</a:t>
            </a:r>
            <a:r>
              <a:rPr kumimoji="1" lang="en-US" altLang="zh-CN" dirty="0" smtClean="0">
                <a:sym typeface="Wingdings"/>
              </a:rPr>
              <a:t> header</a:t>
            </a:r>
            <a:r>
              <a:rPr kumimoji="1" lang="zh-CN" altLang="en-US" dirty="0" smtClean="0">
                <a:sym typeface="Wingdings"/>
              </a:rPr>
              <a:t>传递地区）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OS MOBILE</a:t>
            </a:r>
            <a:r>
              <a:rPr kumimoji="1" lang="zh-CN" altLang="en-US" dirty="0" smtClean="0">
                <a:sym typeface="Wingdings"/>
              </a:rPr>
              <a:t>产品线成立（移动</a:t>
            </a:r>
            <a:r>
              <a:rPr kumimoji="1" lang="en-US" altLang="zh-CN" dirty="0" smtClean="0">
                <a:sym typeface="Wingdings"/>
              </a:rPr>
              <a:t>POS</a:t>
            </a:r>
            <a:r>
              <a:rPr kumimoji="1" lang="zh-CN" altLang="en-US" dirty="0" smtClean="0">
                <a:sym typeface="Wingdings"/>
              </a:rPr>
              <a:t>）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 smtClean="0"/>
              <a:t>TW</a:t>
            </a:r>
            <a:r>
              <a:rPr kumimoji="1" lang="zh-CN" altLang="en-US" dirty="0" smtClean="0"/>
              <a:t>敏捷培训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400" y="1346200"/>
            <a:ext cx="2654300" cy="4152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062" y="1676400"/>
            <a:ext cx="34544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 smtClean="0"/>
              <a:t>TW</a:t>
            </a:r>
            <a:r>
              <a:rPr kumimoji="1" lang="zh-CN" altLang="en-US" dirty="0" smtClean="0"/>
              <a:t>敏捷培训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8"/>
            <a:ext cx="8304679" cy="4649127"/>
          </a:xfrm>
        </p:spPr>
        <p:txBody>
          <a:bodyPr>
            <a:normAutofit/>
          </a:bodyPr>
          <a:lstStyle/>
          <a:p>
            <a:r>
              <a:rPr kumimoji="1" lang="en-US" altLang="zh-CN" dirty="0" smtClean="0"/>
              <a:t>CI</a:t>
            </a:r>
            <a:r>
              <a:rPr kumimoji="1" lang="zh-CN" altLang="en-US" dirty="0" smtClean="0"/>
              <a:t>流水线：一次构建多次部署、配置外置化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重构</a:t>
            </a:r>
            <a:r>
              <a:rPr kumimoji="1" lang="en-US" altLang="zh-CN" dirty="0" smtClean="0">
                <a:sym typeface="Wingdings"/>
              </a:rPr>
              <a:t>&amp;UT</a:t>
            </a:r>
            <a:r>
              <a:rPr kumimoji="1" lang="zh-CN" altLang="en-US" dirty="0" smtClean="0">
                <a:sym typeface="Wingdings"/>
              </a:rPr>
              <a:t>的重要性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自驱力</a:t>
            </a:r>
            <a:r>
              <a:rPr kumimoji="1" lang="en-US" altLang="zh-CN" dirty="0" smtClean="0">
                <a:sym typeface="Wingdings"/>
              </a:rPr>
              <a:t>&amp;</a:t>
            </a:r>
            <a:r>
              <a:rPr kumimoji="1" lang="zh-CN" altLang="en-US" dirty="0" smtClean="0">
                <a:sym typeface="Wingdings"/>
              </a:rPr>
              <a:t>拒绝保姆式开发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所有问题从本质上都可以归结为人的问题。团队要想不断进步，满足业务和线上质量需求，除了让团队中的每一个人不断提升之外，没有其他捷径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en-US" altLang="en-US" dirty="0" smtClean="0"/>
              <a:t>多数据源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47044"/>
            <a:ext cx="7852592" cy="1420567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 smtClean="0">
                <a:sym typeface="Wingdings"/>
              </a:rPr>
              <a:t>作为</a:t>
            </a:r>
            <a:r>
              <a:rPr kumimoji="1" lang="en-US" altLang="zh-CN" dirty="0" smtClean="0">
                <a:sym typeface="Wingdings"/>
              </a:rPr>
              <a:t>DOOM</a:t>
            </a:r>
            <a:r>
              <a:rPr kumimoji="1" lang="zh-CN" altLang="en-US" dirty="0" smtClean="0">
                <a:sym typeface="Wingdings"/>
              </a:rPr>
              <a:t>中一项重要落地工作</a:t>
            </a:r>
            <a:r>
              <a:rPr kumimoji="1" lang="en-US" altLang="zh-CN" dirty="0" smtClean="0">
                <a:sym typeface="Wingdings"/>
              </a:rPr>
              <a:t>-</a:t>
            </a:r>
            <a:r>
              <a:rPr kumimoji="1" lang="zh-CN" altLang="en-US" dirty="0" smtClean="0">
                <a:sym typeface="Wingdings"/>
              </a:rPr>
              <a:t>分库的遗留问题过渡解决方案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2017.6</a:t>
            </a:r>
            <a:r>
              <a:rPr kumimoji="1" lang="zh-CN" altLang="en-US" dirty="0" smtClean="0">
                <a:sym typeface="Wingdings"/>
              </a:rPr>
              <a:t>上线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2497242" y="2475226"/>
            <a:ext cx="4284065" cy="58114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err="1"/>
              <a:t>AbstractRoutingDataSource</a:t>
            </a:r>
            <a:endParaRPr lang="en-US" altLang="zh-CN" sz="2400" dirty="0"/>
          </a:p>
        </p:txBody>
      </p:sp>
      <p:sp>
        <p:nvSpPr>
          <p:cNvPr id="5" name="圆角矩形 4"/>
          <p:cNvSpPr/>
          <p:nvPr/>
        </p:nvSpPr>
        <p:spPr>
          <a:xfrm>
            <a:off x="1915990" y="4433890"/>
            <a:ext cx="2045156" cy="6457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smtClean="0"/>
              <a:t>Other DS</a:t>
            </a:r>
            <a:endParaRPr kumimoji="1" lang="zh-CN" altLang="en-US" sz="2400" dirty="0"/>
          </a:p>
        </p:txBody>
      </p:sp>
      <p:sp>
        <p:nvSpPr>
          <p:cNvPr id="6" name="圆角矩形 5"/>
          <p:cNvSpPr/>
          <p:nvPr/>
        </p:nvSpPr>
        <p:spPr>
          <a:xfrm>
            <a:off x="5446575" y="4437358"/>
            <a:ext cx="2045156" cy="6457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err="1" smtClean="0"/>
              <a:t>Sharding</a:t>
            </a:r>
            <a:r>
              <a:rPr kumimoji="1" lang="en-US" altLang="zh-CN" sz="2400" dirty="0" smtClean="0"/>
              <a:t> DS</a:t>
            </a:r>
            <a:endParaRPr kumimoji="1" lang="zh-CN" altLang="en-US" sz="2400" dirty="0"/>
          </a:p>
        </p:txBody>
      </p:sp>
      <p:sp>
        <p:nvSpPr>
          <p:cNvPr id="7" name="圆角矩形 6"/>
          <p:cNvSpPr/>
          <p:nvPr/>
        </p:nvSpPr>
        <p:spPr>
          <a:xfrm>
            <a:off x="4285769" y="6071432"/>
            <a:ext cx="2045156" cy="6457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/>
              <a:t>t</a:t>
            </a:r>
            <a:r>
              <a:rPr kumimoji="1" lang="en-US" altLang="zh-CN" sz="2400" dirty="0" smtClean="0"/>
              <a:t>rade_0</a:t>
            </a:r>
            <a:endParaRPr kumimoji="1" lang="zh-CN" altLang="en-US" sz="2400" dirty="0"/>
          </a:p>
        </p:txBody>
      </p:sp>
      <p:sp>
        <p:nvSpPr>
          <p:cNvPr id="8" name="圆角矩形 7"/>
          <p:cNvSpPr/>
          <p:nvPr/>
        </p:nvSpPr>
        <p:spPr>
          <a:xfrm>
            <a:off x="6716723" y="6071432"/>
            <a:ext cx="2045156" cy="6457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err="1"/>
              <a:t>t</a:t>
            </a:r>
            <a:r>
              <a:rPr kumimoji="1" lang="en-US" altLang="zh-CN" sz="2400" dirty="0" err="1" smtClean="0"/>
              <a:t>rade_n</a:t>
            </a:r>
            <a:endParaRPr kumimoji="1" lang="zh-CN" altLang="en-US" sz="2400" dirty="0"/>
          </a:p>
        </p:txBody>
      </p:sp>
      <p:sp>
        <p:nvSpPr>
          <p:cNvPr id="9" name="下箭头 8"/>
          <p:cNvSpPr/>
          <p:nvPr/>
        </p:nvSpPr>
        <p:spPr>
          <a:xfrm>
            <a:off x="2868222" y="3271604"/>
            <a:ext cx="484632" cy="9784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6088609" y="3293128"/>
            <a:ext cx="484632" cy="9784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6262537" y="5208746"/>
            <a:ext cx="454186" cy="75506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服务器自动接单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9"/>
            <a:ext cx="7852592" cy="1829518"/>
          </a:xfrm>
        </p:spPr>
        <p:txBody>
          <a:bodyPr>
            <a:normAutofit/>
          </a:bodyPr>
          <a:lstStyle/>
          <a:p>
            <a:r>
              <a:rPr kumimoji="1" lang="zh-CN" altLang="en-US" dirty="0" smtClean="0"/>
              <a:t>作为外卖领域的</a:t>
            </a:r>
            <a:r>
              <a:rPr kumimoji="1" lang="en-US" altLang="zh-CN" dirty="0" smtClean="0"/>
              <a:t>2</a:t>
            </a:r>
            <a:r>
              <a:rPr kumimoji="1" lang="zh-CN" altLang="en-US" dirty="0" smtClean="0"/>
              <a:t>大卖点之一（另一个为对接渠道全面）</a:t>
            </a:r>
            <a:endParaRPr kumimoji="1" lang="en-US" altLang="zh-CN" dirty="0" smtClean="0"/>
          </a:p>
          <a:p>
            <a:r>
              <a:rPr kumimoji="1" lang="zh-CN" altLang="en-US" dirty="0" smtClean="0"/>
              <a:t>从</a:t>
            </a:r>
            <a:r>
              <a:rPr kumimoji="1" lang="en-US" altLang="zh-CN" dirty="0" smtClean="0"/>
              <a:t>2017.5</a:t>
            </a:r>
            <a:r>
              <a:rPr kumimoji="1" lang="zh-CN" altLang="en-US" dirty="0" smtClean="0"/>
              <a:t>至</a:t>
            </a:r>
            <a:r>
              <a:rPr kumimoji="1" lang="en-US" altLang="zh-CN" dirty="0" smtClean="0"/>
              <a:t>2017.9</a:t>
            </a:r>
            <a:r>
              <a:rPr kumimoji="1" lang="zh-CN" altLang="en-US" dirty="0" smtClean="0"/>
              <a:t>经历了</a:t>
            </a:r>
            <a:r>
              <a:rPr kumimoji="1" lang="en-US" altLang="zh-CN" dirty="0" smtClean="0"/>
              <a:t>3</a:t>
            </a:r>
            <a:r>
              <a:rPr kumimoji="1" lang="zh-CN" altLang="en-US" dirty="0" smtClean="0"/>
              <a:t>个版本地演进</a:t>
            </a:r>
            <a:endParaRPr kumimoji="1" lang="zh-CN" altLang="en-US" dirty="0"/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56" y="2824081"/>
            <a:ext cx="8027988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服务器自动接单</a:t>
            </a:r>
            <a:endParaRPr kumimoji="1" lang="zh-CN" altLang="en-US" dirty="0"/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0" y="2526212"/>
            <a:ext cx="8620397" cy="3930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968569"/>
            <a:ext cx="7852592" cy="1248376"/>
          </a:xfrm>
        </p:spPr>
        <p:txBody>
          <a:bodyPr>
            <a:normAutofit/>
          </a:bodyPr>
          <a:lstStyle/>
          <a:p>
            <a:r>
              <a:rPr kumimoji="1" lang="zh-CN" altLang="en-US" dirty="0" smtClean="0">
                <a:sym typeface="Wingdings"/>
              </a:rPr>
              <a:t>解决关键业务共享线程池资源问题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解决</a:t>
            </a:r>
            <a:r>
              <a:rPr kumimoji="1" lang="en-US" altLang="zh-CN" dirty="0" smtClean="0">
                <a:sym typeface="Wingdings"/>
              </a:rPr>
              <a:t>JOB</a:t>
            </a:r>
            <a:r>
              <a:rPr kumimoji="1" lang="zh-CN" altLang="en-US" dirty="0" smtClean="0">
                <a:sym typeface="Wingdings"/>
              </a:rPr>
              <a:t>导致的接单不及时问题</a:t>
            </a:r>
            <a:endParaRPr kumimoji="1" lang="en-US" altLang="zh-CN" dirty="0" smtClean="0">
              <a:sym typeface="Wingdings"/>
            </a:endParaRPr>
          </a:p>
          <a:p>
            <a:pPr marL="36576" indent="0">
              <a:buNone/>
            </a:pP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en-US" altLang="en-US" dirty="0" smtClean="0"/>
              <a:t>服务器自动接单</a:t>
            </a:r>
            <a:endParaRPr kumimoji="1" lang="zh-CN" altLang="en-US" dirty="0"/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78" y="2063996"/>
            <a:ext cx="8361588" cy="4608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57200" y="1033141"/>
            <a:ext cx="7852592" cy="882472"/>
          </a:xfrm>
        </p:spPr>
        <p:txBody>
          <a:bodyPr>
            <a:normAutofit/>
          </a:bodyPr>
          <a:lstStyle/>
          <a:p>
            <a:r>
              <a:rPr kumimoji="1" lang="zh-CN" altLang="en-US" dirty="0" smtClean="0">
                <a:sym typeface="Wingdings"/>
              </a:rPr>
              <a:t>添加</a:t>
            </a:r>
            <a:r>
              <a:rPr kumimoji="1" lang="en-US" altLang="zh-CN" dirty="0" smtClean="0">
                <a:sym typeface="Wingdings"/>
              </a:rPr>
              <a:t>JOB</a:t>
            </a:r>
            <a:r>
              <a:rPr kumimoji="1" lang="zh-CN" altLang="en-US" dirty="0" smtClean="0">
                <a:sym typeface="Wingdings"/>
              </a:rPr>
              <a:t>作为</a:t>
            </a:r>
            <a:r>
              <a:rPr kumimoji="1" lang="en-US" altLang="zh-CN" dirty="0" smtClean="0">
                <a:sym typeface="Wingdings"/>
              </a:rPr>
              <a:t>MQ</a:t>
            </a:r>
            <a:r>
              <a:rPr kumimoji="1" lang="zh-CN" altLang="en-US" dirty="0" smtClean="0">
                <a:sym typeface="Wingdings"/>
              </a:rPr>
              <a:t>异常时的补偿措施</a:t>
            </a:r>
            <a:endParaRPr kumimoji="1" lang="en-US" altLang="zh-CN" dirty="0" smtClean="0">
              <a:sym typeface="Wingdings"/>
            </a:endParaRPr>
          </a:p>
          <a:p>
            <a:pPr marL="36576" indent="0">
              <a:buNone/>
            </a:pP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1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同步下行遗留问题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8"/>
            <a:ext cx="8282332" cy="5443322"/>
          </a:xfrm>
        </p:spPr>
        <p:txBody>
          <a:bodyPr>
            <a:normAutofit/>
          </a:bodyPr>
          <a:lstStyle/>
          <a:p>
            <a:r>
              <a:rPr kumimoji="1" lang="zh-CN" altLang="en-US" dirty="0" smtClean="0">
                <a:sym typeface="Wingdings"/>
              </a:rPr>
              <a:t>同步透明化</a:t>
            </a:r>
            <a:r>
              <a:rPr kumimoji="1" lang="en-US" altLang="zh-CN" dirty="0" smtClean="0">
                <a:sym typeface="Wingdings"/>
              </a:rPr>
              <a:t>FGC</a:t>
            </a:r>
          </a:p>
          <a:p>
            <a:pPr lvl="1"/>
            <a:r>
              <a:rPr kumimoji="1" lang="en-US" altLang="zh-CN" dirty="0" smtClean="0">
                <a:sym typeface="Wingdings"/>
              </a:rPr>
              <a:t>2017.5</a:t>
            </a:r>
            <a:r>
              <a:rPr kumimoji="1" lang="zh-CN" altLang="en-US" dirty="0" smtClean="0">
                <a:sym typeface="Wingdings"/>
              </a:rPr>
              <a:t>开始，在连续压测</a:t>
            </a:r>
            <a:r>
              <a:rPr kumimoji="1" lang="en-US" altLang="zh-CN" dirty="0" smtClean="0">
                <a:sym typeface="Wingdings"/>
              </a:rPr>
              <a:t>3</a:t>
            </a:r>
            <a:r>
              <a:rPr kumimoji="1" lang="zh-CN" altLang="en-US" dirty="0" smtClean="0">
                <a:sym typeface="Wingdings"/>
              </a:rPr>
              <a:t>小时或线上运行一周后出现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en-US" altLang="zh-CN" dirty="0" smtClean="0">
                <a:sym typeface="Wingdings"/>
              </a:rPr>
              <a:t>Spring cloud </a:t>
            </a:r>
            <a:r>
              <a:rPr lang="en-US" altLang="zh-CN" dirty="0" smtClean="0"/>
              <a:t>metrics</a:t>
            </a:r>
            <a:r>
              <a:rPr lang="zh-CN" altLang="en-US" dirty="0" smtClean="0"/>
              <a:t>算法规则问题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透明化接口调用的</a:t>
            </a:r>
            <a:r>
              <a:rPr lang="en-US" altLang="zh-CN" dirty="0" smtClean="0"/>
              <a:t>URL</a:t>
            </a:r>
            <a:r>
              <a:rPr lang="zh-CN" altLang="en-US" dirty="0" smtClean="0"/>
              <a:t>中带有</a:t>
            </a:r>
            <a:r>
              <a:rPr lang="en-US" altLang="zh-CN" dirty="0" err="1" smtClean="0"/>
              <a:t>queryString</a:t>
            </a:r>
            <a:r>
              <a:rPr lang="zh-CN" altLang="en-US" dirty="0" smtClean="0"/>
              <a:t>，且门店、设备、时间戳每次请求均可能不一样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导致统计对象数量无限制增长</a:t>
            </a:r>
            <a:endParaRPr lang="en-US" altLang="zh-CN" dirty="0" smtClean="0"/>
          </a:p>
          <a:p>
            <a:pPr lvl="1"/>
            <a:r>
              <a:rPr kumimoji="1" lang="zh-CN" altLang="en-US" dirty="0" smtClean="0">
                <a:sym typeface="Wingdings"/>
              </a:rPr>
              <a:t>解决</a:t>
            </a:r>
            <a:endParaRPr kumimoji="1" lang="en-US" altLang="zh-CN" dirty="0" smtClean="0">
              <a:sym typeface="Wingdings"/>
            </a:endParaRPr>
          </a:p>
          <a:p>
            <a:pPr lvl="2"/>
            <a:r>
              <a:rPr kumimoji="1" lang="zh-CN" altLang="en-US" dirty="0" smtClean="0">
                <a:sym typeface="Wingdings"/>
              </a:rPr>
              <a:t>屏蔽针对</a:t>
            </a:r>
            <a:r>
              <a:rPr kumimoji="1" lang="en-US" altLang="zh-CN" dirty="0" err="1" smtClean="0">
                <a:sym typeface="Wingdings"/>
              </a:rPr>
              <a:t>RestTemplate</a:t>
            </a:r>
            <a:r>
              <a:rPr kumimoji="1" lang="zh-CN" altLang="en-US" dirty="0" smtClean="0">
                <a:sym typeface="Wingdings"/>
              </a:rPr>
              <a:t>的拦截</a:t>
            </a:r>
            <a:r>
              <a:rPr lang="en-US" altLang="zh-CN" dirty="0" smtClean="0"/>
              <a:t>metrics</a:t>
            </a:r>
          </a:p>
          <a:p>
            <a:pPr lvl="2"/>
            <a:r>
              <a:rPr kumimoji="1" lang="zh-CN" altLang="en-US" dirty="0" smtClean="0">
                <a:sym typeface="Wingdings"/>
              </a:rPr>
              <a:t>重写这部分</a:t>
            </a:r>
            <a:r>
              <a:rPr lang="en-US" altLang="zh-CN" dirty="0" smtClean="0"/>
              <a:t>metrics</a:t>
            </a:r>
            <a:r>
              <a:rPr lang="zh-CN" altLang="en-US" dirty="0" smtClean="0"/>
              <a:t>，移除</a:t>
            </a:r>
            <a:r>
              <a:rPr lang="en-US" altLang="zh-CN" dirty="0" err="1" smtClean="0"/>
              <a:t>queryString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43919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同步下行遗留问题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8256" y="968568"/>
            <a:ext cx="8779132" cy="5889432"/>
          </a:xfrm>
        </p:spPr>
        <p:txBody>
          <a:bodyPr>
            <a:normAutofit/>
          </a:bodyPr>
          <a:lstStyle/>
          <a:p>
            <a:r>
              <a:rPr kumimoji="1" lang="zh-CN" altLang="en-US" dirty="0" smtClean="0"/>
              <a:t>同步下行响应时间保持在</a:t>
            </a:r>
            <a:r>
              <a:rPr kumimoji="1" lang="en-US" altLang="zh-CN" dirty="0" smtClean="0"/>
              <a:t>90-140ms</a:t>
            </a:r>
            <a:r>
              <a:rPr kumimoji="1" lang="zh-CN" altLang="en-US" dirty="0" smtClean="0"/>
              <a:t>无法降低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找到瓶颈：</a:t>
            </a:r>
            <a:r>
              <a:rPr kumimoji="1" lang="en-US" altLang="zh-CN" dirty="0" err="1" smtClean="0">
                <a:sym typeface="Wingdings"/>
              </a:rPr>
              <a:t>jdk</a:t>
            </a:r>
            <a:r>
              <a:rPr kumimoji="1" lang="zh-CN" altLang="en-US" dirty="0" smtClean="0">
                <a:sym typeface="Wingdings"/>
              </a:rPr>
              <a:t>反射</a:t>
            </a:r>
            <a:r>
              <a:rPr kumimoji="1" lang="en-US" altLang="zh-CN" dirty="0" err="1" smtClean="0">
                <a:sym typeface="Wingdings"/>
              </a:rPr>
              <a:t>api</a:t>
            </a:r>
            <a:r>
              <a:rPr kumimoji="1" lang="zh-CN" altLang="en-US" dirty="0" smtClean="0">
                <a:sym typeface="Wingdings"/>
              </a:rPr>
              <a:t>存在的</a:t>
            </a:r>
            <a:r>
              <a:rPr lang="en-US" altLang="zh-CN" dirty="0" err="1" smtClean="0"/>
              <a:t>String.intern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endParaRPr lang="en-US" altLang="zh-CN" dirty="0" smtClean="0"/>
          </a:p>
          <a:p>
            <a:endParaRPr kumimoji="1" lang="en-US" altLang="zh-CN" dirty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解决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调优</a:t>
            </a:r>
            <a:r>
              <a:rPr lang="en-US" altLang="zh-CN" dirty="0" err="1"/>
              <a:t>XX:</a:t>
            </a:r>
            <a:r>
              <a:rPr lang="en-US" altLang="zh-CN" dirty="0" err="1" smtClean="0"/>
              <a:t>StringTableSize</a:t>
            </a:r>
            <a:endParaRPr lang="en-US" altLang="zh-CN" dirty="0" smtClean="0"/>
          </a:p>
          <a:p>
            <a:pPr lvl="1"/>
            <a:r>
              <a:rPr kumimoji="1" lang="zh-CN" altLang="en-US" dirty="0" smtClean="0">
                <a:sym typeface="Wingdings"/>
              </a:rPr>
              <a:t>使用</a:t>
            </a:r>
            <a:r>
              <a:rPr kumimoji="1" lang="en-US" altLang="zh-CN" dirty="0" smtClean="0">
                <a:sym typeface="Wingdings"/>
              </a:rPr>
              <a:t>spring</a:t>
            </a:r>
            <a:r>
              <a:rPr kumimoji="1" lang="zh-CN" altLang="en-US" dirty="0" smtClean="0">
                <a:sym typeface="Wingdings"/>
              </a:rPr>
              <a:t>提供的</a:t>
            </a:r>
            <a:r>
              <a:rPr lang="en-US" altLang="zh-CN" dirty="0" err="1" smtClean="0"/>
              <a:t>ReflectionUtils</a:t>
            </a:r>
            <a:r>
              <a:rPr lang="zh-CN" altLang="en-US" dirty="0" smtClean="0"/>
              <a:t>（内部有</a:t>
            </a:r>
            <a:r>
              <a:rPr lang="en-US" altLang="zh-CN" dirty="0" smtClean="0"/>
              <a:t>cache</a:t>
            </a:r>
            <a:r>
              <a:rPr lang="zh-CN" altLang="en-US" dirty="0" smtClean="0"/>
              <a:t>机制）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优化后响应时间</a:t>
            </a:r>
            <a:r>
              <a:rPr lang="en-US" altLang="zh-CN" dirty="0" smtClean="0"/>
              <a:t>&lt;50ms</a:t>
            </a:r>
          </a:p>
          <a:p>
            <a:pPr lvl="1"/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349" y="2065871"/>
            <a:ext cx="7325651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3919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订单库分库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8"/>
            <a:ext cx="8326967" cy="5339099"/>
          </a:xfrm>
        </p:spPr>
        <p:txBody>
          <a:bodyPr>
            <a:normAutofit/>
          </a:bodyPr>
          <a:lstStyle/>
          <a:p>
            <a:r>
              <a:rPr kumimoji="1" lang="zh-CN" altLang="en-US" dirty="0" smtClean="0">
                <a:sym typeface="Wingdings"/>
              </a:rPr>
              <a:t>解除对其他库的依赖（好多多数据源。。。）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解除其他域对我们的依赖</a:t>
            </a:r>
            <a:r>
              <a:rPr kumimoji="1" lang="zh-CN" altLang="zh-CN" dirty="0">
                <a:sym typeface="Wingdings"/>
              </a:rPr>
              <a:t>：</a:t>
            </a:r>
            <a:r>
              <a:rPr kumimoji="1" lang="en-US" altLang="zh-CN" dirty="0" smtClean="0">
                <a:sym typeface="Wingdings"/>
              </a:rPr>
              <a:t>doom </a:t>
            </a:r>
            <a:r>
              <a:rPr kumimoji="1" lang="zh-CN" altLang="en-US" dirty="0" smtClean="0">
                <a:sym typeface="Wingdings"/>
              </a:rPr>
              <a:t>接口（远远不够）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2017.5</a:t>
            </a:r>
            <a:r>
              <a:rPr kumimoji="1" lang="zh-CN" altLang="en-US" dirty="0" smtClean="0">
                <a:sym typeface="Wingdings"/>
              </a:rPr>
              <a:t>随多数据源一起实施，</a:t>
            </a:r>
            <a:r>
              <a:rPr kumimoji="1" lang="en-US" altLang="zh-CN" dirty="0" smtClean="0">
                <a:sym typeface="Wingdings"/>
              </a:rPr>
              <a:t>2017.7</a:t>
            </a:r>
            <a:r>
              <a:rPr kumimoji="1" lang="zh-CN" altLang="en-US" dirty="0" smtClean="0">
                <a:sym typeface="Wingdings"/>
              </a:rPr>
              <a:t>上线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较为严重的遗留问题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en-US" altLang="zh-CN" dirty="0" err="1" smtClean="0">
                <a:sym typeface="Wingdings"/>
              </a:rPr>
              <a:t>member_address</a:t>
            </a:r>
            <a:r>
              <a:rPr kumimoji="1" lang="zh-CN" altLang="en-US" dirty="0" smtClean="0">
                <a:sym typeface="Wingdings"/>
              </a:rPr>
              <a:t>只有同步组写入，但是属于营销相关，为了和</a:t>
            </a:r>
            <a:r>
              <a:rPr kumimoji="1" lang="en-US" altLang="zh-CN" dirty="0" smtClean="0">
                <a:sym typeface="Wingdings"/>
              </a:rPr>
              <a:t>customer join</a:t>
            </a:r>
            <a:r>
              <a:rPr kumimoji="1" lang="zh-CN" altLang="en-US" dirty="0" smtClean="0">
                <a:sym typeface="Wingdings"/>
              </a:rPr>
              <a:t>而划分到大库。后续需要营销域接入，或者将收货地址相关信息独立出来由配送域维护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创建</a:t>
            </a:r>
            <a:r>
              <a:rPr kumimoji="1" lang="en-US" altLang="zh-CN" dirty="0" smtClean="0">
                <a:sym typeface="Wingdings"/>
              </a:rPr>
              <a:t>customer</a:t>
            </a:r>
            <a:r>
              <a:rPr kumimoji="1" lang="zh-CN" altLang="en-US" dirty="0" smtClean="0">
                <a:sym typeface="Wingdings"/>
              </a:rPr>
              <a:t>和排队、预定、下单、退货形成强关联关系，需要将这部分流程使用消息</a:t>
            </a:r>
            <a:r>
              <a:rPr kumimoji="1" lang="en-US" altLang="zh-CN" dirty="0" smtClean="0">
                <a:sym typeface="Wingdings"/>
              </a:rPr>
              <a:t>/</a:t>
            </a:r>
            <a:r>
              <a:rPr kumimoji="1" lang="zh-CN" altLang="en-US" dirty="0" smtClean="0">
                <a:sym typeface="Wingdings"/>
              </a:rPr>
              <a:t>领域事件解耦</a:t>
            </a:r>
            <a:endParaRPr kumimoji="1" lang="en-US" altLang="zh-CN" dirty="0" smtClean="0">
              <a:sym typeface="Wingdings"/>
            </a:endParaRPr>
          </a:p>
          <a:p>
            <a:pPr lvl="1"/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43919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订单库分库</a:t>
            </a:r>
            <a:r>
              <a:rPr kumimoji="1" lang="en-US" altLang="zh-CN" dirty="0" smtClean="0"/>
              <a:t>-</a:t>
            </a:r>
            <a:r>
              <a:rPr kumimoji="1" lang="zh-CN" altLang="en-US" dirty="0" smtClean="0"/>
              <a:t>解耦方式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6333" y="968568"/>
            <a:ext cx="8847667" cy="5677765"/>
          </a:xfrm>
        </p:spPr>
        <p:txBody>
          <a:bodyPr>
            <a:normAutofit/>
          </a:bodyPr>
          <a:lstStyle/>
          <a:p>
            <a:r>
              <a:rPr kumimoji="1" lang="zh-CN" altLang="en-US" sz="2400" dirty="0" smtClean="0">
                <a:sym typeface="Wingdings"/>
              </a:rPr>
              <a:t>同步接口调用</a:t>
            </a:r>
            <a:endParaRPr kumimoji="1" lang="en-US" altLang="zh-CN" sz="2400" dirty="0" smtClean="0">
              <a:sym typeface="Wingdings"/>
            </a:endParaRPr>
          </a:p>
          <a:p>
            <a:pPr lvl="1"/>
            <a:r>
              <a:rPr lang="zh-CN" altLang="en-US" sz="2000" dirty="0"/>
              <a:t>仅适用于上游的业务场景对下游提供的服务强依赖的场景。如在线支付之于</a:t>
            </a:r>
            <a:r>
              <a:rPr lang="en-US" altLang="zh-CN" sz="2000" dirty="0" smtClean="0"/>
              <a:t>checkout</a:t>
            </a:r>
          </a:p>
          <a:p>
            <a:pPr lvl="1"/>
            <a:r>
              <a:rPr lang="zh-CN" altLang="en-US" sz="2000" dirty="0"/>
              <a:t>上游服务需要考虑自我保护机制：降级、限流</a:t>
            </a:r>
            <a:endParaRPr kumimoji="1" lang="en-US" altLang="zh-CN" sz="2000" dirty="0" smtClean="0">
              <a:sym typeface="Wingdings"/>
            </a:endParaRPr>
          </a:p>
          <a:p>
            <a:r>
              <a:rPr kumimoji="1" lang="zh-CN" altLang="en-US" sz="2400" dirty="0" smtClean="0">
                <a:sym typeface="Wingdings"/>
              </a:rPr>
              <a:t>异步消息通知</a:t>
            </a:r>
            <a:endParaRPr kumimoji="1" lang="en-US" altLang="zh-CN" sz="2400" dirty="0" smtClean="0">
              <a:sym typeface="Wingdings"/>
            </a:endParaRPr>
          </a:p>
          <a:p>
            <a:pPr lvl="1"/>
            <a:r>
              <a:rPr lang="zh-CN" altLang="en-US" sz="1800" dirty="0"/>
              <a:t>适用于上游的业务操作不需要知道下游服务的执行结果，并且也不会受到其结果影响的场景。如扣减库存之于</a:t>
            </a:r>
            <a:r>
              <a:rPr lang="en-US" altLang="zh-CN" sz="1800" dirty="0" err="1" smtClean="0"/>
              <a:t>scm</a:t>
            </a:r>
            <a:endParaRPr lang="en-US" altLang="zh-CN" sz="1800" dirty="0" smtClean="0"/>
          </a:p>
          <a:p>
            <a:pPr lvl="1"/>
            <a:r>
              <a:rPr lang="zh-CN" altLang="en-US" sz="1800" dirty="0"/>
              <a:t>上游服务需要保证</a:t>
            </a:r>
            <a:r>
              <a:rPr lang="en-US" altLang="zh-CN" sz="1800" dirty="0" err="1" smtClean="0"/>
              <a:t>failcache</a:t>
            </a:r>
            <a:r>
              <a:rPr lang="en-US" altLang="zh-CN" sz="1800" dirty="0"/>
              <a:t>,</a:t>
            </a:r>
            <a:r>
              <a:rPr lang="zh-CN" altLang="en-US" sz="1800" dirty="0" smtClean="0"/>
              <a:t>最大努力送达</a:t>
            </a:r>
            <a:r>
              <a:rPr lang="en-US" altLang="zh-CN" sz="1800" dirty="0"/>
              <a:t>(</a:t>
            </a:r>
            <a:r>
              <a:rPr lang="zh-CN" altLang="en-US" sz="1800" dirty="0" smtClean="0"/>
              <a:t>柔性事务</a:t>
            </a:r>
            <a:r>
              <a:rPr lang="en-US" altLang="zh-CN" sz="1800" dirty="0" smtClean="0"/>
              <a:t>)</a:t>
            </a:r>
          </a:p>
          <a:p>
            <a:pPr lvl="1"/>
            <a:r>
              <a:rPr lang="zh-CN" altLang="en-US" sz="1800" dirty="0"/>
              <a:t>上下游服务需要共同保证业务数据的最终一致性（消息去重、业务幂</a:t>
            </a:r>
            <a:r>
              <a:rPr lang="zh-CN" altLang="en-US" sz="1800" dirty="0" smtClean="0"/>
              <a:t>等）</a:t>
            </a:r>
            <a:endParaRPr kumimoji="1" lang="en-US" altLang="zh-CN" sz="1800" dirty="0" smtClean="0">
              <a:sym typeface="Wingdings"/>
            </a:endParaRPr>
          </a:p>
          <a:p>
            <a:r>
              <a:rPr kumimoji="1" lang="zh-CN" altLang="en-US" sz="2400" dirty="0" smtClean="0">
                <a:sym typeface="Wingdings"/>
              </a:rPr>
              <a:t>本地化数据存储</a:t>
            </a:r>
            <a:endParaRPr kumimoji="1" lang="en-US" altLang="zh-CN" sz="2400" dirty="0" smtClean="0">
              <a:sym typeface="Wingdings"/>
            </a:endParaRPr>
          </a:p>
          <a:p>
            <a:pPr lvl="1"/>
            <a:r>
              <a:rPr lang="zh-CN" altLang="en-US" sz="2000" dirty="0"/>
              <a:t>适用于上游的业务场景对下游服务提供的部分数据有依赖，但是和上游主业务流程关系不大的场景，如业务操作失败的提示信</a:t>
            </a:r>
            <a:r>
              <a:rPr lang="zh-CN" altLang="en-US" sz="2000" dirty="0" smtClean="0"/>
              <a:t>息中需要展示设备编号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下游服务提供领域数据下发机制</a:t>
            </a:r>
            <a:r>
              <a:rPr lang="en-US" altLang="zh-CN" sz="2000" dirty="0"/>
              <a:t>+</a:t>
            </a:r>
            <a:r>
              <a:rPr lang="zh-CN" altLang="en-US" sz="2000" dirty="0"/>
              <a:t>补偿查询接</a:t>
            </a:r>
            <a:r>
              <a:rPr lang="zh-CN" altLang="en-US" sz="2000" dirty="0" smtClean="0"/>
              <a:t>口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数据只能由下游服务写入，不能形成双写</a:t>
            </a:r>
            <a:endParaRPr kumimoji="1" lang="en-US" altLang="zh-CN" sz="2000" dirty="0" smtClean="0">
              <a:sym typeface="Wingdings"/>
            </a:endParaRPr>
          </a:p>
          <a:p>
            <a:pPr marL="448056" lvl="1" indent="0">
              <a:buNone/>
            </a:pPr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pPr marL="36576" indent="0">
              <a:buNone/>
            </a:pP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887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同步下行机制改造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9"/>
            <a:ext cx="7852592" cy="1317432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dirty="0" smtClean="0">
                <a:sym typeface="Wingdings"/>
              </a:rPr>
              <a:t>增加配置变更推送，减少无谓地</a:t>
            </a:r>
            <a:r>
              <a:rPr kumimoji="1" lang="en-US" altLang="en-US" dirty="0" smtClean="0">
                <a:sym typeface="Wingdings"/>
              </a:rPr>
              <a:t>被动</a:t>
            </a:r>
            <a:r>
              <a:rPr kumimoji="1" lang="zh-CN" altLang="en-US" dirty="0" smtClean="0">
                <a:sym typeface="Wingdings"/>
              </a:rPr>
              <a:t>轮询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>
                <a:sym typeface="Wingdings"/>
              </a:rPr>
              <a:t>截止到</a:t>
            </a:r>
            <a:r>
              <a:rPr kumimoji="1" lang="en-US" altLang="zh-CN" dirty="0">
                <a:sym typeface="Wingdings"/>
              </a:rPr>
              <a:t>17</a:t>
            </a:r>
            <a:r>
              <a:rPr kumimoji="1" lang="zh-CN" altLang="en-US" dirty="0">
                <a:sym typeface="Wingdings"/>
              </a:rPr>
              <a:t>年底，基本上除了</a:t>
            </a:r>
            <a:r>
              <a:rPr kumimoji="1" lang="en-US" altLang="zh-CN" dirty="0">
                <a:sym typeface="Wingdings"/>
              </a:rPr>
              <a:t>MIND</a:t>
            </a:r>
            <a:r>
              <a:rPr kumimoji="1" lang="zh-CN" altLang="en-US" dirty="0">
                <a:sym typeface="Wingdings"/>
              </a:rPr>
              <a:t>之外均接入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2018.1</a:t>
            </a:r>
            <a:r>
              <a:rPr kumimoji="1" lang="zh-CN" altLang="en-US" dirty="0" smtClean="0">
                <a:sym typeface="Wingdings"/>
              </a:rPr>
              <a:t>增加从服务器动态获取轮询策略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57200" y="2455329"/>
            <a:ext cx="2273300" cy="419100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40833" y="2603498"/>
            <a:ext cx="1566334" cy="656166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mind</a:t>
            </a:r>
            <a:endParaRPr kumimoji="1"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745064" y="3412064"/>
            <a:ext cx="1566334" cy="656166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scm</a:t>
            </a:r>
            <a:endParaRPr kumimoji="1"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766231" y="4326463"/>
            <a:ext cx="1566334" cy="656166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loyalty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762000" y="5177363"/>
            <a:ext cx="1566334" cy="656166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talent</a:t>
            </a:r>
            <a:endParaRPr kumimoji="1"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762000" y="6011329"/>
            <a:ext cx="1566334" cy="4783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,,,</a:t>
            </a:r>
            <a:endParaRPr kumimoji="1"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3979330" y="4000502"/>
            <a:ext cx="914400" cy="9144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err="1" smtClean="0"/>
              <a:t>mq</a:t>
            </a:r>
            <a:endParaRPr kumimoji="1" lang="zh-CN" altLang="en-US" sz="2400" dirty="0"/>
          </a:p>
        </p:txBody>
      </p:sp>
      <p:sp>
        <p:nvSpPr>
          <p:cNvPr id="11" name="圆角矩形 10"/>
          <p:cNvSpPr/>
          <p:nvPr/>
        </p:nvSpPr>
        <p:spPr>
          <a:xfrm>
            <a:off x="3581394" y="5820834"/>
            <a:ext cx="1752606" cy="6604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smtClean="0"/>
              <a:t>consumer</a:t>
            </a:r>
            <a:endParaRPr kumimoji="1" lang="zh-CN" altLang="en-US" sz="2400" dirty="0"/>
          </a:p>
        </p:txBody>
      </p:sp>
      <p:sp>
        <p:nvSpPr>
          <p:cNvPr id="12" name="圆角矩形 11"/>
          <p:cNvSpPr/>
          <p:nvPr/>
        </p:nvSpPr>
        <p:spPr>
          <a:xfrm>
            <a:off x="6316127" y="5757333"/>
            <a:ext cx="1752606" cy="6604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smtClean="0"/>
              <a:t>push</a:t>
            </a:r>
            <a:endParaRPr kumimoji="1" lang="zh-CN" altLang="en-US" sz="2400" dirty="0"/>
          </a:p>
        </p:txBody>
      </p:sp>
      <p:sp>
        <p:nvSpPr>
          <p:cNvPr id="13" name="圆角矩形 12"/>
          <p:cNvSpPr/>
          <p:nvPr/>
        </p:nvSpPr>
        <p:spPr>
          <a:xfrm>
            <a:off x="6235695" y="4042836"/>
            <a:ext cx="1752606" cy="6604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err="1" smtClean="0"/>
              <a:t>pos</a:t>
            </a:r>
            <a:endParaRPr kumimoji="1" lang="zh-CN" altLang="en-US" sz="2400" dirty="0"/>
          </a:p>
        </p:txBody>
      </p:sp>
      <p:sp>
        <p:nvSpPr>
          <p:cNvPr id="14" name="圆角矩形 13"/>
          <p:cNvSpPr/>
          <p:nvPr/>
        </p:nvSpPr>
        <p:spPr>
          <a:xfrm>
            <a:off x="6172194" y="2349502"/>
            <a:ext cx="1752606" cy="66040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smtClean="0"/>
              <a:t>Sync.v5</a:t>
            </a:r>
            <a:endParaRPr kumimoji="1" lang="zh-CN" altLang="en-US" sz="2400" dirty="0"/>
          </a:p>
        </p:txBody>
      </p:sp>
      <p:sp>
        <p:nvSpPr>
          <p:cNvPr id="15" name="右箭头 14"/>
          <p:cNvSpPr/>
          <p:nvPr/>
        </p:nvSpPr>
        <p:spPr>
          <a:xfrm>
            <a:off x="2857498" y="4195232"/>
            <a:ext cx="1037164" cy="50800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5507565" y="5844031"/>
            <a:ext cx="664629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4190998" y="5088464"/>
            <a:ext cx="484632" cy="62653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上箭头 17"/>
          <p:cNvSpPr/>
          <p:nvPr/>
        </p:nvSpPr>
        <p:spPr>
          <a:xfrm>
            <a:off x="6921499" y="4919128"/>
            <a:ext cx="484632" cy="668869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上箭头 18"/>
          <p:cNvSpPr/>
          <p:nvPr/>
        </p:nvSpPr>
        <p:spPr>
          <a:xfrm>
            <a:off x="6879165" y="3179233"/>
            <a:ext cx="484632" cy="668869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6887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 smtClean="0"/>
              <a:t>AMQ</a:t>
            </a:r>
            <a:r>
              <a:rPr kumimoji="1" lang="zh-CN" altLang="en-US" dirty="0" smtClean="0"/>
              <a:t>迁移</a:t>
            </a:r>
            <a:r>
              <a:rPr kumimoji="1" lang="en-US" altLang="zh-CN" dirty="0" smtClean="0"/>
              <a:t>KAFKA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9"/>
            <a:ext cx="7852592" cy="1634932"/>
          </a:xfrm>
        </p:spPr>
        <p:txBody>
          <a:bodyPr>
            <a:normAutofit/>
          </a:bodyPr>
          <a:lstStyle/>
          <a:p>
            <a:r>
              <a:rPr kumimoji="1" lang="en-US" altLang="zh-CN" dirty="0" smtClean="0">
                <a:sym typeface="Wingdings"/>
              </a:rPr>
              <a:t>2017.5.5</a:t>
            </a:r>
            <a:r>
              <a:rPr kumimoji="1" lang="zh-CN" altLang="en-US" dirty="0" smtClean="0">
                <a:sym typeface="Wingdings"/>
              </a:rPr>
              <a:t> 由</a:t>
            </a:r>
            <a:r>
              <a:rPr kumimoji="1" lang="en-US" altLang="zh-CN" dirty="0" smtClean="0">
                <a:sym typeface="Wingdings"/>
              </a:rPr>
              <a:t>TB</a:t>
            </a:r>
            <a:r>
              <a:rPr kumimoji="1" lang="zh-CN" altLang="en-US" dirty="0" smtClean="0">
                <a:sym typeface="Wingdings"/>
              </a:rPr>
              <a:t>引发的</a:t>
            </a:r>
            <a:r>
              <a:rPr kumimoji="1" lang="en-US" altLang="zh-CN" dirty="0" smtClean="0">
                <a:sym typeface="Wingdings"/>
              </a:rPr>
              <a:t>AMQ</a:t>
            </a:r>
            <a:r>
              <a:rPr kumimoji="1" lang="zh-CN" altLang="en-US" dirty="0" smtClean="0">
                <a:sym typeface="Wingdings"/>
              </a:rPr>
              <a:t>事故，让公司决定开始将</a:t>
            </a:r>
            <a:r>
              <a:rPr kumimoji="1" lang="en-US" altLang="zh-CN" dirty="0" smtClean="0">
                <a:sym typeface="Wingdings"/>
              </a:rPr>
              <a:t>MQ</a:t>
            </a:r>
            <a:r>
              <a:rPr kumimoji="1" lang="zh-CN" altLang="en-US" dirty="0" smtClean="0">
                <a:sym typeface="Wingdings"/>
              </a:rPr>
              <a:t>上的业务从</a:t>
            </a:r>
            <a:r>
              <a:rPr kumimoji="1" lang="en-US" altLang="zh-CN" dirty="0" smtClean="0">
                <a:sym typeface="Wingdings"/>
              </a:rPr>
              <a:t>AMQ</a:t>
            </a:r>
            <a:r>
              <a:rPr kumimoji="1" lang="zh-CN" altLang="en-US" dirty="0" smtClean="0">
                <a:sym typeface="Wingdings"/>
              </a:rPr>
              <a:t>迁移到</a:t>
            </a:r>
            <a:r>
              <a:rPr kumimoji="1" lang="en-US" altLang="zh-CN" dirty="0" smtClean="0">
                <a:sym typeface="Wingdings"/>
              </a:rPr>
              <a:t>KAFKA</a:t>
            </a: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575724" y="2931575"/>
            <a:ext cx="1185333" cy="5291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AMQ</a:t>
            </a:r>
            <a:endParaRPr kumimoji="1"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596891" y="4470391"/>
            <a:ext cx="1185333" cy="5291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producer</a:t>
            </a:r>
            <a:endParaRPr kumimoji="1"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5122373" y="2925213"/>
            <a:ext cx="1185333" cy="52916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producer</a:t>
            </a:r>
            <a:endParaRPr kumimoji="1"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5143532" y="4544480"/>
            <a:ext cx="1185333" cy="52916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New node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7323707" y="2931569"/>
            <a:ext cx="1545167" cy="52916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KAFKA</a:t>
            </a:r>
            <a:endParaRPr kumimoji="1"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2755932" y="2931577"/>
            <a:ext cx="1545167" cy="5291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consumer</a:t>
            </a:r>
            <a:endParaRPr kumimoji="1" lang="zh-CN" altLang="en-US" dirty="0"/>
          </a:p>
        </p:txBody>
      </p:sp>
      <p:sp>
        <p:nvSpPr>
          <p:cNvPr id="14" name="上箭头 13"/>
          <p:cNvSpPr/>
          <p:nvPr/>
        </p:nvSpPr>
        <p:spPr>
          <a:xfrm>
            <a:off x="5655732" y="3682990"/>
            <a:ext cx="254000" cy="745067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1947333" y="3047990"/>
            <a:ext cx="681597" cy="32807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2730497" y="4466154"/>
            <a:ext cx="1079500" cy="5715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Old node</a:t>
            </a:r>
            <a:endParaRPr kumimoji="1" lang="zh-CN" altLang="en-US" dirty="0"/>
          </a:p>
        </p:txBody>
      </p:sp>
      <p:sp>
        <p:nvSpPr>
          <p:cNvPr id="19" name="圆角矩形 18"/>
          <p:cNvSpPr/>
          <p:nvPr/>
        </p:nvSpPr>
        <p:spPr>
          <a:xfrm>
            <a:off x="3433239" y="6057896"/>
            <a:ext cx="2027761" cy="56727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 err="1" smtClean="0"/>
              <a:t>nginx</a:t>
            </a:r>
            <a:endParaRPr kumimoji="1" lang="zh-CN" altLang="en-US" sz="2800" dirty="0"/>
          </a:p>
        </p:txBody>
      </p:sp>
      <p:sp>
        <p:nvSpPr>
          <p:cNvPr id="21" name="乘 20"/>
          <p:cNvSpPr/>
          <p:nvPr/>
        </p:nvSpPr>
        <p:spPr>
          <a:xfrm>
            <a:off x="846659" y="3682991"/>
            <a:ext cx="656167" cy="649820"/>
          </a:xfrm>
          <a:prstGeom prst="mathMultiply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乘 21"/>
          <p:cNvSpPr/>
          <p:nvPr/>
        </p:nvSpPr>
        <p:spPr>
          <a:xfrm>
            <a:off x="3132660" y="5253564"/>
            <a:ext cx="656167" cy="609603"/>
          </a:xfrm>
          <a:prstGeom prst="mathMultiply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乘 22"/>
          <p:cNvSpPr/>
          <p:nvPr/>
        </p:nvSpPr>
        <p:spPr>
          <a:xfrm>
            <a:off x="1909226" y="4428057"/>
            <a:ext cx="656167" cy="609603"/>
          </a:xfrm>
          <a:prstGeom prst="mathMultiply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上下箭头 23"/>
          <p:cNvSpPr/>
          <p:nvPr/>
        </p:nvSpPr>
        <p:spPr>
          <a:xfrm>
            <a:off x="3200402" y="3598323"/>
            <a:ext cx="355588" cy="745066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上箭头 24"/>
          <p:cNvSpPr/>
          <p:nvPr/>
        </p:nvSpPr>
        <p:spPr>
          <a:xfrm>
            <a:off x="5207000" y="5181601"/>
            <a:ext cx="254000" cy="745067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7323707" y="4544480"/>
            <a:ext cx="1545167" cy="52916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consumer</a:t>
            </a:r>
            <a:endParaRPr kumimoji="1" lang="zh-CN" altLang="en-US" dirty="0"/>
          </a:p>
        </p:txBody>
      </p:sp>
      <p:sp>
        <p:nvSpPr>
          <p:cNvPr id="27" name="上下箭头 26"/>
          <p:cNvSpPr/>
          <p:nvPr/>
        </p:nvSpPr>
        <p:spPr>
          <a:xfrm>
            <a:off x="7924800" y="3682991"/>
            <a:ext cx="384992" cy="745066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右箭头 27"/>
          <p:cNvSpPr/>
          <p:nvPr/>
        </p:nvSpPr>
        <p:spPr>
          <a:xfrm>
            <a:off x="6498165" y="3047990"/>
            <a:ext cx="698540" cy="32807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6887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2" grpId="0" animBg="1"/>
      <p:bldP spid="14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2</a:t>
            </a:r>
            <a:r>
              <a:rPr kumimoji="1" lang="en-US" altLang="zh-CN" dirty="0" smtClean="0"/>
              <a:t>017.6-2017.8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8"/>
            <a:ext cx="8326967" cy="5317932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Swagger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Kafka</a:t>
            </a:r>
            <a:r>
              <a:rPr kumimoji="1" lang="zh-CN" altLang="en-US" dirty="0" smtClean="0">
                <a:sym typeface="Wingdings"/>
              </a:rPr>
              <a:t>升级版本</a:t>
            </a:r>
            <a:r>
              <a:rPr kumimoji="1" lang="en-US" altLang="zh-CN" dirty="0" smtClean="0">
                <a:sym typeface="Wingdings"/>
              </a:rPr>
              <a:t>0.8----&gt;0.10</a:t>
            </a:r>
          </a:p>
          <a:p>
            <a:r>
              <a:rPr kumimoji="1" lang="en-US" altLang="zh-CN" dirty="0" smtClean="0">
                <a:sym typeface="Wingdings"/>
              </a:rPr>
              <a:t>JOB</a:t>
            </a:r>
            <a:r>
              <a:rPr kumimoji="1" lang="zh-CN" altLang="en-US" dirty="0" smtClean="0">
                <a:sym typeface="Wingdings"/>
              </a:rPr>
              <a:t>拆分微服务</a:t>
            </a:r>
            <a:endParaRPr kumimoji="1" lang="en-US" altLang="zh-CN" dirty="0">
              <a:sym typeface="Wingdings"/>
            </a:endParaRPr>
          </a:p>
          <a:p>
            <a:r>
              <a:rPr lang="en-US" altLang="zh-CN" dirty="0" err="1" smtClean="0"/>
              <a:t>Sharding</a:t>
            </a:r>
            <a:r>
              <a:rPr lang="zh-CN" altLang="en-US" dirty="0" smtClean="0"/>
              <a:t>提供</a:t>
            </a:r>
            <a:r>
              <a:rPr lang="en-US" altLang="zh-CN" dirty="0" smtClean="0"/>
              <a:t>SDK</a:t>
            </a:r>
          </a:p>
          <a:p>
            <a:pPr lvl="1"/>
            <a:r>
              <a:rPr lang="en-US" altLang="en-US" dirty="0" err="1" smtClean="0"/>
              <a:t>获取sharding</a:t>
            </a:r>
            <a:r>
              <a:rPr lang="en-US" altLang="en-US" dirty="0" smtClean="0"/>
              <a:t>/no </a:t>
            </a:r>
            <a:r>
              <a:rPr lang="en-US" altLang="en-US" dirty="0" err="1" smtClean="0"/>
              <a:t>sharding</a:t>
            </a:r>
            <a:r>
              <a:rPr lang="en-US" altLang="en-US" dirty="0" smtClean="0"/>
              <a:t> tables</a:t>
            </a:r>
            <a:r>
              <a:rPr lang="zh-CN" altLang="en-US" dirty="0" smtClean="0"/>
              <a:t>配置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根据品牌</a:t>
            </a:r>
            <a:r>
              <a:rPr lang="en-US" altLang="zh-CN" dirty="0" smtClean="0"/>
              <a:t>ID</a:t>
            </a:r>
            <a:r>
              <a:rPr lang="zh-CN" altLang="en-US" dirty="0" smtClean="0"/>
              <a:t>获取分片名称</a:t>
            </a:r>
            <a:endParaRPr lang="en-US" altLang="zh-CN" dirty="0" smtClean="0"/>
          </a:p>
          <a:p>
            <a:pPr marL="36576" indent="0">
              <a:buNone/>
            </a:pPr>
            <a:endParaRPr lang="en-US" altLang="zh-CN" dirty="0" smtClean="0"/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887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“惊喜”日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8"/>
            <a:ext cx="8305800" cy="5889432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 smtClean="0">
                <a:sym typeface="Wingdings"/>
              </a:rPr>
              <a:t>2017.8.15</a:t>
            </a:r>
            <a:r>
              <a:rPr kumimoji="1" lang="zh-CN" altLang="en-US" dirty="0" smtClean="0">
                <a:sym typeface="Wingdings"/>
              </a:rPr>
              <a:t>，针对新品发布会的推广活动，运营人员在</a:t>
            </a:r>
            <a:r>
              <a:rPr kumimoji="1" lang="en-US" altLang="zh-CN" dirty="0" smtClean="0">
                <a:sym typeface="Wingdings"/>
              </a:rPr>
              <a:t>BOSS</a:t>
            </a:r>
            <a:r>
              <a:rPr kumimoji="1" lang="zh-CN" altLang="en-US" dirty="0" smtClean="0">
                <a:sym typeface="Wingdings"/>
              </a:rPr>
              <a:t>后台大量推送公告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>
                <a:sym typeface="Wingdings"/>
              </a:rPr>
              <a:t>对应的同步下行表从</a:t>
            </a:r>
            <a:r>
              <a:rPr kumimoji="1" lang="en-US" altLang="zh-CN" dirty="0">
                <a:sym typeface="Wingdings"/>
              </a:rPr>
              <a:t>16</a:t>
            </a:r>
            <a:r>
              <a:rPr kumimoji="1" lang="zh-CN" altLang="en-US" dirty="0">
                <a:sym typeface="Wingdings"/>
              </a:rPr>
              <a:t>年上线起就没有添加索引，</a:t>
            </a:r>
            <a:r>
              <a:rPr kumimoji="1" lang="en-US" altLang="zh-CN" dirty="0">
                <a:sym typeface="Wingdings"/>
              </a:rPr>
              <a:t>BOSS</a:t>
            </a:r>
            <a:r>
              <a:rPr kumimoji="1" lang="zh-CN" altLang="en-US" dirty="0">
                <a:sym typeface="Wingdings"/>
              </a:rPr>
              <a:t>也</a:t>
            </a:r>
            <a:r>
              <a:rPr kumimoji="1" lang="zh-CN" altLang="en-US" dirty="0" smtClean="0">
                <a:sym typeface="Wingdings"/>
              </a:rPr>
              <a:t>不知道同步会查询这张表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大量慢查询触发</a:t>
            </a:r>
            <a:r>
              <a:rPr kumimoji="1" lang="en-US" altLang="zh-CN" dirty="0" err="1">
                <a:sym typeface="Wingdings"/>
              </a:rPr>
              <a:t>F</a:t>
            </a:r>
            <a:r>
              <a:rPr kumimoji="1" lang="en-US" altLang="zh-CN" dirty="0" err="1" smtClean="0">
                <a:sym typeface="Wingdings"/>
              </a:rPr>
              <a:t>uture.get</a:t>
            </a:r>
            <a:r>
              <a:rPr kumimoji="1" lang="zh-CN" altLang="en-US" dirty="0" smtClean="0">
                <a:sym typeface="Wingdings"/>
              </a:rPr>
              <a:t>超时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>
                <a:sym typeface="Wingdings"/>
              </a:rPr>
              <a:t>在</a:t>
            </a:r>
            <a:r>
              <a:rPr kumimoji="1" lang="en-US" altLang="zh-CN" dirty="0">
                <a:sym typeface="Wingdings"/>
              </a:rPr>
              <a:t>catch</a:t>
            </a:r>
            <a:r>
              <a:rPr kumimoji="1" lang="zh-CN" altLang="en-US" dirty="0">
                <a:sym typeface="Wingdings"/>
              </a:rPr>
              <a:t>中对仍在执</a:t>
            </a:r>
            <a:r>
              <a:rPr kumimoji="1" lang="zh-CN" altLang="en-US" dirty="0" smtClean="0">
                <a:sym typeface="Wingdings"/>
              </a:rPr>
              <a:t>行的</a:t>
            </a:r>
            <a:r>
              <a:rPr kumimoji="1" lang="en-US" altLang="zh-CN" dirty="0" smtClean="0">
                <a:sym typeface="Wingdings"/>
              </a:rPr>
              <a:t>Future</a:t>
            </a:r>
            <a:r>
              <a:rPr kumimoji="1" lang="zh-CN" altLang="en-US" dirty="0">
                <a:sym typeface="Wingdings"/>
              </a:rPr>
              <a:t>进行了</a:t>
            </a:r>
            <a:r>
              <a:rPr kumimoji="1" lang="en-US" altLang="zh-CN" dirty="0" smtClean="0">
                <a:sym typeface="Wingdings"/>
              </a:rPr>
              <a:t>cancel</a:t>
            </a:r>
            <a:r>
              <a:rPr kumimoji="1" lang="zh-CN" altLang="en-US" dirty="0" smtClean="0">
                <a:sym typeface="Wingdings"/>
              </a:rPr>
              <a:t>操作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因为被中断，因此子线程中负责多数据源切换</a:t>
            </a:r>
            <a:r>
              <a:rPr kumimoji="1" lang="zh-CN" altLang="en-US" dirty="0">
                <a:sym typeface="Wingdings"/>
              </a:rPr>
              <a:t>的</a:t>
            </a:r>
            <a:r>
              <a:rPr kumimoji="1" lang="en-US" altLang="zh-CN" dirty="0" err="1" smtClean="0">
                <a:sym typeface="Wingdings"/>
              </a:rPr>
              <a:t>ThreadLocal</a:t>
            </a:r>
            <a:r>
              <a:rPr kumimoji="1" lang="zh-CN" altLang="en-US" dirty="0" smtClean="0">
                <a:sym typeface="Wingdings"/>
              </a:rPr>
              <a:t>中存储的路由没有重置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后续对订单库操作的子线程从</a:t>
            </a:r>
            <a:r>
              <a:rPr kumimoji="1" lang="en-US" altLang="zh-CN" dirty="0" err="1" smtClean="0">
                <a:sym typeface="Wingdings"/>
              </a:rPr>
              <a:t>ThreadLocal</a:t>
            </a:r>
            <a:r>
              <a:rPr kumimoji="1" lang="zh-CN" altLang="en-US" dirty="0" smtClean="0">
                <a:sym typeface="Wingdings"/>
              </a:rPr>
              <a:t>中仍然读取的是</a:t>
            </a:r>
            <a:r>
              <a:rPr kumimoji="1" lang="en-US" altLang="zh-CN" dirty="0" smtClean="0">
                <a:sym typeface="Wingdings"/>
              </a:rPr>
              <a:t>boss</a:t>
            </a:r>
            <a:r>
              <a:rPr kumimoji="1" lang="zh-CN" altLang="en-US" dirty="0" smtClean="0">
                <a:sym typeface="Wingdings"/>
              </a:rPr>
              <a:t>库路由</a:t>
            </a:r>
            <a:endParaRPr kumimoji="1" lang="en-US" altLang="zh-CN" dirty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持续</a:t>
            </a:r>
            <a:r>
              <a:rPr kumimoji="1" lang="en-US" altLang="zh-CN" dirty="0" smtClean="0">
                <a:sym typeface="Wingdings"/>
              </a:rPr>
              <a:t>20</a:t>
            </a:r>
            <a:r>
              <a:rPr kumimoji="1" lang="zh-CN" altLang="en-US" dirty="0" smtClean="0">
                <a:sym typeface="Wingdings"/>
              </a:rPr>
              <a:t>分钟无法同步下行订单库数据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看似一个索引引发的血案，实际上确实工作中对领域化妥协的必然后果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887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“惊喜”日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8"/>
            <a:ext cx="8326967" cy="5698932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 smtClean="0">
                <a:sym typeface="Wingdings"/>
              </a:rPr>
              <a:t>2017.8.15</a:t>
            </a:r>
            <a:r>
              <a:rPr kumimoji="1" lang="zh-CN" altLang="en-US" dirty="0" smtClean="0">
                <a:sym typeface="Wingdings"/>
              </a:rPr>
              <a:t>下午，</a:t>
            </a:r>
            <a:r>
              <a:rPr kumimoji="1" lang="en-US" altLang="zh-CN" dirty="0" smtClean="0">
                <a:sym typeface="Wingdings"/>
              </a:rPr>
              <a:t>OP</a:t>
            </a:r>
            <a:r>
              <a:rPr kumimoji="1" lang="zh-CN" altLang="en-US" dirty="0" smtClean="0">
                <a:sym typeface="Wingdings"/>
              </a:rPr>
              <a:t>发现业务部门共用的</a:t>
            </a:r>
            <a:r>
              <a:rPr kumimoji="1" lang="en-US" altLang="zh-CN" dirty="0" smtClean="0">
                <a:sym typeface="Wingdings"/>
              </a:rPr>
              <a:t>REDIS</a:t>
            </a:r>
            <a:r>
              <a:rPr kumimoji="1" lang="zh-CN" altLang="en-US" dirty="0" smtClean="0">
                <a:sym typeface="Wingdings"/>
              </a:rPr>
              <a:t>的内存</a:t>
            </a:r>
            <a:r>
              <a:rPr kumimoji="1" lang="en-US" altLang="zh-CN" dirty="0" smtClean="0">
                <a:sym typeface="Wingdings"/>
              </a:rPr>
              <a:t>&amp;CPU</a:t>
            </a:r>
            <a:r>
              <a:rPr kumimoji="1" lang="zh-CN" altLang="en-US" dirty="0" smtClean="0">
                <a:sym typeface="Wingdings"/>
              </a:rPr>
              <a:t>均不断增长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除了确定不是同步的锅，暂时不能准确</a:t>
            </a:r>
            <a:r>
              <a:rPr kumimoji="1" lang="zh-CN" altLang="en-US" dirty="0">
                <a:sym typeface="Wingdings"/>
              </a:rPr>
              <a:t>定位到原因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为了保证晚高峰</a:t>
            </a:r>
            <a:r>
              <a:rPr kumimoji="1" lang="en-US" altLang="zh-CN" dirty="0" smtClean="0">
                <a:sym typeface="Wingdings"/>
              </a:rPr>
              <a:t>sync.v5</a:t>
            </a:r>
            <a:r>
              <a:rPr kumimoji="1" lang="zh-CN" altLang="en-US" dirty="0">
                <a:sym typeface="Wingdings"/>
              </a:rPr>
              <a:t>不受到影响，因此临时修改了</a:t>
            </a:r>
            <a:r>
              <a:rPr kumimoji="1" lang="en-US" altLang="zh-CN" dirty="0" err="1">
                <a:sym typeface="Wingdings"/>
              </a:rPr>
              <a:t>redis</a:t>
            </a:r>
            <a:r>
              <a:rPr kumimoji="1" lang="zh-CN" altLang="en-US" dirty="0">
                <a:sym typeface="Wingdings"/>
              </a:rPr>
              <a:t>配置指向新的</a:t>
            </a:r>
            <a:r>
              <a:rPr kumimoji="1" lang="en-US" altLang="zh-CN" dirty="0" err="1">
                <a:sym typeface="Wingdings"/>
              </a:rPr>
              <a:t>redis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当天</a:t>
            </a:r>
            <a:r>
              <a:rPr kumimoji="1" lang="zh-CN" altLang="zh-CN" dirty="0" smtClean="0">
                <a:sym typeface="Wingdings"/>
              </a:rPr>
              <a:t>1</a:t>
            </a:r>
            <a:r>
              <a:rPr kumimoji="1" lang="zh-CN" altLang="zh-CN" dirty="0">
                <a:sym typeface="Wingdings"/>
              </a:rPr>
              <a:t>7</a:t>
            </a:r>
            <a:r>
              <a:rPr kumimoji="1" lang="zh-CN" altLang="en-US" dirty="0" smtClean="0">
                <a:sym typeface="Wingdings"/>
              </a:rPr>
              <a:t>点</a:t>
            </a:r>
            <a:r>
              <a:rPr kumimoji="1" lang="zh-CN" altLang="en-US" dirty="0">
                <a:sym typeface="Wingdings"/>
              </a:rPr>
              <a:t>重启</a:t>
            </a:r>
            <a:r>
              <a:rPr kumimoji="1" lang="en-US" altLang="zh-CN" dirty="0">
                <a:sym typeface="Wingdings"/>
              </a:rPr>
              <a:t>V5</a:t>
            </a:r>
            <a:r>
              <a:rPr kumimoji="1" lang="zh-CN" altLang="en-US" dirty="0">
                <a:sym typeface="Wingdings"/>
              </a:rPr>
              <a:t>和</a:t>
            </a:r>
            <a:r>
              <a:rPr kumimoji="1" lang="en-US" altLang="zh-CN" dirty="0">
                <a:sym typeface="Wingdings"/>
              </a:rPr>
              <a:t>JOB</a:t>
            </a:r>
            <a:r>
              <a:rPr kumimoji="1" lang="zh-CN" altLang="en-US" dirty="0">
                <a:sym typeface="Wingdings"/>
              </a:rPr>
              <a:t>切换成功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>
                <a:sym typeface="Wingdings"/>
              </a:rPr>
              <a:t>当晚</a:t>
            </a:r>
            <a:r>
              <a:rPr kumimoji="1" lang="en-US" altLang="zh-CN" dirty="0">
                <a:sym typeface="Wingdings"/>
              </a:rPr>
              <a:t>22</a:t>
            </a:r>
            <a:r>
              <a:rPr kumimoji="1" lang="zh-CN" altLang="en-US" dirty="0">
                <a:sym typeface="Wingdings"/>
              </a:rPr>
              <a:t>点</a:t>
            </a:r>
            <a:r>
              <a:rPr kumimoji="1" lang="en-US" altLang="zh-CN" dirty="0">
                <a:sym typeface="Wingdings"/>
              </a:rPr>
              <a:t>trade</a:t>
            </a:r>
            <a:r>
              <a:rPr kumimoji="1" lang="zh-CN" altLang="en-US" dirty="0" smtClean="0">
                <a:sym typeface="Wingdings"/>
              </a:rPr>
              <a:t>临时上线。。。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en-US" altLang="zh-CN" dirty="0">
                <a:sym typeface="Wingdings"/>
              </a:rPr>
              <a:t>trade</a:t>
            </a:r>
            <a:r>
              <a:rPr kumimoji="1" lang="zh-CN" altLang="en-US" dirty="0">
                <a:sym typeface="Wingdings"/>
              </a:rPr>
              <a:t>和</a:t>
            </a:r>
            <a:r>
              <a:rPr kumimoji="1" lang="en-US" altLang="zh-CN" dirty="0">
                <a:sym typeface="Wingdings"/>
              </a:rPr>
              <a:t>v5</a:t>
            </a:r>
            <a:r>
              <a:rPr kumimoji="1" lang="zh-CN" altLang="en-US" dirty="0">
                <a:sym typeface="Wingdings"/>
              </a:rPr>
              <a:t>共用一个</a:t>
            </a:r>
            <a:r>
              <a:rPr kumimoji="1" lang="en-US" altLang="zh-CN" dirty="0" err="1">
                <a:sym typeface="Wingdings"/>
              </a:rPr>
              <a:t>redis</a:t>
            </a:r>
            <a:r>
              <a:rPr kumimoji="1" lang="zh-CN" altLang="en-US" dirty="0">
                <a:sym typeface="Wingdings"/>
              </a:rPr>
              <a:t>配置。。。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>
                <a:sym typeface="Wingdings"/>
              </a:rPr>
              <a:t>上线后的</a:t>
            </a:r>
            <a:r>
              <a:rPr kumimoji="1" lang="en-US" altLang="zh-CN" dirty="0">
                <a:sym typeface="Wingdings"/>
              </a:rPr>
              <a:t>trade</a:t>
            </a:r>
            <a:r>
              <a:rPr kumimoji="1" lang="zh-CN" altLang="en-US" dirty="0">
                <a:sym typeface="Wingdings"/>
              </a:rPr>
              <a:t>指向新的</a:t>
            </a:r>
            <a:r>
              <a:rPr kumimoji="1" lang="en-US" altLang="zh-CN" dirty="0" err="1">
                <a:sym typeface="Wingdings"/>
              </a:rPr>
              <a:t>redis</a:t>
            </a:r>
            <a:r>
              <a:rPr kumimoji="1" lang="zh-CN" altLang="en-US" dirty="0">
                <a:sym typeface="Wingdings"/>
              </a:rPr>
              <a:t>，而未上线的</a:t>
            </a:r>
            <a:r>
              <a:rPr kumimoji="1" lang="en-US" altLang="zh-CN" dirty="0" err="1">
                <a:sym typeface="Wingdings"/>
              </a:rPr>
              <a:t>calmrouter</a:t>
            </a:r>
            <a:r>
              <a:rPr kumimoji="1" lang="zh-CN" altLang="en-US" dirty="0" smtClean="0">
                <a:sym typeface="Wingdings"/>
              </a:rPr>
              <a:t>服务仍然指向</a:t>
            </a:r>
            <a:r>
              <a:rPr kumimoji="1" lang="zh-CN" altLang="en-US" dirty="0">
                <a:sym typeface="Wingdings"/>
              </a:rPr>
              <a:t>老的</a:t>
            </a:r>
            <a:r>
              <a:rPr kumimoji="1" lang="en-US" altLang="zh-CN" dirty="0" err="1" smtClean="0">
                <a:sym typeface="Wingdings"/>
              </a:rPr>
              <a:t>redis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>
                <a:sym typeface="Wingdings"/>
              </a:rPr>
              <a:t>最终导致</a:t>
            </a:r>
            <a:r>
              <a:rPr kumimoji="1" lang="en-US" altLang="zh-CN" dirty="0">
                <a:sym typeface="Wingdings"/>
              </a:rPr>
              <a:t>trade</a:t>
            </a:r>
            <a:r>
              <a:rPr kumimoji="1" lang="zh-CN" altLang="en-US" dirty="0">
                <a:sym typeface="Wingdings"/>
              </a:rPr>
              <a:t>上线后所有进行初始化</a:t>
            </a:r>
            <a:r>
              <a:rPr kumimoji="1" lang="en-US" altLang="zh-CN" dirty="0">
                <a:sym typeface="Wingdings"/>
              </a:rPr>
              <a:t>/</a:t>
            </a:r>
            <a:r>
              <a:rPr kumimoji="1" lang="zh-CN" altLang="en-US" dirty="0">
                <a:sym typeface="Wingdings"/>
              </a:rPr>
              <a:t>开机的</a:t>
            </a:r>
            <a:r>
              <a:rPr kumimoji="1" lang="en-US" altLang="zh-CN" dirty="0">
                <a:sym typeface="Wingdings"/>
              </a:rPr>
              <a:t>POS</a:t>
            </a:r>
            <a:r>
              <a:rPr kumimoji="1" lang="zh-CN" altLang="en-US" dirty="0">
                <a:sym typeface="Wingdings"/>
              </a:rPr>
              <a:t>设备认证成功</a:t>
            </a:r>
            <a:r>
              <a:rPr kumimoji="1" lang="zh-CN" altLang="en-US" dirty="0" smtClean="0">
                <a:sym typeface="Wingdings"/>
              </a:rPr>
              <a:t>，而后续操作签名验证失败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服务拆分自治，配置也必须是其中一部分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887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分区部署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8"/>
            <a:ext cx="8475133" cy="5614265"/>
          </a:xfrm>
        </p:spPr>
        <p:txBody>
          <a:bodyPr>
            <a:normAutofit/>
          </a:bodyPr>
          <a:lstStyle/>
          <a:p>
            <a:r>
              <a:rPr kumimoji="1" lang="zh-CN" altLang="en-US" dirty="0" smtClean="0">
                <a:sym typeface="Wingdings"/>
              </a:rPr>
              <a:t>背景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满足产品功能快速迭代，真正实现</a:t>
            </a:r>
            <a:r>
              <a:rPr kumimoji="1" lang="en-US" altLang="zh-CN" dirty="0" smtClean="0">
                <a:sym typeface="Wingdings"/>
              </a:rPr>
              <a:t>A/B</a:t>
            </a:r>
            <a:r>
              <a:rPr kumimoji="1" lang="zh-CN" altLang="en-US" dirty="0" smtClean="0">
                <a:sym typeface="Wingdings"/>
              </a:rPr>
              <a:t> </a:t>
            </a:r>
            <a:r>
              <a:rPr kumimoji="1" lang="en-US" altLang="zh-CN" dirty="0" smtClean="0">
                <a:sym typeface="Wingdings"/>
              </a:rPr>
              <a:t>TEST</a:t>
            </a:r>
          </a:p>
          <a:p>
            <a:pPr lvl="1"/>
            <a:r>
              <a:rPr kumimoji="1" lang="zh-CN" altLang="en-US" dirty="0" smtClean="0">
                <a:sym typeface="Wingdings"/>
              </a:rPr>
              <a:t>保持老商户或者不需要新功能的商户的云端环境稳定，减少迭代发版对稳定区的影响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为区域性地灾备转移做准备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为大客户私有云部署做准备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887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分区部署</a:t>
            </a:r>
            <a:endParaRPr kumimoji="1"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6858019" y="1030644"/>
            <a:ext cx="1566333" cy="65616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smtClean="0"/>
              <a:t>SLB</a:t>
            </a:r>
            <a:endParaRPr kumimoji="1" lang="zh-CN" altLang="en-US" sz="2400" dirty="0"/>
          </a:p>
        </p:txBody>
      </p:sp>
      <p:sp>
        <p:nvSpPr>
          <p:cNvPr id="6" name="圆角矩形 5"/>
          <p:cNvSpPr/>
          <p:nvPr/>
        </p:nvSpPr>
        <p:spPr>
          <a:xfrm>
            <a:off x="1418167" y="1051809"/>
            <a:ext cx="3111500" cy="656166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ZBRD proxy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48715" y="2781305"/>
            <a:ext cx="2218271" cy="384386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34819" y="2781305"/>
            <a:ext cx="2218271" cy="384386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731003" y="3259667"/>
            <a:ext cx="2218271" cy="33655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879158" y="3447871"/>
            <a:ext cx="1883834" cy="6561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push</a:t>
            </a:r>
            <a:endParaRPr kumimoji="1"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6910926" y="4315703"/>
            <a:ext cx="1883834" cy="6561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boss</a:t>
            </a:r>
            <a:endParaRPr kumimoji="1"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6919382" y="5183536"/>
            <a:ext cx="1883834" cy="6561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store</a:t>
            </a:r>
            <a:endParaRPr kumimoji="1" lang="zh-CN" altLang="en-US" dirty="0"/>
          </a:p>
        </p:txBody>
      </p:sp>
      <p:sp>
        <p:nvSpPr>
          <p:cNvPr id="16" name="圆角矩形 15"/>
          <p:cNvSpPr/>
          <p:nvPr/>
        </p:nvSpPr>
        <p:spPr>
          <a:xfrm>
            <a:off x="6923613" y="5949779"/>
            <a:ext cx="1883834" cy="6561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checkout</a:t>
            </a:r>
            <a:endParaRPr kumimoji="1" lang="zh-CN" altLang="en-US" dirty="0"/>
          </a:p>
        </p:txBody>
      </p:sp>
      <p:sp>
        <p:nvSpPr>
          <p:cNvPr id="18" name="圆角矩形 17"/>
          <p:cNvSpPr/>
          <p:nvPr/>
        </p:nvSpPr>
        <p:spPr>
          <a:xfrm>
            <a:off x="3704155" y="3777886"/>
            <a:ext cx="1735665" cy="8489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Mapp</a:t>
            </a:r>
            <a:endParaRPr kumimoji="1" lang="en-US" altLang="zh-CN" dirty="0" smtClean="0"/>
          </a:p>
          <a:p>
            <a:pPr algn="ctr"/>
            <a:r>
              <a:rPr kumimoji="1" lang="en-US" altLang="zh-CN" dirty="0" smtClean="0"/>
              <a:t>Use </a:t>
            </a:r>
            <a:r>
              <a:rPr kumimoji="1" lang="en-US" altLang="zh-CN" dirty="0" err="1" smtClean="0"/>
              <a:t>unid</a:t>
            </a:r>
            <a:r>
              <a:rPr kumimoji="1" lang="en-US" altLang="zh-CN" dirty="0" smtClean="0"/>
              <a:t> </a:t>
            </a:r>
            <a:r>
              <a:rPr kumimoji="1" lang="en-US" altLang="zh-CN" dirty="0" err="1" smtClean="0"/>
              <a:t>sdk</a:t>
            </a:r>
            <a:endParaRPr kumimoji="1" lang="zh-CN" altLang="en-US" dirty="0"/>
          </a:p>
        </p:txBody>
      </p:sp>
      <p:sp>
        <p:nvSpPr>
          <p:cNvPr id="19" name="圆角矩形 18"/>
          <p:cNvSpPr/>
          <p:nvPr/>
        </p:nvSpPr>
        <p:spPr>
          <a:xfrm>
            <a:off x="609600" y="4863933"/>
            <a:ext cx="1883834" cy="6561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RDS&amp;NoSQL</a:t>
            </a:r>
            <a:endParaRPr kumimoji="1" lang="zh-CN" altLang="en-US" dirty="0"/>
          </a:p>
        </p:txBody>
      </p:sp>
      <p:sp>
        <p:nvSpPr>
          <p:cNvPr id="20" name="圆角矩形 19"/>
          <p:cNvSpPr/>
          <p:nvPr/>
        </p:nvSpPr>
        <p:spPr>
          <a:xfrm>
            <a:off x="3704155" y="4876620"/>
            <a:ext cx="1735665" cy="6900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RDS&amp;NoSQL</a:t>
            </a:r>
            <a:endParaRPr kumimoji="1" lang="zh-CN" altLang="en-US" dirty="0"/>
          </a:p>
        </p:txBody>
      </p:sp>
      <p:sp>
        <p:nvSpPr>
          <p:cNvPr id="21" name="圆角矩形 20"/>
          <p:cNvSpPr/>
          <p:nvPr/>
        </p:nvSpPr>
        <p:spPr>
          <a:xfrm>
            <a:off x="656165" y="5778345"/>
            <a:ext cx="1883834" cy="6561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MQ</a:t>
            </a:r>
            <a:endParaRPr kumimoji="1" lang="zh-CN" alt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3704155" y="5867243"/>
            <a:ext cx="1756832" cy="61169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MQ</a:t>
            </a:r>
            <a:endParaRPr kumimoji="1" lang="zh-CN" altLang="en-US" dirty="0"/>
          </a:p>
        </p:txBody>
      </p:sp>
      <p:sp>
        <p:nvSpPr>
          <p:cNvPr id="25" name="圆角矩形 24"/>
          <p:cNvSpPr/>
          <p:nvPr/>
        </p:nvSpPr>
        <p:spPr>
          <a:xfrm>
            <a:off x="656165" y="3775403"/>
            <a:ext cx="1735665" cy="8489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Mapp</a:t>
            </a:r>
            <a:endParaRPr kumimoji="1" lang="en-US" altLang="zh-CN" dirty="0" smtClean="0"/>
          </a:p>
          <a:p>
            <a:pPr algn="ctr"/>
            <a:r>
              <a:rPr kumimoji="1" lang="en-US" altLang="zh-CN" dirty="0" smtClean="0"/>
              <a:t>Use </a:t>
            </a:r>
            <a:r>
              <a:rPr kumimoji="1" lang="en-US" altLang="zh-CN" dirty="0" err="1" smtClean="0"/>
              <a:t>unid</a:t>
            </a:r>
            <a:r>
              <a:rPr kumimoji="1" lang="en-US" altLang="zh-CN" dirty="0" smtClean="0"/>
              <a:t> </a:t>
            </a:r>
            <a:r>
              <a:rPr kumimoji="1" lang="en-US" altLang="zh-CN" dirty="0" err="1" smtClean="0"/>
              <a:t>sdk</a:t>
            </a:r>
            <a:endParaRPr kumimoji="1"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584202" y="2218273"/>
            <a:ext cx="774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 smtClean="0"/>
              <a:t>分区</a:t>
            </a:r>
            <a:r>
              <a:rPr kumimoji="1" lang="en-US" altLang="zh-CN" dirty="0" smtClean="0"/>
              <a:t>1</a:t>
            </a:r>
            <a:endParaRPr kumimoji="1"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4449205" y="226060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 smtClean="0"/>
              <a:t>分区</a:t>
            </a:r>
            <a:r>
              <a:rPr kumimoji="1" lang="zh-CN" altLang="zh-CN" dirty="0"/>
              <a:t>2</a:t>
            </a:r>
            <a:endParaRPr kumimoji="1"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7876364" y="278130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 smtClean="0"/>
              <a:t>不分区服务</a:t>
            </a:r>
            <a:endParaRPr kumimoji="1" lang="zh-CN" altLang="en-US" dirty="0"/>
          </a:p>
        </p:txBody>
      </p:sp>
      <p:sp>
        <p:nvSpPr>
          <p:cNvPr id="29" name="左箭头 28"/>
          <p:cNvSpPr/>
          <p:nvPr/>
        </p:nvSpPr>
        <p:spPr>
          <a:xfrm>
            <a:off x="4978380" y="1164165"/>
            <a:ext cx="1435119" cy="416808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下箭头 29"/>
          <p:cNvSpPr/>
          <p:nvPr/>
        </p:nvSpPr>
        <p:spPr>
          <a:xfrm>
            <a:off x="1718706" y="1841497"/>
            <a:ext cx="444507" cy="7461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3687204" y="1801106"/>
            <a:ext cx="444507" cy="78649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下箭头 31"/>
          <p:cNvSpPr/>
          <p:nvPr/>
        </p:nvSpPr>
        <p:spPr>
          <a:xfrm>
            <a:off x="7410690" y="1864607"/>
            <a:ext cx="492943" cy="122252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613832" y="2921001"/>
            <a:ext cx="1883834" cy="6561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Tengine</a:t>
            </a:r>
            <a:r>
              <a:rPr kumimoji="1" lang="en-US" altLang="zh-CN" dirty="0" smtClean="0"/>
              <a:t> cluster</a:t>
            </a:r>
            <a:endParaRPr kumimoji="1" lang="zh-CN" altLang="en-US" dirty="0"/>
          </a:p>
        </p:txBody>
      </p:sp>
      <p:sp>
        <p:nvSpPr>
          <p:cNvPr id="34" name="圆角矩形 33"/>
          <p:cNvSpPr/>
          <p:nvPr/>
        </p:nvSpPr>
        <p:spPr>
          <a:xfrm>
            <a:off x="3682988" y="2921001"/>
            <a:ext cx="1883834" cy="6561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Tengine</a:t>
            </a:r>
            <a:r>
              <a:rPr kumimoji="1" lang="en-US" altLang="zh-CN" dirty="0" smtClean="0"/>
              <a:t> cluster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887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分区部署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8"/>
            <a:ext cx="8221133" cy="5550765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sym typeface="Wingdings"/>
              </a:rPr>
              <a:t>2</a:t>
            </a:r>
            <a:r>
              <a:rPr kumimoji="1" lang="en-US" altLang="zh-CN" dirty="0">
                <a:sym typeface="Wingdings"/>
              </a:rPr>
              <a:t>017.9</a:t>
            </a:r>
            <a:r>
              <a:rPr kumimoji="1" lang="zh-CN" altLang="en-US" dirty="0">
                <a:sym typeface="Wingdings"/>
              </a:rPr>
              <a:t>开始实施</a:t>
            </a:r>
            <a:r>
              <a:rPr kumimoji="1" lang="zh-CN" altLang="en-US" dirty="0" smtClean="0">
                <a:sym typeface="Wingdings"/>
              </a:rPr>
              <a:t>，期间经历了</a:t>
            </a:r>
            <a:r>
              <a:rPr kumimoji="1" lang="en-US" altLang="zh-CN" dirty="0" smtClean="0">
                <a:sym typeface="Wingdings"/>
              </a:rPr>
              <a:t>BOSS</a:t>
            </a:r>
            <a:r>
              <a:rPr kumimoji="1" lang="zh-CN" altLang="en-US" dirty="0" smtClean="0">
                <a:sym typeface="Wingdings"/>
              </a:rPr>
              <a:t>分库。</a:t>
            </a:r>
            <a:r>
              <a:rPr kumimoji="1" lang="en-US" altLang="zh-CN" dirty="0" smtClean="0">
                <a:sym typeface="Wingdings"/>
              </a:rPr>
              <a:t>2017.11.28</a:t>
            </a:r>
            <a:r>
              <a:rPr kumimoji="1" lang="zh-CN" altLang="en-US" dirty="0" smtClean="0">
                <a:sym typeface="Wingdings"/>
              </a:rPr>
              <a:t>第一期上线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zh-CN" dirty="0" smtClean="0">
                <a:sym typeface="Wingdings"/>
              </a:rPr>
              <a:t>2</a:t>
            </a:r>
            <a:r>
              <a:rPr kumimoji="1" lang="en-US" altLang="zh-CN" dirty="0" smtClean="0">
                <a:sym typeface="Wingdings"/>
              </a:rPr>
              <a:t>017.12</a:t>
            </a:r>
            <a:r>
              <a:rPr kumimoji="1" lang="zh-CN" altLang="en-US" dirty="0" smtClean="0">
                <a:sym typeface="Wingdings"/>
              </a:rPr>
              <a:t>所有服务的流量均路由</a:t>
            </a:r>
            <a:r>
              <a:rPr kumimoji="1" lang="en-US" altLang="zh-CN" dirty="0" smtClean="0">
                <a:sym typeface="Wingdings"/>
              </a:rPr>
              <a:t>VPC</a:t>
            </a:r>
            <a:r>
              <a:rPr kumimoji="1" lang="zh-CN" altLang="en-US" dirty="0" smtClean="0">
                <a:sym typeface="Wingdings"/>
              </a:rPr>
              <a:t>，原经典网络的生产环境废弃</a:t>
            </a:r>
            <a:endParaRPr kumimoji="1" lang="en-US" altLang="zh-CN" dirty="0">
              <a:sym typeface="Wingdings"/>
            </a:endParaRPr>
          </a:p>
          <a:p>
            <a:r>
              <a:rPr kumimoji="1" lang="zh-CN" altLang="en-US" dirty="0">
                <a:sym typeface="Wingdings"/>
              </a:rPr>
              <a:t>第二期</a:t>
            </a:r>
            <a:r>
              <a:rPr kumimoji="1" lang="zh-CN" altLang="en-US" dirty="0" smtClean="0">
                <a:sym typeface="Wingdings"/>
              </a:rPr>
              <a:t>主要目标为提供数据迁</a:t>
            </a:r>
            <a:r>
              <a:rPr kumimoji="1" lang="zh-CN" altLang="en-US" dirty="0">
                <a:sym typeface="Wingdings"/>
              </a:rPr>
              <a:t>移平台</a:t>
            </a:r>
            <a:r>
              <a:rPr kumimoji="1" lang="en-US" altLang="zh-CN" dirty="0">
                <a:sym typeface="Wingdings"/>
              </a:rPr>
              <a:t>/</a:t>
            </a:r>
            <a:r>
              <a:rPr kumimoji="1" lang="zh-CN" altLang="en-US" dirty="0">
                <a:sym typeface="Wingdings"/>
              </a:rPr>
              <a:t>工具</a:t>
            </a:r>
            <a:endParaRPr kumimoji="1" lang="en-US" altLang="zh-CN" dirty="0">
              <a:sym typeface="Wingdings"/>
            </a:endParaRPr>
          </a:p>
          <a:p>
            <a:r>
              <a:rPr kumimoji="1" lang="zh-CN" altLang="en-US" dirty="0">
                <a:sym typeface="Wingdings"/>
              </a:rPr>
              <a:t>分区部署的真正价值需要等待第二个稳定区上线后才能体现</a:t>
            </a:r>
            <a:endParaRPr kumimoji="1" lang="en-US" altLang="zh-CN" dirty="0" smtClean="0">
              <a:sym typeface="Wingdings"/>
            </a:endParaRPr>
          </a:p>
          <a:p>
            <a:pPr marL="36576" indent="0">
              <a:buNone/>
            </a:pPr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pPr marL="36576" indent="0">
              <a:buNone/>
            </a:pP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887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2</a:t>
            </a:r>
            <a:r>
              <a:rPr kumimoji="1" lang="en-US" altLang="zh-CN" dirty="0" smtClean="0"/>
              <a:t>017.9-2017.12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8"/>
            <a:ext cx="8496300" cy="5444932"/>
          </a:xfrm>
        </p:spPr>
        <p:txBody>
          <a:bodyPr>
            <a:normAutofit/>
          </a:bodyPr>
          <a:lstStyle/>
          <a:p>
            <a:r>
              <a:rPr kumimoji="1" lang="en-US" altLang="zh-CN" dirty="0" err="1" smtClean="0"/>
              <a:t>Haproxy</a:t>
            </a:r>
            <a:r>
              <a:rPr kumimoji="1" lang="en-US" altLang="zh-CN" dirty="0" smtClean="0"/>
              <a:t>----&gt;</a:t>
            </a:r>
            <a:r>
              <a:rPr kumimoji="1" lang="en-US" altLang="zh-CN" dirty="0" smtClean="0">
                <a:sym typeface="Wingdings"/>
              </a:rPr>
              <a:t>SLB</a:t>
            </a:r>
            <a:r>
              <a:rPr kumimoji="1" lang="zh-CN" altLang="en-US" dirty="0" smtClean="0">
                <a:sym typeface="Wingdings"/>
              </a:rPr>
              <a:t>，解除</a:t>
            </a:r>
            <a:r>
              <a:rPr kumimoji="1" lang="en-US" altLang="zh-CN" dirty="0" smtClean="0">
                <a:sym typeface="Wingdings"/>
              </a:rPr>
              <a:t>12W</a:t>
            </a:r>
            <a:r>
              <a:rPr kumimoji="1" lang="zh-CN" altLang="en-US" dirty="0" smtClean="0">
                <a:sym typeface="Wingdings"/>
              </a:rPr>
              <a:t>连接数限制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Push FGC</a:t>
            </a:r>
          </a:p>
          <a:p>
            <a:pPr lvl="1"/>
            <a:r>
              <a:rPr lang="zh-CN" altLang="en-US" dirty="0"/>
              <a:t>断开连接再重连后会新增</a:t>
            </a:r>
            <a:r>
              <a:rPr lang="en-US" altLang="zh-CN" dirty="0"/>
              <a:t>1</a:t>
            </a:r>
            <a:r>
              <a:rPr lang="zh-CN" altLang="en-US" dirty="0"/>
              <a:t>条设备监控信息，导致</a:t>
            </a:r>
            <a:r>
              <a:rPr lang="en-US" altLang="zh-CN" dirty="0" err="1"/>
              <a:t>hazelcast</a:t>
            </a:r>
            <a:r>
              <a:rPr lang="zh-CN" altLang="en-US" dirty="0" smtClean="0"/>
              <a:t>内存缓慢增长。改为覆盖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Push</a:t>
            </a:r>
            <a:r>
              <a:rPr kumimoji="1" lang="zh-CN" altLang="en-US" dirty="0" smtClean="0">
                <a:sym typeface="Wingdings"/>
              </a:rPr>
              <a:t>连接数异常增长</a:t>
            </a:r>
            <a:endParaRPr kumimoji="1" lang="en-US" altLang="zh-CN" dirty="0" smtClean="0">
              <a:sym typeface="Wingdings"/>
            </a:endParaRPr>
          </a:p>
          <a:p>
            <a:pPr lvl="1"/>
            <a:r>
              <a:rPr kumimoji="1" lang="zh-CN" altLang="en-US" dirty="0" smtClean="0">
                <a:sym typeface="Wingdings"/>
              </a:rPr>
              <a:t>某些版本的客户端存在重复连接</a:t>
            </a:r>
            <a:r>
              <a:rPr kumimoji="1" lang="en-US" altLang="zh-CN" dirty="0" smtClean="0">
                <a:sym typeface="Wingdings"/>
              </a:rPr>
              <a:t>BUG</a:t>
            </a:r>
          </a:p>
          <a:p>
            <a:pPr lvl="1"/>
            <a:r>
              <a:rPr lang="zh-CN" altLang="en-US" dirty="0" smtClean="0"/>
              <a:t>注册设备时检测断开之前的连接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2017.9.20 </a:t>
            </a:r>
            <a:r>
              <a:rPr kumimoji="1" lang="zh-CN" altLang="en-US" dirty="0" smtClean="0">
                <a:sym typeface="Wingdings"/>
              </a:rPr>
              <a:t>八年抗战学车胜利</a:t>
            </a:r>
            <a:endParaRPr kumimoji="1" lang="en-US" altLang="zh-CN" dirty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引入领域事件的概念，驱动对其他域的解耦以及消息外观设计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887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总结过去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968568"/>
            <a:ext cx="8326967" cy="4725265"/>
          </a:xfrm>
        </p:spPr>
        <p:txBody>
          <a:bodyPr>
            <a:normAutofit/>
          </a:bodyPr>
          <a:lstStyle/>
          <a:p>
            <a:r>
              <a:rPr kumimoji="1" lang="en-US" altLang="zh-CN" dirty="0" smtClean="0"/>
              <a:t>CPM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2K--</a:t>
            </a:r>
            <a:r>
              <a:rPr kumimoji="1" lang="en-US" altLang="zh-CN" dirty="0" smtClean="0">
                <a:sym typeface="Wingdings"/>
              </a:rPr>
              <a:t>--&gt;160K</a:t>
            </a:r>
            <a:r>
              <a:rPr kumimoji="1" lang="zh-CN" altLang="en-US" dirty="0" smtClean="0">
                <a:sym typeface="Wingdings"/>
              </a:rPr>
              <a:t>（仅</a:t>
            </a:r>
            <a:r>
              <a:rPr kumimoji="1" lang="en-US" altLang="zh-CN" dirty="0" smtClean="0">
                <a:sym typeface="Wingdings"/>
              </a:rPr>
              <a:t>http</a:t>
            </a:r>
            <a:r>
              <a:rPr kumimoji="1" lang="zh-CN" altLang="en-US" dirty="0" smtClean="0">
                <a:sym typeface="Wingdings"/>
              </a:rPr>
              <a:t>）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zh-CN" altLang="en-US" dirty="0" smtClean="0">
                <a:sym typeface="Wingdings"/>
              </a:rPr>
              <a:t>服务个数</a:t>
            </a:r>
            <a:r>
              <a:rPr kumimoji="1" lang="en-US" altLang="zh-CN" dirty="0" smtClean="0">
                <a:sym typeface="Wingdings"/>
              </a:rPr>
              <a:t> 1----&gt;9</a:t>
            </a:r>
          </a:p>
          <a:p>
            <a:r>
              <a:rPr kumimoji="1" lang="zh-CN" altLang="en-US" dirty="0" smtClean="0">
                <a:sym typeface="Wingdings"/>
              </a:rPr>
              <a:t>服务部署节点数</a:t>
            </a:r>
            <a:r>
              <a:rPr kumimoji="1" lang="en-US" altLang="zh-CN" dirty="0" smtClean="0">
                <a:sym typeface="Wingdings"/>
              </a:rPr>
              <a:t> 4----&gt;97</a:t>
            </a:r>
          </a:p>
          <a:p>
            <a:r>
              <a:rPr kumimoji="1" lang="zh-CN" altLang="en-US" dirty="0" smtClean="0">
                <a:sym typeface="Wingdings"/>
              </a:rPr>
              <a:t>团队人数</a:t>
            </a:r>
            <a:r>
              <a:rPr kumimoji="1" lang="en-US" altLang="zh-CN" dirty="0" smtClean="0">
                <a:sym typeface="Wingdings"/>
              </a:rPr>
              <a:t>7----&gt;20</a:t>
            </a:r>
          </a:p>
          <a:p>
            <a:r>
              <a:rPr kumimoji="1" lang="zh-CN" altLang="en-US" dirty="0" smtClean="0">
                <a:sym typeface="Wingdings"/>
              </a:rPr>
              <a:t>签约商户数</a:t>
            </a:r>
            <a:r>
              <a:rPr kumimoji="1" lang="en-US" altLang="zh-CN" dirty="0" smtClean="0">
                <a:sym typeface="Wingdings"/>
              </a:rPr>
              <a:t>3k----&gt;5W</a:t>
            </a:r>
          </a:p>
          <a:p>
            <a:r>
              <a:rPr kumimoji="1" lang="zh-CN" altLang="en-US" dirty="0" smtClean="0">
                <a:sym typeface="Wingdings"/>
              </a:rPr>
              <a:t>客户端设备数量</a:t>
            </a:r>
            <a:r>
              <a:rPr kumimoji="1" lang="en-US" altLang="zh-CN" dirty="0" smtClean="0">
                <a:sym typeface="Wingdings"/>
              </a:rPr>
              <a:t>2k----&gt;9W</a:t>
            </a: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887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总结过去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34" y="2082800"/>
            <a:ext cx="1689100" cy="26924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3658" y="1375831"/>
            <a:ext cx="2455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 smtClean="0"/>
              <a:t>进公司前的我</a:t>
            </a:r>
            <a:endParaRPr kumimoji="1"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867" y="2082800"/>
            <a:ext cx="3517900" cy="4292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063058" y="1375831"/>
            <a:ext cx="2455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 smtClean="0"/>
              <a:t>进公司后的我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96887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下部预告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8"/>
            <a:ext cx="7852592" cy="2539801"/>
          </a:xfrm>
        </p:spPr>
        <p:txBody>
          <a:bodyPr>
            <a:normAutofit/>
          </a:bodyPr>
          <a:lstStyle/>
          <a:p>
            <a:r>
              <a:rPr kumimoji="1" lang="zh-CN" altLang="en-US" dirty="0" smtClean="0">
                <a:sym typeface="Wingdings"/>
              </a:rPr>
              <a:t>一些思考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>
              <a:sym typeface="Wingdings"/>
            </a:endParaRPr>
          </a:p>
          <a:p>
            <a:r>
              <a:rPr lang="zh-CN" altLang="en-US" dirty="0" smtClean="0">
                <a:sym typeface="Wingdings"/>
              </a:rPr>
              <a:t>展望未来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34636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542"/>
            <a:ext cx="7467600" cy="69393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 smtClean="0"/>
              <a:t>2</a:t>
            </a:r>
            <a:r>
              <a:rPr kumimoji="1" lang="en-US" altLang="zh-CN" dirty="0" smtClean="0"/>
              <a:t>016.2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68568"/>
            <a:ext cx="7852592" cy="2539801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s</a:t>
            </a:r>
            <a:r>
              <a:rPr kumimoji="1" lang="en-US" altLang="zh-CN" dirty="0" smtClean="0"/>
              <a:t>ync.v4</a:t>
            </a:r>
            <a:r>
              <a:rPr kumimoji="1" lang="zh-CN" altLang="en-US" dirty="0" smtClean="0"/>
              <a:t>并行化，响应时间</a:t>
            </a:r>
            <a:r>
              <a:rPr kumimoji="1" lang="en-US" altLang="zh-CN" dirty="0" smtClean="0"/>
              <a:t>400ms</a:t>
            </a:r>
            <a:r>
              <a:rPr kumimoji="1" lang="en-US" altLang="zh-CN" dirty="0" smtClean="0">
                <a:sym typeface="Wingdings"/>
              </a:rPr>
              <a:t>200ms</a:t>
            </a:r>
          </a:p>
          <a:p>
            <a:r>
              <a:rPr kumimoji="1" lang="en-US" altLang="zh-CN" dirty="0">
                <a:sym typeface="Wingdings"/>
              </a:rPr>
              <a:t>c</a:t>
            </a:r>
            <a:r>
              <a:rPr kumimoji="1" lang="en-US" altLang="zh-CN" dirty="0" smtClean="0">
                <a:sym typeface="Wingdings"/>
              </a:rPr>
              <a:t>heckout</a:t>
            </a:r>
            <a:r>
              <a:rPr kumimoji="1" lang="zh-CN" altLang="en-US" dirty="0" smtClean="0">
                <a:sym typeface="Wingdings"/>
              </a:rPr>
              <a:t>并入同步组</a:t>
            </a:r>
            <a:endParaRPr kumimoji="1" lang="en-US" altLang="zh-CN" dirty="0" smtClean="0">
              <a:sym typeface="Wingdings"/>
            </a:endParaRPr>
          </a:p>
          <a:p>
            <a:r>
              <a:rPr kumimoji="1" lang="en-US" altLang="zh-CN" dirty="0" smtClean="0">
                <a:sym typeface="Wingdings"/>
              </a:rPr>
              <a:t>Hibernate validator</a:t>
            </a:r>
          </a:p>
          <a:p>
            <a:endParaRPr kumimoji="1" lang="en-US" altLang="zh-CN" dirty="0">
              <a:sym typeface="Wingdings"/>
            </a:endParaRPr>
          </a:p>
          <a:p>
            <a:r>
              <a:rPr lang="en-US" altLang="zh-CN" dirty="0" err="1"/>
              <a:t>m</a:t>
            </a:r>
            <a:r>
              <a:rPr lang="en-US" altLang="zh-CN" dirty="0" err="1" smtClean="0"/>
              <a:t>emcached</a:t>
            </a:r>
            <a:r>
              <a:rPr lang="en-US" altLang="zh-CN" dirty="0" smtClean="0"/>
              <a:t> lock</a:t>
            </a:r>
            <a:endParaRPr kumimoji="1" lang="en-US" altLang="zh-CN" dirty="0" smtClean="0">
              <a:sym typeface="Wingdings"/>
            </a:endParaRPr>
          </a:p>
          <a:p>
            <a:endParaRPr kumimoji="1" lang="en-US" altLang="zh-CN" dirty="0" smtClean="0">
              <a:sym typeface="Wingdings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34636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技术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技术.thmx</Template>
  <TotalTime>7471</TotalTime>
  <Words>1718</Words>
  <Application>Microsoft Macintosh PowerPoint</Application>
  <PresentationFormat>全屏显示(4:3)</PresentationFormat>
  <Paragraphs>456</Paragraphs>
  <Slides>52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3" baseType="lpstr">
      <vt:lpstr>技术</vt:lpstr>
      <vt:lpstr>同步技术这两年（上）</vt:lpstr>
      <vt:lpstr>引子</vt:lpstr>
      <vt:lpstr>2015</vt:lpstr>
      <vt:lpstr>2015</vt:lpstr>
      <vt:lpstr>Push支持cluster</vt:lpstr>
      <vt:lpstr>Push支持cluster</vt:lpstr>
      <vt:lpstr>2016.2</vt:lpstr>
      <vt:lpstr>CHECKOUT并入同步组</vt:lpstr>
      <vt:lpstr>微服务</vt:lpstr>
      <vt:lpstr>微服务</vt:lpstr>
      <vt:lpstr>微服务</vt:lpstr>
      <vt:lpstr>云打印</vt:lpstr>
      <vt:lpstr>V3收银</vt:lpstr>
      <vt:lpstr>同步透明化</vt:lpstr>
      <vt:lpstr>同步透明化</vt:lpstr>
      <vt:lpstr>开机时间记录改造</vt:lpstr>
      <vt:lpstr>开机时间记录改造</vt:lpstr>
      <vt:lpstr>2016.7-2016.9</vt:lpstr>
      <vt:lpstr>同步下行读写库LB</vt:lpstr>
      <vt:lpstr>Quartz cluster的隐患</vt:lpstr>
      <vt:lpstr>新版checkout</vt:lpstr>
      <vt:lpstr>API安全性</vt:lpstr>
      <vt:lpstr>API安全性</vt:lpstr>
      <vt:lpstr>API安全性</vt:lpstr>
      <vt:lpstr>黑色Q4</vt:lpstr>
      <vt:lpstr>sharding</vt:lpstr>
      <vt:lpstr>sharding</vt:lpstr>
      <vt:lpstr>sharding-上线部署架构</vt:lpstr>
      <vt:lpstr>2017.3</vt:lpstr>
      <vt:lpstr>TW敏捷培训</vt:lpstr>
      <vt:lpstr>TW敏捷培训</vt:lpstr>
      <vt:lpstr>多数据源</vt:lpstr>
      <vt:lpstr>服务器自动接单</vt:lpstr>
      <vt:lpstr>服务器自动接单</vt:lpstr>
      <vt:lpstr>服务器自动接单</vt:lpstr>
      <vt:lpstr>同步下行遗留问题</vt:lpstr>
      <vt:lpstr>同步下行遗留问题</vt:lpstr>
      <vt:lpstr>订单库分库</vt:lpstr>
      <vt:lpstr>订单库分库-解耦方式</vt:lpstr>
      <vt:lpstr>同步下行机制改造</vt:lpstr>
      <vt:lpstr>AMQ迁移KAFKA</vt:lpstr>
      <vt:lpstr>2017.6-2017.8</vt:lpstr>
      <vt:lpstr>“惊喜”日</vt:lpstr>
      <vt:lpstr>“惊喜”日</vt:lpstr>
      <vt:lpstr>分区部署</vt:lpstr>
      <vt:lpstr>分区部署</vt:lpstr>
      <vt:lpstr>分区部署</vt:lpstr>
      <vt:lpstr>2017.9-2017.12</vt:lpstr>
      <vt:lpstr>总结过去</vt:lpstr>
      <vt:lpstr>总结过去</vt:lpstr>
      <vt:lpstr>下部预告</vt:lpstr>
      <vt:lpstr>2016.2</vt:lpstr>
    </vt:vector>
  </TitlesOfParts>
  <Company>kry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同步技术2年</dc:title>
  <dc:creator>wen feng</dc:creator>
  <cp:lastModifiedBy>wen feng</cp:lastModifiedBy>
  <cp:revision>356</cp:revision>
  <dcterms:created xsi:type="dcterms:W3CDTF">2017-12-29T07:46:29Z</dcterms:created>
  <dcterms:modified xsi:type="dcterms:W3CDTF">2018-01-24T06:49:38Z</dcterms:modified>
</cp:coreProperties>
</file>